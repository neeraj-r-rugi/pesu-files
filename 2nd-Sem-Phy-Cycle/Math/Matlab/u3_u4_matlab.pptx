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17" r:id="rId3"/>
    <p:sldId id="477" r:id="rId4"/>
    <p:sldId id="337" r:id="rId5"/>
    <p:sldId id="478" r:id="rId6"/>
    <p:sldId id="438" r:id="rId7"/>
    <p:sldId id="479" r:id="rId8"/>
    <p:sldId id="480" r:id="rId9"/>
    <p:sldId id="481" r:id="rId10"/>
    <p:sldId id="482" r:id="rId11"/>
    <p:sldId id="483" r:id="rId12"/>
    <p:sldId id="486" r:id="rId13"/>
    <p:sldId id="487" r:id="rId14"/>
    <p:sldId id="516" r:id="rId15"/>
    <p:sldId id="488" r:id="rId16"/>
    <p:sldId id="490" r:id="rId17"/>
    <p:sldId id="491" r:id="rId18"/>
    <p:sldId id="494" r:id="rId19"/>
    <p:sldId id="517" r:id="rId20"/>
    <p:sldId id="518" r:id="rId21"/>
    <p:sldId id="519" r:id="rId22"/>
    <p:sldId id="520" r:id="rId23"/>
    <p:sldId id="521" r:id="rId24"/>
    <p:sldId id="522" r:id="rId25"/>
    <p:sldId id="523" r:id="rId26"/>
    <p:sldId id="524" r:id="rId27"/>
    <p:sldId id="484" r:id="rId28"/>
    <p:sldId id="485" r:id="rId29"/>
    <p:sldId id="525" r:id="rId30"/>
    <p:sldId id="526" r:id="rId31"/>
    <p:sldId id="527" r:id="rId32"/>
    <p:sldId id="489" r:id="rId33"/>
    <p:sldId id="528" r:id="rId34"/>
    <p:sldId id="529" r:id="rId35"/>
    <p:sldId id="530" r:id="rId36"/>
    <p:sldId id="531" r:id="rId37"/>
    <p:sldId id="532" r:id="rId38"/>
    <p:sldId id="533" r:id="rId39"/>
    <p:sldId id="534" r:id="rId40"/>
    <p:sldId id="535" r:id="rId41"/>
    <p:sldId id="536" r:id="rId42"/>
    <p:sldId id="537" r:id="rId43"/>
    <p:sldId id="538" r:id="rId44"/>
    <p:sldId id="539" r:id="rId45"/>
    <p:sldId id="540" r:id="rId46"/>
    <p:sldId id="41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6AFA-F514-3808-D18B-446EE4C36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7C039-F68E-B7A1-3027-66D70A6BB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8635-14C5-092C-A677-3396EE24E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32D92-0FF2-A9CD-FDB1-5E0E0529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99D81-73C9-1A22-C924-285B4CB7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5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76AD-990F-8D6D-BA61-7F99D89D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AA9EA-6CFB-52A6-7156-A03C66E4C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70A78-032F-64EC-9D7C-336CA510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9FCFD-75FF-8B79-0067-04C06633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C558F-396C-69B8-C78C-80F8893B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2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D874-E03C-6E38-2949-E54B9956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41712-EFEC-A0B1-97F1-2EC283A8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9592A-455C-ACB3-B044-EB7015D5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EA08D-7989-D073-A3B6-164045B6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20A96-0420-685F-33B5-DB7457B2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1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669C-1582-3D80-17E1-D84CF366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B293-2B7F-A4BC-8456-23086AB9F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08EDB-4013-E432-0F75-446190C50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9DDC1-4376-BA88-981A-AAF7EA50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F2DF2-63DE-E51A-7D71-B7EE6528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68CD8-288F-4DDD-6493-B6E6829F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60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B437-3446-C1CE-DFEE-83C7477A8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54467-7A87-4D30-A2E1-991A57033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8400B-59BC-1B1C-58C8-EA29B9506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F6147-231E-2852-EE1E-6713A48A2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3B223-3E88-E19B-1289-4EC147DB3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6BC2B-5C5A-F293-93E9-37D99141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155183-970A-D836-ECF3-F716F1D2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DCAED-5FDB-B8F8-4AC0-C582C701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5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4B23-6326-3B05-CA60-31D406E8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0CCEA-E3C8-0335-6362-4C522D83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8A029-4EA0-9195-ACDA-B8CE748B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CD893-621F-1DF1-74A8-E874BF10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1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7CCFF-64D9-2030-73A6-844ECA06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41CE8-62D5-9B51-E2DD-F69299BB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C12EF-2815-1D19-0427-5FBF34A5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7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2752-0D11-FFAE-E51B-2CB37B524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FC5A-4D92-0CA5-072F-2C4E186B6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88D57-5F49-D677-9FA1-B20C7549F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D35D7-8661-F3D3-219C-0057059E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307B5-74A0-D2EF-E179-56E3D811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2261B-9E0C-7E3F-F96F-BC5B6042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9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F444-7054-4855-6A21-6E76F3C5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48FB8-8260-11BC-84BA-8E3510679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5CAEB-DFE4-3EB3-5F40-3C774D8BF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AA20D-7AD2-3EBE-43A1-8E2B5B75F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A5E23-19B8-ED51-8BA7-3E9F1070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B73FC-B87B-8A79-6D4A-6118B715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27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188A-04D4-B79E-F57B-FFDEE5CA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8701D-48CC-0203-2A85-EEF06B7F2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51F87-CC1D-7819-1248-B27A4E02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84FC2-A086-468D-472D-93554989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43C2-9043-71D4-B172-A77B0232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84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CD7C95-24CB-7B95-B106-084B8E364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339B7-4B53-9FBE-CDD8-FF0A63623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88134-DBDA-D1EC-AE34-1194EBE4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C4D54-7607-1DEB-BC9B-432A2305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BC8C-F8A1-92A5-BA38-7F45A222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36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EADD0-6749-E6B9-E2E3-69F74C43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6C501-EF49-DF74-81DB-FE563696C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7268D-CB4D-C7EF-51EC-41CA1D7B6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67A3-22F2-4A9B-835C-13E061583EB9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6883B-2ECD-4A4D-080A-6950522D4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E3790-6AB5-50C5-994C-9D74B6CAE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C5447-1ED6-40E6-BA56-77DBFF4E3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80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56917-EBDE-1ED5-AF8E-6F8991C75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C9DE4-3462-4690-FD32-53A79FBDC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79963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5494" y="123079"/>
            <a:ext cx="8122024" cy="697192"/>
          </a:xfrm>
        </p:spPr>
        <p:txBody>
          <a:bodyPr>
            <a:normAutofit fontScale="90000"/>
          </a:bodyPr>
          <a:lstStyle/>
          <a:p>
            <a:pPr algn="just"/>
            <a:b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36175" y="951566"/>
                <a:ext cx="9641543" cy="539544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𝑥𝑦𝑧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𝑧</m:t>
                    </m:r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then evaluate the Jacobian J.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syms x y z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&gt;&gt;J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=jacobian([x*y*z, y^2, x + z], [x, y, z])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 = det(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J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IN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				password: @nsys@123</a:t>
                </a: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 Put: 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J=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𝑥𝑧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𝑥𝑦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 = 2*y^2*z - 2*x*y^2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175" y="951566"/>
                <a:ext cx="9641543" cy="5395446"/>
              </a:xfrm>
              <a:blipFill>
                <a:blip r:embed="rId2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FFA87E8-4C0C-8A43-AC97-E5854017977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F2BA70E-70BA-A8AE-5EAE-16E1E735EB64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4DA105-FE44-2F90-2A69-28B994D191F5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7B6B77-B352-CCE9-7B1E-3D706BBC1A19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43729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89817" y="378096"/>
            <a:ext cx="449385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53398" y="940858"/>
                <a:ext cx="9328484" cy="5918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𝑧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𝑤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z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then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evaluate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the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Jacobian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J</m:t>
                    </m:r>
                    <m:r>
                      <m:rPr>
                        <m:nor/>
                      </m:rPr>
                      <a:rPr lang="en-IN" sz="2400" b="0" i="0" dirty="0" smtClean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syms x y z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&gt;&gt;J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=jacobian([x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.^2-2*y x+y+z  x-2*y+3*z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], [x, y, z])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 = det(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J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 Put: 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j =[ 2*x, -2, 0][   1,  1, 1][   1, -2, 3]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 =10*x + 4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pl-PL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pl-PL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98" y="940858"/>
                <a:ext cx="9328484" cy="5918736"/>
              </a:xfrm>
              <a:prstGeom prst="rect">
                <a:avLst/>
              </a:prstGeom>
              <a:blipFill>
                <a:blip r:embed="rId2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2227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70452" y="524105"/>
            <a:ext cx="8229600" cy="531709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b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br>
              <a:rPr lang="en-US" sz="2700" dirty="0">
                <a:solidFill>
                  <a:prstClr val="black"/>
                </a:solidFill>
                <a:latin typeface="Calibri"/>
              </a:rPr>
            </a:br>
            <a:endParaRPr lang="en-US" sz="27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1666" y="1103444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91353" y="1268977"/>
                <a:ext cx="9040906" cy="5918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𝑟𝑐𝑜𝑠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𝑟𝑠𝑖𝑛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then evaluate the Jacobian J.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&gt;&gt;syms x y r theta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&gt;&gt;x=r*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cos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(theta);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&gt;&gt;y=r*sin(theta);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&gt;&gt;j=jacobian([x^2-2*y^2, 2*x^2-y^2 ], [r, theta])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&gt;&gt;d =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(j)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&gt;&gt;simplify(d)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53" y="1268977"/>
                <a:ext cx="9040906" cy="5918736"/>
              </a:xfrm>
              <a:prstGeom prst="rect">
                <a:avLst/>
              </a:prstGeom>
              <a:blipFill>
                <a:blip r:embed="rId2"/>
                <a:stretch>
                  <a:fillRect l="-10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8A450CC-A56E-790E-C3E4-3E96BB33095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B2973A-35D2-520B-6ECF-F2A67F5A78D8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E1F409-3A92-9B14-6222-18D8D9F1E24B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3633B-9EAE-BF79-D4AB-4379F629F473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1787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70452" y="524105"/>
            <a:ext cx="8229600" cy="531709"/>
          </a:xfrm>
        </p:spPr>
        <p:txBody>
          <a:bodyPr>
            <a:normAutofit fontScale="90000"/>
          </a:bodyPr>
          <a:lstStyle/>
          <a:p>
            <a:b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br>
              <a:rPr lang="en-US" sz="2700" dirty="0">
                <a:solidFill>
                  <a:prstClr val="black"/>
                </a:solidFill>
                <a:latin typeface="Calibri"/>
              </a:rPr>
            </a:br>
            <a:endParaRPr lang="en-US" sz="27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1666" y="1103444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42048" y="1237454"/>
            <a:ext cx="9789458" cy="5421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 Put: 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 =[ 2*r*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(theta)^2 - 4*r*sin(theta)^2, -6*r^2*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(theta)*sin(theta)]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[ 4*r*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(theta)^2 - 2*r*sin(theta)^2, -6*r^2*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(theta)*sin(theta)]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 =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12*r^3*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(theta)*sin(theta)^3 + 12*r^3*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(theta)^3*sin(theta)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6*r^3*sin(2*theta)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9C404CB4-51D5-D2F7-723F-7E8BA011F9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77AA2E8-CE77-E1BC-6229-B999090FE976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EA0403-4ADE-4C9A-30FF-7F6A7F1253A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C67DEA-C0A5-5033-D2EB-1AC638AD67E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4661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sv-SE" sz="2400" dirty="0">
                <a:solidFill>
                  <a:srgbClr val="C00000"/>
                </a:solidFill>
                <a:latin typeface="+mn-lt"/>
              </a:rPr>
              <a:t>  </a:t>
            </a:r>
            <a:endParaRPr lang="en-US" altLang="en-US" sz="2400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97224" y="360621"/>
            <a:ext cx="6096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br>
              <a:rPr lang="en-US" sz="2700" dirty="0">
                <a:solidFill>
                  <a:prstClr val="black"/>
                </a:solidFill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0669" y="1108973"/>
                <a:ext cx="9175377" cy="5021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𝑟𝑐𝑜𝑠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𝑟𝑠𝑖𝑛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then evaluate the Jacobian J.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&gt;&gt;syms x y r theta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&gt;&gt;x=r*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cos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(theta);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&gt;&gt;y=r*sin(theta);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&gt;&gt;j=jacobian([x^2-y^2, 2*x*y, ], [r, theta])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&gt;&gt;d =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(j)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&gt;&gt;simplify(d)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9" y="1108973"/>
                <a:ext cx="9175377" cy="5021055"/>
              </a:xfrm>
              <a:prstGeom prst="rect">
                <a:avLst/>
              </a:prstGeom>
              <a:blipFill>
                <a:blip r:embed="rId2"/>
                <a:stretch>
                  <a:fillRect l="-10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FFB47CE-2BC8-FC05-E237-768FA8A80CC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4EE49BA-03F7-791A-0AC2-C50DC793C004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212FCF-D63B-56BD-67FB-0469D3992C7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233FA9-3F56-4A9A-6105-4FE2BB4385BB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4556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b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7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br>
              <a:rPr lang="en-US" sz="2700" dirty="0">
                <a:solidFill>
                  <a:prstClr val="black"/>
                </a:solidFill>
                <a:latin typeface="Calibri"/>
              </a:rPr>
            </a:br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44208" y="1046638"/>
            <a:ext cx="99948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 Put: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 =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[ 2*r*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(theta)^2 - 2*r*sin(theta)^2, -4*r^2*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(theta)*sin(theta)]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[ 4*r*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(theta)*sin(theta), 2*r^2*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(theta)^2 - 2*r^2*sin(theta)^2]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 =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4*r^3*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(theta)^4++4*r^3*sin(theta)^4+8*r^3*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(theta)^2*sin(theta)^2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=4*r^3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8D62ADE-5FA4-7594-755A-7C5E5817850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4555EC6-617A-510C-E327-9DEFDF5D015B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D643920-6ED2-A934-5818-F28DD67F8C2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4A25D6-7C40-3928-4C82-755A84D65699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6267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Autofit/>
          </a:bodyPr>
          <a:lstStyle/>
          <a:p>
            <a:b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endParaRPr lang="en-US" altLang="en-US" sz="2400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37565" y="1094165"/>
                <a:ext cx="9269506" cy="4739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x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</m: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𝑢𝑣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prove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𝐽𝐽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en-US" sz="2400" b="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syms u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v   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J=jacobian([u*(1-v), u*v,], [u, v, ])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inv(J)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J*inv(J)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det(J*inv(J))</a:t>
                </a: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pl-PL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65" y="1094165"/>
                <a:ext cx="9269506" cy="4739759"/>
              </a:xfrm>
              <a:prstGeom prst="rect">
                <a:avLst/>
              </a:prstGeom>
              <a:blipFill rotWithShape="0">
                <a:blip r:embed="rId3"/>
                <a:stretch>
                  <a:fillRect l="-1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B8DB4F6F-F4FE-7E6A-0AE8-0DA40C10FF9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4D36F94-6DFF-77F8-EF2A-9B599EA51E7B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056459-5262-AF0B-9263-94B94D4D9E9D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C490BF-F7D1-9AA1-BBC5-A69EFD9B17B0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2892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Finding Jacobian Continuation:</a:t>
            </a:r>
            <a:endParaRPr lang="en-US" altLang="en-US" sz="2400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97224" y="909242"/>
            <a:ext cx="9121588" cy="3318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 Put: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 =[ 1 - v, -u]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v,  u]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ans =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[ 1,  1]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-v/u, -(v - 1)/u]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ans =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[ 1, 0]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[ 0, 1]</a:t>
            </a:r>
          </a:p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pl-PL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ans =1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57E61F7-1412-9A3D-2D24-84B8391BB76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A90722-1109-C20F-B210-520CCC8A7579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24AA3B-0F5A-004E-F738-9B1EBE744BD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521F44-B617-5FAD-02F0-85AACAA9AC34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70084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1004793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4462" y="549097"/>
            <a:ext cx="39662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Double Integral 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51915" y="1113874"/>
                <a:ext cx="9207238" cy="40041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1−</m:t>
                            </m:r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𝑦</m:t>
                                        </m:r>
                                      </m:e>
                                    </m:rad>
                                  </m:e>
                                </m:d>
                                <m:sSup>
                                  <m:sSup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𝑑𝑦𝑑𝑥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@(x,y) 1./(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sqrt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(x + y) .* (1 + x + y).^2 );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 ymax = @(x) 1 - x;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integral2(fun,0,1,0,ymax)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 put: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q =   0.2854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15" y="1113874"/>
                <a:ext cx="9207238" cy="4004173"/>
              </a:xfrm>
              <a:prstGeom prst="rect">
                <a:avLst/>
              </a:prstGeom>
              <a:blipFill rotWithShape="0">
                <a:blip r:embed="rId3"/>
                <a:stretch>
                  <a:fillRect l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F2638B0A-7DCD-ED90-3C86-D28B9D209E3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BD0A888-0173-7758-B249-EF028A056F7E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BF8305-C09F-EC1A-B8EB-AFC504302A2D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88CD48-38A2-38D7-9BFB-1859A844382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6221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00203" y="468414"/>
            <a:ext cx="5642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Double Integral  Continuation: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2494" y="1064044"/>
                <a:ext cx="9502835" cy="47227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𝜋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𝜋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𝜋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𝑦𝑠𝑖𝑛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𝑥𝑐𝑜𝑠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𝑑𝑦𝑑𝑥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.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@(x,y) y.*sin(x)+x.*cos(y);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integral2(fun,-pi,2*pi,0,pi);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 </a:t>
                </a:r>
                <a:r>
                  <a:rPr lang="es-ES" sz="2400" dirty="0" err="1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put</a:t>
                </a: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</a:t>
                </a: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   -9.8696</a:t>
                </a:r>
              </a:p>
              <a:p>
                <a:endParaRPr lang="es-E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E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94" y="1064044"/>
                <a:ext cx="9502835" cy="4722768"/>
              </a:xfrm>
              <a:prstGeom prst="rect">
                <a:avLst/>
              </a:prstGeom>
              <a:blipFill>
                <a:blip r:embed="rId3"/>
                <a:stretch>
                  <a:fillRect l="-10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6A4163A5-75A4-C932-DB97-49DF74C6BF3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AD1D4CF-3566-6CAF-EF63-4ED58C4E0336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73CE64-C072-5378-32C0-51B7F159E95B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E443F7-9446-F686-E334-6C9FA7652C84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172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02194" y="223250"/>
            <a:ext cx="81417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7576" y="522204"/>
            <a:ext cx="5642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Double Integral  Continuation: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4391" y="1154215"/>
                <a:ext cx="9410256" cy="49388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sSup>
                              <m:sSupPr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𝑑𝑦𝑑𝑥</m:t>
                            </m:r>
                          </m:e>
                        </m:nary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.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C00000"/>
                  </a:solidFill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@(x,y) x.*(x.^2+y.^2);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&gt;&gt;ymax = @(x) x.^2;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integral2(fun,0,5,0,ymax)</a:t>
                </a:r>
              </a:p>
              <a:p>
                <a:pPr lvl="0">
                  <a:lnSpc>
                    <a:spcPct val="150000"/>
                  </a:lnSpc>
                </a:pPr>
                <a:br>
                  <a:rPr lang="en-US" dirty="0">
                    <a:solidFill>
                      <a:srgbClr val="000000"/>
                    </a:solidFill>
                    <a:latin typeface="Menlo"/>
                  </a:rPr>
                </a:b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 </a:t>
                </a:r>
                <a:r>
                  <a:rPr lang="es-ES" sz="2400" dirty="0" err="1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put</a:t>
                </a: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   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</a:t>
                </a: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 1.8880e+04</a:t>
                </a:r>
              </a:p>
              <a:p>
                <a:br>
                  <a:rPr lang="en-US" dirty="0">
                    <a:solidFill>
                      <a:srgbClr val="000000"/>
                    </a:solidFill>
                    <a:latin typeface="Menlo"/>
                  </a:rPr>
                </a:br>
                <a:endParaRPr lang="en-US" dirty="0">
                  <a:solidFill>
                    <a:srgbClr val="000000"/>
                  </a:solidFill>
                  <a:latin typeface="Menlo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91" y="1154215"/>
                <a:ext cx="9410256" cy="4938853"/>
              </a:xfrm>
              <a:prstGeom prst="rect">
                <a:avLst/>
              </a:prstGeom>
              <a:blipFill rotWithShape="0">
                <a:blip r:embed="rId3"/>
                <a:stretch>
                  <a:fillRect l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FD1ED69-9759-F770-3BD0-C4944F66CFB1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9A0D27-C6A1-9689-8483-CBF697FB0C17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CC03EB-82C5-591D-5CC1-57A17B11A2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98588284-EBFF-86EC-D5E5-7211218D98F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28" y="450510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8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sv-SE" sz="2400" dirty="0">
                <a:solidFill>
                  <a:srgbClr val="C00000"/>
                </a:solidFill>
                <a:latin typeface="+mn-lt"/>
              </a:rPr>
              <a:t>  </a:t>
            </a:r>
            <a:endParaRPr lang="en-US" sz="24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14913" y="481863"/>
            <a:ext cx="5642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Double Integral  Continuation: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64458" y="1111641"/>
                <a:ext cx="9767047" cy="2029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s-E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s-E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s-E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𝑥𝑦𝑑𝑦𝑑𝑥</m:t>
                            </m:r>
                          </m:e>
                        </m:nary>
                      </m:e>
                    </m:nary>
                  </m:oMath>
                </a14:m>
                <a:endParaRPr lang="es-E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ES" dirty="0"/>
              </a:p>
              <a:p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@(x,y) x.* y</a:t>
                </a:r>
              </a:p>
              <a:p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s-E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ymax</a:t>
                </a: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@(x) </a:t>
                </a:r>
                <a:r>
                  <a:rPr lang="es-E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sqrt</a:t>
                </a: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(x);</a:t>
                </a:r>
              </a:p>
              <a:p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integral2(fun,0,1,0,ymax)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58" y="1111641"/>
                <a:ext cx="9767047" cy="2029082"/>
              </a:xfrm>
              <a:prstGeom prst="rect">
                <a:avLst/>
              </a:prstGeom>
              <a:blipFill rotWithShape="0">
                <a:blip r:embed="rId3"/>
                <a:stretch>
                  <a:fillRect l="-936" b="-5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65" y="3055144"/>
            <a:ext cx="1523353" cy="6401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51212" y="3464876"/>
            <a:ext cx="2236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 =</a:t>
            </a:r>
          </a:p>
          <a:p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0.1667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544D5B-B445-667F-A98E-D62146C5D47E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011BE6-A949-954A-61EE-46C3D9BAE74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F4E56E-8739-F392-0DEF-285BED282B94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9CCFD889-1FC8-A641-38DB-7422C820266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794" y="476881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9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sv-SE" sz="2400" dirty="0">
                <a:solidFill>
                  <a:srgbClr val="C00000"/>
                </a:solidFill>
                <a:latin typeface="+mn-lt"/>
              </a:rPr>
              <a:t>  </a:t>
            </a:r>
            <a:endParaRPr lang="en-US" sz="24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14913" y="481863"/>
            <a:ext cx="5642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Double Integral  Continuation: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64458" y="1111641"/>
                <a:ext cx="10035989" cy="4284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s-E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f>
                          <m:fPr>
                            <m:type m:val="skw"/>
                            <m:ctrlPr>
                              <a:rPr lang="es-E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s-E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nary>
                          <m:naryPr>
                            <m:limLoc m:val="undOvr"/>
                            <m:ctrlPr>
                              <a:rPr lang="es-E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f>
                              <m:fPr>
                                <m:type m:val="skw"/>
                                <m:ctrlPr>
                                  <a:rPr lang="es-E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𝑠𝑖𝑛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𝜃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𝑐𝑜𝑠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𝜃</m:t>
                                </m:r>
                              </m:den>
                            </m:f>
                          </m:sup>
                          <m:e>
                            <m:f>
                              <m:fPr>
                                <m:ctrlPr>
                                  <a:rPr lang="es-E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𝑟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s-E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𝑟𝑐𝑜𝑠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𝜃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𝑟𝑠𝑖𝑛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𝜃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s-E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(1+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𝑟𝑐𝑜𝑠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𝜃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𝑟𝑠𝑖𝑛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𝜃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nary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𝑑𝑟𝑑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𝜃</m:t>
                    </m:r>
                  </m:oMath>
                </a14:m>
                <a:endParaRPr lang="es-E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ES" dirty="0"/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>
                    <a:solidFill>
                      <a:srgbClr val="000000"/>
                    </a:solidFill>
                    <a:latin typeface="Menlo"/>
                  </a:rPr>
                  <a:t>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polarfun = @(r, theta)      r./(sqrt(r.*cos(theta)+r.*sin(theta)).*((1+r.*cos(theta)+r.*sin(theta)).^2))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rmax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@(theta) 1./(sin(theta) +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cos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(theta))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integral2(polarfun,0,pi/2,0,rmax)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rgbClr val="000000"/>
                  </a:solidFill>
                  <a:latin typeface="Menlo"/>
                </a:endParaRPr>
              </a:p>
              <a:p>
                <a:pPr>
                  <a:lnSpc>
                    <a:spcPct val="150000"/>
                  </a:lnSpc>
                </a:pPr>
                <a:endParaRPr lang="es-E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58" y="1111641"/>
                <a:ext cx="10035989" cy="4284314"/>
              </a:xfrm>
              <a:prstGeom prst="rect">
                <a:avLst/>
              </a:prstGeom>
              <a:blipFill>
                <a:blip r:embed="rId3"/>
                <a:stretch>
                  <a:fillRect l="-9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13" y="4251932"/>
            <a:ext cx="1523353" cy="6401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10871" y="4836477"/>
            <a:ext cx="22366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068296" y="4831088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 = 0.2385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55384D-A67B-B7DD-0C92-ADA84B19B25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100F41-E3D2-0BFA-CEF5-6FD373F0A045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78D43E-E603-800A-1ED4-F9627F9A472A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1098B38B-E82D-60FA-0D02-6AB66E93557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97" y="457889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7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sv-SE" sz="2400" dirty="0">
                <a:solidFill>
                  <a:srgbClr val="C00000"/>
                </a:solidFill>
                <a:latin typeface="+mn-lt"/>
              </a:rPr>
              <a:t>  </a:t>
            </a:r>
            <a:endParaRPr lang="en-US" sz="24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36482" y="408295"/>
            <a:ext cx="883339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Triple Integral:</a:t>
            </a:r>
            <a:endParaRPr 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2375" y="1111498"/>
                <a:ext cx="9377083" cy="30035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  <m:e>
                            <m:nary>
                              <m:naryPr>
                                <m:limLoc m:val="undOvr"/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𝑑𝑧𝑑𝑥𝑑𝑦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 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@(x,y,z) </a:t>
                </a:r>
                <a:r>
                  <a:rPr lang="es-E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x+y+z</a:t>
                </a:r>
                <a:endParaRPr lang="es-E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integral3(fun,0,3,0,2,0,1,'Method','tiled')</a:t>
                </a:r>
              </a:p>
              <a:p>
                <a:pPr lvl="0">
                  <a:lnSpc>
                    <a:spcPct val="150000"/>
                  </a:lnSpc>
                </a:pPr>
                <a:endParaRPr lang="es-E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Output:    </a:t>
                </a:r>
                <a:r>
                  <a:rPr lang="es-E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 18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75" y="1111498"/>
                <a:ext cx="9377083" cy="3003515"/>
              </a:xfrm>
              <a:prstGeom prst="rect">
                <a:avLst/>
              </a:prstGeom>
              <a:blipFill>
                <a:blip r:embed="rId3"/>
                <a:stretch>
                  <a:fillRect l="-1040" b="-3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44585B8-5C1E-1ABE-65CC-0A562E11832A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7BCEA0-DF69-59CB-C78F-F3249E495A8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6F1DFA-042B-28A7-2023-2A25D439650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0D540E8A-FE54-BC82-ABD9-3B87734A782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83" y="447976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1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sv-SE" sz="2400" dirty="0">
                <a:solidFill>
                  <a:srgbClr val="C00000"/>
                </a:solidFill>
                <a:latin typeface="+mn-lt"/>
              </a:rPr>
              <a:t>  </a:t>
            </a:r>
            <a:endParaRPr lang="en-US" sz="24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30080" y="335741"/>
            <a:ext cx="5369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Triple Integral Continuation: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1173" y="3198168"/>
            <a:ext cx="253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1010" y="1002756"/>
                <a:ext cx="9820835" cy="5201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sub>
                          <m:sup>
                            <m:rad>
                              <m:radPr>
                                <m:degHide m:val="on"/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sup>
                          <m:e>
                            <m:nary>
                              <m:naryPr>
                                <m:limLoc m:val="undOvr"/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sub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sup>
                              <m:e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 ( 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𝑥𝑐𝑜𝑠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𝑧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𝑑𝑧𝑑𝑦𝑑𝑥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x,y,z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x.*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cos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(y) + x.^2.*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cos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(z)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-1;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xmax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1;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@(x)-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sqrt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(1 - x.^2);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&gt;&gt;ymax = @(x)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sqrt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(1 - x.^2);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zmin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@(x,y)-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sqrt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(1 - x.^2 - y.^2);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&gt;&gt;zmax = @(x,y) sqrt(1 - x.^2 - y.^2);</a:t>
                </a:r>
              </a:p>
              <a:p>
                <a:pPr algn="just"/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integral3(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fun,xmin,xmax,ymin,ymax,zmin,zmax,'Method','tiled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')</a:t>
                </a:r>
              </a:p>
              <a:p>
                <a:pPr algn="just"/>
                <a:endParaRPr lang="en-US" sz="2400" b="0" i="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n-US" sz="2400" b="0" i="0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Out 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put:  </a:t>
                </a:r>
              </a:p>
              <a:p>
                <a:pPr algn="just"/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 0.7796</a:t>
                </a:r>
                <a:endParaRPr lang="en-US" sz="2400" b="0" i="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10" y="1002756"/>
                <a:ext cx="9820835" cy="5201552"/>
              </a:xfrm>
              <a:prstGeom prst="rect">
                <a:avLst/>
              </a:prstGeom>
              <a:blipFill rotWithShape="0">
                <a:blip r:embed="rId3"/>
                <a:stretch>
                  <a:fillRect l="-931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277E718-02F1-474A-4260-1FB4263A9E67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A14BA0-8522-2A16-6AC4-D74AE7BCB79B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81EB13-EA6F-1D79-30E8-D0C9E721E98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E80E5730-CECE-F5B2-63B6-7A145726A35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28" y="450510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0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2"/>
          <p:cNvSpPr>
            <a:spLocks noGrp="1"/>
          </p:cNvSpPr>
          <p:nvPr>
            <p:ph type="title"/>
          </p:nvPr>
        </p:nvSpPr>
        <p:spPr>
          <a:xfrm>
            <a:off x="252103" y="391022"/>
            <a:ext cx="8229600" cy="531709"/>
          </a:xfrm>
        </p:spPr>
        <p:txBody>
          <a:bodyPr>
            <a:normAutofit/>
          </a:bodyPr>
          <a:lstStyle/>
          <a:p>
            <a:r>
              <a:rPr lang="sv-SE" sz="2400" dirty="0">
                <a:solidFill>
                  <a:srgbClr val="C00000"/>
                </a:solidFill>
                <a:latin typeface="+mn-lt"/>
              </a:rPr>
              <a:t>  </a:t>
            </a:r>
            <a:endParaRPr lang="en-US" sz="2400" dirty="0">
              <a:solidFill>
                <a:srgbClr val="C00000"/>
              </a:solidFill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22731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37564" y="1123780"/>
                <a:ext cx="9847729" cy="4655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𝑧</m:t>
                            </m:r>
                          </m:sup>
                          <m:e>
                            <m:nary>
                              <m:naryPr>
                                <m:limLoc m:val="undOvr"/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𝑧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𝑧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𝑑𝑥𝑑𝑦𝑑𝑧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x,y,z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x+y+z</a:t>
                </a: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 0;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xmax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@(z) z;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@(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x,z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x-z;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&gt;&gt;ymax = @(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x,z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x+z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zmin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-1;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&gt;.&gt;zmax = 1;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&gt;&gt;q = integral3(fun,zmin,zmax,xmin,xmax,ymin,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ymax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,'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Method','tiled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')</a:t>
                </a:r>
              </a:p>
              <a:p>
                <a:endParaRPr lang="en-US" sz="2400" b="0" i="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Output:  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 -1.1102e-16</a:t>
                </a:r>
                <a:endParaRPr lang="en-US" sz="2400" b="0" i="0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64" y="1123780"/>
                <a:ext cx="9847729" cy="4655826"/>
              </a:xfrm>
              <a:prstGeom prst="rect">
                <a:avLst/>
              </a:prstGeom>
              <a:blipFill>
                <a:blip r:embed="rId3"/>
                <a:stretch>
                  <a:fillRect l="-991" b="-1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03185" y="416423"/>
            <a:ext cx="5369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Triple Integral Continuation:</a:t>
            </a:r>
            <a:endParaRPr lang="en-US" sz="2400" dirty="0">
              <a:solidFill>
                <a:srgbClr val="00206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7B594C-01D6-FB6F-F910-829BEED31006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2A9845-0EDE-570A-1A79-4DE8F8F059EB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B3E033-F3AB-F01C-F508-8A40D9246CBB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2A0C808A-247A-B136-7FFC-B37130476E1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688" y="513363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3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123035" y="919339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16633" y="295400"/>
            <a:ext cx="5369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Evaluation of Triple Integral Continuation:</a:t>
            </a:r>
            <a:endParaRPr lang="en-US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63071" y="1035423"/>
                <a:ext cx="9265023" cy="46642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Evaluate 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𝑙𝑜𝑔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  <m:e>
                        <m:nary>
                          <m:naryPr>
                            <m:limLoc m:val="undOvr"/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sup>
                          <m:e>
                            <m:nary>
                              <m:naryPr>
                                <m:limLoc m:val="undOvr"/>
                                <m:ctrlP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4"/>
                                  </m:rP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𝑙𝑜𝑔𝑦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𝑑𝑥𝑑𝑦𝑑𝑧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.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&gt;&gt;fun = @(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x,y,z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x+y+z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0;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xmax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0.3010;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ymin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0;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&gt;&gt;ymax = @(x) x;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zmin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0;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&gt;&gt;zmax = @(x,y) 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x+log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(y);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 integral3(</a:t>
                </a:r>
                <a:r>
                  <a:rPr lang="en-US" sz="2400" dirty="0" err="1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fun,xmin,xmax,ymin,ymax,zmin,zmax,'Method','tiled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')</a:t>
                </a:r>
              </a:p>
              <a:p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Output:   </a:t>
                </a: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 = -0.0533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71" y="1035423"/>
                <a:ext cx="9265023" cy="4664226"/>
              </a:xfrm>
              <a:prstGeom prst="rect">
                <a:avLst/>
              </a:prstGeom>
              <a:blipFill>
                <a:blip r:embed="rId3"/>
                <a:stretch>
                  <a:fillRect l="-1053" b="-20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E6322A7-B460-3F33-F0E1-8BD3D589C85B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4C2372-E406-2781-A6BF-ACB41744705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5DBCF3-7C04-4DF3-E9B1-728ADED7A5C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067B187F-2173-8A53-13AD-85364F1C756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751" y="486032"/>
            <a:ext cx="1441901" cy="10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59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79963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5494" y="123079"/>
            <a:ext cx="8122024" cy="697192"/>
          </a:xfrm>
        </p:spPr>
        <p:txBody>
          <a:bodyPr>
            <a:normAutofit fontScale="90000"/>
          </a:bodyPr>
          <a:lstStyle/>
          <a:p>
            <a:pPr algn="just"/>
            <a:b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 Series</a:t>
            </a:r>
            <a:endParaRPr lang="en-US" sz="27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FFA87E8-4C0C-8A43-AC97-E585401797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F2BA70E-70BA-A8AE-5EAE-16E1E735EB64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4DA105-FE44-2F90-2A69-28B994D191F5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7B6B77-B352-CCE9-7B1E-3D706BBC1A19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16ED1F-E37A-AA2A-29E2-0393F70D3047}"/>
                  </a:ext>
                </a:extLst>
              </p:cNvPr>
              <p:cNvSpPr txBox="1"/>
              <p:nvPr/>
            </p:nvSpPr>
            <p:spPr>
              <a:xfrm>
                <a:off x="259316" y="952995"/>
                <a:ext cx="9787209" cy="5777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Fourier series expansion of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over the interval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+2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given by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𝑐𝑜𝑠𝑘𝑥</m:t>
                            </m:r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𝑠𝑖𝑛𝑘𝑥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,</m:t>
                        </m:r>
                      </m:e>
                    </m:nary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where,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𝛼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𝛼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+2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𝜋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/>
                          <a:cs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𝛼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𝜋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𝑐𝑜𝑠𝑘𝑥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;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=1,2,…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𝛼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𝛼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𝜋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𝑠𝑖𝑛𝑘𝑥</m:t>
                          </m:r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;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=1,2,…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E16ED1F-E37A-AA2A-29E2-0393F70D3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6" y="952995"/>
                <a:ext cx="9787209" cy="5777031"/>
              </a:xfrm>
              <a:prstGeom prst="rect">
                <a:avLst/>
              </a:prstGeom>
              <a:blipFill rotWithShape="1">
                <a:blip r:embed="rId3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21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3464" y="1141382"/>
                <a:ext cx="9975273" cy="7478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Find the Fourier series for the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rgbClr val="002060"/>
                    </a:solidFill>
                  </a:rPr>
                  <a:t>&gt;&gt; syms x k n pi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evalin</a:t>
                </a:r>
                <a:r>
                  <a:rPr lang="en-US" sz="2400" dirty="0">
                    <a:solidFill>
                      <a:srgbClr val="002060"/>
                    </a:solidFill>
                  </a:rPr>
                  <a:t>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symengine</a:t>
                </a:r>
                <a:r>
                  <a:rPr lang="en-US" sz="2400" dirty="0">
                    <a:solidFill>
                      <a:srgbClr val="002060"/>
                    </a:solidFill>
                  </a:rPr>
                  <a:t>,'assume(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k,Type</a:t>
                </a:r>
                <a:r>
                  <a:rPr lang="en-US" sz="2400" dirty="0">
                    <a:solidFill>
                      <a:srgbClr val="002060"/>
                    </a:solidFill>
                  </a:rPr>
                  <a:t>::Integer)'); 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The next command tells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                                                                                       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MATLAB that k is an integer. 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it-IT" sz="2400" dirty="0">
                    <a:solidFill>
                      <a:srgbClr val="002060"/>
                    </a:solidFill>
                  </a:rPr>
                  <a:t>a = @(f,x,k,pi) int(f*cos(k*x)/pi,x,-pi,pi);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kth Fourier cosine coefficient  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/>
                  <a:t> </a:t>
                </a:r>
                <a:endParaRPr lang="it-IT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it-IT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da-DK" sz="2400" dirty="0">
                    <a:solidFill>
                      <a:srgbClr val="002060"/>
                    </a:solidFill>
                  </a:rPr>
                  <a:t>b = @(f,x,k,pi) int(f*sin(k*x)/pi,x,-pi,pi);  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kth Fourier sine coefficient  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50"/>
                        </a:solidFill>
                        <a:latin typeface="Cambria Math"/>
                      </a:rPr>
                      <m:t>𝑓</m:t>
                    </m:r>
                  </m:oMath>
                </a14:m>
                <a:endParaRPr lang="da-DK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da-DK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>
                    <a:solidFill>
                      <a:srgbClr val="002060"/>
                    </a:solidFill>
                  </a:rPr>
                  <a:t>f=x-x^2</a:t>
                </a:r>
              </a:p>
              <a:p>
                <a:pPr>
                  <a:lnSpc>
                    <a:spcPct val="150000"/>
                  </a:lnSpc>
                </a:pPr>
                <a:r>
                  <a:rPr lang="da-DK" sz="2400" dirty="0">
                    <a:solidFill>
                      <a:srgbClr val="002060"/>
                    </a:solidFill>
                  </a:rPr>
                  <a:t>&gt;&gt;</a:t>
                </a:r>
                <a:r>
                  <a:rPr lang="en-US" sz="2400" dirty="0">
                    <a:solidFill>
                      <a:srgbClr val="002060"/>
                    </a:solidFill>
                  </a:rPr>
                  <a:t> A=simplify(a(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f,x,k,pi</a:t>
                </a:r>
                <a:r>
                  <a:rPr lang="en-US" sz="2400" dirty="0">
                    <a:solidFill>
                      <a:srgbClr val="002060"/>
                    </a:solidFill>
                  </a:rPr>
                  <a:t>))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     -(2*(k^2*pi^2*sin(k*pi) - 2*sin(k*pi) + 2*k*pi*cos(k*pi)))/(k^3*pi)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endParaRPr lang="en-US" sz="2400" dirty="0"/>
              </a:p>
              <a:p>
                <a:endParaRPr lang="da-DK" sz="2400" dirty="0"/>
              </a:p>
              <a:p>
                <a:endParaRPr lang="it-IT" sz="2400" dirty="0"/>
              </a:p>
              <a:p>
                <a:endParaRPr lang="en-US" sz="2400" dirty="0"/>
              </a:p>
              <a:p>
                <a:endParaRPr lang="pt-BR" sz="2400" dirty="0"/>
              </a:p>
              <a:p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1141382"/>
                <a:ext cx="9975273" cy="7478970"/>
              </a:xfrm>
              <a:prstGeom prst="rect">
                <a:avLst/>
              </a:prstGeom>
              <a:blipFill rotWithShape="1">
                <a:blip r:embed="rId3"/>
                <a:stretch>
                  <a:fillRect l="-978" t="-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33464" y="305320"/>
            <a:ext cx="349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7752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33464" y="971823"/>
            <a:ext cx="99752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&gt;&gt; pretty(A)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/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B=simplify(b(</a:t>
            </a:r>
            <a:r>
              <a:rPr lang="en-US" sz="2400" dirty="0" err="1">
                <a:solidFill>
                  <a:srgbClr val="002060"/>
                </a:solidFill>
              </a:rPr>
              <a:t>f,x,k,pi</a:t>
            </a:r>
            <a:r>
              <a:rPr lang="en-US" sz="2400" dirty="0">
                <a:solidFill>
                  <a:srgbClr val="002060"/>
                </a:solidFill>
              </a:rPr>
              <a:t>))</a:t>
            </a:r>
          </a:p>
          <a:p>
            <a:r>
              <a:rPr lang="en-US" sz="2400" dirty="0">
                <a:solidFill>
                  <a:srgbClr val="C00000"/>
                </a:solidFill>
              </a:rPr>
              <a:t>     B = (2*(sin(k*pi) - k*pi*cos(k*pi)))/(k^2*pi)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pretty(B)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44" y="1684502"/>
            <a:ext cx="5162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05" y="4582650"/>
            <a:ext cx="3028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342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85827" y="970472"/>
            <a:ext cx="9975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                                                               </a:t>
            </a:r>
            <a:r>
              <a:rPr lang="en-US" sz="2400" dirty="0">
                <a:solidFill>
                  <a:srgbClr val="00B050"/>
                </a:solidFill>
              </a:rPr>
              <a:t>The nth partial sum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fs = @(</a:t>
            </a:r>
            <a:r>
              <a:rPr lang="en-US" sz="2400" dirty="0" err="1">
                <a:solidFill>
                  <a:srgbClr val="002060"/>
                </a:solidFill>
              </a:rPr>
              <a:t>f,x,n,pi</a:t>
            </a:r>
            <a:r>
              <a:rPr lang="en-US" sz="2400" dirty="0">
                <a:solidFill>
                  <a:srgbClr val="002060"/>
                </a:solidFill>
              </a:rPr>
              <a:t>) a(f,x,0,pi)/2 + ...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         </a:t>
            </a:r>
            <a:r>
              <a:rPr lang="en-US" sz="2400" dirty="0" err="1">
                <a:solidFill>
                  <a:srgbClr val="002060"/>
                </a:solidFill>
              </a:rPr>
              <a:t>symsum</a:t>
            </a:r>
            <a:r>
              <a:rPr lang="en-US" sz="2400" dirty="0">
                <a:solidFill>
                  <a:srgbClr val="002060"/>
                </a:solidFill>
              </a:rPr>
              <a:t>(a(</a:t>
            </a:r>
            <a:r>
              <a:rPr lang="en-US" sz="2400" dirty="0" err="1">
                <a:solidFill>
                  <a:srgbClr val="002060"/>
                </a:solidFill>
              </a:rPr>
              <a:t>f,x,k,pi</a:t>
            </a:r>
            <a:r>
              <a:rPr lang="en-US" sz="2400" dirty="0">
                <a:solidFill>
                  <a:srgbClr val="002060"/>
                </a:solidFill>
              </a:rPr>
              <a:t>)*cos(k*x) + b(</a:t>
            </a:r>
            <a:r>
              <a:rPr lang="en-US" sz="2400" dirty="0" err="1">
                <a:solidFill>
                  <a:srgbClr val="002060"/>
                </a:solidFill>
              </a:rPr>
              <a:t>f,x,k,pi</a:t>
            </a:r>
            <a:r>
              <a:rPr lang="en-US" sz="2400" dirty="0">
                <a:solidFill>
                  <a:srgbClr val="002060"/>
                </a:solidFill>
              </a:rPr>
              <a:t>)*sin(k*x),</a:t>
            </a:r>
            <a:r>
              <a:rPr lang="en-US" sz="2400" dirty="0" err="1">
                <a:solidFill>
                  <a:srgbClr val="002060"/>
                </a:solidFill>
              </a:rPr>
              <a:t>k,pi,n</a:t>
            </a:r>
            <a:r>
              <a:rPr lang="en-US" sz="2400" dirty="0">
                <a:solidFill>
                  <a:srgbClr val="002060"/>
                </a:solidFill>
              </a:rPr>
              <a:t>);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pretty(fs(f,x,3,pi))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58" y="3170095"/>
            <a:ext cx="794385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538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3464" y="1141382"/>
                <a:ext cx="9975273" cy="7109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Find the Fourier series for the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rgbClr val="002060"/>
                    </a:solidFill>
                  </a:rPr>
                  <a:t>&gt;&gt; syms x k n pi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evalin</a:t>
                </a:r>
                <a:r>
                  <a:rPr lang="en-US" sz="2400" dirty="0">
                    <a:solidFill>
                      <a:srgbClr val="002060"/>
                    </a:solidFill>
                  </a:rPr>
                  <a:t>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symengine</a:t>
                </a:r>
                <a:r>
                  <a:rPr lang="en-US" sz="2400" dirty="0">
                    <a:solidFill>
                      <a:srgbClr val="002060"/>
                    </a:solidFill>
                  </a:rPr>
                  <a:t>,'assume(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k,Type</a:t>
                </a:r>
                <a:r>
                  <a:rPr lang="en-US" sz="2400" dirty="0">
                    <a:solidFill>
                      <a:srgbClr val="002060"/>
                    </a:solidFill>
                  </a:rPr>
                  <a:t>::Integer)');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it-IT" sz="2400" dirty="0">
                    <a:solidFill>
                      <a:srgbClr val="002060"/>
                    </a:solidFill>
                  </a:rPr>
                  <a:t>a = @(f,x,k,pi) int(f*cos(k*x)/pi,x,-pi,pi);</a:t>
                </a:r>
              </a:p>
              <a:p>
                <a:pPr>
                  <a:lnSpc>
                    <a:spcPct val="150000"/>
                  </a:lnSpc>
                </a:pPr>
                <a:r>
                  <a:rPr lang="it-IT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da-DK" sz="2400" dirty="0">
                    <a:solidFill>
                      <a:srgbClr val="002060"/>
                    </a:solidFill>
                  </a:rPr>
                  <a:t>b = @(f,x,k,pi) int(f*sin(k*x)/pi,x,-pi,pi);</a:t>
                </a:r>
              </a:p>
              <a:p>
                <a:pPr>
                  <a:lnSpc>
                    <a:spcPct val="150000"/>
                  </a:lnSpc>
                </a:pPr>
                <a:r>
                  <a:rPr lang="da-DK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>
                    <a:solidFill>
                      <a:srgbClr val="002060"/>
                    </a:solidFill>
                  </a:rPr>
                  <a:t>f=x^2</a:t>
                </a:r>
              </a:p>
              <a:p>
                <a:pPr>
                  <a:lnSpc>
                    <a:spcPct val="150000"/>
                  </a:lnSpc>
                </a:pPr>
                <a:r>
                  <a:rPr lang="da-DK" sz="2400" dirty="0">
                    <a:solidFill>
                      <a:srgbClr val="002060"/>
                    </a:solidFill>
                  </a:rPr>
                  <a:t>&gt;&gt;</a:t>
                </a:r>
                <a:r>
                  <a:rPr lang="en-US" sz="2400" dirty="0">
                    <a:solidFill>
                      <a:srgbClr val="002060"/>
                    </a:solidFill>
                  </a:rPr>
                  <a:t> A=simplify(a(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f,x,k,pi</a:t>
                </a:r>
                <a:r>
                  <a:rPr lang="en-US" sz="2400" dirty="0">
                    <a:solidFill>
                      <a:srgbClr val="002060"/>
                    </a:solidFill>
                  </a:rPr>
                  <a:t>))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     (2*(k^2*pi^2*sin(k*pi) - 2*sin(k*pi) + 2*k*pi*cos(k*pi)))/(k^3*pi)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endParaRPr lang="en-US" sz="2400" dirty="0"/>
              </a:p>
              <a:p>
                <a:endParaRPr lang="da-DK" sz="2400" dirty="0"/>
              </a:p>
              <a:p>
                <a:endParaRPr lang="it-IT" sz="2400" dirty="0"/>
              </a:p>
              <a:p>
                <a:endParaRPr lang="en-US" sz="2400" dirty="0"/>
              </a:p>
              <a:p>
                <a:endParaRPr lang="pt-BR" sz="2400" dirty="0"/>
              </a:p>
              <a:p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1141382"/>
                <a:ext cx="9975273" cy="7109639"/>
              </a:xfrm>
              <a:prstGeom prst="rect">
                <a:avLst/>
              </a:prstGeom>
              <a:blipFill rotWithShape="1">
                <a:blip r:embed="rId3"/>
                <a:stretch>
                  <a:fillRect l="-978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33464" y="305320"/>
            <a:ext cx="349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3377757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33464" y="1141382"/>
            <a:ext cx="99752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&gt;&gt; pretty(A)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/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B=simplify(b(</a:t>
            </a:r>
            <a:r>
              <a:rPr lang="en-US" sz="2400" dirty="0" err="1">
                <a:solidFill>
                  <a:srgbClr val="002060"/>
                </a:solidFill>
              </a:rPr>
              <a:t>f,x,k,pi</a:t>
            </a:r>
            <a:r>
              <a:rPr lang="en-US" sz="2400" dirty="0">
                <a:solidFill>
                  <a:srgbClr val="002060"/>
                </a:solidFill>
              </a:rPr>
              <a:t>))</a:t>
            </a:r>
            <a:r>
              <a:rPr lang="en-US" sz="2400" dirty="0">
                <a:solidFill>
                  <a:srgbClr val="C00000"/>
                </a:solidFill>
              </a:rPr>
              <a:t>    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     B = 0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16" y="1757370"/>
            <a:ext cx="5133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95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85827" y="970472"/>
            <a:ext cx="9975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fs = @(</a:t>
            </a:r>
            <a:r>
              <a:rPr lang="en-US" sz="2400" dirty="0" err="1">
                <a:solidFill>
                  <a:srgbClr val="002060"/>
                </a:solidFill>
              </a:rPr>
              <a:t>f,x,n,pi</a:t>
            </a:r>
            <a:r>
              <a:rPr lang="en-US" sz="2400" dirty="0">
                <a:solidFill>
                  <a:srgbClr val="002060"/>
                </a:solidFill>
              </a:rPr>
              <a:t>) a(f,x,0,pi)/2 + ...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         </a:t>
            </a:r>
            <a:r>
              <a:rPr lang="en-US" sz="2400" dirty="0" err="1">
                <a:solidFill>
                  <a:srgbClr val="002060"/>
                </a:solidFill>
              </a:rPr>
              <a:t>symsum</a:t>
            </a:r>
            <a:r>
              <a:rPr lang="en-US" sz="2400" dirty="0">
                <a:solidFill>
                  <a:srgbClr val="002060"/>
                </a:solidFill>
              </a:rPr>
              <a:t>(a(</a:t>
            </a:r>
            <a:r>
              <a:rPr lang="en-US" sz="2400" dirty="0" err="1">
                <a:solidFill>
                  <a:srgbClr val="002060"/>
                </a:solidFill>
              </a:rPr>
              <a:t>f,x,k,pi</a:t>
            </a:r>
            <a:r>
              <a:rPr lang="en-US" sz="2400" dirty="0">
                <a:solidFill>
                  <a:srgbClr val="002060"/>
                </a:solidFill>
              </a:rPr>
              <a:t>)*cos(k*x) + b(</a:t>
            </a:r>
            <a:r>
              <a:rPr lang="en-US" sz="2400" dirty="0" err="1">
                <a:solidFill>
                  <a:srgbClr val="002060"/>
                </a:solidFill>
              </a:rPr>
              <a:t>f,x,k,pi</a:t>
            </a:r>
            <a:r>
              <a:rPr lang="en-US" sz="2400" dirty="0">
                <a:solidFill>
                  <a:srgbClr val="002060"/>
                </a:solidFill>
              </a:rPr>
              <a:t>)*sin(k*x),</a:t>
            </a:r>
            <a:r>
              <a:rPr lang="en-US" sz="2400" dirty="0" err="1">
                <a:solidFill>
                  <a:srgbClr val="002060"/>
                </a:solidFill>
              </a:rPr>
              <a:t>k,pi,n</a:t>
            </a:r>
            <a:r>
              <a:rPr lang="en-US" sz="2400" dirty="0">
                <a:solidFill>
                  <a:srgbClr val="002060"/>
                </a:solidFill>
              </a:rPr>
              <a:t>);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pretty(fs(f,x,2,pi))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91" y="3148321"/>
            <a:ext cx="70961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73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79963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5494" y="123079"/>
            <a:ext cx="8122024" cy="697192"/>
          </a:xfrm>
        </p:spPr>
        <p:txBody>
          <a:bodyPr>
            <a:normAutofit fontScale="90000"/>
          </a:bodyPr>
          <a:lstStyle/>
          <a:p>
            <a:pPr algn="just"/>
            <a:b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 Series over an arbitrary interval</a:t>
            </a:r>
            <a:endParaRPr lang="en-US" sz="27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FFA87E8-4C0C-8A43-AC97-E585401797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F2BA70E-70BA-A8AE-5EAE-16E1E735EB64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4DA105-FE44-2F90-2A69-28B994D191F5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7B6B77-B352-CCE9-7B1E-3D706BBC1A19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16ED1F-E37A-AA2A-29E2-0393F70D3047}"/>
                  </a:ext>
                </a:extLst>
              </p:cNvPr>
              <p:cNvSpPr txBox="1"/>
              <p:nvPr/>
            </p:nvSpPr>
            <p:spPr>
              <a:xfrm>
                <a:off x="259316" y="952995"/>
                <a:ext cx="10049421" cy="5899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Fourier series expansion of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over the interval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𝐿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given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𝑐𝑜𝑠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cs typeface="Calibri" panose="020F0502020204030204" pitchFamily="34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𝜋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cs typeface="Calibri" panose="020F0502020204030204" pitchFamily="34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𝑠𝑖𝑛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cs typeface="Calibri" panose="020F0502020204030204" pitchFamily="34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ea typeface="Cambria Math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rgbClr val="002060"/>
                                        </a:solidFill>
                                        <a:latin typeface="Cambria Math"/>
                                        <a:cs typeface="Calibri" panose="020F0502020204030204" pitchFamily="34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,</m:t>
                        </m:r>
                      </m:e>
                    </m:nary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where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𝐿</m:t>
                        </m:r>
                      </m:den>
                    </m:f>
                    <m:nary>
                      <m:nary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𝐿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ea typeface="Cambria Math"/>
                            <a:cs typeface="Calibri" panose="020F0502020204030204" pitchFamily="34" charset="0"/>
                          </a:rPr>
                          <m:t>𝐿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/>
                            <a:cs typeface="Calibri" panose="020F0502020204030204" pitchFamily="3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rgbClr val="002060"/>
                          </a:solidFill>
                          <a:latin typeface="Cambria Math"/>
                          <a:cs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𝐿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cs typeface="Calibri" panose="020F0502020204030204" pitchFamily="34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Cambria Math"/>
                                      <a:cs typeface="Calibri" panose="020F0502020204030204" pitchFamily="34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Cambria Math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cs typeface="Calibri" panose="020F0502020204030204" pitchFamily="34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;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=1,2,…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en-US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𝐿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ea typeface="Cambria Math"/>
                              <a:cs typeface="Calibri" panose="020F0502020204030204" pitchFamily="34" charset="0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cs typeface="Calibri" panose="020F0502020204030204" pitchFamily="34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Cambria Math"/>
                                      <a:cs typeface="Calibri" panose="020F0502020204030204" pitchFamily="34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Cambria Math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cs typeface="Calibri" panose="020F0502020204030204" pitchFamily="34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i="1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;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/>
                              <a:cs typeface="Calibri" panose="020F0502020204030204" pitchFamily="34" charset="0"/>
                            </a:rPr>
                            <m:t>=1,2,…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E16ED1F-E37A-AA2A-29E2-0393F70D3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6" y="952995"/>
                <a:ext cx="10049421" cy="5899628"/>
              </a:xfrm>
              <a:prstGeom prst="rect">
                <a:avLst/>
              </a:prstGeom>
              <a:blipFill rotWithShape="1">
                <a:blip r:embed="rId3"/>
                <a:stretch>
                  <a:fillRect l="-971" r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142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3464" y="1141382"/>
                <a:ext cx="9975273" cy="7109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Find the Fourier series for the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=−1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=1.</m:t>
                    </m:r>
                  </m:oMath>
                </a14:m>
                <a:endParaRPr lang="en-US" sz="24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rgbClr val="002060"/>
                    </a:solidFill>
                  </a:rPr>
                  <a:t>&gt;&gt; syms x k n pi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evalin</a:t>
                </a:r>
                <a:r>
                  <a:rPr lang="en-US" sz="2400" dirty="0">
                    <a:solidFill>
                      <a:srgbClr val="002060"/>
                    </a:solidFill>
                  </a:rPr>
                  <a:t>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symengine</a:t>
                </a:r>
                <a:r>
                  <a:rPr lang="en-US" sz="2400" dirty="0">
                    <a:solidFill>
                      <a:srgbClr val="002060"/>
                    </a:solidFill>
                  </a:rPr>
                  <a:t>,'assume(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k,Type</a:t>
                </a:r>
                <a:r>
                  <a:rPr lang="en-US" sz="2400" dirty="0">
                    <a:solidFill>
                      <a:srgbClr val="002060"/>
                    </a:solidFill>
                  </a:rPr>
                  <a:t>::Integer)');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</a:rPr>
                  <a:t>&gt;&gt; a = @(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f,x,k,L</a:t>
                </a:r>
                <a:r>
                  <a:rPr lang="en-US" sz="2400" dirty="0">
                    <a:solidFill>
                      <a:srgbClr val="002060"/>
                    </a:solidFill>
                  </a:rPr>
                  <a:t>) 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int</a:t>
                </a:r>
                <a:r>
                  <a:rPr lang="en-US" sz="2400" dirty="0">
                    <a:solidFill>
                      <a:srgbClr val="002060"/>
                    </a:solidFill>
                  </a:rPr>
                  <a:t>(f*cos(k*pi*x/L)/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L,x</a:t>
                </a:r>
                <a:r>
                  <a:rPr lang="en-US" sz="2400" dirty="0">
                    <a:solidFill>
                      <a:srgbClr val="002060"/>
                    </a:solidFill>
                  </a:rPr>
                  <a:t>,-L,L);</a:t>
                </a:r>
              </a:p>
              <a:p>
                <a:pPr>
                  <a:lnSpc>
                    <a:spcPct val="150000"/>
                  </a:lnSpc>
                </a:pPr>
                <a:r>
                  <a:rPr lang="it-IT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da-DK" sz="2400" dirty="0">
                    <a:solidFill>
                      <a:srgbClr val="002060"/>
                    </a:solidFill>
                  </a:rPr>
                  <a:t>b = @(f,x,k,L) int(f*sin(k*pi*x/L)/L,x,-L,L);</a:t>
                </a:r>
              </a:p>
              <a:p>
                <a:pPr>
                  <a:lnSpc>
                    <a:spcPct val="150000"/>
                  </a:lnSpc>
                </a:pPr>
                <a:r>
                  <a:rPr lang="da-DK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>
                    <a:solidFill>
                      <a:srgbClr val="002060"/>
                    </a:solidFill>
                  </a:rPr>
                  <a:t>f=abs(x)</a:t>
                </a:r>
              </a:p>
              <a:p>
                <a:pPr>
                  <a:lnSpc>
                    <a:spcPct val="150000"/>
                  </a:lnSpc>
                </a:pPr>
                <a:r>
                  <a:rPr lang="da-DK" sz="2400" dirty="0">
                    <a:solidFill>
                      <a:srgbClr val="002060"/>
                    </a:solidFill>
                  </a:rPr>
                  <a:t>&gt;&gt;</a:t>
                </a:r>
                <a:r>
                  <a:rPr lang="en-US" sz="2400" dirty="0">
                    <a:solidFill>
                      <a:srgbClr val="002060"/>
                    </a:solidFill>
                  </a:rPr>
                  <a:t> A=simplify(a(f,x,k,1))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C00000"/>
                    </a:solidFill>
                  </a:rPr>
                  <a:t>     </a:t>
                </a:r>
                <a:r>
                  <a:rPr lang="sv-SE" sz="2400" dirty="0">
                    <a:solidFill>
                      <a:srgbClr val="C00000"/>
                    </a:solidFill>
                  </a:rPr>
                  <a:t>-(2*(2*sin((k*pi)/2)^2 - k*pi*sin(k*pi)))/(k^2*pi^2)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rgbClr val="002060"/>
                  </a:solidFill>
                </a:endParaRPr>
              </a:p>
              <a:p>
                <a:endParaRPr lang="en-US" sz="2400" dirty="0"/>
              </a:p>
              <a:p>
                <a:endParaRPr lang="da-DK" sz="2400" dirty="0"/>
              </a:p>
              <a:p>
                <a:endParaRPr lang="it-IT" sz="2400" dirty="0"/>
              </a:p>
              <a:p>
                <a:endParaRPr lang="en-US" sz="2400" dirty="0"/>
              </a:p>
              <a:p>
                <a:endParaRPr lang="pt-BR" sz="2400" dirty="0"/>
              </a:p>
              <a:p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1141382"/>
                <a:ext cx="9975273" cy="7109639"/>
              </a:xfrm>
              <a:prstGeom prst="rect">
                <a:avLst/>
              </a:prstGeom>
              <a:blipFill rotWithShape="1">
                <a:blip r:embed="rId3"/>
                <a:stretch>
                  <a:fillRect l="-978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33464" y="305320"/>
            <a:ext cx="349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609389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33464" y="1141382"/>
            <a:ext cx="99752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&gt;&gt; pretty(A)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/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B=simplify(b(f,x,k,1))</a:t>
            </a:r>
          </a:p>
          <a:p>
            <a:r>
              <a:rPr lang="en-US" sz="2400" dirty="0">
                <a:solidFill>
                  <a:srgbClr val="C00000"/>
                </a:solidFill>
              </a:rPr>
              <a:t>     B = 0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78" y="1650670"/>
            <a:ext cx="3900673" cy="1330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4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85827" y="970472"/>
            <a:ext cx="9975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fs = @(</a:t>
            </a:r>
            <a:r>
              <a:rPr lang="en-US" sz="2400" dirty="0" err="1">
                <a:solidFill>
                  <a:srgbClr val="002060"/>
                </a:solidFill>
              </a:rPr>
              <a:t>f,x,n,L</a:t>
            </a:r>
            <a:r>
              <a:rPr lang="en-US" sz="2400" dirty="0">
                <a:solidFill>
                  <a:srgbClr val="002060"/>
                </a:solidFill>
              </a:rPr>
              <a:t>) a(f,x,0,L)/2 + ...</a:t>
            </a:r>
          </a:p>
          <a:p>
            <a:r>
              <a:rPr lang="en-US" sz="2400" dirty="0">
                <a:solidFill>
                  <a:srgbClr val="002060"/>
                </a:solidFill>
              </a:rPr>
              <a:t>             </a:t>
            </a:r>
            <a:r>
              <a:rPr lang="en-US" sz="2400" dirty="0" err="1">
                <a:solidFill>
                  <a:srgbClr val="002060"/>
                </a:solidFill>
              </a:rPr>
              <a:t>symsum</a:t>
            </a:r>
            <a:r>
              <a:rPr lang="en-US" sz="2400" dirty="0">
                <a:solidFill>
                  <a:srgbClr val="002060"/>
                </a:solidFill>
              </a:rPr>
              <a:t>(a(</a:t>
            </a:r>
            <a:r>
              <a:rPr lang="en-US" sz="2400" dirty="0" err="1">
                <a:solidFill>
                  <a:srgbClr val="002060"/>
                </a:solidFill>
              </a:rPr>
              <a:t>f,x,k,L</a:t>
            </a:r>
            <a:r>
              <a:rPr lang="en-US" sz="2400" dirty="0">
                <a:solidFill>
                  <a:srgbClr val="002060"/>
                </a:solidFill>
              </a:rPr>
              <a:t>)*cos(k*pi*x/L) + b(</a:t>
            </a:r>
            <a:r>
              <a:rPr lang="en-US" sz="2400" dirty="0" err="1">
                <a:solidFill>
                  <a:srgbClr val="002060"/>
                </a:solidFill>
              </a:rPr>
              <a:t>f,x,k,L</a:t>
            </a:r>
            <a:r>
              <a:rPr lang="en-US" sz="2400" dirty="0">
                <a:solidFill>
                  <a:srgbClr val="002060"/>
                </a:solidFill>
              </a:rPr>
              <a:t>)*sin(k*pi*x/L),k,1,n);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&gt;&gt; pretty(fs(f,x,2,1))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27" y="3028208"/>
            <a:ext cx="7546273" cy="199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566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1184448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67074" y="1517909"/>
            <a:ext cx="99752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&gt;&gt; </a:t>
            </a:r>
            <a:r>
              <a:rPr lang="en-US" sz="2400" dirty="0" err="1">
                <a:solidFill>
                  <a:srgbClr val="002060"/>
                </a:solidFill>
              </a:rPr>
              <a:t>ezplot</a:t>
            </a:r>
            <a:r>
              <a:rPr lang="en-US" sz="2400" dirty="0">
                <a:solidFill>
                  <a:srgbClr val="002060"/>
                </a:solidFill>
              </a:rPr>
              <a:t>(fs(f,x,2,1),-1,1)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hold on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</a:t>
            </a:r>
            <a:r>
              <a:rPr lang="en-US" sz="2400" dirty="0" err="1">
                <a:solidFill>
                  <a:srgbClr val="002060"/>
                </a:solidFill>
              </a:rPr>
              <a:t>ezplot</a:t>
            </a:r>
            <a:r>
              <a:rPr lang="en-US" sz="2400" dirty="0">
                <a:solidFill>
                  <a:srgbClr val="002060"/>
                </a:solidFill>
              </a:rPr>
              <a:t>(f,-1,1)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hold off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title('Partial sum with n=2')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7074" y="294060"/>
                <a:ext cx="93449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Here are the plots of the partial sums for n=2,5,10. The plot also shows the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74" y="294060"/>
                <a:ext cx="9344926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97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55" y="1519863"/>
            <a:ext cx="477202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0746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85827" y="995573"/>
            <a:ext cx="99752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&gt;&gt; </a:t>
            </a:r>
            <a:r>
              <a:rPr lang="en-US" sz="2400" dirty="0" err="1">
                <a:solidFill>
                  <a:srgbClr val="002060"/>
                </a:solidFill>
              </a:rPr>
              <a:t>ezplot</a:t>
            </a:r>
            <a:r>
              <a:rPr lang="en-US" sz="2400" dirty="0">
                <a:solidFill>
                  <a:srgbClr val="002060"/>
                </a:solidFill>
              </a:rPr>
              <a:t>(fs(f,x,5,1),-1,1)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hold on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</a:t>
            </a:r>
            <a:r>
              <a:rPr lang="en-US" sz="2400" dirty="0" err="1">
                <a:solidFill>
                  <a:srgbClr val="002060"/>
                </a:solidFill>
              </a:rPr>
              <a:t>ezplot</a:t>
            </a:r>
            <a:r>
              <a:rPr lang="en-US" sz="2400" dirty="0">
                <a:solidFill>
                  <a:srgbClr val="002060"/>
                </a:solidFill>
              </a:rPr>
              <a:t>(f,-1,1)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hold off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title('Partial sum with n=5')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864" y="995573"/>
            <a:ext cx="44958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7808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63815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85827" y="995573"/>
            <a:ext cx="99752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&gt;&gt; </a:t>
            </a:r>
            <a:r>
              <a:rPr lang="en-US" sz="2400" dirty="0" err="1">
                <a:solidFill>
                  <a:srgbClr val="002060"/>
                </a:solidFill>
              </a:rPr>
              <a:t>ezplot</a:t>
            </a:r>
            <a:r>
              <a:rPr lang="en-US" sz="2400" dirty="0">
                <a:solidFill>
                  <a:srgbClr val="002060"/>
                </a:solidFill>
              </a:rPr>
              <a:t>(fs(f,x,10,1),-1,1)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hold on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</a:t>
            </a:r>
            <a:r>
              <a:rPr lang="en-US" sz="2400" dirty="0" err="1">
                <a:solidFill>
                  <a:srgbClr val="002060"/>
                </a:solidFill>
              </a:rPr>
              <a:t>ezplot</a:t>
            </a:r>
            <a:r>
              <a:rPr lang="en-US" sz="2400" dirty="0">
                <a:solidFill>
                  <a:srgbClr val="002060"/>
                </a:solidFill>
              </a:rPr>
              <a:t>(f,-1,1)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hold off</a:t>
            </a:r>
          </a:p>
          <a:p>
            <a:r>
              <a:rPr lang="en-US" sz="2400" dirty="0">
                <a:solidFill>
                  <a:srgbClr val="002060"/>
                </a:solidFill>
              </a:rPr>
              <a:t>&gt;&gt; title('Partial sum with n=10')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745" y="887388"/>
            <a:ext cx="4600575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98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285827" y="879963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5494" y="123079"/>
            <a:ext cx="8122024" cy="697192"/>
          </a:xfrm>
        </p:spPr>
        <p:txBody>
          <a:bodyPr>
            <a:normAutofit fontScale="90000"/>
          </a:bodyPr>
          <a:lstStyle/>
          <a:p>
            <a:pPr algn="just"/>
            <a:b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 Transform</a:t>
            </a:r>
            <a:endParaRPr lang="en-US" sz="27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FFA87E8-4C0C-8A43-AC97-E585401797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F2BA70E-70BA-A8AE-5EAE-16E1E735EB64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4DA105-FE44-2F90-2A69-28B994D191F5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7B6B77-B352-CCE9-7B1E-3D706BBC1A19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16ED1F-E37A-AA2A-29E2-0393F70D3047}"/>
                  </a:ext>
                </a:extLst>
              </p:cNvPr>
              <p:cNvSpPr txBox="1"/>
              <p:nvPr/>
            </p:nvSpPr>
            <p:spPr>
              <a:xfrm>
                <a:off x="259317" y="952995"/>
                <a:ext cx="10028354" cy="529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Fourier transform expresses a signal (or function)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the frequency domain, that is, the signal is described by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It is written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 other words, the Fourier transform of a signal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a signal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An alternative way of writing this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mathematical expression of Fourier transform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𝐹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</a:rPr>
                  <a:t>It is clear that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is a complex function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</a:t>
                </a: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16ED1F-E37A-AA2A-29E2-0393F70D3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7" y="952995"/>
                <a:ext cx="10028354" cy="5297604"/>
              </a:xfrm>
              <a:prstGeom prst="rect">
                <a:avLst/>
              </a:prstGeom>
              <a:blipFill>
                <a:blip r:embed="rId3"/>
                <a:stretch>
                  <a:fillRect l="-851" r="-912" b="-1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925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742777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4282" y="718570"/>
                <a:ext cx="9975273" cy="567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</a:rPr>
                  <a:t>In the case of Fourier transform,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has to be expressed in the frequency domain. So, we replace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Hence,  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𝐹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𝜋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</a:rPr>
                  <a:t>In order to return from frequency domain to time domain, the inverse Fourier transform is applied. The inverse Fourier transform is defined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; </a:t>
                </a:r>
                <a:r>
                  <a:rPr lang="en-US" sz="2400" dirty="0">
                    <a:solidFill>
                      <a:srgbClr val="002060"/>
                    </a:solidFill>
                  </a:rPr>
                  <a:t>or alternatively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𝐹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sup>
                        </m:sSup>
                      </m:e>
                    </m:groupCh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mathematical expression for inverse Fourier transform is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2" y="718570"/>
                <a:ext cx="9975273" cy="5674759"/>
              </a:xfrm>
              <a:prstGeom prst="rect">
                <a:avLst/>
              </a:prstGeom>
              <a:blipFill>
                <a:blip r:embed="rId3"/>
                <a:stretch>
                  <a:fillRect l="-856" r="-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33464" y="305320"/>
            <a:ext cx="349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 Transform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10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464" y="305320"/>
                <a:ext cx="65333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Plotting of Fourier transform of a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=1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305320"/>
                <a:ext cx="6533328" cy="461665"/>
              </a:xfrm>
              <a:prstGeom prst="rect">
                <a:avLst/>
              </a:prstGeom>
              <a:blipFill>
                <a:blip r:embed="rId3"/>
                <a:stretch>
                  <a:fillRect l="-1494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57E3723-B722-D047-FB87-7213D420B279}"/>
              </a:ext>
            </a:extLst>
          </p:cNvPr>
          <p:cNvSpPr txBox="1"/>
          <p:nvPr/>
        </p:nvSpPr>
        <p:spPr>
          <a:xfrm>
            <a:off x="420296" y="1173486"/>
            <a:ext cx="94787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&gt;&gt; </a:t>
            </a:r>
            <a:r>
              <a:rPr lang="en-IN" sz="2400" dirty="0" err="1">
                <a:solidFill>
                  <a:srgbClr val="002060"/>
                </a:solidFill>
              </a:rPr>
              <a:t>clf</a:t>
            </a:r>
            <a:endParaRPr lang="en-IN" sz="2400" dirty="0">
              <a:solidFill>
                <a:srgbClr val="002060"/>
              </a:solidFill>
            </a:endParaRPr>
          </a:p>
          <a:p>
            <a:r>
              <a:rPr lang="en-IN" sz="2400" dirty="0">
                <a:solidFill>
                  <a:srgbClr val="002060"/>
                </a:solidFill>
              </a:rPr>
              <a:t>&gt;&gt; clear all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f=-4:0.01:4;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</a:t>
            </a:r>
            <a:r>
              <a:rPr lang="en-IN" sz="2400" dirty="0" err="1">
                <a:solidFill>
                  <a:srgbClr val="002060"/>
                </a:solidFill>
              </a:rPr>
              <a:t>syms</a:t>
            </a:r>
            <a:r>
              <a:rPr lang="en-IN" sz="2400" dirty="0">
                <a:solidFill>
                  <a:srgbClr val="002060"/>
                </a:solidFill>
              </a:rPr>
              <a:t> t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F=int(1*exp(-</a:t>
            </a:r>
            <a:r>
              <a:rPr lang="en-IN" sz="2400" dirty="0" err="1">
                <a:solidFill>
                  <a:srgbClr val="002060"/>
                </a:solidFill>
              </a:rPr>
              <a:t>i</a:t>
            </a:r>
            <a:r>
              <a:rPr lang="en-IN" sz="2400" dirty="0">
                <a:solidFill>
                  <a:srgbClr val="002060"/>
                </a:solidFill>
              </a:rPr>
              <a:t>*2*pi*f*t),t,-0.5,0.5);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F1=double(F);    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subplot(211)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plot(</a:t>
            </a:r>
            <a:r>
              <a:rPr lang="en-IN" sz="2400" dirty="0" err="1">
                <a:solidFill>
                  <a:srgbClr val="002060"/>
                </a:solidFill>
              </a:rPr>
              <a:t>f,abs</a:t>
            </a:r>
            <a:r>
              <a:rPr lang="en-IN" sz="2400" dirty="0">
                <a:solidFill>
                  <a:srgbClr val="002060"/>
                </a:solidFill>
              </a:rPr>
              <a:t>(F1))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subplot(212)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plot(</a:t>
            </a:r>
            <a:r>
              <a:rPr lang="en-IN" sz="2400" dirty="0" err="1">
                <a:solidFill>
                  <a:srgbClr val="002060"/>
                </a:solidFill>
              </a:rPr>
              <a:t>f,angle</a:t>
            </a:r>
            <a:r>
              <a:rPr lang="en-IN" sz="2400" dirty="0">
                <a:solidFill>
                  <a:srgbClr val="002060"/>
                </a:solidFill>
              </a:rPr>
              <a:t>(F1))</a:t>
            </a:r>
          </a:p>
          <a:p>
            <a:r>
              <a:rPr lang="en-IN" sz="2400" dirty="0">
                <a:solidFill>
                  <a:srgbClr val="002060"/>
                </a:solidFill>
              </a:rPr>
              <a:t>&gt;&gt; grid 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935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464" y="305320"/>
                <a:ext cx="4792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Plotting of Fourier transform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305320"/>
                <a:ext cx="4792451" cy="461665"/>
              </a:xfrm>
              <a:prstGeom prst="rect">
                <a:avLst/>
              </a:prstGeom>
              <a:blipFill>
                <a:blip r:embed="rId3"/>
                <a:stretch>
                  <a:fillRect l="-203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5403448-8B2D-FFCE-3CDF-BE0829218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59" y="1014434"/>
            <a:ext cx="8069591" cy="539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22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464" y="305320"/>
                <a:ext cx="58739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Plotting of Fourier transform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305320"/>
                <a:ext cx="5873905" cy="461665"/>
              </a:xfrm>
              <a:prstGeom prst="rect">
                <a:avLst/>
              </a:prstGeom>
              <a:blipFill>
                <a:blip r:embed="rId3"/>
                <a:stretch>
                  <a:fillRect l="-1661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57E3723-B722-D047-FB87-7213D420B279}"/>
              </a:ext>
            </a:extLst>
          </p:cNvPr>
          <p:cNvSpPr txBox="1"/>
          <p:nvPr/>
        </p:nvSpPr>
        <p:spPr>
          <a:xfrm>
            <a:off x="441362" y="1076215"/>
            <a:ext cx="9478751" cy="494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f=-4:0.01:4;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syms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F=int((2*t)*exp(-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*2*pi*f*t),t,-0.5,0.5);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F1=double(F);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subplot(211)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plot(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f,abs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(F1))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subplot(212)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plot(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f,angle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(F1))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grid on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806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464" y="305320"/>
                <a:ext cx="4792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Plotting of Fourier transform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305320"/>
                <a:ext cx="4792451" cy="461665"/>
              </a:xfrm>
              <a:prstGeom prst="rect">
                <a:avLst/>
              </a:prstGeom>
              <a:blipFill>
                <a:blip r:embed="rId3"/>
                <a:stretch>
                  <a:fillRect l="-203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4305E12-AD84-DCBD-C533-575DDB7B8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64" y="1063871"/>
            <a:ext cx="7904054" cy="54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68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464" y="305320"/>
                <a:ext cx="56804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Plotting of Fourier transform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305320"/>
                <a:ext cx="5680474" cy="461665"/>
              </a:xfrm>
              <a:prstGeom prst="rect">
                <a:avLst/>
              </a:prstGeom>
              <a:blipFill>
                <a:blip r:embed="rId3"/>
                <a:stretch>
                  <a:fillRect l="-1717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3B70D0-5FFF-696C-9B09-799C73DB7F46}"/>
              </a:ext>
            </a:extLst>
          </p:cNvPr>
          <p:cNvSpPr txBox="1"/>
          <p:nvPr/>
        </p:nvSpPr>
        <p:spPr>
          <a:xfrm>
            <a:off x="333464" y="1037492"/>
            <a:ext cx="8696236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f=-4:0.01:4;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syms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F=int(exp(-t)*exp(-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*2*pi*f*t),t,-0.5,0.5);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F1=double(F);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subplot(211)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plot(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f,abs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(F1))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subplot(212)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plot(</a:t>
            </a:r>
            <a:r>
              <a:rPr lang="en-US" sz="2400" dirty="0" err="1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f,angle</a:t>
            </a: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(F1))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24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&gt;&gt; grid on</a:t>
            </a:r>
            <a:endParaRPr lang="en-IN" sz="2400" dirty="0">
              <a:solidFill>
                <a:srgbClr val="00206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173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3464" y="305320"/>
                <a:ext cx="4792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Plotting of Fourier transform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305320"/>
                <a:ext cx="4792451" cy="461665"/>
              </a:xfrm>
              <a:prstGeom prst="rect">
                <a:avLst/>
              </a:prstGeom>
              <a:blipFill>
                <a:blip r:embed="rId3"/>
                <a:stretch>
                  <a:fillRect l="-203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77E6C26-E440-997F-B8E7-C743B1FBA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64" y="1058395"/>
            <a:ext cx="7904054" cy="53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91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33464" y="305320"/>
            <a:ext cx="527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command ``</a:t>
            </a:r>
            <a:r>
              <a:rPr lang="en-US" sz="24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fourier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`` and ``</a:t>
            </a:r>
            <a:r>
              <a:rPr lang="en-US" sz="24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ifourier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``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/>
              <p:nvPr/>
            </p:nvSpPr>
            <p:spPr>
              <a:xfrm>
                <a:off x="333464" y="1037492"/>
                <a:ext cx="9338074" cy="3913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002060"/>
                    </a:solidFill>
                  </a:rPr>
                  <a:t>The computation of the integral is not always a trivial method.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002060"/>
                    </a:solidFill>
                  </a:rPr>
                  <a:t>In MATLAB, there is a possibility to compute the Fourier transform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IN" sz="2400" dirty="0">
                    <a:solidFill>
                      <a:srgbClr val="002060"/>
                    </a:solidFill>
                  </a:rPr>
                  <a:t> of a signal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2400" dirty="0">
                    <a:solidFill>
                      <a:srgbClr val="002060"/>
                    </a:solidFill>
                  </a:rPr>
                  <a:t> using the command </a:t>
                </a:r>
                <a:r>
                  <a:rPr lang="en-IN" sz="2400" dirty="0">
                    <a:solidFill>
                      <a:srgbClr val="C00000"/>
                    </a:solidFill>
                  </a:rPr>
                  <a:t>``</a:t>
                </a:r>
                <a:r>
                  <a:rPr lang="en-IN" sz="2400" dirty="0" err="1">
                    <a:solidFill>
                      <a:srgbClr val="C00000"/>
                    </a:solidFill>
                  </a:rPr>
                  <a:t>fourier</a:t>
                </a:r>
                <a:r>
                  <a:rPr lang="en-IN" sz="2400" dirty="0">
                    <a:solidFill>
                      <a:srgbClr val="C00000"/>
                    </a:solidFill>
                  </a:rPr>
                  <a:t>``.</a:t>
                </a:r>
                <a:endParaRPr lang="en-IN" sz="2400" dirty="0">
                  <a:solidFill>
                    <a:srgbClr val="002060"/>
                  </a:solidFill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2400" dirty="0">
                    <a:solidFill>
                      <a:srgbClr val="002060"/>
                    </a:solidFill>
                  </a:rPr>
                  <a:t>Correspondingly, the inverse Fourier transform is computed using the command 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``</a:t>
                </a:r>
                <a:r>
                  <a:rPr lang="en-US" sz="2400" dirty="0" err="1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ifourier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``.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While executing these two commands, time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and frequency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𝜔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must be declared as symbolic variables.</a:t>
                </a:r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1037492"/>
                <a:ext cx="9338074" cy="3913059"/>
              </a:xfrm>
              <a:prstGeom prst="rect">
                <a:avLst/>
              </a:prstGeom>
              <a:blipFill>
                <a:blip r:embed="rId3"/>
                <a:stretch>
                  <a:fillRect l="-914" r="-979" b="-26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708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33464" y="305320"/>
            <a:ext cx="527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Problems: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/>
              <p:nvPr/>
            </p:nvSpPr>
            <p:spPr>
              <a:xfrm>
                <a:off x="262039" y="970472"/>
                <a:ext cx="9338074" cy="3501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C00000"/>
                    </a:solidFill>
                  </a:rPr>
                  <a:t>Compute the Fourier transform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endParaRPr lang="en-IN" sz="2400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syms</a:t>
                </a:r>
                <a:r>
                  <a:rPr lang="fr-FR" sz="2400" dirty="0">
                    <a:solidFill>
                      <a:srgbClr val="002060"/>
                    </a:solidFill>
                  </a:rPr>
                  <a:t> t x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f =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exp</a:t>
                </a:r>
                <a:r>
                  <a:rPr lang="fr-FR" sz="2400" dirty="0">
                    <a:solidFill>
                      <a:srgbClr val="002060"/>
                    </a:solidFill>
                  </a:rPr>
                  <a:t>(-t^2-x^2);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fourier</a:t>
                </a:r>
                <a:r>
                  <a:rPr lang="fr-FR" sz="2400" dirty="0">
                    <a:solidFill>
                      <a:srgbClr val="002060"/>
                    </a:solidFill>
                  </a:rPr>
                  <a:t>(f)</a:t>
                </a:r>
                <a:r>
                  <a:rPr lang="en-IN" sz="2400" dirty="0">
                    <a:solidFill>
                      <a:srgbClr val="002060"/>
                    </a:solidFill>
                  </a:rPr>
                  <a:t>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</a:t>
                </a:r>
                <a:r>
                  <a:rPr lang="fr-FR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ans = pi^(1/2)*</a:t>
                </a:r>
                <a:r>
                  <a:rPr lang="fr-FR" sz="2400" dirty="0" err="1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</a:t>
                </a:r>
                <a:r>
                  <a:rPr lang="fr-FR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(- t^2 - w^2/4)</a:t>
                </a:r>
              </a:p>
              <a:p>
                <a:pPr algn="just">
                  <a:lnSpc>
                    <a:spcPct val="150000"/>
                  </a:lnSpc>
                </a:pPr>
                <a:endParaRPr lang="en-US" sz="2400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39" y="970472"/>
                <a:ext cx="9338074" cy="3501280"/>
              </a:xfrm>
              <a:prstGeom prst="rect">
                <a:avLst/>
              </a:prstGeom>
              <a:blipFill>
                <a:blip r:embed="rId3"/>
                <a:stretch>
                  <a:fillRect l="-10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4650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33464" y="305320"/>
            <a:ext cx="527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Problems: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/>
              <p:nvPr/>
            </p:nvSpPr>
            <p:spPr>
              <a:xfrm>
                <a:off x="262039" y="970472"/>
                <a:ext cx="9338074" cy="2881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C00000"/>
                    </a:solidFill>
                  </a:rPr>
                  <a:t>Compute the Fourier transform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𝑡𝑒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IN" sz="2400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syms</a:t>
                </a:r>
                <a:r>
                  <a:rPr lang="fr-FR" sz="2400" dirty="0">
                    <a:solidFill>
                      <a:srgbClr val="002060"/>
                    </a:solidFill>
                  </a:rPr>
                  <a:t> t x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f = t*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exp</a:t>
                </a:r>
                <a:r>
                  <a:rPr lang="fr-FR" sz="2400" dirty="0">
                    <a:solidFill>
                      <a:srgbClr val="002060"/>
                    </a:solidFill>
                  </a:rPr>
                  <a:t>(-t^2);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fourier</a:t>
                </a:r>
                <a:r>
                  <a:rPr lang="fr-FR" sz="2400" dirty="0">
                    <a:solidFill>
                      <a:srgbClr val="002060"/>
                    </a:solidFill>
                  </a:rPr>
                  <a:t>(f)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     </a:t>
                </a:r>
                <a:r>
                  <a:rPr lang="fr-FR" sz="2400" dirty="0">
                    <a:solidFill>
                      <a:srgbClr val="C00000"/>
                    </a:solidFill>
                  </a:rPr>
                  <a:t>ans = -(w*pi^(1/2)*</a:t>
                </a:r>
                <a:r>
                  <a:rPr lang="fr-FR" sz="2400" dirty="0" err="1">
                    <a:solidFill>
                      <a:srgbClr val="C00000"/>
                    </a:solidFill>
                  </a:rPr>
                  <a:t>exp</a:t>
                </a:r>
                <a:r>
                  <a:rPr lang="fr-FR" sz="2400" dirty="0">
                    <a:solidFill>
                      <a:srgbClr val="C00000"/>
                    </a:solidFill>
                  </a:rPr>
                  <a:t>(-w^2/4)*1i)/2</a:t>
                </a:r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39" y="970472"/>
                <a:ext cx="9338074" cy="2881045"/>
              </a:xfrm>
              <a:prstGeom prst="rect">
                <a:avLst/>
              </a:prstGeom>
              <a:blipFill>
                <a:blip r:embed="rId3"/>
                <a:stretch>
                  <a:fillRect l="-1044" b="-3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993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33464" y="305320"/>
            <a:ext cx="527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Problems: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/>
              <p:nvPr/>
            </p:nvSpPr>
            <p:spPr>
              <a:xfrm>
                <a:off x="333464" y="693240"/>
                <a:ext cx="10111131" cy="5880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C00000"/>
                    </a:solidFill>
                  </a:rPr>
                  <a:t>Compute the inverse Fourier transform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lang="en-IN" sz="2400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syms</a:t>
                </a:r>
                <a:r>
                  <a:rPr lang="fr-FR" sz="2400" dirty="0">
                    <a:solidFill>
                      <a:srgbClr val="002060"/>
                    </a:solidFill>
                  </a:rPr>
                  <a:t> w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F =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exp</a:t>
                </a:r>
                <a:r>
                  <a:rPr lang="fr-FR" sz="2400" dirty="0">
                    <a:solidFill>
                      <a:srgbClr val="002060"/>
                    </a:solidFill>
                  </a:rPr>
                  <a:t>(-w^2/4);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ifourier</a:t>
                </a:r>
                <a:r>
                  <a:rPr lang="fr-FR" sz="2400" dirty="0">
                    <a:solidFill>
                      <a:srgbClr val="002060"/>
                    </a:solidFill>
                  </a:rPr>
                  <a:t>(F)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     </a:t>
                </a:r>
                <a:r>
                  <a:rPr lang="fr-FR" sz="2400" dirty="0">
                    <a:solidFill>
                      <a:srgbClr val="C00000"/>
                    </a:solidFill>
                  </a:rPr>
                  <a:t>ans = </a:t>
                </a:r>
                <a:r>
                  <a:rPr lang="fr-FR" sz="2400" dirty="0" err="1">
                    <a:solidFill>
                      <a:srgbClr val="C00000"/>
                    </a:solidFill>
                  </a:rPr>
                  <a:t>exp</a:t>
                </a:r>
                <a:r>
                  <a:rPr lang="fr-FR" sz="2400" dirty="0">
                    <a:solidFill>
                      <a:srgbClr val="C00000"/>
                    </a:solidFill>
                  </a:rPr>
                  <a:t>(-x^2)/pi^(1/2)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Note:</a:t>
                </a:r>
                <a:r>
                  <a:rPr lang="fr-FR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By default, the inverse transform is in terms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.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 get the result in 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terms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we need to use the following code: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syms</a:t>
                </a:r>
                <a:r>
                  <a:rPr lang="fr-FR" sz="2400" dirty="0">
                    <a:solidFill>
                      <a:srgbClr val="002060"/>
                    </a:solidFill>
                  </a:rPr>
                  <a:t> w t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F =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exp</a:t>
                </a:r>
                <a:r>
                  <a:rPr lang="fr-FR" sz="2400" dirty="0">
                    <a:solidFill>
                      <a:srgbClr val="002060"/>
                    </a:solidFill>
                  </a:rPr>
                  <a:t>(-w^2/4);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ifourier</a:t>
                </a:r>
                <a:r>
                  <a:rPr lang="fr-FR" sz="2400" dirty="0">
                    <a:solidFill>
                      <a:srgbClr val="002060"/>
                    </a:solidFill>
                  </a:rPr>
                  <a:t>(F, t).      </a:t>
                </a:r>
                <a:r>
                  <a:rPr lang="fr-FR" sz="2400" dirty="0" err="1">
                    <a:solidFill>
                      <a:srgbClr val="002060"/>
                    </a:solidFill>
                  </a:rPr>
                  <a:t>Here</a:t>
                </a:r>
                <a:r>
                  <a:rPr lang="fr-FR" sz="2400" dirty="0">
                    <a:solidFill>
                      <a:srgbClr val="002060"/>
                    </a:solidFill>
                  </a:rPr>
                  <a:t>, the output is: </a:t>
                </a:r>
                <a:r>
                  <a:rPr lang="fr-FR" sz="2400" dirty="0">
                    <a:solidFill>
                      <a:srgbClr val="C00000"/>
                    </a:solidFill>
                  </a:rPr>
                  <a:t>ans=</a:t>
                </a:r>
                <a:r>
                  <a:rPr lang="fr-FR" sz="2400" dirty="0" err="1">
                    <a:solidFill>
                      <a:srgbClr val="C00000"/>
                    </a:solidFill>
                  </a:rPr>
                  <a:t>exp</a:t>
                </a:r>
                <a:r>
                  <a:rPr lang="fr-FR" sz="2400" dirty="0">
                    <a:solidFill>
                      <a:srgbClr val="C00000"/>
                    </a:solidFill>
                  </a:rPr>
                  <a:t>(-t^2)/pi^(1/2)</a:t>
                </a:r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64" y="693240"/>
                <a:ext cx="10111131" cy="5880521"/>
              </a:xfrm>
              <a:prstGeom prst="rect">
                <a:avLst/>
              </a:prstGeom>
              <a:blipFill>
                <a:blip r:embed="rId3"/>
                <a:stretch>
                  <a:fillRect l="-965" b="-1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610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>
            <a:off x="333464" y="838766"/>
            <a:ext cx="7904054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2ABAC79-8BC6-1E13-62A3-393783EFBB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7" y="421081"/>
            <a:ext cx="1441901" cy="109878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7D1710-0333-E663-1E81-900A7897AAC2}"/>
              </a:ext>
            </a:extLst>
          </p:cNvPr>
          <p:cNvGrpSpPr/>
          <p:nvPr/>
        </p:nvGrpSpPr>
        <p:grpSpPr>
          <a:xfrm rot="10800000">
            <a:off x="10704809" y="294060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E61C3A-343C-2FF2-5EA7-8B0F56B7301E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2C356-0CE7-E2F5-030D-26568C4A5A9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33464" y="305320"/>
            <a:ext cx="527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Problems:</a:t>
            </a:r>
            <a:endParaRPr lang="en-US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/>
              <p:nvPr/>
            </p:nvSpPr>
            <p:spPr>
              <a:xfrm>
                <a:off x="262039" y="970472"/>
                <a:ext cx="9338074" cy="2947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400" dirty="0">
                    <a:solidFill>
                      <a:srgbClr val="C00000"/>
                    </a:solidFill>
                  </a:rPr>
                  <a:t>Compute </a:t>
                </a:r>
                <a:r>
                  <a:rPr lang="en-IN" sz="2400">
                    <a:solidFill>
                      <a:srgbClr val="C00000"/>
                    </a:solidFill>
                  </a:rPr>
                  <a:t>the inverse Fourier </a:t>
                </a:r>
                <a:r>
                  <a:rPr lang="en-IN" sz="2400" dirty="0">
                    <a:solidFill>
                      <a:srgbClr val="C00000"/>
                    </a:solidFill>
                  </a:rPr>
                  <a:t>transform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sup>
                    </m:sSup>
                  </m:oMath>
                </a14:m>
                <a:endParaRPr lang="en-IN" sz="2400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fr-FR" sz="24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>
                    <a:solidFill>
                      <a:srgbClr val="002060"/>
                    </a:solidFill>
                  </a:rPr>
                  <a:t>&gt;&gt; 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syms</a:t>
                </a:r>
                <a:r>
                  <a:rPr lang="en-US" sz="2400" dirty="0">
                    <a:solidFill>
                      <a:srgbClr val="002060"/>
                    </a:solidFill>
                  </a:rPr>
                  <a:t> a w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</a:rPr>
                  <a:t> &gt;&gt; F = exp(-w^2-a^2);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</a:rPr>
                  <a:t> &gt;&gt; </a:t>
                </a:r>
                <a:r>
                  <a:rPr lang="en-US" sz="2400" dirty="0" err="1">
                    <a:solidFill>
                      <a:srgbClr val="002060"/>
                    </a:solidFill>
                  </a:rPr>
                  <a:t>ifourier</a:t>
                </a:r>
                <a:r>
                  <a:rPr lang="en-US" sz="2400" dirty="0">
                    <a:solidFill>
                      <a:srgbClr val="002060"/>
                    </a:solidFill>
                  </a:rPr>
                  <a:t>(F)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002060"/>
                    </a:solidFill>
                  </a:rPr>
                  <a:t>     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ans</a:t>
                </a:r>
                <a:r>
                  <a:rPr lang="en-US" sz="2400" dirty="0">
                    <a:solidFill>
                      <a:srgbClr val="C00000"/>
                    </a:solidFill>
                  </a:rPr>
                  <a:t> = exp(- a^2 - x^2/4)/(2*pi^(1/2))</a:t>
                </a:r>
                <a:endParaRPr lang="en-US" sz="24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B70D0-5FFF-696C-9B09-799C73DB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39" y="970472"/>
                <a:ext cx="9338074" cy="2947282"/>
              </a:xfrm>
              <a:prstGeom prst="rect">
                <a:avLst/>
              </a:prstGeom>
              <a:blipFill>
                <a:blip r:embed="rId3"/>
                <a:stretch>
                  <a:fillRect l="-1044" b="-1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77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7" y="398927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3048715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DD53A513-A030-3AA7-19E8-A1964AF98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97" y="2100464"/>
            <a:ext cx="3902166" cy="297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9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3383</Words>
  <Application>Microsoft Office PowerPoint</Application>
  <PresentationFormat>Widescreen</PresentationFormat>
  <Paragraphs>356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Menlo</vt:lpstr>
      <vt:lpstr>Times New Roman</vt:lpstr>
      <vt:lpstr>Wingdings</vt:lpstr>
      <vt:lpstr>Office Theme</vt:lpstr>
      <vt:lpstr>PowerPoint Presentation</vt:lpstr>
      <vt:lpstr> Finding Jacobian:</vt:lpstr>
      <vt:lpstr>PowerPoint Presentation</vt:lpstr>
      <vt:lpstr> Finding Jacobian Continuation: </vt:lpstr>
      <vt:lpstr> Finding Jacobian Continuation: </vt:lpstr>
      <vt:lpstr>  </vt:lpstr>
      <vt:lpstr> Finding Jacobian Continuation: </vt:lpstr>
      <vt:lpstr> Finding Jacobian Continuation: </vt:lpstr>
      <vt:lpstr>Finding Jacobian Continuation:</vt:lpstr>
      <vt:lpstr>PowerPoint Presentation</vt:lpstr>
      <vt:lpstr>PowerPoint Presentation</vt:lpstr>
      <vt:lpstr>PowerPoint Presentation</vt:lpstr>
      <vt:lpstr>  </vt:lpstr>
      <vt:lpstr>  </vt:lpstr>
      <vt:lpstr>  </vt:lpstr>
      <vt:lpstr>  </vt:lpstr>
      <vt:lpstr>  </vt:lpstr>
      <vt:lpstr>PowerPoint Presentation</vt:lpstr>
      <vt:lpstr> Fourier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Fourier Series over an arbitrary interval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Fourier Transform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A.S</dc:creator>
  <cp:lastModifiedBy>Vincent A.S</cp:lastModifiedBy>
  <cp:revision>1</cp:revision>
  <dcterms:created xsi:type="dcterms:W3CDTF">2025-05-26T15:27:23Z</dcterms:created>
  <dcterms:modified xsi:type="dcterms:W3CDTF">2025-05-26T15:30:09Z</dcterms:modified>
</cp:coreProperties>
</file>