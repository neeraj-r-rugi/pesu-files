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Default Extension="mp4" ContentType="video/mp4"/>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7" r:id="rId2"/>
    <p:sldId id="257" r:id="rId3"/>
    <p:sldId id="305" r:id="rId4"/>
    <p:sldId id="306" r:id="rId5"/>
    <p:sldId id="307" r:id="rId6"/>
    <p:sldId id="308" r:id="rId7"/>
    <p:sldId id="309" r:id="rId8"/>
    <p:sldId id="310" r:id="rId9"/>
    <p:sldId id="311" r:id="rId10"/>
    <p:sldId id="312" r:id="rId11"/>
    <p:sldId id="313" r:id="rId12"/>
    <p:sldId id="314" r:id="rId13"/>
    <p:sldId id="315" r:id="rId14"/>
    <p:sldId id="317" r:id="rId15"/>
    <p:sldId id="316" r:id="rId16"/>
    <p:sldId id="320" r:id="rId17"/>
    <p:sldId id="322" r:id="rId18"/>
    <p:sldId id="325" r:id="rId19"/>
    <p:sldId id="321" r:id="rId20"/>
    <p:sldId id="323" r:id="rId21"/>
    <p:sldId id="324" r:id="rId22"/>
    <p:sldId id="326" r:id="rId23"/>
    <p:sldId id="345" r:id="rId24"/>
    <p:sldId id="327" r:id="rId25"/>
    <p:sldId id="328" r:id="rId26"/>
    <p:sldId id="329" r:id="rId27"/>
    <p:sldId id="330" r:id="rId28"/>
    <p:sldId id="331" r:id="rId29"/>
    <p:sldId id="332" r:id="rId30"/>
    <p:sldId id="333" r:id="rId31"/>
    <p:sldId id="334" r:id="rId32"/>
    <p:sldId id="335" r:id="rId33"/>
    <p:sldId id="336" r:id="rId34"/>
    <p:sldId id="337" r:id="rId35"/>
    <p:sldId id="338" r:id="rId36"/>
    <p:sldId id="339" r:id="rId37"/>
    <p:sldId id="340" r:id="rId38"/>
    <p:sldId id="341" r:id="rId39"/>
    <p:sldId id="342" r:id="rId40"/>
    <p:sldId id="343" r:id="rId41"/>
    <p:sldId id="344" r:id="rId42"/>
    <p:sldId id="346" r:id="rId43"/>
    <p:sldId id="2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5" d="100"/>
          <a:sy n="65" d="100"/>
        </p:scale>
        <p:origin x="-88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83DE7D-5B56-47AC-7D35-A2BFEE7373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D5EC3CF-62D5-36CC-65ED-40575363AE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7A18916-544F-D635-77C7-9C9C4E802B45}"/>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B305CD43-1354-17E3-5732-CF955A6623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9CEFF91-1232-C33C-0CD2-A7AF5460C3A3}"/>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2311913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107EBB-6FBA-0D2C-CD5A-A1E8B8BB51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672C6D9-7B98-4EED-06DD-C58A4B245F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6B19FFC-C99A-E7B3-282C-C8680239AC0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BE6CA5DA-B8D9-ECBF-1DD3-1E865D2D7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2AA4C6F-5B16-6ABA-1446-35FCEFD41E70}"/>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997528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365A4-780B-A7DF-ABC7-1BB3DAEBAD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C77C20-B13F-1B1F-0F62-806DE3EE39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2EB9CD1-EB78-8724-A550-29E146687D6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8A3E03A7-C723-A608-80B9-79CF1ABA34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0E9E609-CF91-480C-3348-A9A2268AF1BA}"/>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236330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B0797C-C48D-F24B-7B2A-5B87477B8B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44FBE19-DFC4-5209-6486-58F2A8A7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5CC4106-BE17-BDB1-3A8B-1987693F73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DBB1E37-9A5C-C80A-2D3F-132638EB0E79}"/>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E9CD83E0-93FF-8B73-ECA5-1E1E987B07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323EE49-A9B3-CA2B-6CF7-B177CDBA347B}"/>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99954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D2511C-4375-0BB4-2F0D-B672FD51C0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C57199B-B548-2739-B6F5-447842DD56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6982228-B61C-30E3-BAA1-62C704C62C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953718C-B757-8E7C-9D93-4D1E05DC75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505E757-829C-D0D8-038E-991ADFB112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21681EE-2827-F79A-DFC9-4EA55FEB4245}"/>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8" name="Footer Placeholder 7">
            <a:extLst>
              <a:ext uri="{FF2B5EF4-FFF2-40B4-BE49-F238E27FC236}">
                <a16:creationId xmlns:a16="http://schemas.microsoft.com/office/drawing/2014/main" xmlns="" id="{F600CBD9-40AA-D8E3-1B3A-BF314D2A8A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FB0A98CB-7790-5343-D125-D28F009ED49E}"/>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46931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B52BE-4C8A-DBCA-0898-44039EB6BF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71656E1-0B4B-0133-FBB5-6686DBEB50EA}"/>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4" name="Footer Placeholder 3">
            <a:extLst>
              <a:ext uri="{FF2B5EF4-FFF2-40B4-BE49-F238E27FC236}">
                <a16:creationId xmlns:a16="http://schemas.microsoft.com/office/drawing/2014/main" xmlns="" id="{984090DC-84CC-C994-9B17-006C552F5B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BFD7E1C9-606B-9753-F1B0-E2509AD6A034}"/>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93508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82DFC97-E29F-8A66-0A21-A43C4E195E42}"/>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3" name="Footer Placeholder 2">
            <a:extLst>
              <a:ext uri="{FF2B5EF4-FFF2-40B4-BE49-F238E27FC236}">
                <a16:creationId xmlns:a16="http://schemas.microsoft.com/office/drawing/2014/main" xmlns="" id="{04D2A6DD-B06F-91BC-D295-3D76AB9B57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E0CC5D5E-700B-184F-1088-64C70D29DA87}"/>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65996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40CDB7-A685-9B60-D189-644CF2D7A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A5B1B22-99BD-F560-5BBD-75CFD77DB7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A54CC50-19C2-009D-CC41-880E92779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4C98B86-CEAC-71C8-2F7D-A6F70DBC5A9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DC7A138A-56EA-E333-E845-56C9AD8FD6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3A7D4B0-D157-9BE5-CA08-9513089F3A83}"/>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865354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E17ED8-3526-7EDB-F38E-74253AC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0654E1B-04EA-7F44-1EE0-2AB3E673E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1217175-4080-5694-DD47-12D68F5FD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10FBF84-CC42-270D-E0FA-D877238CA37A}"/>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A310EFC9-26C8-F847-07D0-C054A49335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2C8AF31-CBF5-E568-CC7C-59ADC9AB06AB}"/>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36146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ECE70B-3DB8-3ED8-B4ED-E82C13688C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675085E-E71D-1A4C-93E6-BFC0641FD1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6873DA-148A-FF6E-699F-4645151CAD4D}"/>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1BCED837-D87E-F3F0-AA25-E9ABE16F59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1BF7B27-AFC0-E7CA-2EE5-3850959456C4}"/>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732055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6C876DB-5C3A-34D9-347B-37592C7952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5D5D1EF-947F-53E5-2CF1-B0B40EA659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09DD75D-9C19-186E-E625-D04C51117856}"/>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29849DCF-E7C5-9351-CC78-4CCA96163E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807D815-2F1B-CEE2-40B8-8F08E4DECF29}"/>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55126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B8B77DC-324E-A068-3F45-4011C06F5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F9007A8-179A-D83C-7BB9-8AC100A1DC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7077AFC-372A-573A-7B15-4AEF51AF0C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C5E7AD52-C3DD-0EA9-EF90-374FFE4EFE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AC40C952-6EEF-0252-52AC-531BD5FC7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284460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ideo" Target="NULL" TargetMode="External"/><Relationship Id="rId6" Type="http://schemas.openxmlformats.org/officeDocument/2006/relationships/hyperlink" Target="https://www.youtube.com/watch?v=wbNeIn3vVKM-" TargetMode="External"/><Relationship Id="rId5" Type="http://schemas.openxmlformats.org/officeDocument/2006/relationships/image" Target="../media/image21.png"/><Relationship Id="rId4" Type="http://schemas.microsoft.com/office/2007/relationships/media" Target="../media/media1.mp4"/></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ustomShape 1">
            <a:extLst>
              <a:ext uri="{FF2B5EF4-FFF2-40B4-BE49-F238E27FC236}">
                <a16:creationId xmlns:a16="http://schemas.microsoft.com/office/drawing/2014/main" xmlns="" id="{7BB71210-E5B5-E4A0-D562-5ACA4466EE0B}"/>
              </a:ext>
            </a:extLst>
          </p:cNvPr>
          <p:cNvSpPr>
            <a:spLocks noChangeArrowheads="1"/>
          </p:cNvSpPr>
          <p:nvPr/>
        </p:nvSpPr>
        <p:spPr bwMode="auto">
          <a:xfrm>
            <a:off x="4513264" y="2897189"/>
            <a:ext cx="7496175" cy="568325"/>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3199" b="1" dirty="0">
                <a:solidFill>
                  <a:srgbClr val="C55A11"/>
                </a:solidFill>
                <a:latin typeface="Calibri" panose="020F0502020204030204" pitchFamily="34" charset="0"/>
              </a:rPr>
              <a:t>ENVIRONMENTAL STUDIES &amp; LIFE SCIENCES</a:t>
            </a:r>
            <a:endParaRPr lang="en-US" altLang="en-US" sz="1600" dirty="0"/>
          </a:p>
        </p:txBody>
      </p:sp>
      <p:sp>
        <p:nvSpPr>
          <p:cNvPr id="15363" name="CustomShape 2">
            <a:extLst>
              <a:ext uri="{FF2B5EF4-FFF2-40B4-BE49-F238E27FC236}">
                <a16:creationId xmlns:a16="http://schemas.microsoft.com/office/drawing/2014/main" xmlns="" id="{2C80FD19-E4A0-1E4C-93F2-4ED85E36E8FD}"/>
              </a:ext>
            </a:extLst>
          </p:cNvPr>
          <p:cNvSpPr>
            <a:spLocks noChangeArrowheads="1"/>
          </p:cNvSpPr>
          <p:nvPr/>
        </p:nvSpPr>
        <p:spPr bwMode="auto">
          <a:xfrm>
            <a:off x="4668838" y="3827463"/>
            <a:ext cx="7494588" cy="457200"/>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2399" b="1" dirty="0" smtClean="0">
                <a:solidFill>
                  <a:srgbClr val="000000"/>
                </a:solidFill>
                <a:latin typeface="Calibri" panose="020F0502020204030204" pitchFamily="34" charset="0"/>
              </a:rPr>
              <a:t>Faculty Name</a:t>
            </a:r>
            <a:endParaRPr lang="en-US" altLang="en-US" sz="1799" dirty="0"/>
          </a:p>
        </p:txBody>
      </p:sp>
      <p:sp>
        <p:nvSpPr>
          <p:cNvPr id="15364" name="CustomShape 3">
            <a:extLst>
              <a:ext uri="{FF2B5EF4-FFF2-40B4-BE49-F238E27FC236}">
                <a16:creationId xmlns:a16="http://schemas.microsoft.com/office/drawing/2014/main" xmlns="" id="{8D114216-6600-8B35-6883-E7D47723FF32}"/>
              </a:ext>
            </a:extLst>
          </p:cNvPr>
          <p:cNvSpPr>
            <a:spLocks noChangeArrowheads="1"/>
          </p:cNvSpPr>
          <p:nvPr/>
        </p:nvSpPr>
        <p:spPr bwMode="auto">
          <a:xfrm>
            <a:off x="4668838" y="4186238"/>
            <a:ext cx="7494588" cy="455612"/>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2399" dirty="0">
                <a:solidFill>
                  <a:srgbClr val="000000"/>
                </a:solidFill>
                <a:latin typeface="Calibri" panose="020F0502020204030204" pitchFamily="34" charset="0"/>
              </a:rPr>
              <a:t>Department of Biotechnology</a:t>
            </a:r>
            <a:endParaRPr lang="en-US" altLang="en-US" sz="1799" dirty="0"/>
          </a:p>
        </p:txBody>
      </p:sp>
      <p:sp>
        <p:nvSpPr>
          <p:cNvPr id="15365" name="CustomShape 4">
            <a:extLst>
              <a:ext uri="{FF2B5EF4-FFF2-40B4-BE49-F238E27FC236}">
                <a16:creationId xmlns:a16="http://schemas.microsoft.com/office/drawing/2014/main" xmlns="" id="{80BAD9B2-930E-6BB8-6830-1CC97E9DC626}"/>
              </a:ext>
            </a:extLst>
          </p:cNvPr>
          <p:cNvSpPr>
            <a:spLocks noChangeArrowheads="1"/>
          </p:cNvSpPr>
          <p:nvPr/>
        </p:nvSpPr>
        <p:spPr bwMode="auto">
          <a:xfrm rot="5400000">
            <a:off x="826295" y="6009482"/>
            <a:ext cx="46037" cy="1066800"/>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66" name="CustomShape 5">
            <a:extLst>
              <a:ext uri="{FF2B5EF4-FFF2-40B4-BE49-F238E27FC236}">
                <a16:creationId xmlns:a16="http://schemas.microsoft.com/office/drawing/2014/main" xmlns="" id="{935CAB55-0EF7-6772-79AA-562666D72BB7}"/>
              </a:ext>
            </a:extLst>
          </p:cNvPr>
          <p:cNvSpPr>
            <a:spLocks noChangeArrowheads="1"/>
          </p:cNvSpPr>
          <p:nvPr/>
        </p:nvSpPr>
        <p:spPr bwMode="auto">
          <a:xfrm rot="10800000">
            <a:off x="315913" y="5489576"/>
            <a:ext cx="46038" cy="1065213"/>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67" name="Line 6">
            <a:extLst>
              <a:ext uri="{FF2B5EF4-FFF2-40B4-BE49-F238E27FC236}">
                <a16:creationId xmlns:a16="http://schemas.microsoft.com/office/drawing/2014/main" xmlns="" id="{05D40480-FBB6-7E60-B267-ABF0132B9F86}"/>
              </a:ext>
            </a:extLst>
          </p:cNvPr>
          <p:cNvSpPr>
            <a:spLocks noChangeShapeType="1"/>
          </p:cNvSpPr>
          <p:nvPr/>
        </p:nvSpPr>
        <p:spPr bwMode="auto">
          <a:xfrm flipV="1">
            <a:off x="4598988" y="3641725"/>
            <a:ext cx="7321550" cy="0"/>
          </a:xfrm>
          <a:prstGeom prst="line">
            <a:avLst/>
          </a:prstGeom>
          <a:noFill/>
          <a:ln w="38160">
            <a:solidFill>
              <a:srgbClr val="C55A11"/>
            </a:solidFill>
            <a:miter lim="800000"/>
            <a:headEnd/>
            <a:tailEnd/>
          </a:ln>
        </p:spPr>
        <p:txBody>
          <a:bodyPr/>
          <a:lstStyle/>
          <a:p>
            <a:pPr eaLnBrk="1" hangingPunct="1">
              <a:defRPr/>
            </a:pPr>
            <a:endParaRPr lang="en-IN" sz="2399" dirty="0"/>
          </a:p>
        </p:txBody>
      </p:sp>
      <p:sp>
        <p:nvSpPr>
          <p:cNvPr id="15369" name="CustomShape 7">
            <a:extLst>
              <a:ext uri="{FF2B5EF4-FFF2-40B4-BE49-F238E27FC236}">
                <a16:creationId xmlns:a16="http://schemas.microsoft.com/office/drawing/2014/main" xmlns="" id="{785A5F29-7B1B-8197-A323-83AA118709DA}"/>
              </a:ext>
            </a:extLst>
          </p:cNvPr>
          <p:cNvSpPr>
            <a:spLocks noChangeArrowheads="1"/>
          </p:cNvSpPr>
          <p:nvPr/>
        </p:nvSpPr>
        <p:spPr bwMode="auto">
          <a:xfrm rot="16200000">
            <a:off x="11364913" y="-242887"/>
            <a:ext cx="44450" cy="1066800"/>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70" name="CustomShape 8">
            <a:extLst>
              <a:ext uri="{FF2B5EF4-FFF2-40B4-BE49-F238E27FC236}">
                <a16:creationId xmlns:a16="http://schemas.microsoft.com/office/drawing/2014/main" xmlns="" id="{BF2007BA-B4BD-CA6A-04E7-28B3807F984E}"/>
              </a:ext>
            </a:extLst>
          </p:cNvPr>
          <p:cNvSpPr>
            <a:spLocks noChangeArrowheads="1"/>
          </p:cNvSpPr>
          <p:nvPr/>
        </p:nvSpPr>
        <p:spPr bwMode="auto">
          <a:xfrm>
            <a:off x="11874502" y="279401"/>
            <a:ext cx="46037" cy="1065213"/>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71" name="TextShape 9">
            <a:extLst>
              <a:ext uri="{FF2B5EF4-FFF2-40B4-BE49-F238E27FC236}">
                <a16:creationId xmlns:a16="http://schemas.microsoft.com/office/drawing/2014/main" xmlns="" id="{A533C996-CD62-C97E-4A89-EF6698B04FB4}"/>
              </a:ext>
            </a:extLst>
          </p:cNvPr>
          <p:cNvSpPr txBox="1">
            <a:spLocks noChangeArrowheads="1"/>
          </p:cNvSpPr>
          <p:nvPr/>
        </p:nvSpPr>
        <p:spPr bwMode="auto">
          <a:xfrm>
            <a:off x="8610601" y="6356350"/>
            <a:ext cx="2741612" cy="3635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defRPr/>
            </a:pPr>
            <a:fld id="{65264807-1101-4DF9-8B12-6AC35AE6B07B}" type="slidenum">
              <a:rPr lang="en-IN" altLang="en-US" sz="1200">
                <a:solidFill>
                  <a:srgbClr val="8B8B8B"/>
                </a:solidFill>
                <a:latin typeface="Calibri" panose="020F0502020204030204" pitchFamily="34" charset="0"/>
              </a:rPr>
              <a:pPr algn="r" eaLnBrk="1" hangingPunct="1">
                <a:spcBef>
                  <a:spcPct val="0"/>
                </a:spcBef>
                <a:buFontTx/>
                <a:buNone/>
                <a:defRPr/>
              </a:pPr>
              <a:t>1</a:t>
            </a:fld>
            <a:endParaRPr lang="en-US" altLang="en-US" sz="1799" dirty="0"/>
          </a:p>
        </p:txBody>
      </p:sp>
      <p:pic>
        <p:nvPicPr>
          <p:cNvPr id="3083" name="Picture 1" descr="PESSAT - All India Online Entrance Exam for Admission to PES University">
            <a:extLst>
              <a:ext uri="{FF2B5EF4-FFF2-40B4-BE49-F238E27FC236}">
                <a16:creationId xmlns:a16="http://schemas.microsoft.com/office/drawing/2014/main" xmlns="" id="{FB645772-9CDF-7A98-5975-A793A27D350C}"/>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82714" y="2689225"/>
            <a:ext cx="3000375" cy="1366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ESSAT - All India Online Entrance Exam for Admission to PES University">
            <a:extLst>
              <a:ext uri="{FF2B5EF4-FFF2-40B4-BE49-F238E27FC236}">
                <a16:creationId xmlns:a16="http://schemas.microsoft.com/office/drawing/2014/main" xmlns="" id="{0CD8BEFF-4400-54F5-3942-BD87E13370F3}"/>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62EC022B-2A70-9A85-C783-3A029C3DCC19}"/>
              </a:ext>
            </a:extLst>
          </p:cNvPr>
          <p:cNvSpPr>
            <a:spLocks noChangeArrowheads="1"/>
          </p:cNvSpPr>
          <p:nvPr/>
        </p:nvSpPr>
        <p:spPr bwMode="auto">
          <a:xfrm>
            <a:off x="228331" y="1966039"/>
            <a:ext cx="8627991" cy="6435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3600" b="1" dirty="0">
                <a:latin typeface="Calibri" panose="020F0502020204030204" pitchFamily="34" charset="0"/>
              </a:rPr>
              <a:t>ENVIRONMENTAL STUDIES &amp; LIFE SCIENCES</a:t>
            </a:r>
            <a:endParaRPr lang="en-IN" altLang="en-US" sz="1800" dirty="0"/>
          </a:p>
        </p:txBody>
      </p:sp>
      <p:sp>
        <p:nvSpPr>
          <p:cNvPr id="4" name="Line 7">
            <a:extLst>
              <a:ext uri="{FF2B5EF4-FFF2-40B4-BE49-F238E27FC236}">
                <a16:creationId xmlns:a16="http://schemas.microsoft.com/office/drawing/2014/main" xmlns="" id="{EDDE9008-935C-AE71-99BC-8654A53EB8D1}"/>
              </a:ext>
            </a:extLst>
          </p:cNvPr>
          <p:cNvSpPr>
            <a:spLocks noChangeShapeType="1"/>
          </p:cNvSpPr>
          <p:nvPr/>
        </p:nvSpPr>
        <p:spPr bwMode="auto">
          <a:xfrm flipV="1">
            <a:off x="-1" y="2609636"/>
            <a:ext cx="8856323" cy="55776"/>
          </a:xfrm>
          <a:prstGeom prst="line">
            <a:avLst/>
          </a:prstGeom>
          <a:noFill/>
          <a:ln w="38160">
            <a:solidFill>
              <a:srgbClr val="DFA267"/>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5" name="CustomShape 2">
            <a:extLst>
              <a:ext uri="{FF2B5EF4-FFF2-40B4-BE49-F238E27FC236}">
                <a16:creationId xmlns:a16="http://schemas.microsoft.com/office/drawing/2014/main" xmlns="" id="{2166625D-DD76-7F3E-1337-7870B6CE0319}"/>
              </a:ext>
            </a:extLst>
          </p:cNvPr>
          <p:cNvSpPr>
            <a:spLocks noChangeArrowheads="1"/>
          </p:cNvSpPr>
          <p:nvPr/>
        </p:nvSpPr>
        <p:spPr bwMode="auto">
          <a:xfrm>
            <a:off x="309563" y="2786063"/>
            <a:ext cx="7496175" cy="717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3600" b="1" dirty="0">
                <a:solidFill>
                  <a:srgbClr val="2F5597"/>
                </a:solidFill>
                <a:latin typeface="Calibri" panose="020F0502020204030204" pitchFamily="34" charset="0"/>
              </a:rPr>
              <a:t>Basic Concepts of Ecosystem</a:t>
            </a:r>
            <a:endParaRPr lang="en-US" altLang="en-US" sz="1800" dirty="0"/>
          </a:p>
        </p:txBody>
      </p:sp>
      <p:sp>
        <p:nvSpPr>
          <p:cNvPr id="6" name="CustomShape 3">
            <a:extLst>
              <a:ext uri="{FF2B5EF4-FFF2-40B4-BE49-F238E27FC236}">
                <a16:creationId xmlns:a16="http://schemas.microsoft.com/office/drawing/2014/main" xmlns="" id="{79C2F530-3774-639F-6550-89DF064BA04A}"/>
              </a:ext>
            </a:extLst>
          </p:cNvPr>
          <p:cNvSpPr>
            <a:spLocks noChangeArrowheads="1"/>
          </p:cNvSpPr>
          <p:nvPr/>
        </p:nvSpPr>
        <p:spPr bwMode="auto">
          <a:xfrm>
            <a:off x="598488" y="5489575"/>
            <a:ext cx="7497762"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IN" altLang="en-US" sz="2400" b="1" dirty="0" smtClean="0"/>
              <a:t>Faculty Name</a:t>
            </a:r>
            <a:endParaRPr lang="en-IN" altLang="en-US" sz="2400" b="1" dirty="0"/>
          </a:p>
        </p:txBody>
      </p:sp>
      <p:sp>
        <p:nvSpPr>
          <p:cNvPr id="7" name="CustomShape 4">
            <a:extLst>
              <a:ext uri="{FF2B5EF4-FFF2-40B4-BE49-F238E27FC236}">
                <a16:creationId xmlns:a16="http://schemas.microsoft.com/office/drawing/2014/main" xmlns="" id="{C38393F0-DC3C-D74E-91B8-6316E663FA05}"/>
              </a:ext>
            </a:extLst>
          </p:cNvPr>
          <p:cNvSpPr>
            <a:spLocks noChangeArrowheads="1"/>
          </p:cNvSpPr>
          <p:nvPr/>
        </p:nvSpPr>
        <p:spPr bwMode="auto">
          <a:xfrm>
            <a:off x="598488" y="5888038"/>
            <a:ext cx="7497762" cy="395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000" dirty="0">
                <a:solidFill>
                  <a:srgbClr val="000000"/>
                </a:solidFill>
                <a:latin typeface="Calibri" panose="020F0502020204030204" pitchFamily="34" charset="0"/>
              </a:rPr>
              <a:t>Department of Biotechnology</a:t>
            </a:r>
            <a:endParaRPr lang="en-US" altLang="en-US" sz="1800" dirty="0"/>
          </a:p>
        </p:txBody>
      </p:sp>
      <p:sp>
        <p:nvSpPr>
          <p:cNvPr id="8" name="CustomShape 6">
            <a:extLst>
              <a:ext uri="{FF2B5EF4-FFF2-40B4-BE49-F238E27FC236}">
                <a16:creationId xmlns:a16="http://schemas.microsoft.com/office/drawing/2014/main" xmlns="" id="{2EF1BECF-FA2F-E9EA-C6DE-0F074760ABD5}"/>
              </a:ext>
            </a:extLst>
          </p:cNvPr>
          <p:cNvSpPr>
            <a:spLocks noChangeArrowheads="1"/>
          </p:cNvSpPr>
          <p:nvPr/>
        </p:nvSpPr>
        <p:spPr bwMode="auto">
          <a:xfrm rot="10800000">
            <a:off x="314325" y="5489575"/>
            <a:ext cx="46038" cy="1066800"/>
          </a:xfrm>
          <a:prstGeom prst="rect">
            <a:avLst/>
          </a:prstGeom>
          <a:solidFill>
            <a:srgbClr val="F4B183"/>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9" name="CustomShape 5">
            <a:extLst>
              <a:ext uri="{FF2B5EF4-FFF2-40B4-BE49-F238E27FC236}">
                <a16:creationId xmlns:a16="http://schemas.microsoft.com/office/drawing/2014/main" xmlns="" id="{D6A413C7-20DA-12AC-B410-C867484479B2}"/>
              </a:ext>
            </a:extLst>
          </p:cNvPr>
          <p:cNvSpPr>
            <a:spLocks noChangeArrowheads="1"/>
          </p:cNvSpPr>
          <p:nvPr/>
        </p:nvSpPr>
        <p:spPr bwMode="auto">
          <a:xfrm rot="5400000">
            <a:off x="824706" y="6011069"/>
            <a:ext cx="46038" cy="1066800"/>
          </a:xfrm>
          <a:prstGeom prst="rect">
            <a:avLst/>
          </a:prstGeom>
          <a:solidFill>
            <a:srgbClr val="F4B183"/>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Tree>
    <p:extLst>
      <p:ext uri="{BB962C8B-B14F-4D97-AF65-F5344CB8AC3E}">
        <p14:creationId xmlns:p14="http://schemas.microsoft.com/office/powerpoint/2010/main" xmlns="" val="313115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None/>
            </a:pPr>
            <a:r>
              <a:rPr lang="en-IN" altLang="en-US" sz="2400" b="1" dirty="0" smtClean="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8424862" cy="5174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IN" altLang="en-US" sz="2400" dirty="0">
                <a:latin typeface="Calibri" panose="020F0502020204030204" pitchFamily="34" charset="0"/>
                <a:cs typeface="Calibri" panose="020F0502020204030204" pitchFamily="34" charset="0"/>
              </a:rPr>
              <a:t>The meaning of the word  ecology was given by German  Biologist  Ernst Haeckel in 1869.</a:t>
            </a:r>
          </a:p>
          <a:p>
            <a:pPr algn="just" eaLnBrk="1" hangingPunct="1">
              <a:lnSpc>
                <a:spcPct val="150000"/>
              </a:lnSpc>
              <a:spcBef>
                <a:spcPts val="600"/>
              </a:spcBef>
            </a:pPr>
            <a:r>
              <a:rPr lang="en-US" altLang="en-US" sz="2400" dirty="0">
                <a:latin typeface="Calibri" panose="020F0502020204030204" pitchFamily="34" charset="0"/>
                <a:cs typeface="Calibri" panose="020F0502020204030204" pitchFamily="34" charset="0"/>
              </a:rPr>
              <a:t>The term ‘Ecology’ was derived from two Greek words, OIKOS (means house) and LOGUS (means study of) to denote the relationship between the organisms and their environment. </a:t>
            </a:r>
          </a:p>
          <a:p>
            <a:pPr algn="just" eaLnBrk="1" hangingPunct="1">
              <a:lnSpc>
                <a:spcPct val="150000"/>
              </a:lnSpc>
              <a:spcBef>
                <a:spcPts val="600"/>
              </a:spcBef>
            </a:pPr>
            <a:r>
              <a:rPr lang="en-US" altLang="en-US" sz="2400" b="1" dirty="0">
                <a:latin typeface="Calibri" panose="020F0502020204030204" pitchFamily="34" charset="0"/>
                <a:cs typeface="Calibri" panose="020F0502020204030204" pitchFamily="34" charset="0"/>
              </a:rPr>
              <a:t>Definition:</a:t>
            </a:r>
            <a:r>
              <a:rPr lang="en-US" altLang="en-US" sz="2400" dirty="0">
                <a:latin typeface="Calibri" panose="020F0502020204030204" pitchFamily="34" charset="0"/>
                <a:cs typeface="Calibri" panose="020F0502020204030204" pitchFamily="34" charset="0"/>
              </a:rPr>
              <a:t> The living community of plants and animals in any area together with the non-living components of the environment such as soil, air and water, constitute the ecosystem.</a:t>
            </a: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46465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b="0" i="0" dirty="0">
                <a:solidFill>
                  <a:srgbClr val="121212"/>
                </a:solidFill>
                <a:effectLst/>
                <a:highlight>
                  <a:srgbClr val="FFFFFF"/>
                </a:highlight>
                <a:latin typeface="+mn-lt"/>
              </a:rPr>
              <a:t>An ecosystem is a geographic area where plants, animals, and other organisms, as well as weather and landscape, work together to form a bubble of life. </a:t>
            </a:r>
          </a:p>
          <a:p>
            <a:pPr algn="just" eaLnBrk="1" hangingPunct="1">
              <a:lnSpc>
                <a:spcPct val="150000"/>
              </a:lnSpc>
              <a:spcBef>
                <a:spcPts val="700"/>
              </a:spcBef>
            </a:pPr>
            <a:r>
              <a:rPr lang="en-US" sz="2400" b="0" i="0" dirty="0">
                <a:solidFill>
                  <a:srgbClr val="121212"/>
                </a:solidFill>
                <a:effectLst/>
                <a:highlight>
                  <a:srgbClr val="FFFFFF"/>
                </a:highlight>
                <a:latin typeface="+mn-lt"/>
              </a:rPr>
              <a:t>Ecosystems contain biotic or living, parts, as well as abiotic factors, or nonliving parts. </a:t>
            </a:r>
          </a:p>
          <a:p>
            <a:pPr algn="just" eaLnBrk="1" hangingPunct="1">
              <a:lnSpc>
                <a:spcPct val="150000"/>
              </a:lnSpc>
              <a:spcBef>
                <a:spcPts val="700"/>
              </a:spcBef>
            </a:pPr>
            <a:r>
              <a:rPr lang="en-US" sz="2400" b="0" i="0" dirty="0">
                <a:solidFill>
                  <a:schemeClr val="accent1">
                    <a:lumMod val="75000"/>
                  </a:schemeClr>
                </a:solidFill>
                <a:effectLst/>
                <a:highlight>
                  <a:srgbClr val="FFFFFF"/>
                </a:highlight>
                <a:latin typeface="+mn-lt"/>
              </a:rPr>
              <a:t>Biotic factors </a:t>
            </a:r>
            <a:r>
              <a:rPr lang="en-US" sz="2400" b="0" i="0" dirty="0">
                <a:solidFill>
                  <a:srgbClr val="121212"/>
                </a:solidFill>
                <a:effectLst/>
                <a:highlight>
                  <a:srgbClr val="FFFFFF"/>
                </a:highlight>
                <a:latin typeface="+mn-lt"/>
              </a:rPr>
              <a:t>include plants, animals, and other organisms. </a:t>
            </a:r>
            <a:r>
              <a:rPr lang="en-US" sz="2400" b="0" i="0" dirty="0">
                <a:solidFill>
                  <a:schemeClr val="accent1">
                    <a:lumMod val="75000"/>
                  </a:schemeClr>
                </a:solidFill>
                <a:effectLst/>
                <a:highlight>
                  <a:srgbClr val="FFFFFF"/>
                </a:highlight>
                <a:latin typeface="+mn-lt"/>
              </a:rPr>
              <a:t>Abiotic factors </a:t>
            </a:r>
            <a:r>
              <a:rPr lang="en-US" sz="2400" b="0" i="0" dirty="0">
                <a:solidFill>
                  <a:srgbClr val="121212"/>
                </a:solidFill>
                <a:effectLst/>
                <a:highlight>
                  <a:srgbClr val="FFFFFF"/>
                </a:highlight>
                <a:latin typeface="+mn-lt"/>
              </a:rPr>
              <a:t>include rocks, temperature, and humidity.</a:t>
            </a:r>
            <a:r>
              <a:rPr lang="en-US" sz="2400" dirty="0">
                <a:latin typeface="+mn-lt"/>
              </a:rPr>
              <a:t/>
            </a:r>
            <a:br>
              <a:rPr lang="en-US" sz="2400" dirty="0">
                <a:latin typeface="+mn-lt"/>
              </a:rPr>
            </a:br>
            <a:endParaRPr lang="en-US" altLang="en-US" sz="2400" dirty="0">
              <a:latin typeface="+mn-lt"/>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35293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40925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Every factor in an ecosystem depends on every other factor, either directly or indirectly. </a:t>
            </a:r>
          </a:p>
          <a:p>
            <a:pPr algn="just" eaLnBrk="1" hangingPunct="1">
              <a:lnSpc>
                <a:spcPct val="150000"/>
              </a:lnSpc>
              <a:spcBef>
                <a:spcPts val="700"/>
              </a:spcBef>
            </a:pPr>
            <a:r>
              <a:rPr lang="en-US" sz="2400" dirty="0">
                <a:solidFill>
                  <a:srgbClr val="121212"/>
                </a:solidFill>
                <a:highlight>
                  <a:srgbClr val="FFFFFF"/>
                </a:highlight>
                <a:latin typeface="+mn-lt"/>
              </a:rPr>
              <a:t>A change in the temperature of an ecosystem will often affect what plants will grow there, for instance. </a:t>
            </a:r>
          </a:p>
          <a:p>
            <a:pPr algn="just" eaLnBrk="1" hangingPunct="1">
              <a:lnSpc>
                <a:spcPct val="150000"/>
              </a:lnSpc>
              <a:spcBef>
                <a:spcPts val="700"/>
              </a:spcBef>
            </a:pPr>
            <a:r>
              <a:rPr lang="en-US" sz="2400" dirty="0">
                <a:solidFill>
                  <a:srgbClr val="121212"/>
                </a:solidFill>
                <a:highlight>
                  <a:srgbClr val="FFFFFF"/>
                </a:highlight>
                <a:latin typeface="+mn-lt"/>
              </a:rPr>
              <a:t>Animals that depend on plants for food and shelter will have to adapt to the changes, move to another ecosystem, or perish.</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7672562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48261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Ecosystems can be very large or very small. </a:t>
            </a:r>
          </a:p>
          <a:p>
            <a:pPr algn="just" eaLnBrk="1" hangingPunct="1">
              <a:lnSpc>
                <a:spcPct val="150000"/>
              </a:lnSpc>
              <a:spcBef>
                <a:spcPts val="700"/>
              </a:spcBef>
            </a:pPr>
            <a:r>
              <a:rPr lang="en-US" sz="2400" dirty="0">
                <a:solidFill>
                  <a:srgbClr val="121212"/>
                </a:solidFill>
                <a:highlight>
                  <a:srgbClr val="FFFFFF"/>
                </a:highlight>
                <a:latin typeface="+mn-lt"/>
              </a:rPr>
              <a:t>Tide pools, the ponds left by the ocean as the tide goes out, are complete, tiny ecosystems. </a:t>
            </a:r>
          </a:p>
          <a:p>
            <a:pPr algn="just" eaLnBrk="1" hangingPunct="1">
              <a:lnSpc>
                <a:spcPct val="150000"/>
              </a:lnSpc>
              <a:spcBef>
                <a:spcPts val="700"/>
              </a:spcBef>
            </a:pPr>
            <a:r>
              <a:rPr lang="en-US" sz="2400" dirty="0">
                <a:solidFill>
                  <a:srgbClr val="121212"/>
                </a:solidFill>
                <a:highlight>
                  <a:srgbClr val="FFFFFF"/>
                </a:highlight>
                <a:latin typeface="+mn-lt"/>
              </a:rPr>
              <a:t>Tide pools contain seaweed, a kind of algae, which uses photosynthesis to create food. </a:t>
            </a:r>
          </a:p>
          <a:p>
            <a:pPr algn="just" eaLnBrk="1" hangingPunct="1">
              <a:lnSpc>
                <a:spcPct val="150000"/>
              </a:lnSpc>
              <a:spcBef>
                <a:spcPts val="700"/>
              </a:spcBef>
            </a:pPr>
            <a:r>
              <a:rPr lang="en-US" sz="2400" dirty="0">
                <a:solidFill>
                  <a:srgbClr val="121212"/>
                </a:solidFill>
                <a:highlight>
                  <a:srgbClr val="FFFFFF"/>
                </a:highlight>
                <a:latin typeface="+mn-lt"/>
              </a:rPr>
              <a:t>Herbivores such as abalone eat the seaweed. </a:t>
            </a:r>
          </a:p>
          <a:p>
            <a:pPr algn="just" eaLnBrk="1" hangingPunct="1">
              <a:lnSpc>
                <a:spcPct val="150000"/>
              </a:lnSpc>
              <a:spcBef>
                <a:spcPts val="700"/>
              </a:spcBef>
            </a:pPr>
            <a:r>
              <a:rPr lang="en-US" sz="2400" dirty="0">
                <a:solidFill>
                  <a:srgbClr val="121212"/>
                </a:solidFill>
                <a:highlight>
                  <a:srgbClr val="FFFFFF"/>
                </a:highlight>
                <a:latin typeface="+mn-lt"/>
              </a:rPr>
              <a:t>Carnivores such as sea stars eat other animals in the tide pool, such as clams or mussels. </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1026" name="Picture 2" descr="Sustainable Abalone Farming: Sea Ear ...">
            <a:extLst>
              <a:ext uri="{FF2B5EF4-FFF2-40B4-BE49-F238E27FC236}">
                <a16:creationId xmlns:a16="http://schemas.microsoft.com/office/drawing/2014/main" xmlns="" id="{77552C82-D3DB-4BB9-4903-733BD16D43F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828087" y="3324966"/>
            <a:ext cx="3028950" cy="1514475"/>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F87C0854-9833-4AA8-4823-518B62BC61B3}"/>
              </a:ext>
            </a:extLst>
          </p:cNvPr>
          <p:cNvSpPr txBox="1"/>
          <p:nvPr/>
        </p:nvSpPr>
        <p:spPr>
          <a:xfrm>
            <a:off x="9894013" y="4931038"/>
            <a:ext cx="1541124" cy="369332"/>
          </a:xfrm>
          <a:prstGeom prst="rect">
            <a:avLst/>
          </a:prstGeom>
          <a:noFill/>
        </p:spPr>
        <p:txBody>
          <a:bodyPr wrap="square" rtlCol="0">
            <a:spAutoFit/>
          </a:bodyPr>
          <a:lstStyle/>
          <a:p>
            <a:r>
              <a:rPr lang="en-IN" dirty="0"/>
              <a:t>Abalone</a:t>
            </a:r>
          </a:p>
        </p:txBody>
      </p:sp>
      <p:sp>
        <p:nvSpPr>
          <p:cNvPr id="4" name="TextBox 3">
            <a:extLst>
              <a:ext uri="{FF2B5EF4-FFF2-40B4-BE49-F238E27FC236}">
                <a16:creationId xmlns:a16="http://schemas.microsoft.com/office/drawing/2014/main" xmlns="" id="{C0575558-E909-1698-433B-5E9A678A1D4C}"/>
              </a:ext>
            </a:extLst>
          </p:cNvPr>
          <p:cNvSpPr txBox="1"/>
          <p:nvPr/>
        </p:nvSpPr>
        <p:spPr>
          <a:xfrm>
            <a:off x="9282630" y="6606779"/>
            <a:ext cx="4452794" cy="261610"/>
          </a:xfrm>
          <a:prstGeom prst="rect">
            <a:avLst/>
          </a:prstGeom>
          <a:noFill/>
        </p:spPr>
        <p:txBody>
          <a:bodyPr wrap="square" rtlCol="0">
            <a:spAutoFit/>
          </a:bodyPr>
          <a:lstStyle/>
          <a:p>
            <a:r>
              <a:rPr lang="en-IN" sz="1100" i="1" dirty="0"/>
              <a:t>Image source: National Geographic</a:t>
            </a:r>
          </a:p>
        </p:txBody>
      </p:sp>
    </p:spTree>
    <p:extLst>
      <p:ext uri="{BB962C8B-B14F-4D97-AF65-F5344CB8AC3E}">
        <p14:creationId xmlns:p14="http://schemas.microsoft.com/office/powerpoint/2010/main" xmlns="" val="40785024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2005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Tide pools depend on the changing level of ocean water. Some organisms, such as seaweed, thrive in an aquatic environment, when the tide is in and the pool is full. </a:t>
            </a:r>
          </a:p>
          <a:p>
            <a:pPr algn="just" eaLnBrk="1" hangingPunct="1">
              <a:lnSpc>
                <a:spcPct val="150000"/>
              </a:lnSpc>
              <a:spcBef>
                <a:spcPts val="700"/>
              </a:spcBef>
            </a:pPr>
            <a:r>
              <a:rPr lang="en-US" sz="2400" dirty="0">
                <a:solidFill>
                  <a:srgbClr val="121212"/>
                </a:solidFill>
                <a:highlight>
                  <a:srgbClr val="FFFFFF"/>
                </a:highlight>
                <a:latin typeface="+mn-lt"/>
              </a:rPr>
              <a:t>Other organisms, such as hermit crabs, cannot live underwater and depend on the shallow pools left by low tides. </a:t>
            </a:r>
          </a:p>
          <a:p>
            <a:pPr algn="just" eaLnBrk="1" hangingPunct="1">
              <a:lnSpc>
                <a:spcPct val="150000"/>
              </a:lnSpc>
              <a:spcBef>
                <a:spcPts val="700"/>
              </a:spcBef>
            </a:pPr>
            <a:r>
              <a:rPr lang="en-US" sz="2400" dirty="0">
                <a:solidFill>
                  <a:srgbClr val="121212"/>
                </a:solidFill>
                <a:highlight>
                  <a:srgbClr val="FFFFFF"/>
                </a:highlight>
                <a:latin typeface="+mn-lt"/>
              </a:rPr>
              <a:t>In this way, the biotic parts of the ecosystem depend on abiotic factors.</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7787866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8</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1108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The whole surface of Earth is a series of connected ecosystems. Ecosystems are often connected in a larger biome. Biomes are large sections of land, sea, or atmosphere. </a:t>
            </a:r>
          </a:p>
          <a:p>
            <a:pPr algn="just" eaLnBrk="1" hangingPunct="1">
              <a:lnSpc>
                <a:spcPct val="150000"/>
              </a:lnSpc>
              <a:spcBef>
                <a:spcPts val="700"/>
              </a:spcBef>
            </a:pPr>
            <a:r>
              <a:rPr lang="en-US" sz="2400" dirty="0">
                <a:solidFill>
                  <a:srgbClr val="121212"/>
                </a:solidFill>
                <a:highlight>
                  <a:srgbClr val="FFFFFF"/>
                </a:highlight>
                <a:latin typeface="+mn-lt"/>
              </a:rPr>
              <a:t>Forests, ponds, reefs, and tundra are all types of biomes, for example. They're organized very generally, based on the types of plants and animals that live in them. Within each forest, each pond, each reef, or each section of tundra, you'll find many different ecosystems.</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404608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2005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The biome of the Sahara Desert, for instance, includes a wide variety of ecosystems. </a:t>
            </a:r>
          </a:p>
          <a:p>
            <a:pPr algn="just" eaLnBrk="1" hangingPunct="1">
              <a:lnSpc>
                <a:spcPct val="150000"/>
              </a:lnSpc>
              <a:spcBef>
                <a:spcPts val="700"/>
              </a:spcBef>
            </a:pPr>
            <a:r>
              <a:rPr lang="en-US" sz="2400" dirty="0">
                <a:solidFill>
                  <a:srgbClr val="121212"/>
                </a:solidFill>
                <a:highlight>
                  <a:srgbClr val="FFFFFF"/>
                </a:highlight>
                <a:latin typeface="+mn-lt"/>
              </a:rPr>
              <a:t>The arid climate and hot weather characterize the biome. Within the Sahara are oasis ecosystems, which have date palm trees, freshwater, and animals such as crocodiles. </a:t>
            </a:r>
          </a:p>
          <a:p>
            <a:pPr algn="just" eaLnBrk="1" hangingPunct="1">
              <a:lnSpc>
                <a:spcPct val="150000"/>
              </a:lnSpc>
              <a:spcBef>
                <a:spcPts val="700"/>
              </a:spcBef>
            </a:pPr>
            <a:r>
              <a:rPr lang="en-US" sz="2400" dirty="0">
                <a:solidFill>
                  <a:srgbClr val="121212"/>
                </a:solidFill>
                <a:highlight>
                  <a:srgbClr val="FFFFFF"/>
                </a:highlight>
                <a:latin typeface="+mn-lt"/>
              </a:rPr>
              <a:t>The Sahara also has dune ecosystems, with the changing landscape determined by the wind. Organisms in these ecosystems, such as snakes or scorpions, must be able to survive in sand dunes for long periods of time. </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4479456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2005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Even similar-sounding biomes could have completely different ecosystems. </a:t>
            </a:r>
          </a:p>
          <a:p>
            <a:pPr algn="just" eaLnBrk="1" hangingPunct="1">
              <a:lnSpc>
                <a:spcPct val="150000"/>
              </a:lnSpc>
              <a:spcBef>
                <a:spcPts val="700"/>
              </a:spcBef>
            </a:pPr>
            <a:r>
              <a:rPr lang="en-US" sz="2400" dirty="0">
                <a:solidFill>
                  <a:srgbClr val="121212"/>
                </a:solidFill>
                <a:highlight>
                  <a:srgbClr val="FFFFFF"/>
                </a:highlight>
                <a:latin typeface="+mn-lt"/>
              </a:rPr>
              <a:t>The biome of the Sahara Desert, for instance, is very different from the biome of the Gobi Desert in Mongolia and China.</a:t>
            </a:r>
          </a:p>
          <a:p>
            <a:pPr algn="just" eaLnBrk="1" hangingPunct="1">
              <a:lnSpc>
                <a:spcPct val="150000"/>
              </a:lnSpc>
              <a:spcBef>
                <a:spcPts val="700"/>
              </a:spcBef>
            </a:pPr>
            <a:r>
              <a:rPr lang="en-US" sz="2400" dirty="0">
                <a:solidFill>
                  <a:srgbClr val="121212"/>
                </a:solidFill>
                <a:highlight>
                  <a:srgbClr val="FFFFFF"/>
                </a:highlight>
                <a:latin typeface="+mn-lt"/>
              </a:rPr>
              <a:t>The Gobi is a cold desert, with frequent snowfall and freezing temperatures. Unlike the Sahara, the Gobi has ecosystems based not in sand, but kilometers of bare rock. </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3497665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8424862" cy="56648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Some grasses are able to grow in the cold, dry climate. As a result, these Gobi ecosystems have grazing animals such as gazelles and even </a:t>
            </a:r>
            <a:r>
              <a:rPr lang="en-US" sz="2400" dirty="0" err="1">
                <a:solidFill>
                  <a:srgbClr val="121212"/>
                </a:solidFill>
                <a:highlight>
                  <a:srgbClr val="FFFFFF"/>
                </a:highlight>
                <a:latin typeface="+mn-lt"/>
              </a:rPr>
              <a:t>takhi</a:t>
            </a:r>
            <a:r>
              <a:rPr lang="en-US" sz="2400" dirty="0">
                <a:solidFill>
                  <a:srgbClr val="121212"/>
                </a:solidFill>
                <a:highlight>
                  <a:srgbClr val="FFFFFF"/>
                </a:highlight>
                <a:latin typeface="+mn-lt"/>
              </a:rPr>
              <a:t>, an endangered species of wild horse.</a:t>
            </a:r>
          </a:p>
          <a:p>
            <a:pPr algn="just" eaLnBrk="1" hangingPunct="1">
              <a:lnSpc>
                <a:spcPct val="150000"/>
              </a:lnSpc>
              <a:spcBef>
                <a:spcPts val="700"/>
              </a:spcBef>
            </a:pPr>
            <a:r>
              <a:rPr lang="en-US" sz="2400" dirty="0">
                <a:solidFill>
                  <a:srgbClr val="121212"/>
                </a:solidFill>
                <a:highlight>
                  <a:srgbClr val="FFFFFF"/>
                </a:highlight>
                <a:latin typeface="+mn-lt"/>
              </a:rPr>
              <a:t>Even the cold desert ecosystems of the Gobi are distinct from the freezing desert ecosystems of Antarctica. Antarctica’s thick ice sheet covers a continent made almost entirely of dry, bare rock. Only a few mosses grow in this desert ecosystem, supporting only a few birds, such as skuas.</a:t>
            </a:r>
            <a:br>
              <a:rPr lang="en-US" sz="2400" dirty="0">
                <a:solidFill>
                  <a:srgbClr val="121212"/>
                </a:solidFill>
                <a:highlight>
                  <a:srgbClr val="FFFFFF"/>
                </a:highlight>
                <a:latin typeface="+mn-lt"/>
              </a:rPr>
            </a:b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0568175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2050" name="Picture 2" descr="Gazelle - Wikipedia">
            <a:extLst>
              <a:ext uri="{FF2B5EF4-FFF2-40B4-BE49-F238E27FC236}">
                <a16:creationId xmlns:a16="http://schemas.microsoft.com/office/drawing/2014/main" xmlns="" id="{D8F7369E-DC8E-1CC9-600A-ABFDEC81C8A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59919" y="2401478"/>
            <a:ext cx="3287026" cy="2187366"/>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3BE8D9AE-B9F1-3437-73C5-FD51E4240776}"/>
              </a:ext>
            </a:extLst>
          </p:cNvPr>
          <p:cNvSpPr txBox="1"/>
          <p:nvPr/>
        </p:nvSpPr>
        <p:spPr>
          <a:xfrm>
            <a:off x="429927" y="6524586"/>
            <a:ext cx="4452794" cy="261610"/>
          </a:xfrm>
          <a:prstGeom prst="rect">
            <a:avLst/>
          </a:prstGeom>
          <a:noFill/>
        </p:spPr>
        <p:txBody>
          <a:bodyPr wrap="square" rtlCol="0">
            <a:spAutoFit/>
          </a:bodyPr>
          <a:lstStyle/>
          <a:p>
            <a:r>
              <a:rPr lang="en-IN" sz="1100" i="1" dirty="0"/>
              <a:t>Image source: National Geographic</a:t>
            </a:r>
          </a:p>
        </p:txBody>
      </p:sp>
      <p:pic>
        <p:nvPicPr>
          <p:cNvPr id="2052" name="Picture 4" descr="Przewalski's horse - Wikipedia">
            <a:extLst>
              <a:ext uri="{FF2B5EF4-FFF2-40B4-BE49-F238E27FC236}">
                <a16:creationId xmlns:a16="http://schemas.microsoft.com/office/drawing/2014/main" xmlns="" id="{2D6803F2-8437-B5B5-B91E-EDF7FB049A2C}"/>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951492" y="1821310"/>
            <a:ext cx="2860273" cy="282230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4AA9A525-ECFB-C6AE-4C89-831116A161D6}"/>
              </a:ext>
            </a:extLst>
          </p:cNvPr>
          <p:cNvSpPr txBox="1"/>
          <p:nvPr/>
        </p:nvSpPr>
        <p:spPr>
          <a:xfrm>
            <a:off x="4882721" y="4967589"/>
            <a:ext cx="1130157" cy="461665"/>
          </a:xfrm>
          <a:prstGeom prst="rect">
            <a:avLst/>
          </a:prstGeom>
          <a:noFill/>
        </p:spPr>
        <p:txBody>
          <a:bodyPr wrap="square" rtlCol="0">
            <a:spAutoFit/>
          </a:bodyPr>
          <a:lstStyle/>
          <a:p>
            <a:r>
              <a:rPr lang="en-IN" sz="2400" dirty="0" err="1"/>
              <a:t>Takhi</a:t>
            </a:r>
            <a:endParaRPr lang="en-IN" sz="2400" dirty="0"/>
          </a:p>
        </p:txBody>
      </p:sp>
      <p:sp>
        <p:nvSpPr>
          <p:cNvPr id="5" name="TextBox 4">
            <a:extLst>
              <a:ext uri="{FF2B5EF4-FFF2-40B4-BE49-F238E27FC236}">
                <a16:creationId xmlns:a16="http://schemas.microsoft.com/office/drawing/2014/main" xmlns="" id="{A6C49CAE-433B-5DF3-4DDE-676051CE49E2}"/>
              </a:ext>
            </a:extLst>
          </p:cNvPr>
          <p:cNvSpPr txBox="1"/>
          <p:nvPr/>
        </p:nvSpPr>
        <p:spPr>
          <a:xfrm>
            <a:off x="1243526" y="4930818"/>
            <a:ext cx="1130157" cy="461665"/>
          </a:xfrm>
          <a:prstGeom prst="rect">
            <a:avLst/>
          </a:prstGeom>
          <a:noFill/>
        </p:spPr>
        <p:txBody>
          <a:bodyPr wrap="square" rtlCol="0">
            <a:spAutoFit/>
          </a:bodyPr>
          <a:lstStyle/>
          <a:p>
            <a:r>
              <a:rPr lang="en-IN" sz="2400" dirty="0"/>
              <a:t>Gazelle</a:t>
            </a:r>
          </a:p>
        </p:txBody>
      </p:sp>
      <p:pic>
        <p:nvPicPr>
          <p:cNvPr id="3074" name="Picture 2" descr="Arctic Skua (Parasitic Jaeger ...">
            <a:extLst>
              <a:ext uri="{FF2B5EF4-FFF2-40B4-BE49-F238E27FC236}">
                <a16:creationId xmlns:a16="http://schemas.microsoft.com/office/drawing/2014/main" xmlns="" id="{2FCC7641-7D82-8712-01EB-63951EFD860F}"/>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7329688" y="1987035"/>
            <a:ext cx="2656580" cy="265658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a16="http://schemas.microsoft.com/office/drawing/2014/main" xmlns="" id="{70170A7A-6C4B-EAA4-D3F2-B699A1CF5DF8}"/>
              </a:ext>
            </a:extLst>
          </p:cNvPr>
          <p:cNvSpPr txBox="1"/>
          <p:nvPr/>
        </p:nvSpPr>
        <p:spPr>
          <a:xfrm>
            <a:off x="8383395" y="4945984"/>
            <a:ext cx="1130157" cy="461665"/>
          </a:xfrm>
          <a:prstGeom prst="rect">
            <a:avLst/>
          </a:prstGeom>
          <a:noFill/>
        </p:spPr>
        <p:txBody>
          <a:bodyPr wrap="square" rtlCol="0">
            <a:spAutoFit/>
          </a:bodyPr>
          <a:lstStyle/>
          <a:p>
            <a:r>
              <a:rPr lang="en-IN" sz="2400" dirty="0"/>
              <a:t>Skua</a:t>
            </a:r>
          </a:p>
        </p:txBody>
      </p:sp>
    </p:spTree>
    <p:extLst>
      <p:ext uri="{BB962C8B-B14F-4D97-AF65-F5344CB8AC3E}">
        <p14:creationId xmlns:p14="http://schemas.microsoft.com/office/powerpoint/2010/main" xmlns="" val="6782020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Concept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3BE8D9AE-B9F1-3437-73C5-FD51E4240776}"/>
              </a:ext>
            </a:extLst>
          </p:cNvPr>
          <p:cNvSpPr txBox="1"/>
          <p:nvPr/>
        </p:nvSpPr>
        <p:spPr>
          <a:xfrm>
            <a:off x="429927" y="6524586"/>
            <a:ext cx="4452794" cy="261610"/>
          </a:xfrm>
          <a:prstGeom prst="rect">
            <a:avLst/>
          </a:prstGeom>
          <a:noFill/>
        </p:spPr>
        <p:txBody>
          <a:bodyPr wrap="square" rtlCol="0">
            <a:spAutoFit/>
          </a:bodyPr>
          <a:lstStyle/>
          <a:p>
            <a:r>
              <a:rPr lang="en-IN" sz="1100" i="1" dirty="0"/>
              <a:t>Image source: </a:t>
            </a:r>
            <a:r>
              <a:rPr lang="en-IN" sz="1100" i="1" dirty="0" err="1"/>
              <a:t>Brainkart</a:t>
            </a:r>
            <a:endParaRPr lang="en-IN" sz="1100" i="1" dirty="0"/>
          </a:p>
        </p:txBody>
      </p:sp>
      <p:pic>
        <p:nvPicPr>
          <p:cNvPr id="4098" name="Picture 2" descr="Concept of biome and their distribution">
            <a:extLst>
              <a:ext uri="{FF2B5EF4-FFF2-40B4-BE49-F238E27FC236}">
                <a16:creationId xmlns:a16="http://schemas.microsoft.com/office/drawing/2014/main" xmlns="" id="{40CD0408-E060-94DA-D2B8-26DC9A086AA4}"/>
              </a:ext>
            </a:extLst>
          </p:cNvPr>
          <p:cNvPicPr>
            <a:picLocks noChangeAspect="1" noChangeArrowheads="1"/>
          </p:cNvPicPr>
          <p:nvPr/>
        </p:nvPicPr>
        <p:blipFill rotWithShape="1">
          <a:blip r:embed="rId3">
            <a:extLst>
              <a:ext uri="{28A0092B-C50C-407E-A947-70E740481C1C}">
                <a14:useLocalDpi xmlns:a14="http://schemas.microsoft.com/office/drawing/2010/main" xmlns="" val="0"/>
              </a:ext>
            </a:extLst>
          </a:blip>
          <a:srcRect b="7199"/>
          <a:stretch/>
        </p:blipFill>
        <p:spPr bwMode="auto">
          <a:xfrm>
            <a:off x="809625" y="2023045"/>
            <a:ext cx="7800975" cy="4481512"/>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extBox 6">
            <a:extLst>
              <a:ext uri="{FF2B5EF4-FFF2-40B4-BE49-F238E27FC236}">
                <a16:creationId xmlns:a16="http://schemas.microsoft.com/office/drawing/2014/main" xmlns="" id="{BDBB87F7-EE7E-D4FF-51C1-0DB53E22E1D4}"/>
              </a:ext>
            </a:extLst>
          </p:cNvPr>
          <p:cNvSpPr txBox="1"/>
          <p:nvPr/>
        </p:nvSpPr>
        <p:spPr>
          <a:xfrm>
            <a:off x="770561" y="1459190"/>
            <a:ext cx="6318607" cy="461665"/>
          </a:xfrm>
          <a:prstGeom prst="rect">
            <a:avLst/>
          </a:prstGeom>
          <a:noFill/>
        </p:spPr>
        <p:txBody>
          <a:bodyPr wrap="square" rtlCol="0">
            <a:spAutoFit/>
          </a:bodyPr>
          <a:lstStyle/>
          <a:p>
            <a:r>
              <a:rPr lang="en-IN" sz="2400" b="1" i="1" dirty="0">
                <a:solidFill>
                  <a:schemeClr val="accent1">
                    <a:lumMod val="75000"/>
                  </a:schemeClr>
                </a:solidFill>
              </a:rPr>
              <a:t>Biomes and their geographical distribution</a:t>
            </a:r>
            <a:endParaRPr lang="en-IN" sz="2000" b="1" i="1" dirty="0">
              <a:solidFill>
                <a:schemeClr val="accent1">
                  <a:lumMod val="75000"/>
                </a:schemeClr>
              </a:solidFill>
            </a:endParaRPr>
          </a:p>
        </p:txBody>
      </p:sp>
    </p:spTree>
    <p:extLst>
      <p:ext uri="{BB962C8B-B14F-4D97-AF65-F5344CB8AC3E}">
        <p14:creationId xmlns:p14="http://schemas.microsoft.com/office/powerpoint/2010/main" xmlns="" val="232201063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042281"/>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Concept of ecosystem</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3BE8D9AE-B9F1-3437-73C5-FD51E4240776}"/>
              </a:ext>
            </a:extLst>
          </p:cNvPr>
          <p:cNvSpPr txBox="1"/>
          <p:nvPr/>
        </p:nvSpPr>
        <p:spPr>
          <a:xfrm>
            <a:off x="429927" y="6524586"/>
            <a:ext cx="4452794" cy="261610"/>
          </a:xfrm>
          <a:prstGeom prst="rect">
            <a:avLst/>
          </a:prstGeom>
          <a:noFill/>
        </p:spPr>
        <p:txBody>
          <a:bodyPr wrap="square" rtlCol="0">
            <a:spAutoFit/>
          </a:bodyPr>
          <a:lstStyle/>
          <a:p>
            <a:r>
              <a:rPr lang="en-IN" sz="1100" i="1" dirty="0"/>
              <a:t>Image source: </a:t>
            </a:r>
            <a:r>
              <a:rPr lang="en-IN" sz="1100" i="1" dirty="0" err="1"/>
              <a:t>Brainkart</a:t>
            </a:r>
            <a:endParaRPr lang="en-IN" sz="1100" i="1" dirty="0"/>
          </a:p>
        </p:txBody>
      </p:sp>
      <p:sp>
        <p:nvSpPr>
          <p:cNvPr id="7" name="TextBox 6">
            <a:extLst>
              <a:ext uri="{FF2B5EF4-FFF2-40B4-BE49-F238E27FC236}">
                <a16:creationId xmlns:a16="http://schemas.microsoft.com/office/drawing/2014/main" xmlns="" id="{BDBB87F7-EE7E-D4FF-51C1-0DB53E22E1D4}"/>
              </a:ext>
            </a:extLst>
          </p:cNvPr>
          <p:cNvSpPr txBox="1"/>
          <p:nvPr/>
        </p:nvSpPr>
        <p:spPr>
          <a:xfrm>
            <a:off x="480531" y="972499"/>
            <a:ext cx="5250094" cy="461665"/>
          </a:xfrm>
          <a:prstGeom prst="rect">
            <a:avLst/>
          </a:prstGeom>
          <a:noFill/>
        </p:spPr>
        <p:txBody>
          <a:bodyPr wrap="square" rtlCol="0">
            <a:spAutoFit/>
          </a:bodyPr>
          <a:lstStyle/>
          <a:p>
            <a:r>
              <a:rPr lang="en-US" altLang="en-US" sz="2400" b="1" i="1" dirty="0">
                <a:solidFill>
                  <a:schemeClr val="accent1">
                    <a:lumMod val="75000"/>
                  </a:schemeClr>
                </a:solidFill>
              </a:rPr>
              <a:t>Distinctive geographical regions in India</a:t>
            </a:r>
            <a:endParaRPr lang="en-IN" sz="2400" b="1" i="1" dirty="0">
              <a:solidFill>
                <a:schemeClr val="accent1">
                  <a:lumMod val="75000"/>
                </a:schemeClr>
              </a:solidFill>
            </a:endParaRPr>
          </a:p>
        </p:txBody>
      </p:sp>
      <p:pic>
        <p:nvPicPr>
          <p:cNvPr id="5124" name="Picture 4" descr="Indian Geography - Geography of India UPSC Notes, Download PDF">
            <a:extLst>
              <a:ext uri="{FF2B5EF4-FFF2-40B4-BE49-F238E27FC236}">
                <a16:creationId xmlns:a16="http://schemas.microsoft.com/office/drawing/2014/main" xmlns="" id="{8577F167-158B-474F-8EEC-E2607158ABEA}"/>
              </a:ext>
            </a:extLst>
          </p:cNvPr>
          <p:cNvPicPr>
            <a:picLocks noChangeAspect="1" noChangeArrowheads="1"/>
          </p:cNvPicPr>
          <p:nvPr/>
        </p:nvPicPr>
        <p:blipFill rotWithShape="1">
          <a:blip r:embed="rId3">
            <a:extLst>
              <a:ext uri="{28A0092B-C50C-407E-A947-70E740481C1C}">
                <a14:useLocalDpi xmlns:a14="http://schemas.microsoft.com/office/drawing/2010/main" xmlns="" val="0"/>
              </a:ext>
            </a:extLst>
          </a:blip>
          <a:srcRect b="15436"/>
          <a:stretch/>
        </p:blipFill>
        <p:spPr bwMode="auto">
          <a:xfrm>
            <a:off x="5730625" y="2390691"/>
            <a:ext cx="5624031" cy="2676876"/>
          </a:xfrm>
          <a:prstGeom prst="rect">
            <a:avLst/>
          </a:prstGeom>
          <a:noFill/>
          <a:extLst>
            <a:ext uri="{909E8E84-426E-40DD-AFC4-6F175D3DCCD1}">
              <a14:hiddenFill xmlns:a14="http://schemas.microsoft.com/office/drawing/2010/main" xmlns="">
                <a:solidFill>
                  <a:srgbClr val="FFFFFF"/>
                </a:solidFill>
              </a14:hiddenFill>
            </a:ext>
          </a:extLst>
        </p:spPr>
      </p:pic>
      <p:pic>
        <p:nvPicPr>
          <p:cNvPr id="5128" name="Picture 8" descr="Physiographic Divisions of India">
            <a:extLst>
              <a:ext uri="{FF2B5EF4-FFF2-40B4-BE49-F238E27FC236}">
                <a16:creationId xmlns:a16="http://schemas.microsoft.com/office/drawing/2014/main" xmlns="" id="{1A4F1D3E-304E-F3B0-07A4-4705757A63BC}"/>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055999" y="1434164"/>
            <a:ext cx="4397483" cy="493283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290930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Classification of ecosystem</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260976" y="1456794"/>
            <a:ext cx="8038475" cy="5290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rgbClr val="121212"/>
                </a:solidFill>
                <a:highlight>
                  <a:srgbClr val="FFFFFF"/>
                </a:highlight>
                <a:latin typeface="+mn-lt"/>
              </a:rPr>
              <a:t>The ecosystems are classified into many types and are classified based on a number of factors. </a:t>
            </a:r>
          </a:p>
          <a:p>
            <a:pPr algn="just" eaLnBrk="1" hangingPunct="1">
              <a:lnSpc>
                <a:spcPct val="150000"/>
              </a:lnSpc>
              <a:spcBef>
                <a:spcPts val="700"/>
              </a:spcBef>
            </a:pPr>
            <a:r>
              <a:rPr lang="en-US" sz="2400" dirty="0">
                <a:solidFill>
                  <a:srgbClr val="121212"/>
                </a:solidFill>
                <a:highlight>
                  <a:srgbClr val="FFFFFF"/>
                </a:highlight>
                <a:latin typeface="+mn-lt"/>
              </a:rPr>
              <a:t>Ecosystems can generally be classified into two classes such as natural and artificial. </a:t>
            </a:r>
          </a:p>
          <a:p>
            <a:pPr algn="just" eaLnBrk="1" hangingPunct="1">
              <a:lnSpc>
                <a:spcPct val="150000"/>
              </a:lnSpc>
              <a:spcBef>
                <a:spcPts val="700"/>
              </a:spcBef>
            </a:pPr>
            <a:r>
              <a:rPr lang="en-US" sz="2400" dirty="0">
                <a:solidFill>
                  <a:schemeClr val="accent1">
                    <a:lumMod val="75000"/>
                  </a:schemeClr>
                </a:solidFill>
                <a:highlight>
                  <a:srgbClr val="FFFFFF"/>
                </a:highlight>
                <a:latin typeface="+mn-lt"/>
              </a:rPr>
              <a:t>Artificial ecosystems </a:t>
            </a:r>
            <a:r>
              <a:rPr lang="en-US" sz="2400" dirty="0">
                <a:solidFill>
                  <a:srgbClr val="121212"/>
                </a:solidFill>
                <a:highlight>
                  <a:srgbClr val="FFFFFF"/>
                </a:highlight>
                <a:latin typeface="+mn-lt"/>
              </a:rPr>
              <a:t>are natural regions affected by man’s interferences. They are artificial lakes, reservoirs, townships, and cities. </a:t>
            </a:r>
            <a:r>
              <a:rPr lang="en-US" sz="2400" dirty="0">
                <a:solidFill>
                  <a:schemeClr val="accent1">
                    <a:lumMod val="75000"/>
                  </a:schemeClr>
                </a:solidFill>
                <a:highlight>
                  <a:srgbClr val="FFFFFF"/>
                </a:highlight>
                <a:latin typeface="+mn-lt"/>
              </a:rPr>
              <a:t>Natural ecosystems </a:t>
            </a:r>
            <a:r>
              <a:rPr lang="en-US" sz="2400" dirty="0">
                <a:solidFill>
                  <a:srgbClr val="121212"/>
                </a:solidFill>
                <a:highlight>
                  <a:srgbClr val="FFFFFF"/>
                </a:highlight>
                <a:latin typeface="+mn-lt"/>
              </a:rPr>
              <a:t>are basically classified into two major types. They are aquatic ecosystem and terrestrial ecosystem.</a:t>
            </a:r>
            <a:endParaRPr lang="en-US" altLang="en-US" sz="2400" dirty="0">
              <a:solidFill>
                <a:srgbClr val="121212"/>
              </a:solidFill>
              <a:highlight>
                <a:srgbClr val="FFFFFF"/>
              </a:highlight>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96842767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ustomShape 1"/>
          <p:cNvSpPr>
            <a:spLocks noChangeArrowheads="1"/>
          </p:cNvSpPr>
          <p:nvPr/>
        </p:nvSpPr>
        <p:spPr bwMode="auto">
          <a:xfrm>
            <a:off x="393111" y="689113"/>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Classification of ecosystem</a:t>
            </a:r>
            <a:endParaRPr lang="en-US" altLang="en-US" sz="1800" dirty="0"/>
          </a:p>
        </p:txBody>
      </p:sp>
      <p:sp>
        <p:nvSpPr>
          <p:cNvPr id="27652"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2765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a:solidFill>
                  <a:schemeClr val="tx2"/>
                </a:solidFill>
                <a:latin typeface="Calibri" panose="020F0502020204030204" pitchFamily="34" charset="0"/>
              </a:rPr>
              <a:t>ENVIRONMENTAL STUDIES &amp; LIFE SCIENCES</a:t>
            </a:r>
            <a:endParaRPr lang="en-IN" altLang="en-US" sz="1200">
              <a:solidFill>
                <a:schemeClr val="tx2"/>
              </a:solidFill>
            </a:endParaRPr>
          </a:p>
        </p:txBody>
      </p:sp>
      <p:sp>
        <p:nvSpPr>
          <p:cNvPr id="2765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B410FCD0-C275-4223-BB84-616D1F61DB7C}" type="slidenum">
              <a:rPr lang="en-IN" altLang="en-US" sz="1200">
                <a:solidFill>
                  <a:srgbClr val="8B8B8B"/>
                </a:solidFill>
                <a:latin typeface="Calibri" panose="020F0502020204030204" pitchFamily="34" charset="0"/>
              </a:rPr>
              <a:pPr algn="r" eaLnBrk="1" hangingPunct="1">
                <a:spcBef>
                  <a:spcPct val="0"/>
                </a:spcBef>
                <a:buFontTx/>
                <a:buNone/>
              </a:pPr>
              <a:t>16</a:t>
            </a:fld>
            <a:endParaRPr lang="en-US" altLang="en-US" sz="1800"/>
          </a:p>
        </p:txBody>
      </p:sp>
      <p:sp>
        <p:nvSpPr>
          <p:cNvPr id="27655" name="Rectangle 6"/>
          <p:cNvSpPr>
            <a:spLocks noChangeArrowheads="1"/>
          </p:cNvSpPr>
          <p:nvPr/>
        </p:nvSpPr>
        <p:spPr bwMode="auto">
          <a:xfrm>
            <a:off x="407988" y="1485723"/>
            <a:ext cx="8064500" cy="8414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527050" indent="-514350">
              <a:spcBef>
                <a:spcPct val="20000"/>
              </a:spcBef>
              <a:buChar char="•"/>
              <a:tabLst>
                <a:tab pos="525463" algn="l"/>
              </a:tabLst>
              <a:defRPr sz="3200">
                <a:solidFill>
                  <a:schemeClr val="tx1"/>
                </a:solidFill>
                <a:latin typeface="Arial" panose="020B0604020202020204" pitchFamily="34" charset="0"/>
              </a:defRPr>
            </a:lvl1pPr>
            <a:lvl2pPr marL="742950" indent="-285750">
              <a:spcBef>
                <a:spcPct val="20000"/>
              </a:spcBef>
              <a:buChar char="–"/>
              <a:tabLst>
                <a:tab pos="525463" algn="l"/>
              </a:tabLst>
              <a:defRPr sz="2800">
                <a:solidFill>
                  <a:schemeClr val="tx1"/>
                </a:solidFill>
                <a:latin typeface="Arial" panose="020B0604020202020204" pitchFamily="34" charset="0"/>
              </a:defRPr>
            </a:lvl2pPr>
            <a:lvl3pPr marL="1143000" indent="-228600">
              <a:spcBef>
                <a:spcPct val="20000"/>
              </a:spcBef>
              <a:buChar char="•"/>
              <a:tabLst>
                <a:tab pos="525463" algn="l"/>
              </a:tabLst>
              <a:defRPr sz="2400">
                <a:solidFill>
                  <a:schemeClr val="tx1"/>
                </a:solidFill>
                <a:latin typeface="Arial" panose="020B0604020202020204" pitchFamily="34" charset="0"/>
              </a:defRPr>
            </a:lvl3pPr>
            <a:lvl4pPr marL="1600200" indent="-228600">
              <a:spcBef>
                <a:spcPct val="20000"/>
              </a:spcBef>
              <a:buChar char="–"/>
              <a:tabLst>
                <a:tab pos="525463" algn="l"/>
              </a:tabLst>
              <a:defRPr sz="2000">
                <a:solidFill>
                  <a:schemeClr val="tx1"/>
                </a:solidFill>
                <a:latin typeface="Arial" panose="020B0604020202020204" pitchFamily="34" charset="0"/>
              </a:defRPr>
            </a:lvl4pPr>
            <a:lvl5pPr marL="2057400" indent="-228600">
              <a:spcBef>
                <a:spcPct val="20000"/>
              </a:spcBef>
              <a:buChar char="»"/>
              <a:tabLst>
                <a:tab pos="525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525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525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525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525463" algn="l"/>
              </a:tabLst>
              <a:defRPr sz="2000">
                <a:solidFill>
                  <a:schemeClr val="tx1"/>
                </a:solidFill>
                <a:latin typeface="Arial" panose="020B0604020202020204" pitchFamily="34" charset="0"/>
              </a:defRPr>
            </a:lvl9pPr>
          </a:lstStyle>
          <a:p>
            <a:pPr marL="12700" indent="0" algn="just" eaLnBrk="1" hangingPunct="1">
              <a:spcBef>
                <a:spcPts val="25"/>
              </a:spcBef>
              <a:buNone/>
            </a:pPr>
            <a:endParaRPr lang="en-IN" altLang="en-US" sz="2400" dirty="0">
              <a:latin typeface="Calibri" panose="020F0502020204030204" pitchFamily="34" charset="0"/>
              <a:cs typeface="Arial" panose="020B0604020202020204" pitchFamily="34" charset="0"/>
            </a:endParaRPr>
          </a:p>
          <a:p>
            <a:pPr marL="12700" indent="0" algn="just" eaLnBrk="1" hangingPunct="1">
              <a:lnSpc>
                <a:spcPct val="80000"/>
              </a:lnSpc>
              <a:spcBef>
                <a:spcPts val="625"/>
              </a:spcBef>
              <a:buNone/>
            </a:pPr>
            <a:endParaRPr lang="en-IN" altLang="en-US" sz="2400" dirty="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494EBAE7-C3AF-33EA-B6CD-BF71AAD12756}"/>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2050" name="Picture 2" descr="Types Of Ecosystem |Our environment class 10 notes">
            <a:extLst>
              <a:ext uri="{FF2B5EF4-FFF2-40B4-BE49-F238E27FC236}">
                <a16:creationId xmlns:a16="http://schemas.microsoft.com/office/drawing/2014/main" xmlns="" id="{644B0547-30BF-E8AC-B1B0-AA61E7C7B59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88256" y="1718299"/>
            <a:ext cx="8184232" cy="45301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288339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ustomShape 1"/>
          <p:cNvSpPr>
            <a:spLocks noChangeArrowheads="1"/>
          </p:cNvSpPr>
          <p:nvPr/>
        </p:nvSpPr>
        <p:spPr bwMode="auto">
          <a:xfrm>
            <a:off x="393111" y="708025"/>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Classification of ecosystem</a:t>
            </a:r>
            <a:endParaRPr lang="en-US" altLang="en-US" sz="1800" dirty="0"/>
          </a:p>
        </p:txBody>
      </p:sp>
      <p:sp>
        <p:nvSpPr>
          <p:cNvPr id="18436"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8437"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a:solidFill>
                  <a:schemeClr val="tx2"/>
                </a:solidFill>
                <a:latin typeface="Calibri" panose="020F0502020204030204" pitchFamily="34" charset="0"/>
              </a:rPr>
              <a:t>ENVIRONMENTAL STUDIES &amp; LIFE SCIENCES</a:t>
            </a:r>
            <a:endParaRPr lang="en-IN" altLang="en-US" sz="1200">
              <a:solidFill>
                <a:schemeClr val="tx2"/>
              </a:solidFill>
            </a:endParaRPr>
          </a:p>
        </p:txBody>
      </p:sp>
      <p:sp>
        <p:nvSpPr>
          <p:cNvPr id="18438"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0EF5E71-89CF-406B-80AD-194AF78B07A6}" type="slidenum">
              <a:rPr lang="en-IN" altLang="en-US" sz="1200">
                <a:solidFill>
                  <a:srgbClr val="8B8B8B"/>
                </a:solidFill>
                <a:latin typeface="Calibri" panose="020F0502020204030204" pitchFamily="34" charset="0"/>
              </a:rPr>
              <a:pPr algn="r" eaLnBrk="1" hangingPunct="1">
                <a:spcBef>
                  <a:spcPct val="0"/>
                </a:spcBef>
                <a:buFontTx/>
                <a:buNone/>
              </a:pPr>
              <a:t>17</a:t>
            </a:fld>
            <a:endParaRPr lang="en-US" altLang="en-US" sz="1800"/>
          </a:p>
        </p:txBody>
      </p:sp>
      <p:sp>
        <p:nvSpPr>
          <p:cNvPr id="18439" name="Rectangle 8"/>
          <p:cNvSpPr>
            <a:spLocks noChangeArrowheads="1"/>
          </p:cNvSpPr>
          <p:nvPr/>
        </p:nvSpPr>
        <p:spPr bwMode="auto">
          <a:xfrm>
            <a:off x="334963" y="1412875"/>
            <a:ext cx="7904162" cy="5467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812800" indent="-34290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841500" indent="-4572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algn="just" eaLnBrk="1" hangingPunct="1">
              <a:spcBef>
                <a:spcPts val="488"/>
              </a:spcBef>
              <a:buFontTx/>
              <a:buNone/>
            </a:pPr>
            <a:r>
              <a:rPr lang="en-IN" altLang="en-US" sz="2400" b="1" dirty="0">
                <a:solidFill>
                  <a:schemeClr val="accent1">
                    <a:lumMod val="75000"/>
                  </a:schemeClr>
                </a:solidFill>
                <a:latin typeface="Calibri" panose="020F0502020204030204" pitchFamily="34" charset="0"/>
                <a:cs typeface="Calibri" panose="020F0502020204030204" pitchFamily="34" charset="0"/>
              </a:rPr>
              <a:t>Based on study area:</a:t>
            </a:r>
          </a:p>
          <a:p>
            <a:pPr algn="just" eaLnBrk="1" hangingPunct="1">
              <a:lnSpc>
                <a:spcPct val="150000"/>
              </a:lnSpc>
              <a:spcBef>
                <a:spcPts val="638"/>
              </a:spcBef>
              <a:buFontTx/>
              <a:buAutoNum type="arabicPeriod"/>
            </a:pPr>
            <a:r>
              <a:rPr lang="en-IN" altLang="en-US" sz="2400" dirty="0">
                <a:latin typeface="Calibri" panose="020F0502020204030204" pitchFamily="34" charset="0"/>
                <a:cs typeface="Calibri" panose="020F0502020204030204" pitchFamily="34" charset="0"/>
              </a:rPr>
              <a:t>Autecology : It deals with the study of an individual species  of organisms and it’s population. It is also called the Species ecology.</a:t>
            </a:r>
          </a:p>
          <a:p>
            <a:pPr algn="just" eaLnBrk="1" hangingPunct="1">
              <a:lnSpc>
                <a:spcPct val="150000"/>
              </a:lnSpc>
              <a:spcBef>
                <a:spcPct val="0"/>
              </a:spcBef>
              <a:buFontTx/>
              <a:buAutoNum type="arabicPeriod"/>
            </a:pPr>
            <a:r>
              <a:rPr lang="en-IN" altLang="en-US" sz="2400" dirty="0">
                <a:latin typeface="Calibri" panose="020F0502020204030204" pitchFamily="34" charset="0"/>
                <a:cs typeface="Calibri" panose="020F0502020204030204" pitchFamily="34" charset="0"/>
              </a:rPr>
              <a:t>Synecology : It deals with the study of communities, their  composition, their behaviour and relation with the  environment. It is further divided into 3 types: </a:t>
            </a:r>
          </a:p>
          <a:p>
            <a:pPr lvl="3" algn="just" eaLnBrk="1" hangingPunct="1">
              <a:lnSpc>
                <a:spcPct val="150000"/>
              </a:lnSpc>
              <a:spcBef>
                <a:spcPct val="0"/>
              </a:spcBef>
              <a:buFont typeface="Arial" panose="020B0604020202020204" pitchFamily="34" charset="0"/>
              <a:buAutoNum type="alphaLcParenR"/>
            </a:pPr>
            <a:r>
              <a:rPr lang="en-IN" altLang="en-US" sz="2400" dirty="0">
                <a:latin typeface="Calibri" panose="020F0502020204030204" pitchFamily="34" charset="0"/>
                <a:cs typeface="Calibri" panose="020F0502020204030204" pitchFamily="34" charset="0"/>
              </a:rPr>
              <a:t>Population Ecology</a:t>
            </a:r>
          </a:p>
          <a:p>
            <a:pPr lvl="3" algn="just" eaLnBrk="1" hangingPunct="1">
              <a:lnSpc>
                <a:spcPct val="150000"/>
              </a:lnSpc>
              <a:spcBef>
                <a:spcPct val="0"/>
              </a:spcBef>
              <a:buFont typeface="Arial" panose="020B0604020202020204" pitchFamily="34" charset="0"/>
              <a:buAutoNum type="alphaLcParenR"/>
            </a:pPr>
            <a:r>
              <a:rPr lang="en-IN" altLang="en-US" sz="2400" dirty="0">
                <a:latin typeface="Calibri" panose="020F0502020204030204" pitchFamily="34" charset="0"/>
                <a:cs typeface="Calibri" panose="020F0502020204030204" pitchFamily="34" charset="0"/>
              </a:rPr>
              <a:t>Community Ecology</a:t>
            </a:r>
          </a:p>
          <a:p>
            <a:pPr lvl="3" algn="just" eaLnBrk="1" hangingPunct="1">
              <a:lnSpc>
                <a:spcPct val="150000"/>
              </a:lnSpc>
              <a:spcBef>
                <a:spcPct val="0"/>
              </a:spcBef>
              <a:buFont typeface="Arial" panose="020B0604020202020204" pitchFamily="34" charset="0"/>
              <a:buAutoNum type="alphaLcParenR"/>
            </a:pPr>
            <a:r>
              <a:rPr lang="en-IN" altLang="en-US" sz="2400" dirty="0">
                <a:latin typeface="Calibri" panose="020F0502020204030204" pitchFamily="34" charset="0"/>
                <a:cs typeface="Calibri" panose="020F0502020204030204" pitchFamily="34" charset="0"/>
              </a:rPr>
              <a:t>Ecosystem Ecology</a:t>
            </a:r>
          </a:p>
        </p:txBody>
      </p:sp>
      <p:pic>
        <p:nvPicPr>
          <p:cNvPr id="2" name="Picture 4" descr="PESSAT - All India Online Entrance Exam for Admission to PES University">
            <a:extLst>
              <a:ext uri="{FF2B5EF4-FFF2-40B4-BE49-F238E27FC236}">
                <a16:creationId xmlns:a16="http://schemas.microsoft.com/office/drawing/2014/main" xmlns="" id="{BC98262F-4110-9CEE-2A82-CD8CC0CAB57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ustomShape 1"/>
          <p:cNvSpPr>
            <a:spLocks noChangeArrowheads="1"/>
          </p:cNvSpPr>
          <p:nvPr/>
        </p:nvSpPr>
        <p:spPr bwMode="auto">
          <a:xfrm>
            <a:off x="393111" y="723187"/>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Classification of ecosystem</a:t>
            </a:r>
            <a:endParaRPr lang="en-US" altLang="en-US" sz="1800" dirty="0"/>
          </a:p>
        </p:txBody>
      </p:sp>
      <p:sp>
        <p:nvSpPr>
          <p:cNvPr id="18436"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8437"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a:solidFill>
                  <a:schemeClr val="tx2"/>
                </a:solidFill>
                <a:latin typeface="Calibri" panose="020F0502020204030204" pitchFamily="34" charset="0"/>
              </a:rPr>
              <a:t>ENVIRONMENTAL STUDIES &amp; LIFE SCIENCES</a:t>
            </a:r>
            <a:endParaRPr lang="en-IN" altLang="en-US" sz="1200">
              <a:solidFill>
                <a:schemeClr val="tx2"/>
              </a:solidFill>
            </a:endParaRPr>
          </a:p>
        </p:txBody>
      </p:sp>
      <p:sp>
        <p:nvSpPr>
          <p:cNvPr id="18438"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0EF5E71-89CF-406B-80AD-194AF78B07A6}" type="slidenum">
              <a:rPr lang="en-IN" altLang="en-US" sz="1200">
                <a:solidFill>
                  <a:srgbClr val="8B8B8B"/>
                </a:solidFill>
                <a:latin typeface="Calibri" panose="020F0502020204030204" pitchFamily="34" charset="0"/>
              </a:rPr>
              <a:pPr algn="r" eaLnBrk="1" hangingPunct="1">
                <a:spcBef>
                  <a:spcPct val="0"/>
                </a:spcBef>
                <a:buFontTx/>
                <a:buNone/>
              </a:pPr>
              <a:t>18</a:t>
            </a:fld>
            <a:endParaRPr lang="en-US" altLang="en-US" sz="1800"/>
          </a:p>
        </p:txBody>
      </p:sp>
      <p:sp>
        <p:nvSpPr>
          <p:cNvPr id="18439" name="Rectangle 8"/>
          <p:cNvSpPr>
            <a:spLocks noChangeArrowheads="1"/>
          </p:cNvSpPr>
          <p:nvPr/>
        </p:nvSpPr>
        <p:spPr bwMode="auto">
          <a:xfrm>
            <a:off x="334963" y="1412875"/>
            <a:ext cx="7904162" cy="2251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812800" indent="-34290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841500" indent="-4572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algn="just">
              <a:lnSpc>
                <a:spcPct val="150000"/>
              </a:lnSpc>
              <a:spcBef>
                <a:spcPts val="488"/>
              </a:spcBef>
            </a:pPr>
            <a:r>
              <a:rPr lang="en-US" sz="2400" dirty="0">
                <a:latin typeface="Calibri" panose="020F0502020204030204" pitchFamily="34" charset="0"/>
                <a:cs typeface="Calibri" panose="020F0502020204030204" pitchFamily="34" charset="0"/>
              </a:rPr>
              <a:t>The most diverse ecosystem in the world is the huge Coral Triangle in Southeast Asia. The Coral Triangle stretches from the Philippines in the north to the Solomon Islands in the east to the islands of Indonesia and Papua in the west.</a:t>
            </a:r>
            <a:endParaRPr lang="en-IN"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BC98262F-4110-9CEE-2A82-CD8CC0CAB57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8194" name="Picture 2" descr="Where is the Coral Triangle located? - Quora">
            <a:extLst>
              <a:ext uri="{FF2B5EF4-FFF2-40B4-BE49-F238E27FC236}">
                <a16:creationId xmlns:a16="http://schemas.microsoft.com/office/drawing/2014/main" xmlns="" id="{AD42B22A-F5AD-402A-115B-BB7CB95909A6}"/>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174874" y="3760776"/>
            <a:ext cx="4441683" cy="2938913"/>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E112F535-973B-6A0F-B9A6-772DF3A89912}"/>
              </a:ext>
            </a:extLst>
          </p:cNvPr>
          <p:cNvSpPr txBox="1"/>
          <p:nvPr/>
        </p:nvSpPr>
        <p:spPr>
          <a:xfrm>
            <a:off x="429927" y="6524586"/>
            <a:ext cx="4452794" cy="261610"/>
          </a:xfrm>
          <a:prstGeom prst="rect">
            <a:avLst/>
          </a:prstGeom>
          <a:noFill/>
        </p:spPr>
        <p:txBody>
          <a:bodyPr wrap="square" rtlCol="0">
            <a:spAutoFit/>
          </a:bodyPr>
          <a:lstStyle/>
          <a:p>
            <a:r>
              <a:rPr lang="en-IN" sz="1100" i="1" dirty="0"/>
              <a:t>Image source: </a:t>
            </a:r>
            <a:r>
              <a:rPr lang="en-IN" sz="1100" i="1" dirty="0" err="1"/>
              <a:t>Brainkart</a:t>
            </a:r>
            <a:endParaRPr lang="en-IN" sz="1100" i="1" dirty="0"/>
          </a:p>
        </p:txBody>
      </p:sp>
    </p:spTree>
    <p:extLst>
      <p:ext uri="{BB962C8B-B14F-4D97-AF65-F5344CB8AC3E}">
        <p14:creationId xmlns:p14="http://schemas.microsoft.com/office/powerpoint/2010/main" xmlns="" val="365126616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2005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IN" sz="2400" dirty="0">
                <a:solidFill>
                  <a:schemeClr val="accent1">
                    <a:lumMod val="75000"/>
                  </a:schemeClr>
                </a:solidFill>
                <a:latin typeface="Calibri" panose="020F0502020204030204" pitchFamily="34" charset="0"/>
                <a:cs typeface="Calibri" panose="020F0502020204030204" pitchFamily="34" charset="0"/>
              </a:rPr>
              <a:t>Threats to Ecosystems</a:t>
            </a:r>
          </a:p>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For thousands of years, people have interacted with ecosystems. Many cultures developed around nearby ecosystems. Many Native American tribes of North Americas Great Plains developed a complex lifestyle based on the native plants and animals of plains ecosystems, for instance.</a:t>
            </a:r>
            <a:endParaRPr lang="en-IN" sz="2400" dirty="0">
              <a:latin typeface="Calibri" panose="020F0502020204030204" pitchFamily="34" charset="0"/>
              <a:cs typeface="Calibri" panose="020F0502020204030204" pitchFamily="34" charset="0"/>
            </a:endParaRPr>
          </a:p>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As human populations have grown, however, people have overtaken many ecosystems. </a:t>
            </a: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8824754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2005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The tallgrass prairie of the Great Plains, for instance, became farmland.</a:t>
            </a:r>
          </a:p>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In the tropical rain forest ecosystems surrounding the Amazon River in South America, a similar situation is taking place. The Amazon rain forest includes hundreds of ecosystems, including canopies, understories, and forest floors. These ecosystems support vast food webs.</a:t>
            </a:r>
          </a:p>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Human activity threatens all these rain forest ecosystems such as the Amazon.</a:t>
            </a: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4941940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1108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Ecosystems can recover from destruction, however. The delicate coral reef ecosystems in the South Pacific are at risk due to rising ocean temperatures and decreased salinity. </a:t>
            </a:r>
          </a:p>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Corals bleach, or lose their bright colors, in water that is too warm. They die in water that is not salty enough. Without the reef structure, the ecosystem collapses. Organisms such as algae, plants such as seagrass, and animals such as fish, snakes, and shrimp disappear.</a:t>
            </a: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8218668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1108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latin typeface="Calibri" panose="020F0502020204030204" pitchFamily="34" charset="0"/>
                <a:cs typeface="Calibri" panose="020F0502020204030204" pitchFamily="34" charset="0"/>
              </a:rPr>
              <a:t>The destruction of entire ecosystems by human beings has been called </a:t>
            </a:r>
            <a:r>
              <a:rPr lang="en-US" sz="2400" dirty="0">
                <a:solidFill>
                  <a:schemeClr val="accent1">
                    <a:lumMod val="75000"/>
                  </a:schemeClr>
                </a:solidFill>
                <a:latin typeface="Calibri" panose="020F0502020204030204" pitchFamily="34" charset="0"/>
                <a:cs typeface="Calibri" panose="020F0502020204030204" pitchFamily="34" charset="0"/>
              </a:rPr>
              <a:t>ecocide</a:t>
            </a:r>
            <a:r>
              <a:rPr lang="en-US" sz="2400" dirty="0">
                <a:latin typeface="Calibri" panose="020F0502020204030204" pitchFamily="34" charset="0"/>
                <a:cs typeface="Calibri" panose="020F0502020204030204" pitchFamily="34" charset="0"/>
              </a:rPr>
              <a:t>, or murder of the environment.</a:t>
            </a:r>
          </a:p>
          <a:p>
            <a:pPr algn="just" eaLnBrk="1" hangingPunct="1">
              <a:lnSpc>
                <a:spcPct val="150000"/>
              </a:lnSpc>
              <a:spcBef>
                <a:spcPts val="700"/>
              </a:spcBef>
            </a:pPr>
            <a:r>
              <a:rPr lang="en-US" altLang="en-US" sz="2400" dirty="0">
                <a:solidFill>
                  <a:schemeClr val="accent1">
                    <a:lumMod val="75000"/>
                  </a:schemeClr>
                </a:solidFill>
                <a:latin typeface="Calibri" panose="020F0502020204030204" pitchFamily="34" charset="0"/>
                <a:cs typeface="Calibri" panose="020F0502020204030204" pitchFamily="34" charset="0"/>
              </a:rPr>
              <a:t>Great Barrier Reef in Australia- </a:t>
            </a:r>
            <a:r>
              <a:rPr lang="en-US" sz="2400" dirty="0">
                <a:latin typeface="Calibri" panose="020F0502020204030204" pitchFamily="34" charset="0"/>
                <a:cs typeface="Calibri" panose="020F0502020204030204" pitchFamily="34" charset="0"/>
              </a:rPr>
              <a:t>It’s one of the most biodiverse ecosystems on the planet, home to an incredible array of marine plants and animals. Sadly, the health of the Reef has significantly declined over the past three decades. Coastal developments, pollution and human interference all pose major threats, and the Reef has also suffered multiple mass coral bleaching events as a result of global warming.</a:t>
            </a: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6031339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dirty="0"/>
          </a:p>
        </p:txBody>
      </p:sp>
      <p:sp>
        <p:nvSpPr>
          <p:cNvPr id="17412" name="Line 2"/>
          <p:cNvSpPr>
            <a:spLocks noChangeShapeType="1"/>
          </p:cNvSpPr>
          <p:nvPr/>
        </p:nvSpPr>
        <p:spPr bwMode="auto">
          <a:xfrm>
            <a:off x="0" y="1042752"/>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Concept of ecosystem</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14338" name="Picture 2" descr="How global warming is permanently reshaping the Great Barrier Reef | PBS  News">
            <a:extLst>
              <a:ext uri="{FF2B5EF4-FFF2-40B4-BE49-F238E27FC236}">
                <a16:creationId xmlns:a16="http://schemas.microsoft.com/office/drawing/2014/main" xmlns="" id="{09700E82-9F1A-0FF5-E14A-262989F45F5E}"/>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07989" y="4329367"/>
            <a:ext cx="3438672" cy="229356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380BBEE8-56E0-5AA3-0BF4-2AFCB74C2B0B}"/>
              </a:ext>
            </a:extLst>
          </p:cNvPr>
          <p:cNvSpPr txBox="1"/>
          <p:nvPr/>
        </p:nvSpPr>
        <p:spPr>
          <a:xfrm>
            <a:off x="877298" y="1088691"/>
            <a:ext cx="6818045" cy="461665"/>
          </a:xfrm>
          <a:prstGeom prst="rect">
            <a:avLst/>
          </a:prstGeom>
          <a:noFill/>
        </p:spPr>
        <p:txBody>
          <a:bodyPr wrap="square" rtlCol="0">
            <a:spAutoFit/>
          </a:bodyPr>
          <a:lstStyle/>
          <a:p>
            <a:r>
              <a:rPr lang="en-IN" altLang="en-US" sz="2400" b="1" dirty="0">
                <a:solidFill>
                  <a:srgbClr val="C55A11"/>
                </a:solidFill>
                <a:latin typeface="Calibri" panose="020F0502020204030204" pitchFamily="34" charset="0"/>
              </a:rPr>
              <a:t>Great Barrier Reef: </a:t>
            </a:r>
            <a:r>
              <a:rPr lang="en-IN" sz="2400" b="1" dirty="0">
                <a:solidFill>
                  <a:schemeClr val="accent1">
                    <a:lumMod val="75000"/>
                  </a:schemeClr>
                </a:solidFill>
              </a:rPr>
              <a:t>Before and After Climate Change</a:t>
            </a:r>
          </a:p>
        </p:txBody>
      </p:sp>
      <p:pic>
        <p:nvPicPr>
          <p:cNvPr id="14340" name="Picture 4" descr="Devastating Photos of the Disappearing Great Barrier Reef - Business Insider">
            <a:extLst>
              <a:ext uri="{FF2B5EF4-FFF2-40B4-BE49-F238E27FC236}">
                <a16:creationId xmlns:a16="http://schemas.microsoft.com/office/drawing/2014/main" xmlns="" id="{DC15B65A-E64A-E275-EF38-4E072696876E}"/>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5068190" y="4331983"/>
            <a:ext cx="3048394" cy="2286296"/>
          </a:xfrm>
          <a:prstGeom prst="rect">
            <a:avLst/>
          </a:prstGeom>
          <a:noFill/>
          <a:extLst>
            <a:ext uri="{909E8E84-426E-40DD-AFC4-6F175D3DCCD1}">
              <a14:hiddenFill xmlns:a14="http://schemas.microsoft.com/office/drawing/2010/main" xmlns="">
                <a:solidFill>
                  <a:srgbClr val="FFFFFF"/>
                </a:solidFill>
              </a14:hiddenFill>
            </a:ext>
          </a:extLst>
        </p:spPr>
      </p:pic>
      <p:pic>
        <p:nvPicPr>
          <p:cNvPr id="14342" name="Picture 6" descr="Paradise lost: the crisis on the Great Barrier Reef">
            <a:extLst>
              <a:ext uri="{FF2B5EF4-FFF2-40B4-BE49-F238E27FC236}">
                <a16:creationId xmlns:a16="http://schemas.microsoft.com/office/drawing/2014/main" xmlns="" id="{D223448E-3D77-1056-21C3-DEDD86B14913}"/>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2417381" y="1552047"/>
            <a:ext cx="4473623" cy="251801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C384BEED-1900-B3E5-5345-50FC4C86A8E0}"/>
              </a:ext>
            </a:extLst>
          </p:cNvPr>
          <p:cNvSpPr txBox="1"/>
          <p:nvPr/>
        </p:nvSpPr>
        <p:spPr>
          <a:xfrm>
            <a:off x="8438113" y="6487474"/>
            <a:ext cx="4452794" cy="261610"/>
          </a:xfrm>
          <a:prstGeom prst="rect">
            <a:avLst/>
          </a:prstGeom>
          <a:noFill/>
        </p:spPr>
        <p:txBody>
          <a:bodyPr wrap="square" rtlCol="0">
            <a:spAutoFit/>
          </a:bodyPr>
          <a:lstStyle/>
          <a:p>
            <a:r>
              <a:rPr lang="en-IN" sz="1100" i="1" dirty="0"/>
              <a:t>Image source: Nat Geo </a:t>
            </a:r>
          </a:p>
        </p:txBody>
      </p:sp>
    </p:spTree>
    <p:extLst>
      <p:ext uri="{BB962C8B-B14F-4D97-AF65-F5344CB8AC3E}">
        <p14:creationId xmlns:p14="http://schemas.microsoft.com/office/powerpoint/2010/main" xmlns="" val="204989524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57545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ts val="700"/>
              </a:spcBef>
            </a:pPr>
            <a:r>
              <a:rPr lang="en-US" sz="2400" dirty="0">
                <a:solidFill>
                  <a:schemeClr val="accent1">
                    <a:lumMod val="75000"/>
                  </a:schemeClr>
                </a:solidFill>
                <a:latin typeface="Calibri" panose="020F0502020204030204" pitchFamily="34" charset="0"/>
                <a:cs typeface="Calibri" panose="020F0502020204030204" pitchFamily="34" charset="0"/>
              </a:rPr>
              <a:t>Keystone species</a:t>
            </a:r>
          </a:p>
          <a:p>
            <a:pPr algn="just">
              <a:lnSpc>
                <a:spcPct val="150000"/>
              </a:lnSpc>
              <a:spcBef>
                <a:spcPts val="700"/>
              </a:spcBef>
            </a:pPr>
            <a:r>
              <a:rPr lang="en-US" altLang="en-US" sz="2400" dirty="0">
                <a:latin typeface="Calibri" panose="020F0502020204030204" pitchFamily="34" charset="0"/>
                <a:cs typeface="Calibri" panose="020F0502020204030204" pitchFamily="34" charset="0"/>
              </a:rPr>
              <a:t>Some species if eliminated seriously affect the ecosystem. These are called ‘Keystone species’. </a:t>
            </a:r>
          </a:p>
          <a:p>
            <a:pPr marL="342900" indent="-342900" algn="just" eaLnBrk="1" hangingPunct="1">
              <a:lnSpc>
                <a:spcPct val="150000"/>
              </a:lnSpc>
              <a:spcBef>
                <a:spcPct val="0"/>
              </a:spcBef>
            </a:pPr>
            <a:r>
              <a:rPr lang="en-US" sz="2400" dirty="0">
                <a:latin typeface="Calibri" panose="020F0502020204030204" pitchFamily="34" charset="0"/>
                <a:cs typeface="Calibri" panose="020F0502020204030204" pitchFamily="34" charset="0"/>
              </a:rPr>
              <a:t>In the 1960s, renowned ecologist Robert Paine disrupted a patch of Washington State coastline—and made a huge environmental breakthrough. </a:t>
            </a:r>
          </a:p>
          <a:p>
            <a:pPr marL="342900" indent="-342900" algn="just" eaLnBrk="1" hangingPunct="1">
              <a:lnSpc>
                <a:spcPct val="150000"/>
              </a:lnSpc>
              <a:spcBef>
                <a:spcPct val="0"/>
              </a:spcBef>
            </a:pPr>
            <a:r>
              <a:rPr lang="en-US" sz="2400" dirty="0">
                <a:latin typeface="Calibri" panose="020F0502020204030204" pitchFamily="34" charset="0"/>
                <a:cs typeface="Calibri" panose="020F0502020204030204" pitchFamily="34" charset="0"/>
              </a:rPr>
              <a:t>In an effort to understand the food web in a tidal ecosystem in </a:t>
            </a:r>
            <a:r>
              <a:rPr lang="en-US" sz="2400" dirty="0" err="1">
                <a:latin typeface="Calibri" panose="020F0502020204030204" pitchFamily="34" charset="0"/>
                <a:cs typeface="Calibri" panose="020F0502020204030204" pitchFamily="34" charset="0"/>
              </a:rPr>
              <a:t>Makaw</a:t>
            </a:r>
            <a:r>
              <a:rPr lang="en-US" sz="2400" dirty="0">
                <a:latin typeface="Calibri" panose="020F0502020204030204" pitchFamily="34" charset="0"/>
                <a:cs typeface="Calibri" panose="020F0502020204030204" pitchFamily="34" charset="0"/>
              </a:rPr>
              <a:t> Bay, he removed all of a single starfish species in one area. </a:t>
            </a:r>
          </a:p>
          <a:p>
            <a:pPr algn="just" eaLnBrk="1" hangingPunct="1">
              <a:lnSpc>
                <a:spcPct val="150000"/>
              </a:lnSpc>
              <a:spcBef>
                <a:spcPts val="700"/>
              </a:spcBef>
            </a:pP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43942085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7569361"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7964488" cy="62188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lnSpc>
                <a:spcPct val="150000"/>
              </a:lnSpc>
              <a:spcBef>
                <a:spcPct val="0"/>
              </a:spcBef>
            </a:pPr>
            <a:r>
              <a:rPr lang="en-US" sz="2400" dirty="0">
                <a:latin typeface="Calibri" panose="020F0502020204030204" pitchFamily="34" charset="0"/>
                <a:cs typeface="Calibri" panose="020F0502020204030204" pitchFamily="34" charset="0"/>
              </a:rPr>
              <a:t>Rapidly the entire ecosystem changed, leading him to the realization that certain species play outsize roles in the overall structure and function of their environment. </a:t>
            </a:r>
          </a:p>
          <a:p>
            <a:pPr marL="342900" indent="-342900" algn="just" eaLnBrk="1" hangingPunct="1">
              <a:lnSpc>
                <a:spcPct val="150000"/>
              </a:lnSpc>
              <a:spcBef>
                <a:spcPct val="0"/>
              </a:spcBef>
            </a:pPr>
            <a:r>
              <a:rPr lang="en-US" sz="2400" dirty="0">
                <a:latin typeface="Calibri" panose="020F0502020204030204" pitchFamily="34" charset="0"/>
                <a:cs typeface="Calibri" panose="020F0502020204030204" pitchFamily="34" charset="0"/>
              </a:rPr>
              <a:t>Paine coined a term for these critical organisms: keystone species. </a:t>
            </a:r>
          </a:p>
          <a:p>
            <a:pPr marL="342900" indent="-342900" algn="just" eaLnBrk="1" hangingPunct="1">
              <a:lnSpc>
                <a:spcPct val="150000"/>
              </a:lnSpc>
              <a:spcBef>
                <a:spcPct val="0"/>
              </a:spcBef>
            </a:pPr>
            <a:r>
              <a:rPr lang="en-US" sz="2400" dirty="0">
                <a:latin typeface="Calibri" panose="020F0502020204030204" pitchFamily="34" charset="0"/>
                <a:cs typeface="Calibri" panose="020F0502020204030204" pitchFamily="34" charset="0"/>
              </a:rPr>
              <a:t>They are nearly always a critical component of the local food web. One of the defining characteristics of a keystone species is that it fills a critical ecological role that no other species can.</a:t>
            </a:r>
            <a:endParaRPr lang="en-US" altLang="en-US" sz="2400" dirty="0">
              <a:latin typeface="Calibri" panose="020F0502020204030204" pitchFamily="34" charset="0"/>
              <a:cs typeface="Calibri" panose="020F0502020204030204" pitchFamily="34" charset="0"/>
            </a:endParaRPr>
          </a:p>
          <a:p>
            <a:pPr marL="342900" indent="-342900" algn="just" eaLnBrk="1" hangingPunct="1">
              <a:lnSpc>
                <a:spcPct val="150000"/>
              </a:lnSpc>
              <a:spcBef>
                <a:spcPct val="0"/>
              </a:spcBef>
            </a:pPr>
            <a:endParaRPr lang="en-US" altLang="en-US" sz="2400" dirty="0">
              <a:latin typeface="Calibri" panose="020F0502020204030204" pitchFamily="34" charset="0"/>
              <a:cs typeface="Calibri" panose="020F0502020204030204" pitchFamily="34" charset="0"/>
            </a:endParaRPr>
          </a:p>
          <a:p>
            <a:pPr algn="just" eaLnBrk="1" hangingPunct="1">
              <a:lnSpc>
                <a:spcPct val="150000"/>
              </a:lnSpc>
              <a:spcBef>
                <a:spcPts val="700"/>
              </a:spcBef>
            </a:pPr>
            <a:endParaRPr lang="en-US" altLang="en-US" sz="2400" dirty="0">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569003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3" y="646296"/>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31748"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26</a:t>
            </a:fld>
            <a:endParaRPr lang="en-US" altLang="en-US" sz="1800"/>
          </a:p>
        </p:txBody>
      </p:sp>
      <p:sp>
        <p:nvSpPr>
          <p:cNvPr id="31751" name="Rectangle 7"/>
          <p:cNvSpPr>
            <a:spLocks noChangeArrowheads="1"/>
          </p:cNvSpPr>
          <p:nvPr/>
        </p:nvSpPr>
        <p:spPr bwMode="auto">
          <a:xfrm>
            <a:off x="442118" y="1458912"/>
            <a:ext cx="7858125" cy="56323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spcBef>
                <a:spcPct val="0"/>
              </a:spcBef>
            </a:pPr>
            <a:r>
              <a:rPr lang="en-US" altLang="en-US" sz="2400" dirty="0">
                <a:solidFill>
                  <a:schemeClr val="accent1">
                    <a:lumMod val="75000"/>
                  </a:schemeClr>
                </a:solidFill>
                <a:latin typeface="Calibri" panose="020F0502020204030204" pitchFamily="34" charset="0"/>
                <a:cs typeface="Calibri" panose="020F0502020204030204" pitchFamily="34" charset="0"/>
              </a:rPr>
              <a:t>EXAMPLES OF KEYSTONE SPECIES:</a:t>
            </a:r>
          </a:p>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Star fish-</a:t>
            </a:r>
            <a:r>
              <a:rPr lang="en-US" altLang="en-US" sz="2400" dirty="0">
                <a:latin typeface="Calibri" panose="020F0502020204030204" pitchFamily="34" charset="0"/>
              </a:rPr>
              <a:t> B</a:t>
            </a:r>
            <a:r>
              <a:rPr lang="en-US" sz="2400" dirty="0">
                <a:latin typeface="Calibri" panose="020F0502020204030204" pitchFamily="34" charset="0"/>
              </a:rPr>
              <a:t>y keeping populations of mussels and barnacles in check, this sea star helps ensure healthy populations of seaweeds and the communities that feed on them.</a:t>
            </a:r>
            <a:endParaRPr lang="en-US" altLang="en-US" sz="2400" dirty="0">
              <a:latin typeface="Calibri" panose="020F0502020204030204" pitchFamily="34" charset="0"/>
            </a:endParaRPr>
          </a:p>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Sea otters-</a:t>
            </a:r>
            <a:r>
              <a:rPr lang="en-US" altLang="en-US" sz="2400" dirty="0">
                <a:latin typeface="Calibri" panose="020F0502020204030204" pitchFamily="34" charset="0"/>
              </a:rPr>
              <a:t> R</a:t>
            </a:r>
            <a:r>
              <a:rPr lang="en-US" sz="2400" dirty="0">
                <a:latin typeface="Calibri" panose="020F0502020204030204" pitchFamily="34" charset="0"/>
              </a:rPr>
              <a:t>ole as a top predator in the nearshore marine ecosystem.</a:t>
            </a:r>
            <a:endParaRPr lang="en-US" altLang="en-US" sz="2400" dirty="0">
              <a:latin typeface="Calibri" panose="020F0502020204030204" pitchFamily="34" charset="0"/>
            </a:endParaRPr>
          </a:p>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Beavers-</a:t>
            </a:r>
            <a:r>
              <a:rPr lang="en-US" altLang="en-US" sz="2400" dirty="0">
                <a:latin typeface="Calibri" panose="020F0502020204030204" pitchFamily="34" charset="0"/>
              </a:rPr>
              <a:t> B</a:t>
            </a:r>
            <a:r>
              <a:rPr lang="en-US" sz="2400" dirty="0">
                <a:latin typeface="Calibri" panose="020F0502020204030204" pitchFamily="34" charset="0"/>
              </a:rPr>
              <a:t>uilds well-maintained dams. These dams turn small streams into ponds and lakes which provide excellent areas for other animals to use and thrive.</a:t>
            </a:r>
            <a:endParaRPr lang="en-US" altLang="en-US" sz="2400" dirty="0">
              <a:latin typeface="Calibri" panose="020F0502020204030204" pitchFamily="34" charset="0"/>
            </a:endParaRPr>
          </a:p>
          <a:p>
            <a:pPr marL="342900" indent="-342900" algn="just" eaLnBrk="1" hangingPunct="1">
              <a:spcBef>
                <a:spcPct val="0"/>
              </a:spcBef>
            </a:pPr>
            <a:endParaRPr lang="en-US" altLang="en-US" sz="2400" dirty="0">
              <a:latin typeface="Calibri" panose="020F0502020204030204" pitchFamily="34" charset="0"/>
            </a:endParaRPr>
          </a:p>
          <a:p>
            <a:pPr marL="342900" indent="-342900" algn="just" eaLnBrk="1" hangingPunct="1">
              <a:spcBef>
                <a:spcPct val="0"/>
              </a:spcBef>
            </a:pPr>
            <a:endParaRPr lang="en-US" altLang="en-US" sz="2400" dirty="0">
              <a:solidFill>
                <a:schemeClr val="accent1">
                  <a:lumMod val="75000"/>
                </a:schemeClr>
              </a:solidFill>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186387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3" y="689113"/>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31748"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27</a:t>
            </a:fld>
            <a:endParaRPr lang="en-US" altLang="en-US" sz="1800"/>
          </a:p>
        </p:txBody>
      </p:sp>
      <p:sp>
        <p:nvSpPr>
          <p:cNvPr id="31751" name="Rectangle 7"/>
          <p:cNvSpPr>
            <a:spLocks noChangeArrowheads="1"/>
          </p:cNvSpPr>
          <p:nvPr/>
        </p:nvSpPr>
        <p:spPr bwMode="auto">
          <a:xfrm>
            <a:off x="442118" y="1458912"/>
            <a:ext cx="7858125" cy="52629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Wolves-</a:t>
            </a:r>
            <a:r>
              <a:rPr lang="en-US" altLang="en-US" sz="2400" dirty="0">
                <a:latin typeface="Calibri" panose="020F0502020204030204" pitchFamily="34" charset="0"/>
              </a:rPr>
              <a:t> </a:t>
            </a:r>
            <a:r>
              <a:rPr lang="en-US" sz="2400" dirty="0">
                <a:latin typeface="Calibri" panose="020F0502020204030204" pitchFamily="34" charset="0"/>
              </a:rPr>
              <a:t>By regulating prey populations, wolves enable many other species of plants and animals to flourish.</a:t>
            </a:r>
            <a:endParaRPr lang="en-US" altLang="en-US" sz="2400" dirty="0">
              <a:latin typeface="Calibri" panose="020F0502020204030204" pitchFamily="34" charset="0"/>
            </a:endParaRPr>
          </a:p>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Bees-</a:t>
            </a:r>
            <a:r>
              <a:rPr lang="en-US" altLang="en-US" sz="2400" dirty="0">
                <a:latin typeface="Calibri" panose="020F0502020204030204" pitchFamily="34" charset="0"/>
              </a:rPr>
              <a:t> </a:t>
            </a:r>
            <a:r>
              <a:rPr lang="en-US" sz="2400" dirty="0">
                <a:latin typeface="Calibri" panose="020F0502020204030204" pitchFamily="34" charset="0"/>
              </a:rPr>
              <a:t>It is predicted that if honey bees disappear, more than 50% of plant species will become extinct. Honey bees do not only produce cross-pollination which assists with genetic diversity of plants and possibly other animal species and accordingly biodiversity relates to healthy ecosystems.</a:t>
            </a:r>
            <a:endParaRPr lang="en-US" altLang="en-US" sz="2400" dirty="0">
              <a:latin typeface="Calibri" panose="020F0502020204030204" pitchFamily="34" charset="0"/>
            </a:endParaRPr>
          </a:p>
          <a:p>
            <a:pPr marL="342900" indent="-342900" algn="just" eaLnBrk="1" hangingPunct="1">
              <a:spcBef>
                <a:spcPct val="0"/>
              </a:spcBef>
            </a:pPr>
            <a:endParaRPr lang="en-US" altLang="en-US" sz="2400" dirty="0">
              <a:latin typeface="Calibri" panose="020F0502020204030204" pitchFamily="34" charset="0"/>
            </a:endParaRPr>
          </a:p>
          <a:p>
            <a:pPr marL="342900" indent="-342900" algn="just" eaLnBrk="1" hangingPunct="1">
              <a:spcBef>
                <a:spcPct val="0"/>
              </a:spcBef>
            </a:pPr>
            <a:endParaRPr lang="en-US" altLang="en-US" sz="2400" dirty="0">
              <a:solidFill>
                <a:schemeClr val="accent1">
                  <a:lumMod val="75000"/>
                </a:schemeClr>
              </a:solidFill>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765435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3" y="646296"/>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Ecosystem degradation</a:t>
            </a:r>
            <a:endParaRPr lang="en-US" altLang="en-US" sz="1800" dirty="0"/>
          </a:p>
        </p:txBody>
      </p:sp>
      <p:sp>
        <p:nvSpPr>
          <p:cNvPr id="31748" name="Line 2"/>
          <p:cNvSpPr>
            <a:spLocks noChangeShapeType="1"/>
          </p:cNvSpPr>
          <p:nvPr/>
        </p:nvSpPr>
        <p:spPr bwMode="auto">
          <a:xfrm>
            <a:off x="-7938" y="1316038"/>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28</a:t>
            </a:fld>
            <a:endParaRPr lang="en-US" altLang="en-US" sz="1800"/>
          </a:p>
        </p:txBody>
      </p:sp>
      <p:sp>
        <p:nvSpPr>
          <p:cNvPr id="31751" name="Rectangle 7"/>
          <p:cNvSpPr>
            <a:spLocks noChangeArrowheads="1"/>
          </p:cNvSpPr>
          <p:nvPr/>
        </p:nvSpPr>
        <p:spPr bwMode="auto">
          <a:xfrm>
            <a:off x="442118" y="1458912"/>
            <a:ext cx="7858125" cy="41549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Humming birds-</a:t>
            </a:r>
            <a:r>
              <a:rPr lang="en-US" altLang="en-US" sz="2400" dirty="0">
                <a:latin typeface="Calibri" panose="020F0502020204030204" pitchFamily="34" charset="0"/>
              </a:rPr>
              <a:t> K</a:t>
            </a:r>
            <a:r>
              <a:rPr lang="en-US" sz="2400" dirty="0">
                <a:latin typeface="Calibri" panose="020F0502020204030204" pitchFamily="34" charset="0"/>
              </a:rPr>
              <a:t>ey agents of pollination and by doing so, aid in the growth and spread of certain plant species.</a:t>
            </a:r>
          </a:p>
          <a:p>
            <a:pPr marL="342900" indent="-342900"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American alligators-</a:t>
            </a:r>
            <a:r>
              <a:rPr lang="en-US" altLang="en-US" sz="2400" dirty="0">
                <a:latin typeface="Calibri" panose="020F0502020204030204" pitchFamily="34" charset="0"/>
              </a:rPr>
              <a:t> </a:t>
            </a:r>
            <a:r>
              <a:rPr lang="en-US" sz="2400" dirty="0">
                <a:latin typeface="Calibri" panose="020F0502020204030204" pitchFamily="34" charset="0"/>
              </a:rPr>
              <a:t> high level predators, it modifies their surroundings by their food consumption alone.</a:t>
            </a:r>
            <a:endParaRPr lang="en-US" altLang="en-US" sz="2400" dirty="0">
              <a:latin typeface="Calibri" panose="020F0502020204030204" pitchFamily="34" charset="0"/>
            </a:endParaRPr>
          </a:p>
          <a:p>
            <a:pPr marL="342900" indent="-342900" algn="just" eaLnBrk="1" hangingPunct="1">
              <a:lnSpc>
                <a:spcPct val="150000"/>
              </a:lnSpc>
              <a:spcBef>
                <a:spcPct val="0"/>
              </a:spcBef>
            </a:pPr>
            <a:r>
              <a:rPr lang="en-US" sz="2400" dirty="0">
                <a:solidFill>
                  <a:schemeClr val="accent1">
                    <a:lumMod val="75000"/>
                  </a:schemeClr>
                </a:solidFill>
                <a:latin typeface="Calibri" panose="020F0502020204030204" pitchFamily="34" charset="0"/>
              </a:rPr>
              <a:t>Tiger sharks-</a:t>
            </a:r>
            <a:r>
              <a:rPr lang="en-US" sz="2400" dirty="0">
                <a:latin typeface="Calibri" panose="020F0502020204030204" pitchFamily="34" charset="0"/>
              </a:rPr>
              <a:t>  control the populations of primary consumers, it is a top predator in the ocean.</a:t>
            </a:r>
          </a:p>
          <a:p>
            <a:pPr marL="342900" indent="-342900" algn="just" eaLnBrk="1" hangingPunct="1">
              <a:spcBef>
                <a:spcPct val="0"/>
              </a:spcBef>
            </a:pPr>
            <a:endParaRPr lang="en-US" altLang="en-US" sz="2400" dirty="0">
              <a:latin typeface="Calibri" panose="020F0502020204030204" pitchFamily="34" charset="0"/>
            </a:endParaRPr>
          </a:p>
          <a:p>
            <a:pPr marL="342900" indent="-342900" algn="just" eaLnBrk="1" hangingPunct="1">
              <a:spcBef>
                <a:spcPct val="0"/>
              </a:spcBef>
            </a:pPr>
            <a:endParaRPr lang="en-US" altLang="en-US" sz="2400" dirty="0">
              <a:solidFill>
                <a:schemeClr val="accent1">
                  <a:lumMod val="75000"/>
                </a:schemeClr>
              </a:solidFill>
              <a:latin typeface="Calibri" panose="020F0502020204030204" pitchFamily="34" charset="0"/>
              <a:cs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6754684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Food chain</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29</a:t>
            </a:fld>
            <a:endParaRPr lang="en-US" altLang="en-US" sz="1800"/>
          </a:p>
        </p:txBody>
      </p:sp>
      <p:sp>
        <p:nvSpPr>
          <p:cNvPr id="31751" name="Rectangle 7"/>
          <p:cNvSpPr>
            <a:spLocks noChangeArrowheads="1"/>
          </p:cNvSpPr>
          <p:nvPr/>
        </p:nvSpPr>
        <p:spPr bwMode="auto">
          <a:xfrm>
            <a:off x="371475" y="1308063"/>
            <a:ext cx="7858125" cy="5575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spcBef>
                <a:spcPct val="0"/>
              </a:spcBef>
            </a:pPr>
            <a:r>
              <a:rPr lang="en-US" sz="2400" dirty="0">
                <a:solidFill>
                  <a:schemeClr val="accent1">
                    <a:lumMod val="75000"/>
                  </a:schemeClr>
                </a:solidFill>
                <a:latin typeface="Calibri" panose="020F0502020204030204" pitchFamily="34" charset="0"/>
              </a:rPr>
              <a:t>The food chain describes who eats whom in the wild. A food web is all of the food chains in an ecosystem.</a:t>
            </a:r>
          </a:p>
          <a:p>
            <a:pPr marL="342900" indent="-342900" algn="just" eaLnBrk="1" hangingPunct="1">
              <a:lnSpc>
                <a:spcPct val="150000"/>
              </a:lnSpc>
              <a:spcBef>
                <a:spcPct val="0"/>
              </a:spcBef>
            </a:pPr>
            <a:r>
              <a:rPr lang="en-US" sz="2400" dirty="0">
                <a:latin typeface="Calibri" panose="020F0502020204030204" pitchFamily="34" charset="0"/>
              </a:rPr>
              <a:t>Different habitats and ecosystems provide many possible food chains that make up a food web. </a:t>
            </a:r>
          </a:p>
          <a:p>
            <a:pPr marL="342900" indent="-342900" algn="just" eaLnBrk="1" hangingPunct="1">
              <a:lnSpc>
                <a:spcPct val="150000"/>
              </a:lnSpc>
              <a:spcBef>
                <a:spcPct val="0"/>
              </a:spcBef>
            </a:pPr>
            <a:r>
              <a:rPr lang="en-US" sz="2400" dirty="0">
                <a:latin typeface="Calibri" panose="020F0502020204030204" pitchFamily="34" charset="0"/>
              </a:rPr>
              <a:t>Organisms in food chains are grouped into categories called </a:t>
            </a:r>
            <a:r>
              <a:rPr lang="en-US" sz="2400" b="1" dirty="0">
                <a:solidFill>
                  <a:schemeClr val="accent1">
                    <a:lumMod val="75000"/>
                  </a:schemeClr>
                </a:solidFill>
                <a:latin typeface="Calibri" panose="020F0502020204030204" pitchFamily="34" charset="0"/>
              </a:rPr>
              <a:t>trophic levels</a:t>
            </a:r>
            <a:r>
              <a:rPr lang="en-US" sz="2400" dirty="0">
                <a:latin typeface="Calibri" panose="020F0502020204030204" pitchFamily="34" charset="0"/>
              </a:rPr>
              <a:t>. Roughly speaking, these levels are divided into </a:t>
            </a:r>
            <a:r>
              <a:rPr lang="en-US" sz="2400" dirty="0">
                <a:solidFill>
                  <a:schemeClr val="accent1">
                    <a:lumMod val="75000"/>
                  </a:schemeClr>
                </a:solidFill>
                <a:latin typeface="Calibri" panose="020F0502020204030204" pitchFamily="34" charset="0"/>
              </a:rPr>
              <a:t>producers (first trophic level), consumers (second, third, and fourth trophic levels), and decomposers. </a:t>
            </a:r>
          </a:p>
          <a:p>
            <a:pPr marL="342900" indent="-342900" algn="just" eaLnBrk="1" hangingPunct="1">
              <a:lnSpc>
                <a:spcPct val="150000"/>
              </a:lnSpc>
              <a:spcBef>
                <a:spcPct val="0"/>
              </a:spcBef>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7662227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Line 2"/>
          <p:cNvSpPr>
            <a:spLocks noChangeShapeType="1"/>
          </p:cNvSpPr>
          <p:nvPr/>
        </p:nvSpPr>
        <p:spPr bwMode="auto">
          <a:xfrm>
            <a:off x="0" y="958071"/>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30</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9218" name="Picture 2" descr="Food Chain: Definition, Types, Examples, FAQs">
            <a:extLst>
              <a:ext uri="{FF2B5EF4-FFF2-40B4-BE49-F238E27FC236}">
                <a16:creationId xmlns:a16="http://schemas.microsoft.com/office/drawing/2014/main" xmlns="" id="{39477E8A-DB82-C939-C541-058B319EA47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54028" y="1181899"/>
            <a:ext cx="5634304" cy="5184943"/>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A9FDD583-CF2A-B9CE-CCD0-F133C5D7831D}"/>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a:t>
            </a:r>
            <a:r>
              <a:rPr lang="en-IN" sz="1100" i="1" dirty="0" err="1"/>
              <a:t>GeeksforGeeks</a:t>
            </a:r>
            <a:endParaRPr lang="en-IN" i="1" dirty="0"/>
          </a:p>
        </p:txBody>
      </p:sp>
    </p:spTree>
    <p:extLst>
      <p:ext uri="{BB962C8B-B14F-4D97-AF65-F5344CB8AC3E}">
        <p14:creationId xmlns:p14="http://schemas.microsoft.com/office/powerpoint/2010/main" xmlns="" val="41078327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4" y="646296"/>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Food web</a:t>
            </a:r>
            <a:endParaRPr lang="en-US" altLang="en-US" sz="1800" dirty="0"/>
          </a:p>
        </p:txBody>
      </p:sp>
      <p:sp>
        <p:nvSpPr>
          <p:cNvPr id="31748" name="Line 2"/>
          <p:cNvSpPr>
            <a:spLocks noChangeShapeType="1"/>
          </p:cNvSpPr>
          <p:nvPr/>
        </p:nvSpPr>
        <p:spPr bwMode="auto">
          <a:xfrm>
            <a:off x="0" y="1274941"/>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31</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A9FDD583-CF2A-B9CE-CCD0-F133C5D7831D}"/>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Wikipedia</a:t>
            </a:r>
            <a:endParaRPr lang="en-IN" i="1" dirty="0"/>
          </a:p>
        </p:txBody>
      </p:sp>
      <p:pic>
        <p:nvPicPr>
          <p:cNvPr id="10242" name="Picture 2" descr="Food Web – Definition, Trophic Levels, Types, and Example">
            <a:extLst>
              <a:ext uri="{FF2B5EF4-FFF2-40B4-BE49-F238E27FC236}">
                <a16:creationId xmlns:a16="http://schemas.microsoft.com/office/drawing/2014/main" xmlns="" id="{932EF70A-7054-F639-93AE-49A7D4BEEA5F}"/>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065542" y="1422400"/>
            <a:ext cx="4611278" cy="507793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11450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Line 2"/>
          <p:cNvSpPr>
            <a:spLocks noChangeShapeType="1"/>
          </p:cNvSpPr>
          <p:nvPr/>
        </p:nvSpPr>
        <p:spPr bwMode="auto">
          <a:xfrm>
            <a:off x="0" y="1107075"/>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sz="2400" b="1" dirty="0" smtClean="0">
                <a:solidFill>
                  <a:schemeClr val="accent2">
                    <a:lumMod val="75000"/>
                  </a:schemeClr>
                </a:solidFill>
              </a:rPr>
              <a:t>Ecological pyramid </a:t>
            </a:r>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32</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5">
            <a:extLst>
              <a:ext uri="{FF2B5EF4-FFF2-40B4-BE49-F238E27FC236}">
                <a16:creationId xmlns:a16="http://schemas.microsoft.com/office/drawing/2014/main" xmlns="" id="{AD2B3627-4669-801F-2006-85F0BE152B52}"/>
              </a:ext>
            </a:extLst>
          </p:cNvPr>
          <p:cNvPicPr>
            <a:picLocks noChangeAspect="1"/>
          </p:cNvPicPr>
          <p:nvPr/>
        </p:nvPicPr>
        <p:blipFill>
          <a:blip r:embed="rId3"/>
          <a:stretch>
            <a:fillRect/>
          </a:stretch>
        </p:blipFill>
        <p:spPr>
          <a:xfrm>
            <a:off x="1318340" y="2448345"/>
            <a:ext cx="6571535" cy="3935003"/>
          </a:xfrm>
          <a:prstGeom prst="rect">
            <a:avLst/>
          </a:prstGeom>
        </p:spPr>
      </p:pic>
      <p:sp>
        <p:nvSpPr>
          <p:cNvPr id="8" name="TextBox 7">
            <a:extLst>
              <a:ext uri="{FF2B5EF4-FFF2-40B4-BE49-F238E27FC236}">
                <a16:creationId xmlns:a16="http://schemas.microsoft.com/office/drawing/2014/main" xmlns="" id="{58401704-0AAA-51D5-DC91-D093CF68E50C}"/>
              </a:ext>
            </a:extLst>
          </p:cNvPr>
          <p:cNvSpPr txBox="1"/>
          <p:nvPr/>
        </p:nvSpPr>
        <p:spPr>
          <a:xfrm>
            <a:off x="393700" y="1049686"/>
            <a:ext cx="8113302" cy="1200329"/>
          </a:xfrm>
          <a:prstGeom prst="rect">
            <a:avLst/>
          </a:prstGeom>
          <a:noFill/>
        </p:spPr>
        <p:txBody>
          <a:bodyPr wrap="square" rtlCol="0">
            <a:spAutoFit/>
          </a:bodyPr>
          <a:lstStyle/>
          <a:p>
            <a:r>
              <a:rPr lang="en-IN" sz="2400" b="1" i="1" dirty="0">
                <a:solidFill>
                  <a:schemeClr val="accent1">
                    <a:lumMod val="75000"/>
                  </a:schemeClr>
                </a:solidFill>
              </a:rPr>
              <a:t>Ecological pyramid </a:t>
            </a:r>
          </a:p>
          <a:p>
            <a:r>
              <a:rPr lang="en-US" sz="2400" b="0" i="0" dirty="0">
                <a:solidFill>
                  <a:srgbClr val="21242C"/>
                </a:solidFill>
                <a:effectLst/>
                <a:highlight>
                  <a:srgbClr val="FFFFFF"/>
                </a:highlight>
              </a:rPr>
              <a:t>A model that represents the relative amount of matter and energy contained within each trophic level of an ecosystem</a:t>
            </a:r>
            <a:endParaRPr lang="en-IN" sz="2400" b="1" i="1" dirty="0">
              <a:solidFill>
                <a:schemeClr val="accent1">
                  <a:lumMod val="75000"/>
                </a:schemeClr>
              </a:solidFill>
            </a:endParaRPr>
          </a:p>
        </p:txBody>
      </p:sp>
      <p:sp>
        <p:nvSpPr>
          <p:cNvPr id="9" name="TextBox 8">
            <a:extLst>
              <a:ext uri="{FF2B5EF4-FFF2-40B4-BE49-F238E27FC236}">
                <a16:creationId xmlns:a16="http://schemas.microsoft.com/office/drawing/2014/main" xmlns="" id="{4F4C5911-A86E-681D-F27D-6D6E18B5B552}"/>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a:t>
            </a:r>
            <a:r>
              <a:rPr lang="en-IN" sz="1100" i="1" dirty="0" err="1"/>
              <a:t>GeeksforGeeks</a:t>
            </a:r>
            <a:endParaRPr lang="en-IN" i="1" dirty="0"/>
          </a:p>
        </p:txBody>
      </p:sp>
    </p:spTree>
    <p:extLst>
      <p:ext uri="{BB962C8B-B14F-4D97-AF65-F5344CB8AC3E}">
        <p14:creationId xmlns:p14="http://schemas.microsoft.com/office/powerpoint/2010/main" xmlns="" val="158531616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Energy flow in the ecosystem</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33</a:t>
            </a:fld>
            <a:endParaRPr lang="en-US" altLang="en-US" sz="1800"/>
          </a:p>
        </p:txBody>
      </p:sp>
      <p:sp>
        <p:nvSpPr>
          <p:cNvPr id="31751" name="Rectangle 7"/>
          <p:cNvSpPr>
            <a:spLocks noChangeArrowheads="1"/>
          </p:cNvSpPr>
          <p:nvPr/>
        </p:nvSpPr>
        <p:spPr bwMode="auto">
          <a:xfrm>
            <a:off x="371475" y="1308063"/>
            <a:ext cx="7858125" cy="5575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spcBef>
                <a:spcPct val="0"/>
              </a:spcBef>
            </a:pPr>
            <a:r>
              <a:rPr lang="en-US" sz="2400" dirty="0">
                <a:latin typeface="Calibri" panose="020F0502020204030204" pitchFamily="34" charset="0"/>
              </a:rPr>
              <a:t>Energy flows through an ecosystem, while matter cycles within it. </a:t>
            </a:r>
          </a:p>
          <a:p>
            <a:pPr marL="342900" indent="-342900" algn="just">
              <a:lnSpc>
                <a:spcPct val="150000"/>
              </a:lnSpc>
              <a:spcBef>
                <a:spcPct val="0"/>
              </a:spcBef>
            </a:pPr>
            <a:r>
              <a:rPr lang="en-US" sz="2400" dirty="0">
                <a:latin typeface="Calibri" panose="020F0502020204030204" pitchFamily="34" charset="0"/>
              </a:rPr>
              <a:t>These organic molecules can power the producers’ life processes via cellular respiration (which releases   and heat), or they can be stored as biomass.</a:t>
            </a:r>
          </a:p>
          <a:p>
            <a:pPr marL="342900" indent="-342900" algn="just">
              <a:lnSpc>
                <a:spcPct val="150000"/>
              </a:lnSpc>
              <a:spcBef>
                <a:spcPct val="0"/>
              </a:spcBef>
            </a:pPr>
            <a:r>
              <a:rPr lang="en-US" sz="2400" dirty="0">
                <a:latin typeface="Calibri" panose="020F0502020204030204" pitchFamily="34" charset="0"/>
              </a:rPr>
              <a:t>Next, energy and matter move up the trophic levels of an ecosystem as producers are eaten by primary consumers, which are then eaten by secondary consumers, and so on. </a:t>
            </a:r>
          </a:p>
          <a:p>
            <a:pPr marL="342900" indent="-342900" algn="just">
              <a:lnSpc>
                <a:spcPct val="150000"/>
              </a:lnSpc>
              <a:spcBef>
                <a:spcPct val="0"/>
              </a:spcBef>
            </a:pPr>
            <a:r>
              <a:rPr lang="en-US" sz="2400" dirty="0">
                <a:latin typeface="Calibri" panose="020F0502020204030204" pitchFamily="34" charset="0"/>
              </a:rPr>
              <a:t>Decomposers transform matter back into inorganic forms that can be recycled within the ecosystem.</a:t>
            </a: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699817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Energy flow in the ecosystem</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34</a:t>
            </a:fld>
            <a:endParaRPr lang="en-US" altLang="en-US" sz="1800"/>
          </a:p>
        </p:txBody>
      </p:sp>
      <p:sp>
        <p:nvSpPr>
          <p:cNvPr id="31751" name="Rectangle 7"/>
          <p:cNvSpPr>
            <a:spLocks noChangeArrowheads="1"/>
          </p:cNvSpPr>
          <p:nvPr/>
        </p:nvSpPr>
        <p:spPr bwMode="auto">
          <a:xfrm>
            <a:off x="371475" y="1308063"/>
            <a:ext cx="7858125" cy="5021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spcBef>
                <a:spcPct val="0"/>
              </a:spcBef>
            </a:pPr>
            <a:r>
              <a:rPr lang="en-US" sz="2400" dirty="0">
                <a:latin typeface="Calibri" panose="020F0502020204030204" pitchFamily="34" charset="0"/>
              </a:rPr>
              <a:t>So, the energy that enters an ecosystem as sunlight eventually flows out of the ecosystem in the form of heat. </a:t>
            </a:r>
          </a:p>
          <a:p>
            <a:pPr marL="342900" indent="-342900" algn="just">
              <a:lnSpc>
                <a:spcPct val="150000"/>
              </a:lnSpc>
              <a:spcBef>
                <a:spcPct val="0"/>
              </a:spcBef>
            </a:pPr>
            <a:r>
              <a:rPr lang="en-US" sz="2400" dirty="0">
                <a:latin typeface="Calibri" panose="020F0502020204030204" pitchFamily="34" charset="0"/>
              </a:rPr>
              <a:t>In contrast, the matter in an ecosystem is continuously recycled as atoms are combined and recombined in different ways.</a:t>
            </a:r>
          </a:p>
          <a:p>
            <a:pPr marL="342900" indent="-342900" algn="just">
              <a:lnSpc>
                <a:spcPct val="150000"/>
              </a:lnSpc>
              <a:spcBef>
                <a:spcPct val="0"/>
              </a:spcBef>
            </a:pPr>
            <a:r>
              <a:rPr lang="en-US" sz="2400" dirty="0">
                <a:latin typeface="Calibri" panose="020F0502020204030204" pitchFamily="34" charset="0"/>
              </a:rPr>
              <a:t>Biogeochemical cycles mainly refer to the movement of nutrients and other elements between biotic and abiotic factors. They keep essential elements available to plants and other organisms.</a:t>
            </a: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204758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Carbon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35</a:t>
            </a:fld>
            <a:endParaRPr lang="en-US" altLang="en-US" sz="1800"/>
          </a:p>
        </p:txBody>
      </p:sp>
      <p:sp>
        <p:nvSpPr>
          <p:cNvPr id="31751" name="Rectangle 7"/>
          <p:cNvSpPr>
            <a:spLocks noChangeArrowheads="1"/>
          </p:cNvSpPr>
          <p:nvPr/>
        </p:nvSpPr>
        <p:spPr bwMode="auto">
          <a:xfrm>
            <a:off x="371475" y="1308063"/>
            <a:ext cx="7858125" cy="5575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spcBef>
                <a:spcPct val="0"/>
              </a:spcBef>
            </a:pPr>
            <a:r>
              <a:rPr lang="en-US" sz="2400" dirty="0">
                <a:latin typeface="Calibri" panose="020F0502020204030204" pitchFamily="34" charset="0"/>
              </a:rPr>
              <a:t>Carbon is constantly recycled in the dynamic processes taking place in the atmosphere, at the surface and in the crust of the earth.</a:t>
            </a:r>
          </a:p>
          <a:p>
            <a:pPr marL="342900" indent="-342900" algn="just">
              <a:lnSpc>
                <a:spcPct val="150000"/>
              </a:lnSpc>
              <a:spcBef>
                <a:spcPct val="0"/>
              </a:spcBef>
            </a:pPr>
            <a:r>
              <a:rPr lang="en-US" sz="2400" dirty="0">
                <a:latin typeface="Calibri" panose="020F0502020204030204" pitchFamily="34" charset="0"/>
              </a:rPr>
              <a:t>The carbon cycle is actually comprised of several interconnected cycles: one dealing with rapid carbon exchange among living organisms and the other dealing with the long-term cycling of carbon through geologic processes. If not for the recycling processes, carbon might long ago have become completely sequestered in crustal rocks and sediments, and life would no longer exist.</a:t>
            </a: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034140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Carbon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36</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2E2059AF-505C-ACBE-736E-4B22B880AC2B}"/>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a:t>
            </a:r>
            <a:r>
              <a:rPr lang="en-IN" sz="1100" i="1" dirty="0" err="1"/>
              <a:t>Biolibretexts</a:t>
            </a:r>
            <a:endParaRPr lang="en-IN" i="1" dirty="0"/>
          </a:p>
        </p:txBody>
      </p:sp>
      <p:pic>
        <p:nvPicPr>
          <p:cNvPr id="12292" name="Picture 4" descr="Rocks, the ocean, the atmosphere, and organisms in carbon cycle diagram. Arrows represent the processes that move carbon from one medium to another.">
            <a:extLst>
              <a:ext uri="{FF2B5EF4-FFF2-40B4-BE49-F238E27FC236}">
                <a16:creationId xmlns:a16="http://schemas.microsoft.com/office/drawing/2014/main" xmlns="" id="{0742FADA-9715-87CC-A725-FAD7AC022CE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23686" y="1422400"/>
            <a:ext cx="7294990" cy="511181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8252115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00830" y="580419"/>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 Nitrogen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37</a:t>
            </a:fld>
            <a:endParaRPr lang="en-US" altLang="en-US" sz="1800"/>
          </a:p>
        </p:txBody>
      </p:sp>
      <p:sp>
        <p:nvSpPr>
          <p:cNvPr id="31751" name="Rectangle 7"/>
          <p:cNvSpPr>
            <a:spLocks noChangeArrowheads="1"/>
          </p:cNvSpPr>
          <p:nvPr/>
        </p:nvSpPr>
        <p:spPr bwMode="auto">
          <a:xfrm>
            <a:off x="371475" y="1308063"/>
            <a:ext cx="7858125" cy="5575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spcBef>
                <a:spcPct val="0"/>
              </a:spcBef>
            </a:pPr>
            <a:r>
              <a:rPr lang="en-US" sz="2400" dirty="0">
                <a:latin typeface="Calibri" panose="020F0502020204030204" pitchFamily="34" charset="0"/>
              </a:rPr>
              <a:t>All organisms require nitrogen because it is an important component of nucleic acids, proteins, and other organic molecules.</a:t>
            </a:r>
          </a:p>
          <a:p>
            <a:pPr marL="342900" indent="-342900" algn="just">
              <a:lnSpc>
                <a:spcPct val="150000"/>
              </a:lnSpc>
              <a:spcBef>
                <a:spcPct val="0"/>
              </a:spcBef>
            </a:pPr>
            <a:r>
              <a:rPr lang="en-US" sz="2400" dirty="0">
                <a:latin typeface="Calibri" panose="020F0502020204030204" pitchFamily="34" charset="0"/>
              </a:rPr>
              <a:t>The nitrogen molecule (N</a:t>
            </a:r>
            <a:r>
              <a:rPr lang="en-US" sz="2400" baseline="-25000" dirty="0">
                <a:latin typeface="Calibri" panose="020F0502020204030204" pitchFamily="34" charset="0"/>
              </a:rPr>
              <a:t>2</a:t>
            </a:r>
            <a:r>
              <a:rPr lang="en-US" sz="2400" dirty="0">
                <a:latin typeface="Calibri" panose="020F0502020204030204" pitchFamily="34" charset="0"/>
              </a:rPr>
              <a:t>) is quite inert. To break it apart so that its atoms can combine with other atoms requires the input of substantial amounts of energy. Nitrogen fixation is the process of converting nitrogen gas into ammonia (NH</a:t>
            </a:r>
            <a:r>
              <a:rPr lang="en-US" sz="2400" baseline="-25000" dirty="0">
                <a:latin typeface="Calibri" panose="020F0502020204030204" pitchFamily="34" charset="0"/>
              </a:rPr>
              <a:t>3</a:t>
            </a:r>
            <a:r>
              <a:rPr lang="en-US" sz="2400" dirty="0">
                <a:latin typeface="Calibri" panose="020F0502020204030204" pitchFamily="34" charset="0"/>
              </a:rPr>
              <a:t>), which spontaneously becomes ammonium (NH</a:t>
            </a:r>
            <a:r>
              <a:rPr lang="en-US" sz="2400" baseline="30000" dirty="0">
                <a:latin typeface="Calibri" panose="020F0502020204030204" pitchFamily="34" charset="0"/>
              </a:rPr>
              <a:t>4+</a:t>
            </a:r>
            <a:r>
              <a:rPr lang="en-US" sz="2400" dirty="0">
                <a:latin typeface="Calibri" panose="020F0502020204030204" pitchFamily="34" charset="0"/>
              </a:rPr>
              <a:t>). Ammonium is found in bodies of water and in the soil.</a:t>
            </a: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496829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Nitrogen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38</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2E2059AF-505C-ACBE-736E-4B22B880AC2B}"/>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a:t>
            </a:r>
            <a:r>
              <a:rPr lang="en-IN" sz="1100" i="1" dirty="0" err="1"/>
              <a:t>Biolibretexts</a:t>
            </a:r>
            <a:endParaRPr lang="en-IN" i="1" dirty="0"/>
          </a:p>
        </p:txBody>
      </p:sp>
      <p:pic>
        <p:nvPicPr>
          <p:cNvPr id="13314" name="Picture 2" descr="A section of soil with plants and animals on the surface shows each step of the nitrogen cycle.">
            <a:extLst>
              <a:ext uri="{FF2B5EF4-FFF2-40B4-BE49-F238E27FC236}">
                <a16:creationId xmlns:a16="http://schemas.microsoft.com/office/drawing/2014/main" xmlns="" id="{055454A2-49A5-C2A3-B717-78F5A7FE371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39785" y="1443574"/>
            <a:ext cx="6662791" cy="499709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3426715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 Oxygen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39</a:t>
            </a:fld>
            <a:endParaRPr lang="en-US" altLang="en-US" sz="1800"/>
          </a:p>
        </p:txBody>
      </p:sp>
      <p:sp>
        <p:nvSpPr>
          <p:cNvPr id="31751" name="Rectangle 7"/>
          <p:cNvSpPr>
            <a:spLocks noChangeArrowheads="1"/>
          </p:cNvSpPr>
          <p:nvPr/>
        </p:nvSpPr>
        <p:spPr bwMode="auto">
          <a:xfrm>
            <a:off x="371475" y="1324020"/>
            <a:ext cx="7858125"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pPr>
            <a:r>
              <a:rPr lang="en-US" sz="2400" dirty="0">
                <a:latin typeface="Calibri" panose="020F0502020204030204" pitchFamily="34" charset="0"/>
              </a:rPr>
              <a:t>The oxygen cycle is a biological process that serves to maintain oxygen levels by traveling through the atmosphere, lithosphere, and biosphere. This biogeochemical cycle explains the movement of oxygen gas within the atmosphere, ecosystem, biosphere, and lithosphere.</a:t>
            </a:r>
          </a:p>
          <a:p>
            <a:pPr marL="342900" indent="-342900" algn="just">
              <a:lnSpc>
                <a:spcPct val="150000"/>
              </a:lnSpc>
            </a:pPr>
            <a:r>
              <a:rPr lang="en-US" sz="2400" dirty="0">
                <a:latin typeface="Calibri" panose="020F0502020204030204" pitchFamily="34" charset="0"/>
              </a:rPr>
              <a:t>Both the oxygen cycle and the carbon cycle are interconnected. The lithosphere, along with the earth’s crust, contains the most oxygen on the planet.</a:t>
            </a:r>
            <a:endParaRPr lang="en-IN"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8932635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Oxygen cycle</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40</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2E2059AF-505C-ACBE-736E-4B22B880AC2B}"/>
              </a:ext>
            </a:extLst>
          </p:cNvPr>
          <p:cNvSpPr txBox="1"/>
          <p:nvPr/>
        </p:nvSpPr>
        <p:spPr>
          <a:xfrm>
            <a:off x="240511" y="6590670"/>
            <a:ext cx="3953945" cy="261610"/>
          </a:xfrm>
          <a:prstGeom prst="rect">
            <a:avLst/>
          </a:prstGeom>
          <a:noFill/>
        </p:spPr>
        <p:txBody>
          <a:bodyPr wrap="square" rtlCol="0">
            <a:spAutoFit/>
          </a:bodyPr>
          <a:lstStyle/>
          <a:p>
            <a:r>
              <a:rPr lang="en-IN" sz="1100" i="1" dirty="0"/>
              <a:t>Image source: Wikipedia</a:t>
            </a:r>
            <a:endParaRPr lang="en-IN" i="1" dirty="0"/>
          </a:p>
        </p:txBody>
      </p:sp>
      <p:pic>
        <p:nvPicPr>
          <p:cNvPr id="4" name="Picture 2" descr="Oxygen cycle - Wikipedia">
            <a:extLst>
              <a:ext uri="{FF2B5EF4-FFF2-40B4-BE49-F238E27FC236}">
                <a16:creationId xmlns:a16="http://schemas.microsoft.com/office/drawing/2014/main" xmlns="" id="{82F6679B-8933-1FDC-7312-4DCE422883D4}"/>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63239" y="1546574"/>
            <a:ext cx="7020048" cy="47519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455378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 Biodiversity</a:t>
            </a:r>
            <a:endParaRPr lang="en-US" altLang="en-US" sz="1800" dirty="0"/>
          </a:p>
        </p:txBody>
      </p:sp>
      <p:sp>
        <p:nvSpPr>
          <p:cNvPr id="31748" name="Line 2"/>
          <p:cNvSpPr>
            <a:spLocks noChangeShapeType="1"/>
          </p:cNvSpPr>
          <p:nvPr/>
        </p:nvSpPr>
        <p:spPr bwMode="auto">
          <a:xfrm>
            <a:off x="-7939" y="1254393"/>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41</a:t>
            </a:fld>
            <a:endParaRPr lang="en-US" altLang="en-US" sz="1800"/>
          </a:p>
        </p:txBody>
      </p:sp>
      <p:sp>
        <p:nvSpPr>
          <p:cNvPr id="31751" name="Rectangle 7"/>
          <p:cNvSpPr>
            <a:spLocks noChangeArrowheads="1"/>
          </p:cNvSpPr>
          <p:nvPr/>
        </p:nvSpPr>
        <p:spPr bwMode="auto">
          <a:xfrm>
            <a:off x="371475" y="1254393"/>
            <a:ext cx="7858125" cy="56489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fontAlgn="base">
              <a:lnSpc>
                <a:spcPct val="150000"/>
              </a:lnSpc>
            </a:pPr>
            <a:r>
              <a:rPr lang="en-US" sz="2400" dirty="0">
                <a:latin typeface="Calibri" panose="020F0502020204030204" pitchFamily="34" charset="0"/>
              </a:rPr>
              <a:t>Biodiversity is all the different kinds of life you’ll find in one area—the variety of animals, plants, fungi, and even microorganisms like bacteria that make up our natural world. Each of these species and organisms work together in ecosystems, like an intricate web, to maintain balance and support life.</a:t>
            </a:r>
          </a:p>
          <a:p>
            <a:pPr marL="342900" indent="-342900" algn="just" fontAlgn="base">
              <a:lnSpc>
                <a:spcPct val="150000"/>
              </a:lnSpc>
            </a:pPr>
            <a:r>
              <a:rPr lang="en-US" sz="2400" dirty="0">
                <a:latin typeface="Calibri" panose="020F0502020204030204" pitchFamily="34" charset="0"/>
              </a:rPr>
              <a:t>One of the most beautiful things about biodiversity is its resilience. Ease up on the pressure, manage resources well, give it time, and the ecosystem will adapt. Nature and biodiversity will recover. </a:t>
            </a: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8294680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Line 2"/>
          <p:cNvSpPr>
            <a:spLocks noChangeShapeType="1"/>
          </p:cNvSpPr>
          <p:nvPr/>
        </p:nvSpPr>
        <p:spPr bwMode="auto">
          <a:xfrm>
            <a:off x="0" y="116921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 Biodiversity</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a:solidFill>
                <a:schemeClr val="accent1">
                  <a:lumMod val="75000"/>
                </a:schemeClr>
              </a:solidFill>
            </a:endParaRPr>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Great Barrier Reef _ Exploring Oceans">
            <a:hlinkClick r:id="" action="ppaction://media"/>
            <a:extLst>
              <a:ext uri="{FF2B5EF4-FFF2-40B4-BE49-F238E27FC236}">
                <a16:creationId xmlns:a16="http://schemas.microsoft.com/office/drawing/2014/main" xmlns="" id="{C284CF96-9D18-83F4-1076-43432A1D07E6}"/>
              </a:ext>
            </a:extLst>
          </p:cNvPr>
          <p:cNvPicPr>
            <a:picLocks noChangeAspect="1"/>
          </p:cNvPicPr>
          <p:nvPr>
            <a:videoFile r:link="rId1"/>
            <p:extLst>
              <p:ext uri="{DAA4B4D4-6D71-4841-9C94-3DE7FCFB9230}">
                <p14:media xmlns:p14="http://schemas.microsoft.com/office/powerpoint/2010/main" xmlns="" r:embed="rId4"/>
              </p:ext>
            </p:extLst>
          </p:nvPr>
        </p:nvPicPr>
        <p:blipFill>
          <a:blip r:embed="rId5"/>
          <a:stretch>
            <a:fillRect/>
          </a:stretch>
        </p:blipFill>
        <p:spPr>
          <a:xfrm>
            <a:off x="1722119" y="1362323"/>
            <a:ext cx="6367811" cy="4292907"/>
          </a:xfrm>
          <a:prstGeom prst="rect">
            <a:avLst/>
          </a:prstGeom>
        </p:spPr>
      </p:pic>
      <p:sp>
        <p:nvSpPr>
          <p:cNvPr id="2049" name="Rectangle 1"/>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205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2051" name="Rectangle 3"/>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759544" y="5802507"/>
            <a:ext cx="8429744" cy="646331"/>
          </a:xfrm>
          <a:prstGeom prst="rect">
            <a:avLst/>
          </a:prstGeom>
          <a:noFill/>
        </p:spPr>
        <p:txBody>
          <a:bodyPr wrap="none" rtlCol="0">
            <a:spAutoFit/>
          </a:bodyPr>
          <a:lstStyle/>
          <a:p>
            <a:r>
              <a:rPr lang="en-IN" u="sng" dirty="0" smtClean="0">
                <a:hlinkClick r:id="rId6"/>
              </a:rPr>
              <a:t>https://www.youtube.com/watch?v=wbNeIn3vVKM-</a:t>
            </a:r>
            <a:r>
              <a:rPr lang="en-IN" u="sng" dirty="0" smtClean="0"/>
              <a:t> </a:t>
            </a:r>
            <a:r>
              <a:rPr lang="en-IN" i="1" u="sng" dirty="0" smtClean="0"/>
              <a:t>Click on the link to watch the video</a:t>
            </a:r>
            <a:endParaRPr lang="en-IN" i="1" dirty="0" smtClean="0"/>
          </a:p>
          <a:p>
            <a:endParaRPr lang="en-IN" dirty="0"/>
          </a:p>
        </p:txBody>
      </p:sp>
    </p:spTree>
    <p:extLst>
      <p:ext uri="{BB962C8B-B14F-4D97-AF65-F5344CB8AC3E}">
        <p14:creationId xmlns:p14="http://schemas.microsoft.com/office/powerpoint/2010/main" xmlns="" val="788925745"/>
      </p:ext>
    </p:extLst>
  </p:cSld>
  <p:clrMapOvr>
    <a:masterClrMapping/>
  </p:clrMapOvr>
  <p:timing>
    <p:tnLst>
      <p:par>
        <p:cTn id="1" dur="indefinite" restart="never" nodeType="tmRoot">
          <p:childTnLst>
            <p:seq>
              <p:cTn id="2"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689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Line 1"/>
          <p:cNvSpPr>
            <a:spLocks noChangeShapeType="1"/>
          </p:cNvSpPr>
          <p:nvPr/>
        </p:nvSpPr>
        <p:spPr bwMode="auto">
          <a:xfrm>
            <a:off x="5448300" y="2887663"/>
            <a:ext cx="4581525"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54275" name="CustomShape 2"/>
          <p:cNvSpPr>
            <a:spLocks noChangeArrowheads="1"/>
          </p:cNvSpPr>
          <p:nvPr/>
        </p:nvSpPr>
        <p:spPr bwMode="auto">
          <a:xfrm>
            <a:off x="5461000" y="40497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smtClean="0">
                <a:solidFill>
                  <a:srgbClr val="000000"/>
                </a:solidFill>
                <a:latin typeface="Calibri" panose="020F0502020204030204" pitchFamily="34" charset="0"/>
              </a:rPr>
              <a:t>---------------------@</a:t>
            </a:r>
            <a:r>
              <a:rPr lang="en-IN" altLang="en-US" sz="2400" b="1" dirty="0">
                <a:solidFill>
                  <a:srgbClr val="000000"/>
                </a:solidFill>
                <a:latin typeface="Calibri" panose="020F0502020204030204" pitchFamily="34" charset="0"/>
              </a:rPr>
              <a:t>pes.edu</a:t>
            </a:r>
            <a:endParaRPr lang="en-US" altLang="en-US" sz="1800" dirty="0"/>
          </a:p>
        </p:txBody>
      </p:sp>
      <p:sp>
        <p:nvSpPr>
          <p:cNvPr id="54276" name="CustomShape 3"/>
          <p:cNvSpPr>
            <a:spLocks noChangeArrowheads="1"/>
          </p:cNvSpPr>
          <p:nvPr/>
        </p:nvSpPr>
        <p:spPr bwMode="auto">
          <a:xfrm>
            <a:off x="5461000" y="4573588"/>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dirty="0">
                <a:solidFill>
                  <a:srgbClr val="000000"/>
                </a:solidFill>
                <a:latin typeface="Calibri" panose="020F0502020204030204" pitchFamily="34" charset="0"/>
              </a:rPr>
              <a:t>+91 80 2672 </a:t>
            </a:r>
            <a:r>
              <a:rPr lang="en-IN" altLang="en-US" sz="2400" dirty="0" smtClean="0">
                <a:solidFill>
                  <a:srgbClr val="000000"/>
                </a:solidFill>
                <a:latin typeface="Calibri" panose="020F0502020204030204" pitchFamily="34" charset="0"/>
              </a:rPr>
              <a:t>6672 Ext 358</a:t>
            </a:r>
            <a:endParaRPr lang="en-US" altLang="en-US" sz="1800" dirty="0"/>
          </a:p>
        </p:txBody>
      </p:sp>
      <p:sp>
        <p:nvSpPr>
          <p:cNvPr id="54277" name="CustomShape 4"/>
          <p:cNvSpPr>
            <a:spLocks noChangeArrowheads="1"/>
          </p:cNvSpPr>
          <p:nvPr/>
        </p:nvSpPr>
        <p:spPr bwMode="auto">
          <a:xfrm>
            <a:off x="11787188" y="360363"/>
            <a:ext cx="44450"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78" name="CustomShape 5"/>
          <p:cNvSpPr>
            <a:spLocks noChangeArrowheads="1"/>
          </p:cNvSpPr>
          <p:nvPr/>
        </p:nvSpPr>
        <p:spPr bwMode="auto">
          <a:xfrm rot="5400000">
            <a:off x="11275219" y="-161131"/>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79" name="CustomShape 6"/>
          <p:cNvSpPr>
            <a:spLocks noChangeArrowheads="1"/>
          </p:cNvSpPr>
          <p:nvPr/>
        </p:nvSpPr>
        <p:spPr bwMode="auto">
          <a:xfrm rot="5400000">
            <a:off x="824706" y="6011069"/>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80" name="CustomShape 7"/>
          <p:cNvSpPr>
            <a:spLocks noChangeArrowheads="1"/>
          </p:cNvSpPr>
          <p:nvPr/>
        </p:nvSpPr>
        <p:spPr bwMode="auto">
          <a:xfrm rot="10800000">
            <a:off x="314325" y="5489575"/>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82" name="CustomShape 8"/>
          <p:cNvSpPr>
            <a:spLocks noChangeArrowheads="1"/>
          </p:cNvSpPr>
          <p:nvPr/>
        </p:nvSpPr>
        <p:spPr bwMode="auto">
          <a:xfrm>
            <a:off x="5448300" y="2049463"/>
            <a:ext cx="4603750" cy="639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3600" b="1">
                <a:solidFill>
                  <a:srgbClr val="C55A11"/>
                </a:solidFill>
                <a:latin typeface="Calibri" panose="020F0502020204030204" pitchFamily="34" charset="0"/>
              </a:rPr>
              <a:t>THANK YOU</a:t>
            </a:r>
            <a:endParaRPr lang="en-US" altLang="en-US" sz="1800"/>
          </a:p>
        </p:txBody>
      </p:sp>
      <p:sp>
        <p:nvSpPr>
          <p:cNvPr id="54283" name="CustomShape 9"/>
          <p:cNvSpPr>
            <a:spLocks noChangeArrowheads="1"/>
          </p:cNvSpPr>
          <p:nvPr/>
        </p:nvSpPr>
        <p:spPr bwMode="auto">
          <a:xfrm>
            <a:off x="5448300" y="312896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smtClean="0">
                <a:solidFill>
                  <a:srgbClr val="000000"/>
                </a:solidFill>
                <a:latin typeface="Calibri" panose="020F0502020204030204" pitchFamily="34" charset="0"/>
              </a:rPr>
              <a:t>Faculty Name</a:t>
            </a:r>
            <a:r>
              <a:rPr lang="en-IN" altLang="en-US" sz="2400" b="1" dirty="0">
                <a:solidFill>
                  <a:srgbClr val="000000"/>
                </a:solidFill>
                <a:latin typeface="Calibri" panose="020F0502020204030204" pitchFamily="34" charset="0"/>
              </a:rPr>
              <a:t>	</a:t>
            </a:r>
            <a:endParaRPr lang="en-US" altLang="en-US" sz="1800" dirty="0"/>
          </a:p>
        </p:txBody>
      </p:sp>
      <p:sp>
        <p:nvSpPr>
          <p:cNvPr id="54284" name="CustomShape 10"/>
          <p:cNvSpPr>
            <a:spLocks noChangeArrowheads="1"/>
          </p:cNvSpPr>
          <p:nvPr/>
        </p:nvSpPr>
        <p:spPr bwMode="auto">
          <a:xfrm>
            <a:off x="5448300" y="349950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a:solidFill>
                  <a:srgbClr val="000000"/>
                </a:solidFill>
                <a:latin typeface="Calibri" panose="020F0502020204030204" pitchFamily="34" charset="0"/>
              </a:rPr>
              <a:t>Department of Biotechnology</a:t>
            </a:r>
            <a:endParaRPr lang="en-US" altLang="en-US" sz="1800"/>
          </a:p>
        </p:txBody>
      </p:sp>
      <p:sp>
        <p:nvSpPr>
          <p:cNvPr id="54285" name="TextShape 11"/>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6F591FAD-560C-49E4-9044-92C7556599DF}" type="slidenum">
              <a:rPr lang="en-IN" altLang="en-US" sz="1200">
                <a:solidFill>
                  <a:srgbClr val="8B8B8B"/>
                </a:solidFill>
                <a:latin typeface="Calibri" panose="020F0502020204030204" pitchFamily="34" charset="0"/>
              </a:rPr>
              <a:pPr algn="r" eaLnBrk="1" hangingPunct="1">
                <a:spcBef>
                  <a:spcPct val="0"/>
                </a:spcBef>
                <a:buFontTx/>
                <a:buNone/>
              </a:pPr>
              <a:t>43</a:t>
            </a:fld>
            <a:endParaRPr lang="en-US" altLang="en-US" sz="1800"/>
          </a:p>
        </p:txBody>
      </p:sp>
      <p:pic>
        <p:nvPicPr>
          <p:cNvPr id="2" name="Picture 1" descr="PESSAT - All India Online Entrance Exam for Admission to PES University">
            <a:extLst>
              <a:ext uri="{FF2B5EF4-FFF2-40B4-BE49-F238E27FC236}">
                <a16:creationId xmlns:a16="http://schemas.microsoft.com/office/drawing/2014/main" xmlns="" id="{FF40F002-D90D-0F8D-42BC-866672978710}"/>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47528" y="2245164"/>
            <a:ext cx="3000839" cy="136678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1256</Words>
  <Application>Microsoft Office PowerPoint</Application>
  <PresentationFormat>Custom</PresentationFormat>
  <Paragraphs>238</Paragraphs>
  <Slides>43</Slides>
  <Notes>0</Notes>
  <HiddenSlides>0</HiddenSlides>
  <MMClips>1</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Angira Bhuyan</dc:creator>
  <cp:lastModifiedBy>prady</cp:lastModifiedBy>
  <cp:revision>63</cp:revision>
  <dcterms:created xsi:type="dcterms:W3CDTF">2024-06-28T09:10:54Z</dcterms:created>
  <dcterms:modified xsi:type="dcterms:W3CDTF">2024-08-08T12:01:35Z</dcterms:modified>
</cp:coreProperties>
</file>