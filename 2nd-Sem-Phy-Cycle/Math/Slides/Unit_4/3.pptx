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diagrams/layout1.xml" ContentType="application/vnd.openxmlformats-officedocument.drawingml.diagram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Default Extension="mp4" ContentType="video/mp4"/>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Override PartName="/ppt/diagrams/quickStyle1.xml" ContentType="application/vnd.openxmlformats-officedocument.drawingml.diagramStyl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82" r:id="rId2"/>
    <p:sldId id="257" r:id="rId3"/>
    <p:sldId id="305" r:id="rId4"/>
    <p:sldId id="334" r:id="rId5"/>
    <p:sldId id="336" r:id="rId6"/>
    <p:sldId id="337" r:id="rId7"/>
    <p:sldId id="338" r:id="rId8"/>
    <p:sldId id="333" r:id="rId9"/>
    <p:sldId id="339" r:id="rId10"/>
    <p:sldId id="342" r:id="rId11"/>
    <p:sldId id="340" r:id="rId12"/>
    <p:sldId id="341" r:id="rId13"/>
    <p:sldId id="343" r:id="rId14"/>
    <p:sldId id="344" r:id="rId15"/>
    <p:sldId id="345" r:id="rId16"/>
    <p:sldId id="346" r:id="rId17"/>
    <p:sldId id="347" r:id="rId18"/>
    <p:sldId id="348" r:id="rId19"/>
    <p:sldId id="349" r:id="rId20"/>
    <p:sldId id="350" r:id="rId21"/>
    <p:sldId id="351" r:id="rId22"/>
    <p:sldId id="352" r:id="rId23"/>
    <p:sldId id="353" r:id="rId24"/>
    <p:sldId id="354" r:id="rId25"/>
    <p:sldId id="355" r:id="rId26"/>
    <p:sldId id="356" r:id="rId27"/>
    <p:sldId id="357" r:id="rId28"/>
    <p:sldId id="358" r:id="rId29"/>
    <p:sldId id="359" r:id="rId30"/>
    <p:sldId id="360" r:id="rId31"/>
    <p:sldId id="362" r:id="rId32"/>
    <p:sldId id="363" r:id="rId33"/>
    <p:sldId id="364" r:id="rId34"/>
    <p:sldId id="385" r:id="rId35"/>
    <p:sldId id="365" r:id="rId36"/>
    <p:sldId id="366" r:id="rId37"/>
    <p:sldId id="367" r:id="rId38"/>
    <p:sldId id="368" r:id="rId39"/>
    <p:sldId id="369" r:id="rId40"/>
    <p:sldId id="370" r:id="rId41"/>
    <p:sldId id="371" r:id="rId42"/>
    <p:sldId id="372" r:id="rId43"/>
    <p:sldId id="373" r:id="rId44"/>
    <p:sldId id="374" r:id="rId45"/>
    <p:sldId id="375" r:id="rId46"/>
    <p:sldId id="376" r:id="rId47"/>
    <p:sldId id="377" r:id="rId48"/>
    <p:sldId id="378" r:id="rId49"/>
    <p:sldId id="379" r:id="rId50"/>
    <p:sldId id="314" r:id="rId51"/>
    <p:sldId id="380" r:id="rId52"/>
    <p:sldId id="381" r:id="rId53"/>
    <p:sldId id="280" r:id="rId54"/>
    <p:sldId id="283" r:id="rId55"/>
    <p:sldId id="267"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65" d="100"/>
          <a:sy n="65" d="100"/>
        </p:scale>
        <p:origin x="-882" y="-9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609E4AD-5893-4973-99FD-5F6311981812}" type="doc">
      <dgm:prSet loTypeId="urn:microsoft.com/office/officeart/2005/8/layout/hierarchy3" loCatId="hierarchy" qsTypeId="urn:microsoft.com/office/officeart/2005/8/quickstyle/simple1" qsCatId="simple" csTypeId="urn:microsoft.com/office/officeart/2005/8/colors/colorful5" csCatId="colorful" phldr="1"/>
      <dgm:spPr/>
      <dgm:t>
        <a:bodyPr/>
        <a:lstStyle/>
        <a:p>
          <a:endParaRPr lang="en-US"/>
        </a:p>
      </dgm:t>
    </dgm:pt>
    <dgm:pt modelId="{8E2EF1FD-2C90-4594-822E-5215078AA68D}">
      <dgm:prSet phldrT="[Text]" custT="1"/>
      <dgm:spPr/>
      <dgm:t>
        <a:bodyPr/>
        <a:lstStyle/>
        <a:p>
          <a:r>
            <a:rPr lang="en-IN" sz="3200" dirty="0"/>
            <a:t>Natural Disasters</a:t>
          </a:r>
          <a:endParaRPr lang="en-US" sz="3200" dirty="0"/>
        </a:p>
      </dgm:t>
    </dgm:pt>
    <dgm:pt modelId="{1609639A-53EB-4A97-B519-7FDA1655A93B}" type="parTrans" cxnId="{7A768D22-8901-4AAD-950F-58F91B3F30C2}">
      <dgm:prSet/>
      <dgm:spPr/>
      <dgm:t>
        <a:bodyPr/>
        <a:lstStyle/>
        <a:p>
          <a:endParaRPr lang="en-US"/>
        </a:p>
      </dgm:t>
    </dgm:pt>
    <dgm:pt modelId="{96829233-BAF7-45B7-938A-E90FE55EDE37}" type="sibTrans" cxnId="{7A768D22-8901-4AAD-950F-58F91B3F30C2}">
      <dgm:prSet/>
      <dgm:spPr/>
      <dgm:t>
        <a:bodyPr/>
        <a:lstStyle/>
        <a:p>
          <a:endParaRPr lang="en-US"/>
        </a:p>
      </dgm:t>
    </dgm:pt>
    <dgm:pt modelId="{7853407A-5F72-4D0D-868A-6E46BBE2299D}">
      <dgm:prSet phldrT="[Text]" custT="1"/>
      <dgm:spPr/>
      <dgm:t>
        <a:bodyPr/>
        <a:lstStyle/>
        <a:p>
          <a:r>
            <a:rPr lang="en-IN" sz="3200" dirty="0"/>
            <a:t>Man-made Disasters</a:t>
          </a:r>
          <a:endParaRPr lang="en-US" sz="3200" dirty="0"/>
        </a:p>
      </dgm:t>
    </dgm:pt>
    <dgm:pt modelId="{49AEDB9F-795B-43DB-9278-6F429C9EFB46}" type="parTrans" cxnId="{CCF0A628-F89B-44A7-8EEF-A3DA1910BEC2}">
      <dgm:prSet/>
      <dgm:spPr/>
      <dgm:t>
        <a:bodyPr/>
        <a:lstStyle/>
        <a:p>
          <a:endParaRPr lang="en-US"/>
        </a:p>
      </dgm:t>
    </dgm:pt>
    <dgm:pt modelId="{3BE34C17-591F-42B0-A835-125F949F0B1D}" type="sibTrans" cxnId="{CCF0A628-F89B-44A7-8EEF-A3DA1910BEC2}">
      <dgm:prSet/>
      <dgm:spPr/>
      <dgm:t>
        <a:bodyPr/>
        <a:lstStyle/>
        <a:p>
          <a:endParaRPr lang="en-US"/>
        </a:p>
      </dgm:t>
    </dgm:pt>
    <dgm:pt modelId="{F447F77A-C38A-42AD-86CC-432C0C9724EE}">
      <dgm:prSet phldrT="[Text]"/>
      <dgm:spPr/>
      <dgm:t>
        <a:bodyPr/>
        <a:lstStyle/>
        <a:p>
          <a:r>
            <a:rPr lang="en-IN" dirty="0"/>
            <a:t>Earthquake/ Floods/ Landslides/ Avalanche/ Cyclone/ Tsunami/</a:t>
          </a:r>
        </a:p>
        <a:p>
          <a:r>
            <a:rPr lang="en-IN" dirty="0"/>
            <a:t>Heat waves/ Drought</a:t>
          </a:r>
          <a:endParaRPr lang="en-US" dirty="0"/>
        </a:p>
      </dgm:t>
    </dgm:pt>
    <dgm:pt modelId="{C09A6875-C180-48BB-A079-03B660D93E1B}" type="sibTrans" cxnId="{D43BFE0B-D2CC-4A94-B7A8-63965C80FA6D}">
      <dgm:prSet/>
      <dgm:spPr/>
      <dgm:t>
        <a:bodyPr/>
        <a:lstStyle/>
        <a:p>
          <a:endParaRPr lang="en-US"/>
        </a:p>
      </dgm:t>
    </dgm:pt>
    <dgm:pt modelId="{5E55785F-17E7-4524-B73D-4C8C58416384}" type="parTrans" cxnId="{D43BFE0B-D2CC-4A94-B7A8-63965C80FA6D}">
      <dgm:prSet/>
      <dgm:spPr/>
      <dgm:t>
        <a:bodyPr/>
        <a:lstStyle/>
        <a:p>
          <a:endParaRPr lang="en-US"/>
        </a:p>
      </dgm:t>
    </dgm:pt>
    <dgm:pt modelId="{678AE8AB-B5E1-43F8-8CAF-4E2086D8A78C}">
      <dgm:prSet phldrT="[Text]"/>
      <dgm:spPr/>
      <dgm:t>
        <a:bodyPr/>
        <a:lstStyle/>
        <a:p>
          <a:r>
            <a:rPr lang="en-US" dirty="0"/>
            <a:t>Nuclear Disasters/ Chemical Disasters/ Biological Disasters/ Accidental or Ignorance Disasters</a:t>
          </a:r>
        </a:p>
      </dgm:t>
    </dgm:pt>
    <dgm:pt modelId="{FD4B0EB7-2DDA-424A-978A-929CFEEA45B7}" type="sibTrans" cxnId="{63B2009F-E17F-4D7F-A850-627ABD09C3EA}">
      <dgm:prSet/>
      <dgm:spPr/>
      <dgm:t>
        <a:bodyPr/>
        <a:lstStyle/>
        <a:p>
          <a:endParaRPr lang="en-US"/>
        </a:p>
      </dgm:t>
    </dgm:pt>
    <dgm:pt modelId="{E7788488-BDC6-45D1-B9D5-EAB63F4BDDA9}" type="parTrans" cxnId="{63B2009F-E17F-4D7F-A850-627ABD09C3EA}">
      <dgm:prSet/>
      <dgm:spPr/>
      <dgm:t>
        <a:bodyPr/>
        <a:lstStyle/>
        <a:p>
          <a:endParaRPr lang="en-US"/>
        </a:p>
      </dgm:t>
    </dgm:pt>
    <dgm:pt modelId="{2864AC53-0B14-424E-95D9-E6F218502624}" type="pres">
      <dgm:prSet presAssocID="{7609E4AD-5893-4973-99FD-5F6311981812}" presName="diagram" presStyleCnt="0">
        <dgm:presLayoutVars>
          <dgm:chPref val="1"/>
          <dgm:dir/>
          <dgm:animOne val="branch"/>
          <dgm:animLvl val="lvl"/>
          <dgm:resizeHandles/>
        </dgm:presLayoutVars>
      </dgm:prSet>
      <dgm:spPr/>
      <dgm:t>
        <a:bodyPr/>
        <a:lstStyle/>
        <a:p>
          <a:endParaRPr lang="en-IN"/>
        </a:p>
      </dgm:t>
    </dgm:pt>
    <dgm:pt modelId="{C25E8656-FDD5-49D3-A557-EA0479AE4CB5}" type="pres">
      <dgm:prSet presAssocID="{8E2EF1FD-2C90-4594-822E-5215078AA68D}" presName="root" presStyleCnt="0"/>
      <dgm:spPr/>
    </dgm:pt>
    <dgm:pt modelId="{48599916-65D7-4DF4-8CAE-6A21E5219CFC}" type="pres">
      <dgm:prSet presAssocID="{8E2EF1FD-2C90-4594-822E-5215078AA68D}" presName="rootComposite" presStyleCnt="0"/>
      <dgm:spPr/>
    </dgm:pt>
    <dgm:pt modelId="{C279D1FD-8C6B-4BE5-8FD5-560F7B96478B}" type="pres">
      <dgm:prSet presAssocID="{8E2EF1FD-2C90-4594-822E-5215078AA68D}" presName="rootText" presStyleLbl="node1" presStyleIdx="0" presStyleCnt="2" custScaleX="73091" custScaleY="51016" custLinFactNeighborX="-84" custLinFactNeighborY="19238"/>
      <dgm:spPr/>
      <dgm:t>
        <a:bodyPr/>
        <a:lstStyle/>
        <a:p>
          <a:endParaRPr lang="en-IN"/>
        </a:p>
      </dgm:t>
    </dgm:pt>
    <dgm:pt modelId="{BA8A21E5-EAEB-4A34-986A-5A1854B496E3}" type="pres">
      <dgm:prSet presAssocID="{8E2EF1FD-2C90-4594-822E-5215078AA68D}" presName="rootConnector" presStyleLbl="node1" presStyleIdx="0" presStyleCnt="2"/>
      <dgm:spPr/>
      <dgm:t>
        <a:bodyPr/>
        <a:lstStyle/>
        <a:p>
          <a:endParaRPr lang="en-IN"/>
        </a:p>
      </dgm:t>
    </dgm:pt>
    <dgm:pt modelId="{DB632350-13D4-4CF6-9FEE-20226501324C}" type="pres">
      <dgm:prSet presAssocID="{8E2EF1FD-2C90-4594-822E-5215078AA68D}" presName="childShape" presStyleCnt="0"/>
      <dgm:spPr/>
    </dgm:pt>
    <dgm:pt modelId="{FE241DE3-50B3-4CBB-9916-30009CED7DB4}" type="pres">
      <dgm:prSet presAssocID="{5E55785F-17E7-4524-B73D-4C8C58416384}" presName="Name13" presStyleLbl="parChTrans1D2" presStyleIdx="0" presStyleCnt="2"/>
      <dgm:spPr/>
      <dgm:t>
        <a:bodyPr/>
        <a:lstStyle/>
        <a:p>
          <a:endParaRPr lang="en-IN"/>
        </a:p>
      </dgm:t>
    </dgm:pt>
    <dgm:pt modelId="{1FC09F8F-3DF6-426E-BFF2-800A6D3EBD9C}" type="pres">
      <dgm:prSet presAssocID="{F447F77A-C38A-42AD-86CC-432C0C9724EE}" presName="childText" presStyleLbl="bgAcc1" presStyleIdx="0" presStyleCnt="2" custScaleX="76991" custScaleY="49549" custLinFactNeighborX="-162" custLinFactNeighborY="12201">
        <dgm:presLayoutVars>
          <dgm:bulletEnabled val="1"/>
        </dgm:presLayoutVars>
      </dgm:prSet>
      <dgm:spPr/>
      <dgm:t>
        <a:bodyPr/>
        <a:lstStyle/>
        <a:p>
          <a:endParaRPr lang="en-IN"/>
        </a:p>
      </dgm:t>
    </dgm:pt>
    <dgm:pt modelId="{B82E662C-ECBD-4734-93F4-ABDD0E7A56D4}" type="pres">
      <dgm:prSet presAssocID="{7853407A-5F72-4D0D-868A-6E46BBE2299D}" presName="root" presStyleCnt="0"/>
      <dgm:spPr/>
    </dgm:pt>
    <dgm:pt modelId="{9C70A808-2B18-4DC6-8D4F-6D0288E4D571}" type="pres">
      <dgm:prSet presAssocID="{7853407A-5F72-4D0D-868A-6E46BBE2299D}" presName="rootComposite" presStyleCnt="0"/>
      <dgm:spPr/>
    </dgm:pt>
    <dgm:pt modelId="{CB742A9E-6304-4D3E-B2D4-4D1CDD35A4BB}" type="pres">
      <dgm:prSet presAssocID="{7853407A-5F72-4D0D-868A-6E46BBE2299D}" presName="rootText" presStyleLbl="node1" presStyleIdx="1" presStyleCnt="2" custScaleX="69132" custScaleY="50546" custLinFactNeighborX="-13825" custLinFactNeighborY="13347"/>
      <dgm:spPr/>
      <dgm:t>
        <a:bodyPr/>
        <a:lstStyle/>
        <a:p>
          <a:endParaRPr lang="en-IN"/>
        </a:p>
      </dgm:t>
    </dgm:pt>
    <dgm:pt modelId="{B81F8C2A-F9D7-4BB0-B7F3-43ADB2A74A1A}" type="pres">
      <dgm:prSet presAssocID="{7853407A-5F72-4D0D-868A-6E46BBE2299D}" presName="rootConnector" presStyleLbl="node1" presStyleIdx="1" presStyleCnt="2"/>
      <dgm:spPr/>
      <dgm:t>
        <a:bodyPr/>
        <a:lstStyle/>
        <a:p>
          <a:endParaRPr lang="en-IN"/>
        </a:p>
      </dgm:t>
    </dgm:pt>
    <dgm:pt modelId="{CC3755FA-F0B1-4678-AB9C-14F15C3161CC}" type="pres">
      <dgm:prSet presAssocID="{7853407A-5F72-4D0D-868A-6E46BBE2299D}" presName="childShape" presStyleCnt="0"/>
      <dgm:spPr/>
    </dgm:pt>
    <dgm:pt modelId="{73A4F53D-8E4F-4394-AA4D-C59DC96C1F46}" type="pres">
      <dgm:prSet presAssocID="{E7788488-BDC6-45D1-B9D5-EAB63F4BDDA9}" presName="Name13" presStyleLbl="parChTrans1D2" presStyleIdx="1" presStyleCnt="2"/>
      <dgm:spPr/>
      <dgm:t>
        <a:bodyPr/>
        <a:lstStyle/>
        <a:p>
          <a:endParaRPr lang="en-IN"/>
        </a:p>
      </dgm:t>
    </dgm:pt>
    <dgm:pt modelId="{76755DEB-AD83-49AB-8B08-868362009E35}" type="pres">
      <dgm:prSet presAssocID="{678AE8AB-B5E1-43F8-8CAF-4E2086D8A78C}" presName="childText" presStyleLbl="bgAcc1" presStyleIdx="1" presStyleCnt="2" custScaleX="71118" custScaleY="48294" custLinFactNeighborX="-20057" custLinFactNeighborY="-411">
        <dgm:presLayoutVars>
          <dgm:bulletEnabled val="1"/>
        </dgm:presLayoutVars>
      </dgm:prSet>
      <dgm:spPr/>
      <dgm:t>
        <a:bodyPr/>
        <a:lstStyle/>
        <a:p>
          <a:endParaRPr lang="en-IN"/>
        </a:p>
      </dgm:t>
    </dgm:pt>
  </dgm:ptLst>
  <dgm:cxnLst>
    <dgm:cxn modelId="{DE231544-3AF7-40CC-8C02-3FD7204C8E8C}" type="presOf" srcId="{8E2EF1FD-2C90-4594-822E-5215078AA68D}" destId="{BA8A21E5-EAEB-4A34-986A-5A1854B496E3}" srcOrd="1" destOrd="0" presId="urn:microsoft.com/office/officeart/2005/8/layout/hierarchy3"/>
    <dgm:cxn modelId="{4405E9CD-C7A7-43D1-8E97-CD626BE38C2A}" type="presOf" srcId="{E7788488-BDC6-45D1-B9D5-EAB63F4BDDA9}" destId="{73A4F53D-8E4F-4394-AA4D-C59DC96C1F46}" srcOrd="0" destOrd="0" presId="urn:microsoft.com/office/officeart/2005/8/layout/hierarchy3"/>
    <dgm:cxn modelId="{D8354D9C-47CB-4FC2-A7FB-D1E61FBADB31}" type="presOf" srcId="{678AE8AB-B5E1-43F8-8CAF-4E2086D8A78C}" destId="{76755DEB-AD83-49AB-8B08-868362009E35}" srcOrd="0" destOrd="0" presId="urn:microsoft.com/office/officeart/2005/8/layout/hierarchy3"/>
    <dgm:cxn modelId="{639D21D4-1ADA-4F47-8BD3-42896938970E}" type="presOf" srcId="{7609E4AD-5893-4973-99FD-5F6311981812}" destId="{2864AC53-0B14-424E-95D9-E6F218502624}" srcOrd="0" destOrd="0" presId="urn:microsoft.com/office/officeart/2005/8/layout/hierarchy3"/>
    <dgm:cxn modelId="{7A768D22-8901-4AAD-950F-58F91B3F30C2}" srcId="{7609E4AD-5893-4973-99FD-5F6311981812}" destId="{8E2EF1FD-2C90-4594-822E-5215078AA68D}" srcOrd="0" destOrd="0" parTransId="{1609639A-53EB-4A97-B519-7FDA1655A93B}" sibTransId="{96829233-BAF7-45B7-938A-E90FE55EDE37}"/>
    <dgm:cxn modelId="{E0A44A98-1E84-40B4-BFC2-0A14C8D60D00}" type="presOf" srcId="{7853407A-5F72-4D0D-868A-6E46BBE2299D}" destId="{B81F8C2A-F9D7-4BB0-B7F3-43ADB2A74A1A}" srcOrd="1" destOrd="0" presId="urn:microsoft.com/office/officeart/2005/8/layout/hierarchy3"/>
    <dgm:cxn modelId="{C55112EA-FFA8-4F22-8FB4-17BF22D4AABD}" type="presOf" srcId="{7853407A-5F72-4D0D-868A-6E46BBE2299D}" destId="{CB742A9E-6304-4D3E-B2D4-4D1CDD35A4BB}" srcOrd="0" destOrd="0" presId="urn:microsoft.com/office/officeart/2005/8/layout/hierarchy3"/>
    <dgm:cxn modelId="{D43BFE0B-D2CC-4A94-B7A8-63965C80FA6D}" srcId="{8E2EF1FD-2C90-4594-822E-5215078AA68D}" destId="{F447F77A-C38A-42AD-86CC-432C0C9724EE}" srcOrd="0" destOrd="0" parTransId="{5E55785F-17E7-4524-B73D-4C8C58416384}" sibTransId="{C09A6875-C180-48BB-A079-03B660D93E1B}"/>
    <dgm:cxn modelId="{6F89DC47-C2B1-4B5F-9303-F8DF65A64FDF}" type="presOf" srcId="{5E55785F-17E7-4524-B73D-4C8C58416384}" destId="{FE241DE3-50B3-4CBB-9916-30009CED7DB4}" srcOrd="0" destOrd="0" presId="urn:microsoft.com/office/officeart/2005/8/layout/hierarchy3"/>
    <dgm:cxn modelId="{CCF0A628-F89B-44A7-8EEF-A3DA1910BEC2}" srcId="{7609E4AD-5893-4973-99FD-5F6311981812}" destId="{7853407A-5F72-4D0D-868A-6E46BBE2299D}" srcOrd="1" destOrd="0" parTransId="{49AEDB9F-795B-43DB-9278-6F429C9EFB46}" sibTransId="{3BE34C17-591F-42B0-A835-125F949F0B1D}"/>
    <dgm:cxn modelId="{63B2009F-E17F-4D7F-A850-627ABD09C3EA}" srcId="{7853407A-5F72-4D0D-868A-6E46BBE2299D}" destId="{678AE8AB-B5E1-43F8-8CAF-4E2086D8A78C}" srcOrd="0" destOrd="0" parTransId="{E7788488-BDC6-45D1-B9D5-EAB63F4BDDA9}" sibTransId="{FD4B0EB7-2DDA-424A-978A-929CFEEA45B7}"/>
    <dgm:cxn modelId="{286A053E-E6D7-457B-87F2-74E932E15D65}" type="presOf" srcId="{8E2EF1FD-2C90-4594-822E-5215078AA68D}" destId="{C279D1FD-8C6B-4BE5-8FD5-560F7B96478B}" srcOrd="0" destOrd="0" presId="urn:microsoft.com/office/officeart/2005/8/layout/hierarchy3"/>
    <dgm:cxn modelId="{03D3F723-716C-4787-B91F-F69DA8D8353A}" type="presOf" srcId="{F447F77A-C38A-42AD-86CC-432C0C9724EE}" destId="{1FC09F8F-3DF6-426E-BFF2-800A6D3EBD9C}" srcOrd="0" destOrd="0" presId="urn:microsoft.com/office/officeart/2005/8/layout/hierarchy3"/>
    <dgm:cxn modelId="{B8C3D8F0-F608-42EE-8F3F-4F785D075568}" type="presParOf" srcId="{2864AC53-0B14-424E-95D9-E6F218502624}" destId="{C25E8656-FDD5-49D3-A557-EA0479AE4CB5}" srcOrd="0" destOrd="0" presId="urn:microsoft.com/office/officeart/2005/8/layout/hierarchy3"/>
    <dgm:cxn modelId="{74EF64B7-7DC4-4B86-BBE8-C28C0C324D72}" type="presParOf" srcId="{C25E8656-FDD5-49D3-A557-EA0479AE4CB5}" destId="{48599916-65D7-4DF4-8CAE-6A21E5219CFC}" srcOrd="0" destOrd="0" presId="urn:microsoft.com/office/officeart/2005/8/layout/hierarchy3"/>
    <dgm:cxn modelId="{50BEE8C1-0016-4041-8C0F-E4C9CDB3CE0F}" type="presParOf" srcId="{48599916-65D7-4DF4-8CAE-6A21E5219CFC}" destId="{C279D1FD-8C6B-4BE5-8FD5-560F7B96478B}" srcOrd="0" destOrd="0" presId="urn:microsoft.com/office/officeart/2005/8/layout/hierarchy3"/>
    <dgm:cxn modelId="{84C1C6F3-7CC2-4EE7-9EC6-7CC47B7CBD27}" type="presParOf" srcId="{48599916-65D7-4DF4-8CAE-6A21E5219CFC}" destId="{BA8A21E5-EAEB-4A34-986A-5A1854B496E3}" srcOrd="1" destOrd="0" presId="urn:microsoft.com/office/officeart/2005/8/layout/hierarchy3"/>
    <dgm:cxn modelId="{AD2CAD6B-616D-4D01-90B8-501F34EACCC3}" type="presParOf" srcId="{C25E8656-FDD5-49D3-A557-EA0479AE4CB5}" destId="{DB632350-13D4-4CF6-9FEE-20226501324C}" srcOrd="1" destOrd="0" presId="urn:microsoft.com/office/officeart/2005/8/layout/hierarchy3"/>
    <dgm:cxn modelId="{7FA80DFB-9150-483C-AFB5-6D7F82497F31}" type="presParOf" srcId="{DB632350-13D4-4CF6-9FEE-20226501324C}" destId="{FE241DE3-50B3-4CBB-9916-30009CED7DB4}" srcOrd="0" destOrd="0" presId="urn:microsoft.com/office/officeart/2005/8/layout/hierarchy3"/>
    <dgm:cxn modelId="{BB5BBD8B-C717-4544-AB07-3F4BB3BD34C4}" type="presParOf" srcId="{DB632350-13D4-4CF6-9FEE-20226501324C}" destId="{1FC09F8F-3DF6-426E-BFF2-800A6D3EBD9C}" srcOrd="1" destOrd="0" presId="urn:microsoft.com/office/officeart/2005/8/layout/hierarchy3"/>
    <dgm:cxn modelId="{C5269425-8D41-4248-BDCD-3DDFCEACE0F2}" type="presParOf" srcId="{2864AC53-0B14-424E-95D9-E6F218502624}" destId="{B82E662C-ECBD-4734-93F4-ABDD0E7A56D4}" srcOrd="1" destOrd="0" presId="urn:microsoft.com/office/officeart/2005/8/layout/hierarchy3"/>
    <dgm:cxn modelId="{F4E28496-FDAF-43E2-9980-8F38559EF09C}" type="presParOf" srcId="{B82E662C-ECBD-4734-93F4-ABDD0E7A56D4}" destId="{9C70A808-2B18-4DC6-8D4F-6D0288E4D571}" srcOrd="0" destOrd="0" presId="urn:microsoft.com/office/officeart/2005/8/layout/hierarchy3"/>
    <dgm:cxn modelId="{1C33FD63-4BC5-459B-BEB9-B8381BE57C34}" type="presParOf" srcId="{9C70A808-2B18-4DC6-8D4F-6D0288E4D571}" destId="{CB742A9E-6304-4D3E-B2D4-4D1CDD35A4BB}" srcOrd="0" destOrd="0" presId="urn:microsoft.com/office/officeart/2005/8/layout/hierarchy3"/>
    <dgm:cxn modelId="{BD26DAD8-7635-45C4-AA3C-D3DFC01DFE49}" type="presParOf" srcId="{9C70A808-2B18-4DC6-8D4F-6D0288E4D571}" destId="{B81F8C2A-F9D7-4BB0-B7F3-43ADB2A74A1A}" srcOrd="1" destOrd="0" presId="urn:microsoft.com/office/officeart/2005/8/layout/hierarchy3"/>
    <dgm:cxn modelId="{BE0BA7B4-5FCB-4519-848A-39A969A90E73}" type="presParOf" srcId="{B82E662C-ECBD-4734-93F4-ABDD0E7A56D4}" destId="{CC3755FA-F0B1-4678-AB9C-14F15C3161CC}" srcOrd="1" destOrd="0" presId="urn:microsoft.com/office/officeart/2005/8/layout/hierarchy3"/>
    <dgm:cxn modelId="{23F903DF-9B0F-4159-8799-5D25A128E91F}" type="presParOf" srcId="{CC3755FA-F0B1-4678-AB9C-14F15C3161CC}" destId="{73A4F53D-8E4F-4394-AA4D-C59DC96C1F46}" srcOrd="0" destOrd="0" presId="urn:microsoft.com/office/officeart/2005/8/layout/hierarchy3"/>
    <dgm:cxn modelId="{D2A1A974-7F67-433F-8A9F-9E5A7B8B4F5E}" type="presParOf" srcId="{CC3755FA-F0B1-4678-AB9C-14F15C3161CC}" destId="{76755DEB-AD83-49AB-8B08-868362009E35}" srcOrd="1" destOrd="0" presId="urn:microsoft.com/office/officeart/2005/8/layout/hierarchy3"/>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79D1FD-8C6B-4BE5-8FD5-560F7B96478B}">
      <dsp:nvSpPr>
        <dsp:cNvPr id="0" name=""/>
        <dsp:cNvSpPr/>
      </dsp:nvSpPr>
      <dsp:spPr>
        <a:xfrm>
          <a:off x="0" y="541384"/>
          <a:ext cx="2431589" cy="848599"/>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0640" rIns="60960" bIns="40640" numCol="1" spcCol="1270" anchor="ctr" anchorCtr="0">
          <a:noAutofit/>
        </a:bodyPr>
        <a:lstStyle/>
        <a:p>
          <a:pPr marL="0" lvl="0" indent="0" algn="ctr" defTabSz="1422400">
            <a:lnSpc>
              <a:spcPct val="90000"/>
            </a:lnSpc>
            <a:spcBef>
              <a:spcPct val="0"/>
            </a:spcBef>
            <a:spcAft>
              <a:spcPct val="35000"/>
            </a:spcAft>
            <a:buNone/>
          </a:pPr>
          <a:r>
            <a:rPr lang="en-IN" sz="3200" kern="1200" dirty="0"/>
            <a:t>Natural Disasters</a:t>
          </a:r>
          <a:endParaRPr lang="en-US" sz="3200" kern="1200" dirty="0"/>
        </a:p>
      </dsp:txBody>
      <dsp:txXfrm>
        <a:off x="24855" y="566239"/>
        <a:ext cx="2381879" cy="798889"/>
      </dsp:txXfrm>
    </dsp:sp>
    <dsp:sp modelId="{FE241DE3-50B3-4CBB-9916-30009CED7DB4}">
      <dsp:nvSpPr>
        <dsp:cNvPr id="0" name=""/>
        <dsp:cNvSpPr/>
      </dsp:nvSpPr>
      <dsp:spPr>
        <a:xfrm>
          <a:off x="243158" y="1389984"/>
          <a:ext cx="241593" cy="710894"/>
        </a:xfrm>
        <a:custGeom>
          <a:avLst/>
          <a:gdLst/>
          <a:ahLst/>
          <a:cxnLst/>
          <a:rect l="0" t="0" r="0" b="0"/>
          <a:pathLst>
            <a:path>
              <a:moveTo>
                <a:pt x="0" y="0"/>
              </a:moveTo>
              <a:lnTo>
                <a:pt x="0" y="710894"/>
              </a:lnTo>
              <a:lnTo>
                <a:pt x="241593" y="71089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FC09F8F-3DF6-426E-BFF2-800A6D3EBD9C}">
      <dsp:nvSpPr>
        <dsp:cNvPr id="0" name=""/>
        <dsp:cNvSpPr/>
      </dsp:nvSpPr>
      <dsp:spPr>
        <a:xfrm>
          <a:off x="484752" y="1688780"/>
          <a:ext cx="2049067" cy="824197"/>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IN" sz="1200" kern="1200" dirty="0"/>
            <a:t>Earthquake/ Floods/ Landslides/ Avalanche/ Cyclone/ Tsunami/</a:t>
          </a:r>
        </a:p>
        <a:p>
          <a:pPr marL="0" lvl="0" indent="0" algn="ctr" defTabSz="533400">
            <a:lnSpc>
              <a:spcPct val="90000"/>
            </a:lnSpc>
            <a:spcBef>
              <a:spcPct val="0"/>
            </a:spcBef>
            <a:spcAft>
              <a:spcPct val="35000"/>
            </a:spcAft>
            <a:buNone/>
          </a:pPr>
          <a:r>
            <a:rPr lang="en-IN" sz="1200" kern="1200" dirty="0"/>
            <a:t>Heat waves/ Drought</a:t>
          </a:r>
          <a:endParaRPr lang="en-US" sz="1200" kern="1200" dirty="0"/>
        </a:p>
      </dsp:txBody>
      <dsp:txXfrm>
        <a:off x="508892" y="1712920"/>
        <a:ext cx="2000787" cy="775917"/>
      </dsp:txXfrm>
    </dsp:sp>
    <dsp:sp modelId="{CB742A9E-6304-4D3E-B2D4-4D1CDD35A4BB}">
      <dsp:nvSpPr>
        <dsp:cNvPr id="0" name=""/>
        <dsp:cNvSpPr/>
      </dsp:nvSpPr>
      <dsp:spPr>
        <a:xfrm>
          <a:off x="2806104" y="443394"/>
          <a:ext cx="2299881" cy="840781"/>
        </a:xfrm>
        <a:prstGeom prst="roundRect">
          <a:avLst>
            <a:gd name="adj" fmla="val 10000"/>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0640" rIns="60960" bIns="40640" numCol="1" spcCol="1270" anchor="ctr" anchorCtr="0">
          <a:noAutofit/>
        </a:bodyPr>
        <a:lstStyle/>
        <a:p>
          <a:pPr marL="0" lvl="0" indent="0" algn="ctr" defTabSz="1422400">
            <a:lnSpc>
              <a:spcPct val="90000"/>
            </a:lnSpc>
            <a:spcBef>
              <a:spcPct val="0"/>
            </a:spcBef>
            <a:spcAft>
              <a:spcPct val="35000"/>
            </a:spcAft>
            <a:buNone/>
          </a:pPr>
          <a:r>
            <a:rPr lang="en-IN" sz="3200" kern="1200" dirty="0"/>
            <a:t>Man-made Disasters</a:t>
          </a:r>
          <a:endParaRPr lang="en-US" sz="3200" kern="1200" dirty="0"/>
        </a:p>
      </dsp:txBody>
      <dsp:txXfrm>
        <a:off x="2830730" y="468020"/>
        <a:ext cx="2250629" cy="791529"/>
      </dsp:txXfrm>
    </dsp:sp>
    <dsp:sp modelId="{73A4F53D-8E4F-4394-AA4D-C59DC96C1F46}">
      <dsp:nvSpPr>
        <dsp:cNvPr id="0" name=""/>
        <dsp:cNvSpPr/>
      </dsp:nvSpPr>
      <dsp:spPr>
        <a:xfrm>
          <a:off x="3036092" y="1284175"/>
          <a:ext cx="156113" cy="588660"/>
        </a:xfrm>
        <a:custGeom>
          <a:avLst/>
          <a:gdLst/>
          <a:ahLst/>
          <a:cxnLst/>
          <a:rect l="0" t="0" r="0" b="0"/>
          <a:pathLst>
            <a:path>
              <a:moveTo>
                <a:pt x="0" y="0"/>
              </a:moveTo>
              <a:lnTo>
                <a:pt x="0" y="588660"/>
              </a:lnTo>
              <a:lnTo>
                <a:pt x="156113" y="58866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755DEB-AD83-49AB-8B08-868362009E35}">
      <dsp:nvSpPr>
        <dsp:cNvPr id="0" name=""/>
        <dsp:cNvSpPr/>
      </dsp:nvSpPr>
      <dsp:spPr>
        <a:xfrm>
          <a:off x="3192206" y="1471174"/>
          <a:ext cx="1892761" cy="803321"/>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dirty="0"/>
            <a:t>Nuclear Disasters/ Chemical Disasters/ Biological Disasters/ Accidental or Ignorance Disasters</a:t>
          </a:r>
        </a:p>
      </dsp:txBody>
      <dsp:txXfrm>
        <a:off x="3215734" y="1494702"/>
        <a:ext cx="1845705" cy="75626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83DE7D-5B56-47AC-7D35-A2BFEE7373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5D5EC3CF-62D5-36CC-65ED-40575363AE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77A18916-544F-D635-77C7-9C9C4E802B45}"/>
              </a:ext>
            </a:extLst>
          </p:cNvPr>
          <p:cNvSpPr>
            <a:spLocks noGrp="1"/>
          </p:cNvSpPr>
          <p:nvPr>
            <p:ph type="dt" sz="half" idx="10"/>
          </p:nvPr>
        </p:nvSpPr>
        <p:spPr/>
        <p:txBody>
          <a:bodyPr/>
          <a:lstStyle/>
          <a:p>
            <a:fld id="{FAAFA0BF-53B0-4A41-AA03-04F3AD19C0D9}" type="datetimeFigureOut">
              <a:rPr lang="en-IN" smtClean="0"/>
              <a:pPr/>
              <a:t>08-08-2024</a:t>
            </a:fld>
            <a:endParaRPr lang="en-IN"/>
          </a:p>
        </p:txBody>
      </p:sp>
      <p:sp>
        <p:nvSpPr>
          <p:cNvPr id="5" name="Footer Placeholder 4">
            <a:extLst>
              <a:ext uri="{FF2B5EF4-FFF2-40B4-BE49-F238E27FC236}">
                <a16:creationId xmlns:a16="http://schemas.microsoft.com/office/drawing/2014/main" xmlns="" id="{B305CD43-1354-17E3-5732-CF955A6623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9CEFF91-1232-C33C-0CD2-A7AF5460C3A3}"/>
              </a:ext>
            </a:extLst>
          </p:cNvPr>
          <p:cNvSpPr>
            <a:spLocks noGrp="1"/>
          </p:cNvSpPr>
          <p:nvPr>
            <p:ph type="sldNum" sz="quarter" idx="12"/>
          </p:nvPr>
        </p:nvSpPr>
        <p:spPr/>
        <p:txBody>
          <a:bodyPr/>
          <a:lstStyle/>
          <a:p>
            <a:fld id="{71C48888-BBE4-4AE5-9DAF-25E31DE8B870}" type="slidenum">
              <a:rPr lang="en-IN" smtClean="0"/>
              <a:pPr/>
              <a:t>‹#›</a:t>
            </a:fld>
            <a:endParaRPr lang="en-IN"/>
          </a:p>
        </p:txBody>
      </p:sp>
    </p:spTree>
    <p:extLst>
      <p:ext uri="{BB962C8B-B14F-4D97-AF65-F5344CB8AC3E}">
        <p14:creationId xmlns:p14="http://schemas.microsoft.com/office/powerpoint/2010/main" xmlns="" val="2311913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107EBB-6FBA-0D2C-CD5A-A1E8B8BB512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8672C6D9-7B98-4EED-06DD-C58A4B245F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6B19FFC-C99A-E7B3-282C-C8680239AC0B}"/>
              </a:ext>
            </a:extLst>
          </p:cNvPr>
          <p:cNvSpPr>
            <a:spLocks noGrp="1"/>
          </p:cNvSpPr>
          <p:nvPr>
            <p:ph type="dt" sz="half" idx="10"/>
          </p:nvPr>
        </p:nvSpPr>
        <p:spPr/>
        <p:txBody>
          <a:bodyPr/>
          <a:lstStyle/>
          <a:p>
            <a:fld id="{FAAFA0BF-53B0-4A41-AA03-04F3AD19C0D9}" type="datetimeFigureOut">
              <a:rPr lang="en-IN" smtClean="0"/>
              <a:pPr/>
              <a:t>08-08-2024</a:t>
            </a:fld>
            <a:endParaRPr lang="en-IN"/>
          </a:p>
        </p:txBody>
      </p:sp>
      <p:sp>
        <p:nvSpPr>
          <p:cNvPr id="5" name="Footer Placeholder 4">
            <a:extLst>
              <a:ext uri="{FF2B5EF4-FFF2-40B4-BE49-F238E27FC236}">
                <a16:creationId xmlns:a16="http://schemas.microsoft.com/office/drawing/2014/main" xmlns="" id="{BE6CA5DA-B8D9-ECBF-1DD3-1E865D2D70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C2AA4C6F-5B16-6ABA-1446-35FCEFD41E70}"/>
              </a:ext>
            </a:extLst>
          </p:cNvPr>
          <p:cNvSpPr>
            <a:spLocks noGrp="1"/>
          </p:cNvSpPr>
          <p:nvPr>
            <p:ph type="sldNum" sz="quarter" idx="12"/>
          </p:nvPr>
        </p:nvSpPr>
        <p:spPr/>
        <p:txBody>
          <a:bodyPr/>
          <a:lstStyle/>
          <a:p>
            <a:fld id="{71C48888-BBE4-4AE5-9DAF-25E31DE8B870}" type="slidenum">
              <a:rPr lang="en-IN" smtClean="0"/>
              <a:pPr/>
              <a:t>‹#›</a:t>
            </a:fld>
            <a:endParaRPr lang="en-IN"/>
          </a:p>
        </p:txBody>
      </p:sp>
    </p:spTree>
    <p:extLst>
      <p:ext uri="{BB962C8B-B14F-4D97-AF65-F5344CB8AC3E}">
        <p14:creationId xmlns:p14="http://schemas.microsoft.com/office/powerpoint/2010/main" xmlns="" val="1997528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8365A4-780B-A7DF-ABC7-1BB3DAEBAD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2C77C20-B13F-1B1F-0F62-806DE3EE39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B2EB9CD1-EB78-8724-A550-29E146687D6B}"/>
              </a:ext>
            </a:extLst>
          </p:cNvPr>
          <p:cNvSpPr>
            <a:spLocks noGrp="1"/>
          </p:cNvSpPr>
          <p:nvPr>
            <p:ph type="dt" sz="half" idx="10"/>
          </p:nvPr>
        </p:nvSpPr>
        <p:spPr/>
        <p:txBody>
          <a:bodyPr/>
          <a:lstStyle/>
          <a:p>
            <a:fld id="{FAAFA0BF-53B0-4A41-AA03-04F3AD19C0D9}" type="datetimeFigureOut">
              <a:rPr lang="en-IN" smtClean="0"/>
              <a:pPr/>
              <a:t>08-08-2024</a:t>
            </a:fld>
            <a:endParaRPr lang="en-IN"/>
          </a:p>
        </p:txBody>
      </p:sp>
      <p:sp>
        <p:nvSpPr>
          <p:cNvPr id="5" name="Footer Placeholder 4">
            <a:extLst>
              <a:ext uri="{FF2B5EF4-FFF2-40B4-BE49-F238E27FC236}">
                <a16:creationId xmlns:a16="http://schemas.microsoft.com/office/drawing/2014/main" xmlns="" id="{8A3E03A7-C723-A608-80B9-79CF1ABA34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0E9E609-CF91-480C-3348-A9A2268AF1BA}"/>
              </a:ext>
            </a:extLst>
          </p:cNvPr>
          <p:cNvSpPr>
            <a:spLocks noGrp="1"/>
          </p:cNvSpPr>
          <p:nvPr>
            <p:ph type="sldNum" sz="quarter" idx="12"/>
          </p:nvPr>
        </p:nvSpPr>
        <p:spPr/>
        <p:txBody>
          <a:bodyPr/>
          <a:lstStyle/>
          <a:p>
            <a:fld id="{71C48888-BBE4-4AE5-9DAF-25E31DE8B870}" type="slidenum">
              <a:rPr lang="en-IN" smtClean="0"/>
              <a:pPr/>
              <a:t>‹#›</a:t>
            </a:fld>
            <a:endParaRPr lang="en-IN"/>
          </a:p>
        </p:txBody>
      </p:sp>
    </p:spTree>
    <p:extLst>
      <p:ext uri="{BB962C8B-B14F-4D97-AF65-F5344CB8AC3E}">
        <p14:creationId xmlns:p14="http://schemas.microsoft.com/office/powerpoint/2010/main" xmlns="" val="236330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B0797C-C48D-F24B-7B2A-5B87477B8B7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444FBE19-DFC4-5209-6486-58F2A8A7D9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25CC4106-BE17-BDB1-3A8B-1987693F73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4DBB1E37-9A5C-C80A-2D3F-132638EB0E79}"/>
              </a:ext>
            </a:extLst>
          </p:cNvPr>
          <p:cNvSpPr>
            <a:spLocks noGrp="1"/>
          </p:cNvSpPr>
          <p:nvPr>
            <p:ph type="dt" sz="half" idx="10"/>
          </p:nvPr>
        </p:nvSpPr>
        <p:spPr/>
        <p:txBody>
          <a:bodyPr/>
          <a:lstStyle/>
          <a:p>
            <a:fld id="{FAAFA0BF-53B0-4A41-AA03-04F3AD19C0D9}" type="datetimeFigureOut">
              <a:rPr lang="en-IN" smtClean="0"/>
              <a:pPr/>
              <a:t>08-08-2024</a:t>
            </a:fld>
            <a:endParaRPr lang="en-IN"/>
          </a:p>
        </p:txBody>
      </p:sp>
      <p:sp>
        <p:nvSpPr>
          <p:cNvPr id="6" name="Footer Placeholder 5">
            <a:extLst>
              <a:ext uri="{FF2B5EF4-FFF2-40B4-BE49-F238E27FC236}">
                <a16:creationId xmlns:a16="http://schemas.microsoft.com/office/drawing/2014/main" xmlns="" id="{E9CD83E0-93FF-8B73-ECA5-1E1E987B07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1323EE49-A9B3-CA2B-6CF7-B177CDBA347B}"/>
              </a:ext>
            </a:extLst>
          </p:cNvPr>
          <p:cNvSpPr>
            <a:spLocks noGrp="1"/>
          </p:cNvSpPr>
          <p:nvPr>
            <p:ph type="sldNum" sz="quarter" idx="12"/>
          </p:nvPr>
        </p:nvSpPr>
        <p:spPr/>
        <p:txBody>
          <a:bodyPr/>
          <a:lstStyle/>
          <a:p>
            <a:fld id="{71C48888-BBE4-4AE5-9DAF-25E31DE8B870}" type="slidenum">
              <a:rPr lang="en-IN" smtClean="0"/>
              <a:pPr/>
              <a:t>‹#›</a:t>
            </a:fld>
            <a:endParaRPr lang="en-IN"/>
          </a:p>
        </p:txBody>
      </p:sp>
    </p:spTree>
    <p:extLst>
      <p:ext uri="{BB962C8B-B14F-4D97-AF65-F5344CB8AC3E}">
        <p14:creationId xmlns:p14="http://schemas.microsoft.com/office/powerpoint/2010/main" xmlns="" val="999546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D2511C-4375-0BB4-2F0D-B672FD51C05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8C57199B-B548-2739-B6F5-447842DD56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C6982228-B61C-30E3-BAA1-62C704C62C9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4953718C-B757-8E7C-9D93-4D1E05DC75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E505E757-829C-D0D8-038E-991ADFB112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821681EE-2827-F79A-DFC9-4EA55FEB4245}"/>
              </a:ext>
            </a:extLst>
          </p:cNvPr>
          <p:cNvSpPr>
            <a:spLocks noGrp="1"/>
          </p:cNvSpPr>
          <p:nvPr>
            <p:ph type="dt" sz="half" idx="10"/>
          </p:nvPr>
        </p:nvSpPr>
        <p:spPr/>
        <p:txBody>
          <a:bodyPr/>
          <a:lstStyle/>
          <a:p>
            <a:fld id="{FAAFA0BF-53B0-4A41-AA03-04F3AD19C0D9}" type="datetimeFigureOut">
              <a:rPr lang="en-IN" smtClean="0"/>
              <a:pPr/>
              <a:t>08-08-2024</a:t>
            </a:fld>
            <a:endParaRPr lang="en-IN"/>
          </a:p>
        </p:txBody>
      </p:sp>
      <p:sp>
        <p:nvSpPr>
          <p:cNvPr id="8" name="Footer Placeholder 7">
            <a:extLst>
              <a:ext uri="{FF2B5EF4-FFF2-40B4-BE49-F238E27FC236}">
                <a16:creationId xmlns:a16="http://schemas.microsoft.com/office/drawing/2014/main" xmlns="" id="{F600CBD9-40AA-D8E3-1B3A-BF314D2A8A9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FB0A98CB-7790-5343-D125-D28F009ED49E}"/>
              </a:ext>
            </a:extLst>
          </p:cNvPr>
          <p:cNvSpPr>
            <a:spLocks noGrp="1"/>
          </p:cNvSpPr>
          <p:nvPr>
            <p:ph type="sldNum" sz="quarter" idx="12"/>
          </p:nvPr>
        </p:nvSpPr>
        <p:spPr/>
        <p:txBody>
          <a:bodyPr/>
          <a:lstStyle/>
          <a:p>
            <a:fld id="{71C48888-BBE4-4AE5-9DAF-25E31DE8B870}" type="slidenum">
              <a:rPr lang="en-IN" smtClean="0"/>
              <a:pPr/>
              <a:t>‹#›</a:t>
            </a:fld>
            <a:endParaRPr lang="en-IN"/>
          </a:p>
        </p:txBody>
      </p:sp>
    </p:spTree>
    <p:extLst>
      <p:ext uri="{BB962C8B-B14F-4D97-AF65-F5344CB8AC3E}">
        <p14:creationId xmlns:p14="http://schemas.microsoft.com/office/powerpoint/2010/main" xmlns="" val="469311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67B52BE-4C8A-DBCA-0898-44039EB6BF8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071656E1-0B4B-0133-FBB5-6686DBEB50EA}"/>
              </a:ext>
            </a:extLst>
          </p:cNvPr>
          <p:cNvSpPr>
            <a:spLocks noGrp="1"/>
          </p:cNvSpPr>
          <p:nvPr>
            <p:ph type="dt" sz="half" idx="10"/>
          </p:nvPr>
        </p:nvSpPr>
        <p:spPr/>
        <p:txBody>
          <a:bodyPr/>
          <a:lstStyle/>
          <a:p>
            <a:fld id="{FAAFA0BF-53B0-4A41-AA03-04F3AD19C0D9}" type="datetimeFigureOut">
              <a:rPr lang="en-IN" smtClean="0"/>
              <a:pPr/>
              <a:t>08-08-2024</a:t>
            </a:fld>
            <a:endParaRPr lang="en-IN"/>
          </a:p>
        </p:txBody>
      </p:sp>
      <p:sp>
        <p:nvSpPr>
          <p:cNvPr id="4" name="Footer Placeholder 3">
            <a:extLst>
              <a:ext uri="{FF2B5EF4-FFF2-40B4-BE49-F238E27FC236}">
                <a16:creationId xmlns:a16="http://schemas.microsoft.com/office/drawing/2014/main" xmlns="" id="{984090DC-84CC-C994-9B17-006C552F5B8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BFD7E1C9-606B-9753-F1B0-E2509AD6A034}"/>
              </a:ext>
            </a:extLst>
          </p:cNvPr>
          <p:cNvSpPr>
            <a:spLocks noGrp="1"/>
          </p:cNvSpPr>
          <p:nvPr>
            <p:ph type="sldNum" sz="quarter" idx="12"/>
          </p:nvPr>
        </p:nvSpPr>
        <p:spPr/>
        <p:txBody>
          <a:bodyPr/>
          <a:lstStyle/>
          <a:p>
            <a:fld id="{71C48888-BBE4-4AE5-9DAF-25E31DE8B870}" type="slidenum">
              <a:rPr lang="en-IN" smtClean="0"/>
              <a:pPr/>
              <a:t>‹#›</a:t>
            </a:fld>
            <a:endParaRPr lang="en-IN"/>
          </a:p>
        </p:txBody>
      </p:sp>
    </p:spTree>
    <p:extLst>
      <p:ext uri="{BB962C8B-B14F-4D97-AF65-F5344CB8AC3E}">
        <p14:creationId xmlns:p14="http://schemas.microsoft.com/office/powerpoint/2010/main" xmlns="" val="193508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782DFC97-E29F-8A66-0A21-A43C4E195E42}"/>
              </a:ext>
            </a:extLst>
          </p:cNvPr>
          <p:cNvSpPr>
            <a:spLocks noGrp="1"/>
          </p:cNvSpPr>
          <p:nvPr>
            <p:ph type="dt" sz="half" idx="10"/>
          </p:nvPr>
        </p:nvSpPr>
        <p:spPr/>
        <p:txBody>
          <a:bodyPr/>
          <a:lstStyle/>
          <a:p>
            <a:fld id="{FAAFA0BF-53B0-4A41-AA03-04F3AD19C0D9}" type="datetimeFigureOut">
              <a:rPr lang="en-IN" smtClean="0"/>
              <a:pPr/>
              <a:t>08-08-2024</a:t>
            </a:fld>
            <a:endParaRPr lang="en-IN"/>
          </a:p>
        </p:txBody>
      </p:sp>
      <p:sp>
        <p:nvSpPr>
          <p:cNvPr id="3" name="Footer Placeholder 2">
            <a:extLst>
              <a:ext uri="{FF2B5EF4-FFF2-40B4-BE49-F238E27FC236}">
                <a16:creationId xmlns:a16="http://schemas.microsoft.com/office/drawing/2014/main" xmlns="" id="{04D2A6DD-B06F-91BC-D295-3D76AB9B573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E0CC5D5E-700B-184F-1088-64C70D29DA87}"/>
              </a:ext>
            </a:extLst>
          </p:cNvPr>
          <p:cNvSpPr>
            <a:spLocks noGrp="1"/>
          </p:cNvSpPr>
          <p:nvPr>
            <p:ph type="sldNum" sz="quarter" idx="12"/>
          </p:nvPr>
        </p:nvSpPr>
        <p:spPr/>
        <p:txBody>
          <a:bodyPr/>
          <a:lstStyle/>
          <a:p>
            <a:fld id="{71C48888-BBE4-4AE5-9DAF-25E31DE8B870}" type="slidenum">
              <a:rPr lang="en-IN" smtClean="0"/>
              <a:pPr/>
              <a:t>‹#›</a:t>
            </a:fld>
            <a:endParaRPr lang="en-IN"/>
          </a:p>
        </p:txBody>
      </p:sp>
    </p:spTree>
    <p:extLst>
      <p:ext uri="{BB962C8B-B14F-4D97-AF65-F5344CB8AC3E}">
        <p14:creationId xmlns:p14="http://schemas.microsoft.com/office/powerpoint/2010/main" xmlns="" val="659960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40CDB7-A685-9B60-D189-644CF2D7AD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CA5B1B22-99BD-F560-5BBD-75CFD77DB7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4A54CC50-19C2-009D-CC41-880E927795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74C98B86-CEAC-71C8-2F7D-A6F70DBC5A9B}"/>
              </a:ext>
            </a:extLst>
          </p:cNvPr>
          <p:cNvSpPr>
            <a:spLocks noGrp="1"/>
          </p:cNvSpPr>
          <p:nvPr>
            <p:ph type="dt" sz="half" idx="10"/>
          </p:nvPr>
        </p:nvSpPr>
        <p:spPr/>
        <p:txBody>
          <a:bodyPr/>
          <a:lstStyle/>
          <a:p>
            <a:fld id="{FAAFA0BF-53B0-4A41-AA03-04F3AD19C0D9}" type="datetimeFigureOut">
              <a:rPr lang="en-IN" smtClean="0"/>
              <a:pPr/>
              <a:t>08-08-2024</a:t>
            </a:fld>
            <a:endParaRPr lang="en-IN"/>
          </a:p>
        </p:txBody>
      </p:sp>
      <p:sp>
        <p:nvSpPr>
          <p:cNvPr id="6" name="Footer Placeholder 5">
            <a:extLst>
              <a:ext uri="{FF2B5EF4-FFF2-40B4-BE49-F238E27FC236}">
                <a16:creationId xmlns:a16="http://schemas.microsoft.com/office/drawing/2014/main" xmlns="" id="{DC7A138A-56EA-E333-E845-56C9AD8FD6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03A7D4B0-D157-9BE5-CA08-9513089F3A83}"/>
              </a:ext>
            </a:extLst>
          </p:cNvPr>
          <p:cNvSpPr>
            <a:spLocks noGrp="1"/>
          </p:cNvSpPr>
          <p:nvPr>
            <p:ph type="sldNum" sz="quarter" idx="12"/>
          </p:nvPr>
        </p:nvSpPr>
        <p:spPr/>
        <p:txBody>
          <a:bodyPr/>
          <a:lstStyle/>
          <a:p>
            <a:fld id="{71C48888-BBE4-4AE5-9DAF-25E31DE8B870}" type="slidenum">
              <a:rPr lang="en-IN" smtClean="0"/>
              <a:pPr/>
              <a:t>‹#›</a:t>
            </a:fld>
            <a:endParaRPr lang="en-IN"/>
          </a:p>
        </p:txBody>
      </p:sp>
    </p:spTree>
    <p:extLst>
      <p:ext uri="{BB962C8B-B14F-4D97-AF65-F5344CB8AC3E}">
        <p14:creationId xmlns:p14="http://schemas.microsoft.com/office/powerpoint/2010/main" xmlns="" val="18653541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E17ED8-3526-7EDB-F38E-74253AC035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F0654E1B-04EA-7F44-1EE0-2AB3E673EC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D1217175-4080-5694-DD47-12D68F5FD3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810FBF84-CC42-270D-E0FA-D877238CA37A}"/>
              </a:ext>
            </a:extLst>
          </p:cNvPr>
          <p:cNvSpPr>
            <a:spLocks noGrp="1"/>
          </p:cNvSpPr>
          <p:nvPr>
            <p:ph type="dt" sz="half" idx="10"/>
          </p:nvPr>
        </p:nvSpPr>
        <p:spPr/>
        <p:txBody>
          <a:bodyPr/>
          <a:lstStyle/>
          <a:p>
            <a:fld id="{FAAFA0BF-53B0-4A41-AA03-04F3AD19C0D9}" type="datetimeFigureOut">
              <a:rPr lang="en-IN" smtClean="0"/>
              <a:pPr/>
              <a:t>08-08-2024</a:t>
            </a:fld>
            <a:endParaRPr lang="en-IN"/>
          </a:p>
        </p:txBody>
      </p:sp>
      <p:sp>
        <p:nvSpPr>
          <p:cNvPr id="6" name="Footer Placeholder 5">
            <a:extLst>
              <a:ext uri="{FF2B5EF4-FFF2-40B4-BE49-F238E27FC236}">
                <a16:creationId xmlns:a16="http://schemas.microsoft.com/office/drawing/2014/main" xmlns="" id="{A310EFC9-26C8-F847-07D0-C054A49335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52C8AF31-CBF5-E568-CC7C-59ADC9AB06AB}"/>
              </a:ext>
            </a:extLst>
          </p:cNvPr>
          <p:cNvSpPr>
            <a:spLocks noGrp="1"/>
          </p:cNvSpPr>
          <p:nvPr>
            <p:ph type="sldNum" sz="quarter" idx="12"/>
          </p:nvPr>
        </p:nvSpPr>
        <p:spPr/>
        <p:txBody>
          <a:bodyPr/>
          <a:lstStyle/>
          <a:p>
            <a:fld id="{71C48888-BBE4-4AE5-9DAF-25E31DE8B870}" type="slidenum">
              <a:rPr lang="en-IN" smtClean="0"/>
              <a:pPr/>
              <a:t>‹#›</a:t>
            </a:fld>
            <a:endParaRPr lang="en-IN"/>
          </a:p>
        </p:txBody>
      </p:sp>
    </p:spTree>
    <p:extLst>
      <p:ext uri="{BB962C8B-B14F-4D97-AF65-F5344CB8AC3E}">
        <p14:creationId xmlns:p14="http://schemas.microsoft.com/office/powerpoint/2010/main" xmlns="" val="361464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ECE70B-3DB8-3ED8-B4ED-E82C13688C6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A675085E-E71D-1A4C-93E6-BFC0641FD1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D6873DA-148A-FF6E-699F-4645151CAD4D}"/>
              </a:ext>
            </a:extLst>
          </p:cNvPr>
          <p:cNvSpPr>
            <a:spLocks noGrp="1"/>
          </p:cNvSpPr>
          <p:nvPr>
            <p:ph type="dt" sz="half" idx="10"/>
          </p:nvPr>
        </p:nvSpPr>
        <p:spPr/>
        <p:txBody>
          <a:bodyPr/>
          <a:lstStyle/>
          <a:p>
            <a:fld id="{FAAFA0BF-53B0-4A41-AA03-04F3AD19C0D9}" type="datetimeFigureOut">
              <a:rPr lang="en-IN" smtClean="0"/>
              <a:pPr/>
              <a:t>08-08-2024</a:t>
            </a:fld>
            <a:endParaRPr lang="en-IN"/>
          </a:p>
        </p:txBody>
      </p:sp>
      <p:sp>
        <p:nvSpPr>
          <p:cNvPr id="5" name="Footer Placeholder 4">
            <a:extLst>
              <a:ext uri="{FF2B5EF4-FFF2-40B4-BE49-F238E27FC236}">
                <a16:creationId xmlns:a16="http://schemas.microsoft.com/office/drawing/2014/main" xmlns="" id="{1BCED837-D87E-F3F0-AA25-E9ABE16F59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51BF7B27-AFC0-E7CA-2EE5-3850959456C4}"/>
              </a:ext>
            </a:extLst>
          </p:cNvPr>
          <p:cNvSpPr>
            <a:spLocks noGrp="1"/>
          </p:cNvSpPr>
          <p:nvPr>
            <p:ph type="sldNum" sz="quarter" idx="12"/>
          </p:nvPr>
        </p:nvSpPr>
        <p:spPr/>
        <p:txBody>
          <a:bodyPr/>
          <a:lstStyle/>
          <a:p>
            <a:fld id="{71C48888-BBE4-4AE5-9DAF-25E31DE8B870}" type="slidenum">
              <a:rPr lang="en-IN" smtClean="0"/>
              <a:pPr/>
              <a:t>‹#›</a:t>
            </a:fld>
            <a:endParaRPr lang="en-IN"/>
          </a:p>
        </p:txBody>
      </p:sp>
    </p:spTree>
    <p:extLst>
      <p:ext uri="{BB962C8B-B14F-4D97-AF65-F5344CB8AC3E}">
        <p14:creationId xmlns:p14="http://schemas.microsoft.com/office/powerpoint/2010/main" xmlns="" val="1732055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F6C876DB-5C3A-34D9-347B-37592C7952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85D5D1EF-947F-53E5-2CF1-B0B40EA659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509DD75D-9C19-186E-E625-D04C51117856}"/>
              </a:ext>
            </a:extLst>
          </p:cNvPr>
          <p:cNvSpPr>
            <a:spLocks noGrp="1"/>
          </p:cNvSpPr>
          <p:nvPr>
            <p:ph type="dt" sz="half" idx="10"/>
          </p:nvPr>
        </p:nvSpPr>
        <p:spPr/>
        <p:txBody>
          <a:bodyPr/>
          <a:lstStyle/>
          <a:p>
            <a:fld id="{FAAFA0BF-53B0-4A41-AA03-04F3AD19C0D9}" type="datetimeFigureOut">
              <a:rPr lang="en-IN" smtClean="0"/>
              <a:pPr/>
              <a:t>08-08-2024</a:t>
            </a:fld>
            <a:endParaRPr lang="en-IN"/>
          </a:p>
        </p:txBody>
      </p:sp>
      <p:sp>
        <p:nvSpPr>
          <p:cNvPr id="5" name="Footer Placeholder 4">
            <a:extLst>
              <a:ext uri="{FF2B5EF4-FFF2-40B4-BE49-F238E27FC236}">
                <a16:creationId xmlns:a16="http://schemas.microsoft.com/office/drawing/2014/main" xmlns="" id="{29849DCF-E7C5-9351-CC78-4CCA96163E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F807D815-2F1B-CEE2-40B8-8F08E4DECF29}"/>
              </a:ext>
            </a:extLst>
          </p:cNvPr>
          <p:cNvSpPr>
            <a:spLocks noGrp="1"/>
          </p:cNvSpPr>
          <p:nvPr>
            <p:ph type="sldNum" sz="quarter" idx="12"/>
          </p:nvPr>
        </p:nvSpPr>
        <p:spPr/>
        <p:txBody>
          <a:bodyPr/>
          <a:lstStyle/>
          <a:p>
            <a:fld id="{71C48888-BBE4-4AE5-9DAF-25E31DE8B870}" type="slidenum">
              <a:rPr lang="en-IN" smtClean="0"/>
              <a:pPr/>
              <a:t>‹#›</a:t>
            </a:fld>
            <a:endParaRPr lang="en-IN"/>
          </a:p>
        </p:txBody>
      </p:sp>
    </p:spTree>
    <p:extLst>
      <p:ext uri="{BB962C8B-B14F-4D97-AF65-F5344CB8AC3E}">
        <p14:creationId xmlns:p14="http://schemas.microsoft.com/office/powerpoint/2010/main" xmlns="" val="5512601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0B8B77DC-324E-A068-3F45-4011C06F5C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8F9007A8-179A-D83C-7BB9-8AC100A1DC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87077AFC-372A-573A-7B15-4AEF51AF0C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AFA0BF-53B0-4A41-AA03-04F3AD19C0D9}" type="datetimeFigureOut">
              <a:rPr lang="en-IN" smtClean="0"/>
              <a:pPr/>
              <a:t>08-08-2024</a:t>
            </a:fld>
            <a:endParaRPr lang="en-IN"/>
          </a:p>
        </p:txBody>
      </p:sp>
      <p:sp>
        <p:nvSpPr>
          <p:cNvPr id="5" name="Footer Placeholder 4">
            <a:extLst>
              <a:ext uri="{FF2B5EF4-FFF2-40B4-BE49-F238E27FC236}">
                <a16:creationId xmlns:a16="http://schemas.microsoft.com/office/drawing/2014/main" xmlns="" id="{C5E7AD52-C3DD-0EA9-EF90-374FFE4EFE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AC40C952-6EEF-0252-52AC-531BD5FC79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C48888-BBE4-4AE5-9DAF-25E31DE8B870}" type="slidenum">
              <a:rPr lang="en-IN" smtClean="0"/>
              <a:pPr/>
              <a:t>‹#›</a:t>
            </a:fld>
            <a:endParaRPr lang="en-IN"/>
          </a:p>
        </p:txBody>
      </p:sp>
    </p:spTree>
    <p:extLst>
      <p:ext uri="{BB962C8B-B14F-4D97-AF65-F5344CB8AC3E}">
        <p14:creationId xmlns:p14="http://schemas.microsoft.com/office/powerpoint/2010/main" xmlns="" val="12844606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video" Target="NULL" TargetMode="External"/><Relationship Id="rId5" Type="http://schemas.openxmlformats.org/officeDocument/2006/relationships/image" Target="../media/image3.png"/><Relationship Id="rId4" Type="http://schemas.microsoft.com/office/2007/relationships/media" Target="../media/media1.mp4"/></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s>
</file>

<file path=ppt/slides/_rels/slide2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video" Target="NULL" TargetMode="External"/><Relationship Id="rId6" Type="http://schemas.openxmlformats.org/officeDocument/2006/relationships/hyperlink" Target="https://www.youtube.com/watch?v=DI9Y24SKPEg" TargetMode="External"/><Relationship Id="rId5" Type="http://schemas.openxmlformats.org/officeDocument/2006/relationships/image" Target="../media/image17.png"/><Relationship Id="rId4" Type="http://schemas.microsoft.com/office/2007/relationships/media" Target="../media/media2.mp4"/></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1.jpeg"/><Relationship Id="rId4" Type="http://schemas.openxmlformats.org/officeDocument/2006/relationships/image" Target="../media/image20.jpeg"/></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7.jpeg"/><Relationship Id="rId4" Type="http://schemas.openxmlformats.org/officeDocument/2006/relationships/image" Target="../media/image26.jpeg"/></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ustomShape 1">
            <a:extLst>
              <a:ext uri="{FF2B5EF4-FFF2-40B4-BE49-F238E27FC236}">
                <a16:creationId xmlns:a16="http://schemas.microsoft.com/office/drawing/2014/main" xmlns="" id="{7BB71210-E5B5-E4A0-D562-5ACA4466EE0B}"/>
              </a:ext>
            </a:extLst>
          </p:cNvPr>
          <p:cNvSpPr>
            <a:spLocks noChangeArrowheads="1"/>
          </p:cNvSpPr>
          <p:nvPr/>
        </p:nvSpPr>
        <p:spPr bwMode="auto">
          <a:xfrm>
            <a:off x="4513264" y="2897189"/>
            <a:ext cx="7496175" cy="568325"/>
          </a:xfrm>
          <a:prstGeom prst="rect">
            <a:avLst/>
          </a:prstGeom>
          <a:noFill/>
          <a:ln>
            <a:noFill/>
          </a:ln>
        </p:spPr>
        <p:txBody>
          <a:bodyPr lIns="89977" tIns="44988" rIns="89977" bIns="44988"/>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r>
              <a:rPr lang="en-IN" altLang="en-US" sz="3199" b="1" dirty="0">
                <a:solidFill>
                  <a:srgbClr val="C55A11"/>
                </a:solidFill>
                <a:latin typeface="Calibri" panose="020F0502020204030204" pitchFamily="34" charset="0"/>
              </a:rPr>
              <a:t>ENVIRONMENTAL STUDIES &amp; LIFE SCIENCES</a:t>
            </a:r>
            <a:endParaRPr lang="en-US" altLang="en-US" sz="1600" dirty="0"/>
          </a:p>
        </p:txBody>
      </p:sp>
      <p:sp>
        <p:nvSpPr>
          <p:cNvPr id="15363" name="CustomShape 2">
            <a:extLst>
              <a:ext uri="{FF2B5EF4-FFF2-40B4-BE49-F238E27FC236}">
                <a16:creationId xmlns:a16="http://schemas.microsoft.com/office/drawing/2014/main" xmlns="" id="{2C80FD19-E4A0-1E4C-93F2-4ED85E36E8FD}"/>
              </a:ext>
            </a:extLst>
          </p:cNvPr>
          <p:cNvSpPr>
            <a:spLocks noChangeArrowheads="1"/>
          </p:cNvSpPr>
          <p:nvPr/>
        </p:nvSpPr>
        <p:spPr bwMode="auto">
          <a:xfrm>
            <a:off x="4668838" y="3827463"/>
            <a:ext cx="7494588" cy="457200"/>
          </a:xfrm>
          <a:prstGeom prst="rect">
            <a:avLst/>
          </a:prstGeom>
          <a:noFill/>
          <a:ln>
            <a:noFill/>
          </a:ln>
        </p:spPr>
        <p:txBody>
          <a:bodyPr lIns="89977" tIns="44988" rIns="89977" bIns="44988"/>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r>
              <a:rPr lang="en-IN" altLang="en-US" sz="2399" b="1" dirty="0" smtClean="0">
                <a:solidFill>
                  <a:srgbClr val="000000"/>
                </a:solidFill>
                <a:latin typeface="Calibri" panose="020F0502020204030204" pitchFamily="34" charset="0"/>
              </a:rPr>
              <a:t>Faculty Name</a:t>
            </a:r>
            <a:endParaRPr lang="en-US" altLang="en-US" sz="1799" dirty="0"/>
          </a:p>
        </p:txBody>
      </p:sp>
      <p:sp>
        <p:nvSpPr>
          <p:cNvPr id="15364" name="CustomShape 3">
            <a:extLst>
              <a:ext uri="{FF2B5EF4-FFF2-40B4-BE49-F238E27FC236}">
                <a16:creationId xmlns:a16="http://schemas.microsoft.com/office/drawing/2014/main" xmlns="" id="{8D114216-6600-8B35-6883-E7D47723FF32}"/>
              </a:ext>
            </a:extLst>
          </p:cNvPr>
          <p:cNvSpPr>
            <a:spLocks noChangeArrowheads="1"/>
          </p:cNvSpPr>
          <p:nvPr/>
        </p:nvSpPr>
        <p:spPr bwMode="auto">
          <a:xfrm>
            <a:off x="4668838" y="4186238"/>
            <a:ext cx="7494588" cy="455612"/>
          </a:xfrm>
          <a:prstGeom prst="rect">
            <a:avLst/>
          </a:prstGeom>
          <a:noFill/>
          <a:ln>
            <a:noFill/>
          </a:ln>
        </p:spPr>
        <p:txBody>
          <a:bodyPr lIns="89977" tIns="44988" rIns="89977" bIns="44988"/>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r>
              <a:rPr lang="en-IN" altLang="en-US" sz="2399" dirty="0">
                <a:solidFill>
                  <a:srgbClr val="000000"/>
                </a:solidFill>
                <a:latin typeface="Calibri" panose="020F0502020204030204" pitchFamily="34" charset="0"/>
              </a:rPr>
              <a:t>Department of Biotechnology</a:t>
            </a:r>
            <a:endParaRPr lang="en-US" altLang="en-US" sz="1799" dirty="0"/>
          </a:p>
        </p:txBody>
      </p:sp>
      <p:sp>
        <p:nvSpPr>
          <p:cNvPr id="15365" name="CustomShape 4">
            <a:extLst>
              <a:ext uri="{FF2B5EF4-FFF2-40B4-BE49-F238E27FC236}">
                <a16:creationId xmlns:a16="http://schemas.microsoft.com/office/drawing/2014/main" xmlns="" id="{80BAD9B2-930E-6BB8-6830-1CC97E9DC626}"/>
              </a:ext>
            </a:extLst>
          </p:cNvPr>
          <p:cNvSpPr>
            <a:spLocks noChangeArrowheads="1"/>
          </p:cNvSpPr>
          <p:nvPr/>
        </p:nvSpPr>
        <p:spPr bwMode="auto">
          <a:xfrm rot="5400000">
            <a:off x="826295" y="6009482"/>
            <a:ext cx="46037" cy="1066800"/>
          </a:xfrm>
          <a:prstGeom prst="rect">
            <a:avLst/>
          </a:prstGeom>
          <a:solidFill>
            <a:srgbClr val="C55A11"/>
          </a:solidFill>
          <a:ln>
            <a:noFill/>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n-IN" altLang="en-US" sz="1799" dirty="0"/>
          </a:p>
        </p:txBody>
      </p:sp>
      <p:sp>
        <p:nvSpPr>
          <p:cNvPr id="15366" name="CustomShape 5">
            <a:extLst>
              <a:ext uri="{FF2B5EF4-FFF2-40B4-BE49-F238E27FC236}">
                <a16:creationId xmlns:a16="http://schemas.microsoft.com/office/drawing/2014/main" xmlns="" id="{935CAB55-0EF7-6772-79AA-562666D72BB7}"/>
              </a:ext>
            </a:extLst>
          </p:cNvPr>
          <p:cNvSpPr>
            <a:spLocks noChangeArrowheads="1"/>
          </p:cNvSpPr>
          <p:nvPr/>
        </p:nvSpPr>
        <p:spPr bwMode="auto">
          <a:xfrm rot="10800000">
            <a:off x="315913" y="5489576"/>
            <a:ext cx="46038" cy="1065213"/>
          </a:xfrm>
          <a:prstGeom prst="rect">
            <a:avLst/>
          </a:prstGeom>
          <a:solidFill>
            <a:srgbClr val="C55A11"/>
          </a:solidFill>
          <a:ln>
            <a:noFill/>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n-IN" altLang="en-US" sz="1799" dirty="0"/>
          </a:p>
        </p:txBody>
      </p:sp>
      <p:sp>
        <p:nvSpPr>
          <p:cNvPr id="15367" name="Line 6">
            <a:extLst>
              <a:ext uri="{FF2B5EF4-FFF2-40B4-BE49-F238E27FC236}">
                <a16:creationId xmlns:a16="http://schemas.microsoft.com/office/drawing/2014/main" xmlns="" id="{05D40480-FBB6-7E60-B267-ABF0132B9F86}"/>
              </a:ext>
            </a:extLst>
          </p:cNvPr>
          <p:cNvSpPr>
            <a:spLocks noChangeShapeType="1"/>
          </p:cNvSpPr>
          <p:nvPr/>
        </p:nvSpPr>
        <p:spPr bwMode="auto">
          <a:xfrm flipV="1">
            <a:off x="4598988" y="3641725"/>
            <a:ext cx="7321550" cy="0"/>
          </a:xfrm>
          <a:prstGeom prst="line">
            <a:avLst/>
          </a:prstGeom>
          <a:noFill/>
          <a:ln w="38160">
            <a:solidFill>
              <a:srgbClr val="C55A11"/>
            </a:solidFill>
            <a:miter lim="800000"/>
            <a:headEnd/>
            <a:tailEnd/>
          </a:ln>
        </p:spPr>
        <p:txBody>
          <a:bodyPr/>
          <a:lstStyle/>
          <a:p>
            <a:pPr eaLnBrk="1" hangingPunct="1">
              <a:defRPr/>
            </a:pPr>
            <a:endParaRPr lang="en-IN" sz="2399" dirty="0"/>
          </a:p>
        </p:txBody>
      </p:sp>
      <p:sp>
        <p:nvSpPr>
          <p:cNvPr id="15369" name="CustomShape 7">
            <a:extLst>
              <a:ext uri="{FF2B5EF4-FFF2-40B4-BE49-F238E27FC236}">
                <a16:creationId xmlns:a16="http://schemas.microsoft.com/office/drawing/2014/main" xmlns="" id="{785A5F29-7B1B-8197-A323-83AA118709DA}"/>
              </a:ext>
            </a:extLst>
          </p:cNvPr>
          <p:cNvSpPr>
            <a:spLocks noChangeArrowheads="1"/>
          </p:cNvSpPr>
          <p:nvPr/>
        </p:nvSpPr>
        <p:spPr bwMode="auto">
          <a:xfrm rot="16200000">
            <a:off x="11364913" y="-242887"/>
            <a:ext cx="44450" cy="1066800"/>
          </a:xfrm>
          <a:prstGeom prst="rect">
            <a:avLst/>
          </a:prstGeom>
          <a:solidFill>
            <a:srgbClr val="C55A11"/>
          </a:solidFill>
          <a:ln>
            <a:noFill/>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n-IN" altLang="en-US" sz="1799" dirty="0"/>
          </a:p>
        </p:txBody>
      </p:sp>
      <p:sp>
        <p:nvSpPr>
          <p:cNvPr id="15370" name="CustomShape 8">
            <a:extLst>
              <a:ext uri="{FF2B5EF4-FFF2-40B4-BE49-F238E27FC236}">
                <a16:creationId xmlns:a16="http://schemas.microsoft.com/office/drawing/2014/main" xmlns="" id="{BF2007BA-B4BD-CA6A-04E7-28B3807F984E}"/>
              </a:ext>
            </a:extLst>
          </p:cNvPr>
          <p:cNvSpPr>
            <a:spLocks noChangeArrowheads="1"/>
          </p:cNvSpPr>
          <p:nvPr/>
        </p:nvSpPr>
        <p:spPr bwMode="auto">
          <a:xfrm>
            <a:off x="11874502" y="279401"/>
            <a:ext cx="46037" cy="1065213"/>
          </a:xfrm>
          <a:prstGeom prst="rect">
            <a:avLst/>
          </a:prstGeom>
          <a:solidFill>
            <a:srgbClr val="C55A11"/>
          </a:solidFill>
          <a:ln>
            <a:noFill/>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defRPr/>
            </a:pPr>
            <a:endParaRPr lang="en-IN" altLang="en-US" sz="1799" dirty="0"/>
          </a:p>
        </p:txBody>
      </p:sp>
      <p:sp>
        <p:nvSpPr>
          <p:cNvPr id="15371" name="TextShape 9">
            <a:extLst>
              <a:ext uri="{FF2B5EF4-FFF2-40B4-BE49-F238E27FC236}">
                <a16:creationId xmlns:a16="http://schemas.microsoft.com/office/drawing/2014/main" xmlns="" id="{A533C996-CD62-C97E-4A89-EF6698B04FB4}"/>
              </a:ext>
            </a:extLst>
          </p:cNvPr>
          <p:cNvSpPr txBox="1">
            <a:spLocks noChangeArrowheads="1"/>
          </p:cNvSpPr>
          <p:nvPr/>
        </p:nvSpPr>
        <p:spPr bwMode="auto">
          <a:xfrm>
            <a:off x="8610601" y="6356350"/>
            <a:ext cx="2741612" cy="363538"/>
          </a:xfrm>
          <a:prstGeom prst="rect">
            <a:avLst/>
          </a:prstGeom>
          <a:noFill/>
          <a:ln>
            <a:noFill/>
          </a:ln>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defRPr/>
            </a:pPr>
            <a:fld id="{65264807-1101-4DF9-8B12-6AC35AE6B07B}" type="slidenum">
              <a:rPr lang="en-IN" altLang="en-US" sz="1200">
                <a:solidFill>
                  <a:srgbClr val="8B8B8B"/>
                </a:solidFill>
                <a:latin typeface="Calibri" panose="020F0502020204030204" pitchFamily="34" charset="0"/>
              </a:rPr>
              <a:pPr algn="r" eaLnBrk="1" hangingPunct="1">
                <a:spcBef>
                  <a:spcPct val="0"/>
                </a:spcBef>
                <a:buFontTx/>
                <a:buNone/>
                <a:defRPr/>
              </a:pPr>
              <a:t>1</a:t>
            </a:fld>
            <a:endParaRPr lang="en-US" altLang="en-US" sz="1799" dirty="0"/>
          </a:p>
        </p:txBody>
      </p:sp>
      <p:pic>
        <p:nvPicPr>
          <p:cNvPr id="3083" name="Picture 1" descr="PESSAT - All India Online Entrance Exam for Admission to PES University">
            <a:extLst>
              <a:ext uri="{FF2B5EF4-FFF2-40B4-BE49-F238E27FC236}">
                <a16:creationId xmlns:a16="http://schemas.microsoft.com/office/drawing/2014/main" xmlns="" id="{FB645772-9CDF-7A98-5975-A793A27D350C}"/>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382714" y="2689225"/>
            <a:ext cx="3000375" cy="13668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PESSAT - All India Online Entrance Exam for Admission to PES University">
            <a:extLst>
              <a:ext uri="{FF2B5EF4-FFF2-40B4-BE49-F238E27FC236}">
                <a16:creationId xmlns:a16="http://schemas.microsoft.com/office/drawing/2014/main" xmlns="" id="{0CD8BEFF-4400-54F5-3942-BD87E13370F3}"/>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
        <p:nvSpPr>
          <p:cNvPr id="3" name="CustomShape 1">
            <a:extLst>
              <a:ext uri="{FF2B5EF4-FFF2-40B4-BE49-F238E27FC236}">
                <a16:creationId xmlns:a16="http://schemas.microsoft.com/office/drawing/2014/main" xmlns="" id="{62EC022B-2A70-9A85-C783-3A029C3DCC19}"/>
              </a:ext>
            </a:extLst>
          </p:cNvPr>
          <p:cNvSpPr>
            <a:spLocks noChangeArrowheads="1"/>
          </p:cNvSpPr>
          <p:nvPr/>
        </p:nvSpPr>
        <p:spPr bwMode="auto">
          <a:xfrm>
            <a:off x="314324" y="1938499"/>
            <a:ext cx="8627991" cy="6435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3600" b="1" dirty="0">
                <a:latin typeface="Calibri" panose="020F0502020204030204" pitchFamily="34" charset="0"/>
              </a:rPr>
              <a:t>ENVIRONMENTAL STUDIES &amp; LIFE SCIENCES</a:t>
            </a:r>
            <a:endParaRPr lang="en-IN" altLang="en-US" sz="1800" dirty="0"/>
          </a:p>
        </p:txBody>
      </p:sp>
      <p:sp>
        <p:nvSpPr>
          <p:cNvPr id="4" name="Line 7">
            <a:extLst>
              <a:ext uri="{FF2B5EF4-FFF2-40B4-BE49-F238E27FC236}">
                <a16:creationId xmlns:a16="http://schemas.microsoft.com/office/drawing/2014/main" xmlns="" id="{EDDE9008-935C-AE71-99BC-8654A53EB8D1}"/>
              </a:ext>
            </a:extLst>
          </p:cNvPr>
          <p:cNvSpPr>
            <a:spLocks noChangeShapeType="1"/>
          </p:cNvSpPr>
          <p:nvPr/>
        </p:nvSpPr>
        <p:spPr bwMode="auto">
          <a:xfrm flipV="1">
            <a:off x="-1" y="2665412"/>
            <a:ext cx="8856323" cy="0"/>
          </a:xfrm>
          <a:prstGeom prst="line">
            <a:avLst/>
          </a:prstGeom>
          <a:noFill/>
          <a:ln w="38160">
            <a:solidFill>
              <a:srgbClr val="DFA267"/>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5" name="CustomShape 2">
            <a:extLst>
              <a:ext uri="{FF2B5EF4-FFF2-40B4-BE49-F238E27FC236}">
                <a16:creationId xmlns:a16="http://schemas.microsoft.com/office/drawing/2014/main" xmlns="" id="{2166625D-DD76-7F3E-1337-7870B6CE0319}"/>
              </a:ext>
            </a:extLst>
          </p:cNvPr>
          <p:cNvSpPr>
            <a:spLocks noChangeArrowheads="1"/>
          </p:cNvSpPr>
          <p:nvPr/>
        </p:nvSpPr>
        <p:spPr bwMode="auto">
          <a:xfrm>
            <a:off x="355602" y="2787831"/>
            <a:ext cx="7496175" cy="7174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3600" b="1" dirty="0">
                <a:solidFill>
                  <a:schemeClr val="accent1">
                    <a:lumMod val="75000"/>
                  </a:schemeClr>
                </a:solidFill>
                <a:latin typeface="+mn-lt"/>
              </a:rPr>
              <a:t>Natural and man-made disasters</a:t>
            </a:r>
            <a:endParaRPr lang="en-US" altLang="en-US" sz="1600" b="1" dirty="0">
              <a:solidFill>
                <a:schemeClr val="accent1">
                  <a:lumMod val="75000"/>
                </a:schemeClr>
              </a:solidFill>
              <a:latin typeface="+mn-lt"/>
            </a:endParaRPr>
          </a:p>
        </p:txBody>
      </p:sp>
      <p:sp>
        <p:nvSpPr>
          <p:cNvPr id="6" name="CustomShape 3">
            <a:extLst>
              <a:ext uri="{FF2B5EF4-FFF2-40B4-BE49-F238E27FC236}">
                <a16:creationId xmlns:a16="http://schemas.microsoft.com/office/drawing/2014/main" xmlns="" id="{79C2F530-3774-639F-6550-89DF064BA04A}"/>
              </a:ext>
            </a:extLst>
          </p:cNvPr>
          <p:cNvSpPr>
            <a:spLocks noChangeArrowheads="1"/>
          </p:cNvSpPr>
          <p:nvPr/>
        </p:nvSpPr>
        <p:spPr bwMode="auto">
          <a:xfrm>
            <a:off x="598488" y="5489575"/>
            <a:ext cx="7497762" cy="455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smtClean="0">
                <a:solidFill>
                  <a:srgbClr val="000000"/>
                </a:solidFill>
                <a:latin typeface="Calibri" panose="020F0502020204030204" pitchFamily="34" charset="0"/>
              </a:rPr>
              <a:t>Faculty Name</a:t>
            </a:r>
            <a:endParaRPr lang="en-IN" altLang="en-US" sz="2400" dirty="0"/>
          </a:p>
        </p:txBody>
      </p:sp>
      <p:sp>
        <p:nvSpPr>
          <p:cNvPr id="7" name="CustomShape 4">
            <a:extLst>
              <a:ext uri="{FF2B5EF4-FFF2-40B4-BE49-F238E27FC236}">
                <a16:creationId xmlns:a16="http://schemas.microsoft.com/office/drawing/2014/main" xmlns="" id="{C38393F0-DC3C-D74E-91B8-6316E663FA05}"/>
              </a:ext>
            </a:extLst>
          </p:cNvPr>
          <p:cNvSpPr>
            <a:spLocks noChangeArrowheads="1"/>
          </p:cNvSpPr>
          <p:nvPr/>
        </p:nvSpPr>
        <p:spPr bwMode="auto">
          <a:xfrm>
            <a:off x="598488" y="5888038"/>
            <a:ext cx="7497762" cy="3952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000" dirty="0">
                <a:solidFill>
                  <a:srgbClr val="000000"/>
                </a:solidFill>
                <a:latin typeface="Calibri" panose="020F0502020204030204" pitchFamily="34" charset="0"/>
              </a:rPr>
              <a:t>Department of Biotechnology</a:t>
            </a:r>
            <a:endParaRPr lang="en-US" altLang="en-US" sz="1800" dirty="0"/>
          </a:p>
        </p:txBody>
      </p:sp>
      <p:sp>
        <p:nvSpPr>
          <p:cNvPr id="8" name="CustomShape 6">
            <a:extLst>
              <a:ext uri="{FF2B5EF4-FFF2-40B4-BE49-F238E27FC236}">
                <a16:creationId xmlns:a16="http://schemas.microsoft.com/office/drawing/2014/main" xmlns="" id="{2EF1BECF-FA2F-E9EA-C6DE-0F074760ABD5}"/>
              </a:ext>
            </a:extLst>
          </p:cNvPr>
          <p:cNvSpPr>
            <a:spLocks noChangeArrowheads="1"/>
          </p:cNvSpPr>
          <p:nvPr/>
        </p:nvSpPr>
        <p:spPr bwMode="auto">
          <a:xfrm rot="10800000">
            <a:off x="314325" y="5489575"/>
            <a:ext cx="46038" cy="1066800"/>
          </a:xfrm>
          <a:prstGeom prst="rect">
            <a:avLst/>
          </a:prstGeom>
          <a:solidFill>
            <a:srgbClr val="F4B183"/>
          </a:solidFill>
          <a:ln>
            <a:noFill/>
          </a:ln>
          <a:extLst>
            <a:ext uri="{91240B29-F687-4F45-9708-019B960494DF}">
              <a14:hiddenLine xmlns:a14="http://schemas.microsoft.com/office/drawing/2010/main" xmlns="" w="12600">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IN" altLang="en-US" sz="1800"/>
          </a:p>
        </p:txBody>
      </p:sp>
      <p:sp>
        <p:nvSpPr>
          <p:cNvPr id="9" name="CustomShape 5">
            <a:extLst>
              <a:ext uri="{FF2B5EF4-FFF2-40B4-BE49-F238E27FC236}">
                <a16:creationId xmlns:a16="http://schemas.microsoft.com/office/drawing/2014/main" xmlns="" id="{D6A413C7-20DA-12AC-B410-C867484479B2}"/>
              </a:ext>
            </a:extLst>
          </p:cNvPr>
          <p:cNvSpPr>
            <a:spLocks noChangeArrowheads="1"/>
          </p:cNvSpPr>
          <p:nvPr/>
        </p:nvSpPr>
        <p:spPr bwMode="auto">
          <a:xfrm rot="5400000">
            <a:off x="824706" y="6011069"/>
            <a:ext cx="46038" cy="1066800"/>
          </a:xfrm>
          <a:prstGeom prst="rect">
            <a:avLst/>
          </a:prstGeom>
          <a:solidFill>
            <a:srgbClr val="F4B183"/>
          </a:solidFill>
          <a:ln>
            <a:noFill/>
          </a:ln>
          <a:extLst>
            <a:ext uri="{91240B29-F687-4F45-9708-019B960494DF}">
              <a14:hiddenLine xmlns:a14="http://schemas.microsoft.com/office/drawing/2010/main" xmlns="" w="12600">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IN" altLang="en-US" sz="1800"/>
          </a:p>
        </p:txBody>
      </p:sp>
    </p:spTree>
    <p:extLst>
      <p:ext uri="{BB962C8B-B14F-4D97-AF65-F5344CB8AC3E}">
        <p14:creationId xmlns:p14="http://schemas.microsoft.com/office/powerpoint/2010/main" xmlns="" val="3131151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3</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400107"/>
            <a:ext cx="8069298" cy="28050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0"/>
              </a:spcBef>
            </a:pPr>
            <a:r>
              <a:rPr lang="en-US" altLang="en-US" sz="2400" dirty="0">
                <a:latin typeface="Calibri" panose="020F0502020204030204" pitchFamily="34" charset="0"/>
              </a:rPr>
              <a:t>A Disaster is a serious disruption of the functioning of a society involving widespread human, material, economic or environmental losses &amp; impacts which exceeds the ability of the affected community or society to cope using it’s own resources</a:t>
            </a:r>
            <a:endParaRPr lang="en-IN" alt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graphicFrame>
        <p:nvGraphicFramePr>
          <p:cNvPr id="3" name="Diagram 2">
            <a:extLst>
              <a:ext uri="{FF2B5EF4-FFF2-40B4-BE49-F238E27FC236}">
                <a16:creationId xmlns:a16="http://schemas.microsoft.com/office/drawing/2014/main" xmlns="" id="{D8EB7958-D984-8771-2717-DB871DFD7835}"/>
              </a:ext>
            </a:extLst>
          </p:cNvPr>
          <p:cNvGraphicFramePr/>
          <p:nvPr>
            <p:extLst>
              <p:ext uri="{D42A27DB-BD31-4B8C-83A1-F6EECF244321}">
                <p14:modId xmlns:p14="http://schemas.microsoft.com/office/powerpoint/2010/main" xmlns="" val="1870679916"/>
              </p:ext>
            </p:extLst>
          </p:nvPr>
        </p:nvGraphicFramePr>
        <p:xfrm>
          <a:off x="1837520" y="4007505"/>
          <a:ext cx="5621518" cy="25314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4</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44747" y="1264667"/>
            <a:ext cx="8069298" cy="55750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0"/>
              </a:spcBef>
            </a:pPr>
            <a:r>
              <a:rPr lang="en-US" sz="2400" b="1" dirty="0">
                <a:solidFill>
                  <a:schemeClr val="accent1">
                    <a:lumMod val="75000"/>
                  </a:schemeClr>
                </a:solidFill>
                <a:latin typeface="Calibri" panose="020F0502020204030204" pitchFamily="34" charset="0"/>
              </a:rPr>
              <a:t>Natural disasters</a:t>
            </a:r>
          </a:p>
          <a:p>
            <a:pPr algn="just" eaLnBrk="1" hangingPunct="1">
              <a:lnSpc>
                <a:spcPct val="150000"/>
              </a:lnSpc>
              <a:spcBef>
                <a:spcPct val="0"/>
              </a:spcBef>
            </a:pPr>
            <a:r>
              <a:rPr lang="en-US" sz="2400" dirty="0">
                <a:latin typeface="Calibri" panose="020F0502020204030204" pitchFamily="34" charset="0"/>
              </a:rPr>
              <a:t>Any calamitous occurrence generated by the effects of natural, rather than human-driven, phenomena that produces great loss of human life or destruction of the natural environment, private property, or public infrastructure</a:t>
            </a:r>
          </a:p>
          <a:p>
            <a:pPr algn="just" eaLnBrk="1" hangingPunct="1">
              <a:lnSpc>
                <a:spcPct val="150000"/>
              </a:lnSpc>
              <a:spcBef>
                <a:spcPct val="0"/>
              </a:spcBef>
            </a:pPr>
            <a:r>
              <a:rPr lang="en-US" sz="2400" dirty="0">
                <a:latin typeface="Calibri" panose="020F0502020204030204" pitchFamily="34" charset="0"/>
              </a:rPr>
              <a:t>A natural disaster may be caused by weather and climate events or by earthquakes, landslides, and other occurrences that originate at Earth’s surface or within the planet itself. </a:t>
            </a:r>
            <a:endParaRPr lang="en-IN" alt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11444620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5</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400107"/>
            <a:ext cx="8069298" cy="502105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0"/>
              </a:spcBef>
            </a:pPr>
            <a:r>
              <a:rPr lang="en-US" sz="2400" dirty="0">
                <a:latin typeface="Calibri" panose="020F0502020204030204" pitchFamily="34" charset="0"/>
              </a:rPr>
              <a:t>The </a:t>
            </a:r>
            <a:r>
              <a:rPr lang="en-US" sz="2400" dirty="0">
                <a:solidFill>
                  <a:schemeClr val="accent1">
                    <a:lumMod val="75000"/>
                  </a:schemeClr>
                </a:solidFill>
                <a:latin typeface="Calibri" panose="020F0502020204030204" pitchFamily="34" charset="0"/>
              </a:rPr>
              <a:t>World Meteorological Organization (WMO)</a:t>
            </a:r>
            <a:r>
              <a:rPr lang="en-US" sz="2400" dirty="0">
                <a:latin typeface="Calibri" panose="020F0502020204030204" pitchFamily="34" charset="0"/>
              </a:rPr>
              <a:t>—a United Nations (UN) agency, monitors Earth’s land, water, and atmosphere</a:t>
            </a:r>
          </a:p>
          <a:p>
            <a:pPr algn="just" eaLnBrk="1" hangingPunct="1">
              <a:lnSpc>
                <a:spcPct val="150000"/>
              </a:lnSpc>
              <a:spcBef>
                <a:spcPct val="0"/>
              </a:spcBef>
            </a:pPr>
            <a:r>
              <a:rPr lang="en-US" sz="2400" dirty="0">
                <a:latin typeface="Calibri" panose="020F0502020204030204" pitchFamily="34" charset="0"/>
              </a:rPr>
              <a:t>Though many natural disasters are neither preventable nor largely predictable, the WMO report notes that global warming is increasing the frequency of weather- and climate-related natural disasters, such as droughts, heat waves, increasingly intense hurricanes, and flooding due to sea-level rise. </a:t>
            </a:r>
            <a:endParaRPr lang="en-IN" alt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46372163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6</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408554"/>
            <a:ext cx="8069298" cy="502105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0"/>
              </a:spcBef>
            </a:pPr>
            <a:r>
              <a:rPr lang="en-US" sz="2400" dirty="0">
                <a:latin typeface="Calibri" panose="020F0502020204030204" pitchFamily="34" charset="0"/>
              </a:rPr>
              <a:t>Warmer temperatures are causing more extreme weather events by delivering more precipitation to some areas while delivering less to other areas that rely on it, increasing drought risk. </a:t>
            </a:r>
          </a:p>
          <a:p>
            <a:pPr algn="just" eaLnBrk="1" hangingPunct="1">
              <a:lnSpc>
                <a:spcPct val="150000"/>
              </a:lnSpc>
              <a:spcBef>
                <a:spcPct val="0"/>
              </a:spcBef>
            </a:pPr>
            <a:r>
              <a:rPr lang="en-US" sz="2400" dirty="0">
                <a:latin typeface="Calibri" panose="020F0502020204030204" pitchFamily="34" charset="0"/>
              </a:rPr>
              <a:t>Sources of rainfall, such as the South Asian monsoon, on which agriculture of the Indian subcontinent has long depended, are becoming less predictable, and rain events have become more violent and dangerous, damaging crops and producing more intense flooding. </a:t>
            </a:r>
            <a:endParaRPr lang="en-IN" alt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35492245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7</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393272"/>
            <a:ext cx="8069298" cy="502105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12700" indent="0" algn="just" eaLnBrk="1" hangingPunct="1">
              <a:lnSpc>
                <a:spcPct val="150000"/>
              </a:lnSpc>
              <a:spcBef>
                <a:spcPct val="0"/>
              </a:spcBef>
              <a:buNone/>
            </a:pPr>
            <a:r>
              <a:rPr lang="en-US" altLang="en-US" sz="2400" dirty="0">
                <a:solidFill>
                  <a:schemeClr val="accent1">
                    <a:lumMod val="75000"/>
                  </a:schemeClr>
                </a:solidFill>
                <a:latin typeface="Calibri" panose="020F0502020204030204" pitchFamily="34" charset="0"/>
              </a:rPr>
              <a:t>1. Earthquake</a:t>
            </a:r>
          </a:p>
          <a:p>
            <a:pPr algn="just" eaLnBrk="1" hangingPunct="1">
              <a:lnSpc>
                <a:spcPct val="150000"/>
              </a:lnSpc>
              <a:spcBef>
                <a:spcPct val="0"/>
              </a:spcBef>
            </a:pPr>
            <a:r>
              <a:rPr lang="en-US" altLang="en-US" sz="2400" dirty="0">
                <a:latin typeface="Calibri" panose="020F0502020204030204" pitchFamily="34" charset="0"/>
              </a:rPr>
              <a:t>An earthquake is the result of a </a:t>
            </a:r>
            <a:r>
              <a:rPr lang="en-US" altLang="en-US" sz="2400" b="1" dirty="0">
                <a:latin typeface="Calibri" panose="020F0502020204030204" pitchFamily="34" charset="0"/>
              </a:rPr>
              <a:t>sudden release of energy </a:t>
            </a:r>
            <a:r>
              <a:rPr lang="en-US" altLang="en-US" sz="2400" dirty="0">
                <a:latin typeface="Calibri" panose="020F0502020204030204" pitchFamily="34" charset="0"/>
              </a:rPr>
              <a:t>in Earth's crust that creates seismic waves.</a:t>
            </a:r>
          </a:p>
          <a:p>
            <a:pPr algn="just" eaLnBrk="1" hangingPunct="1">
              <a:lnSpc>
                <a:spcPct val="150000"/>
              </a:lnSpc>
              <a:spcBef>
                <a:spcPct val="0"/>
              </a:spcBef>
            </a:pPr>
            <a:r>
              <a:rPr lang="en-US" altLang="en-US" sz="2400" dirty="0">
                <a:latin typeface="Calibri" panose="020F0502020204030204" pitchFamily="34" charset="0"/>
              </a:rPr>
              <a:t>At the Earth's surface, earthquakes manifest themselves by shaking &amp; sometimes displacement of the ground.</a:t>
            </a:r>
          </a:p>
          <a:p>
            <a:pPr algn="just" eaLnBrk="1" hangingPunct="1">
              <a:lnSpc>
                <a:spcPct val="150000"/>
              </a:lnSpc>
              <a:spcBef>
                <a:spcPct val="0"/>
              </a:spcBef>
            </a:pPr>
            <a:r>
              <a:rPr lang="en-US" altLang="en-US" sz="2400" b="1" dirty="0">
                <a:latin typeface="Calibri" panose="020F0502020204030204" pitchFamily="34" charset="0"/>
              </a:rPr>
              <a:t>Seismic activity </a:t>
            </a:r>
            <a:r>
              <a:rPr lang="en-US" altLang="en-US" sz="2400" dirty="0">
                <a:latin typeface="Calibri" panose="020F0502020204030204" pitchFamily="34" charset="0"/>
              </a:rPr>
              <a:t>of an area refers to the frequency, type &amp; size of earthquakes experienced over a period of time &amp; are measured using </a:t>
            </a:r>
            <a:r>
              <a:rPr lang="en-US" altLang="en-US" sz="2400" b="1" dirty="0">
                <a:latin typeface="Calibri" panose="020F0502020204030204" pitchFamily="34" charset="0"/>
              </a:rPr>
              <a:t>seismometers</a:t>
            </a:r>
            <a:r>
              <a:rPr lang="en-US" altLang="en-US" sz="2400" dirty="0">
                <a:latin typeface="Calibri" panose="020F0502020204030204" pitchFamily="34" charset="0"/>
              </a:rPr>
              <a:t>. The</a:t>
            </a:r>
            <a:r>
              <a:rPr lang="en-IN" altLang="en-US" sz="2400" dirty="0">
                <a:latin typeface="Calibri" panose="020F0502020204030204" pitchFamily="34" charset="0"/>
              </a:rPr>
              <a:t> moment magnitude is expressed in terms of </a:t>
            </a:r>
            <a:r>
              <a:rPr lang="en-IN" altLang="en-US" sz="2400" b="1" dirty="0">
                <a:latin typeface="Calibri" panose="020F0502020204030204" pitchFamily="34" charset="0"/>
              </a:rPr>
              <a:t>Richter scale.</a:t>
            </a:r>
            <a:endParaRPr lang="en-US" altLang="en-US" sz="2400" b="1"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10168722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Line 2"/>
          <p:cNvSpPr>
            <a:spLocks noChangeShapeType="1"/>
          </p:cNvSpPr>
          <p:nvPr/>
        </p:nvSpPr>
        <p:spPr bwMode="auto">
          <a:xfrm>
            <a:off x="0" y="1101909"/>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31749"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a:t>
            </a:r>
            <a:r>
              <a:rPr lang="en-IN" altLang="en-US" sz="2400" b="1" dirty="0" smtClean="0">
                <a:solidFill>
                  <a:schemeClr val="accent1">
                    <a:lumMod val="75000"/>
                  </a:schemeClr>
                </a:solidFill>
                <a:latin typeface="Calibri" panose="020F0502020204030204" pitchFamily="34" charset="0"/>
              </a:rPr>
              <a:t>SCIENCES</a:t>
            </a:r>
          </a:p>
          <a:p>
            <a:pPr>
              <a:spcBef>
                <a:spcPct val="0"/>
              </a:spcBef>
              <a:buNone/>
            </a:pPr>
            <a:r>
              <a:rPr lang="en-IN" altLang="en-US" sz="2400" b="1" dirty="0" smtClean="0">
                <a:solidFill>
                  <a:srgbClr val="C55A11"/>
                </a:solidFill>
                <a:latin typeface="Calibri" panose="020F0502020204030204" pitchFamily="34" charset="0"/>
              </a:rPr>
              <a:t>Natural and man-made disasters</a:t>
            </a:r>
            <a:endParaRPr lang="en-US" altLang="en-US" sz="1800" dirty="0" smtClean="0"/>
          </a:p>
          <a:p>
            <a:pPr eaLnBrk="1" hangingPunct="1">
              <a:spcBef>
                <a:spcPct val="0"/>
              </a:spcBef>
              <a:buFontTx/>
              <a:buNone/>
            </a:pPr>
            <a:endParaRPr lang="en-IN" altLang="en-US" sz="2400" b="1" dirty="0" smtClean="0">
              <a:solidFill>
                <a:schemeClr val="accent1">
                  <a:lumMod val="75000"/>
                </a:schemeClr>
              </a:solidFill>
              <a:latin typeface="Calibri" panose="020F0502020204030204" pitchFamily="34" charset="0"/>
            </a:endParaRPr>
          </a:p>
          <a:p>
            <a:pPr eaLnBrk="1" hangingPunct="1">
              <a:spcBef>
                <a:spcPct val="0"/>
              </a:spcBef>
              <a:buFontTx/>
              <a:buNone/>
            </a:pPr>
            <a:endParaRPr lang="en-IN" altLang="en-US" sz="1200" dirty="0">
              <a:solidFill>
                <a:schemeClr val="accent1">
                  <a:lumMod val="75000"/>
                </a:schemeClr>
              </a:solidFill>
            </a:endParaRPr>
          </a:p>
        </p:txBody>
      </p:sp>
      <p:sp>
        <p:nvSpPr>
          <p:cNvPr id="31750"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44217B77-E45E-421F-9D51-B07620FBC222}" type="slidenum">
              <a:rPr lang="en-IN" altLang="en-US" sz="1200">
                <a:solidFill>
                  <a:srgbClr val="8B8B8B"/>
                </a:solidFill>
                <a:latin typeface="Calibri" panose="020F0502020204030204" pitchFamily="34" charset="0"/>
              </a:rPr>
              <a:pPr algn="r" eaLnBrk="1" hangingPunct="1">
                <a:spcBef>
                  <a:spcPct val="0"/>
                </a:spcBef>
                <a:buFontTx/>
                <a:buNone/>
              </a:pPr>
              <a:t>8</a:t>
            </a:fld>
            <a:endParaRPr lang="en-US" altLang="en-US" sz="1800"/>
          </a:p>
        </p:txBody>
      </p:sp>
      <p:pic>
        <p:nvPicPr>
          <p:cNvPr id="2" name="Picture 4" descr="PESSAT - All India Online Entrance Exam for Admission to PES University">
            <a:extLst>
              <a:ext uri="{FF2B5EF4-FFF2-40B4-BE49-F238E27FC236}">
                <a16:creationId xmlns:a16="http://schemas.microsoft.com/office/drawing/2014/main" xmlns="" id="{FF7EBF21-E3F7-6552-2A5F-9BFB5841F0F2}"/>
              </a:ext>
            </a:extLst>
          </p:cNvPr>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
        <p:nvSpPr>
          <p:cNvPr id="3" name="TextBox 2">
            <a:extLst>
              <a:ext uri="{FF2B5EF4-FFF2-40B4-BE49-F238E27FC236}">
                <a16:creationId xmlns:a16="http://schemas.microsoft.com/office/drawing/2014/main" xmlns="" id="{A9FDD583-CF2A-B9CE-CCD0-F133C5D7831D}"/>
              </a:ext>
            </a:extLst>
          </p:cNvPr>
          <p:cNvSpPr txBox="1"/>
          <p:nvPr/>
        </p:nvSpPr>
        <p:spPr>
          <a:xfrm>
            <a:off x="348322" y="6474782"/>
            <a:ext cx="3953945" cy="261610"/>
          </a:xfrm>
          <a:prstGeom prst="rect">
            <a:avLst/>
          </a:prstGeom>
          <a:noFill/>
        </p:spPr>
        <p:txBody>
          <a:bodyPr wrap="square" rtlCol="0">
            <a:spAutoFit/>
          </a:bodyPr>
          <a:lstStyle/>
          <a:p>
            <a:r>
              <a:rPr lang="en-IN" sz="1100" i="1" dirty="0"/>
              <a:t>You tube videos</a:t>
            </a:r>
            <a:endParaRPr lang="en-IN" i="1" dirty="0"/>
          </a:p>
        </p:txBody>
      </p:sp>
      <p:pic>
        <p:nvPicPr>
          <p:cNvPr id="5" name="Seismograph">
            <a:hlinkClick r:id="" action="ppaction://media"/>
            <a:extLst>
              <a:ext uri="{FF2B5EF4-FFF2-40B4-BE49-F238E27FC236}">
                <a16:creationId xmlns:a16="http://schemas.microsoft.com/office/drawing/2014/main" xmlns="" id="{46BF13B8-9BBC-EE85-85F7-9BAAE07FFDD5}"/>
              </a:ext>
            </a:extLst>
          </p:cNvPr>
          <p:cNvPicPr>
            <a:picLocks noChangeAspect="1"/>
          </p:cNvPicPr>
          <p:nvPr>
            <a:videoFile r:link="rId1"/>
            <p:extLst>
              <p:ext uri="{DAA4B4D4-6D71-4841-9C94-3DE7FCFB9230}">
                <p14:media xmlns:p14="http://schemas.microsoft.com/office/powerpoint/2010/main" xmlns="" r:embed="rId4"/>
              </p:ext>
            </p:extLst>
          </p:nvPr>
        </p:nvPicPr>
        <p:blipFill rotWithShape="1">
          <a:blip r:embed="rId5"/>
          <a:srcRect l="5001" r="8083" b="9374"/>
          <a:stretch/>
        </p:blipFill>
        <p:spPr>
          <a:xfrm>
            <a:off x="482885" y="1423875"/>
            <a:ext cx="8015214" cy="4700990"/>
          </a:xfrm>
          <a:prstGeom prst="rect">
            <a:avLst/>
          </a:prstGeom>
        </p:spPr>
      </p:pic>
    </p:spTree>
    <p:extLst>
      <p:ext uri="{BB962C8B-B14F-4D97-AF65-F5344CB8AC3E}">
        <p14:creationId xmlns:p14="http://schemas.microsoft.com/office/powerpoint/2010/main" xmlns="" val="4107832787"/>
      </p:ext>
    </p:extLst>
  </p:cSld>
  <p:clrMapOvr>
    <a:masterClrMapping/>
  </p:clrMapOvr>
  <p:timing>
    <p:tnLst>
      <p:par>
        <p:cTn id="1" dur="indefinite" restart="never" nodeType="tmRoot">
          <p:childTnLst>
            <p:seq>
              <p:cTn id="2"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173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9</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412875"/>
            <a:ext cx="8202862" cy="51687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150000"/>
              </a:lnSpc>
            </a:pPr>
            <a:r>
              <a:rPr lang="en-US" sz="2400" dirty="0">
                <a:latin typeface="Calibri" panose="020F0502020204030204" pitchFamily="34" charset="0"/>
              </a:rPr>
              <a:t>Gujarat was hit by the worst earthquake of 21</a:t>
            </a:r>
            <a:r>
              <a:rPr lang="en-US" sz="2400" baseline="30000" dirty="0">
                <a:latin typeface="Calibri" panose="020F0502020204030204" pitchFamily="34" charset="0"/>
              </a:rPr>
              <a:t>st</a:t>
            </a:r>
            <a:r>
              <a:rPr lang="en-US" sz="2400" dirty="0">
                <a:latin typeface="Calibri" panose="020F0502020204030204" pitchFamily="34" charset="0"/>
              </a:rPr>
              <a:t> century in India on January 26, 2001 of magnitude 7.7 and it lasted for two minutes. </a:t>
            </a:r>
          </a:p>
          <a:p>
            <a:pPr algn="just">
              <a:lnSpc>
                <a:spcPct val="150000"/>
              </a:lnSpc>
            </a:pPr>
            <a:r>
              <a:rPr lang="en-US" sz="2400" dirty="0">
                <a:latin typeface="Calibri" panose="020F0502020204030204" pitchFamily="34" charset="0"/>
              </a:rPr>
              <a:t>A large-scale devastation occurred in several towns and villages. Bhuj was among the worst-affected areas as it was close to the epicenter.</a:t>
            </a:r>
          </a:p>
          <a:p>
            <a:pPr>
              <a:lnSpc>
                <a:spcPct val="150000"/>
              </a:lnSpc>
            </a:pPr>
            <a:r>
              <a:rPr lang="en-US" sz="2400" dirty="0">
                <a:latin typeface="Calibri" panose="020F0502020204030204" pitchFamily="34" charset="0"/>
              </a:rPr>
              <a:t>It is also called as the Bhuj earthquake. Around 18,600 people died and 1,67,000 were injured. Nearly 1.2 million houses were damaged. </a:t>
            </a:r>
            <a:r>
              <a:rPr lang="en-US" sz="1400" dirty="0">
                <a:latin typeface="Calibri" panose="020F0502020204030204" pitchFamily="34" charset="0"/>
              </a:rPr>
              <a:t>(National Information Centre of Earthquake Engineering, IIT Kanpur, INDIA)</a:t>
            </a: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3219759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a:t>
            </a:r>
            <a:r>
              <a:rPr lang="en-IN" altLang="en-US" sz="2400" b="1" dirty="0" smtClean="0">
                <a:solidFill>
                  <a:schemeClr val="accent1">
                    <a:lumMod val="75000"/>
                  </a:schemeClr>
                </a:solidFill>
                <a:latin typeface="Calibri" panose="020F0502020204030204" pitchFamily="34" charset="0"/>
              </a:rPr>
              <a:t>SCIENCES</a:t>
            </a:r>
          </a:p>
          <a:p>
            <a:pPr>
              <a:spcBef>
                <a:spcPct val="0"/>
              </a:spcBef>
              <a:buNone/>
            </a:pPr>
            <a:r>
              <a:rPr lang="en-IN" altLang="en-US" sz="2400" b="1" dirty="0" smtClean="0">
                <a:solidFill>
                  <a:srgbClr val="C55A11"/>
                </a:solidFill>
                <a:latin typeface="Calibri" panose="020F0502020204030204" pitchFamily="34" charset="0"/>
              </a:rPr>
              <a:t>Natural and man-made disasters</a:t>
            </a:r>
            <a:endParaRPr lang="en-US" altLang="en-US" sz="1800" dirty="0" smtClean="0"/>
          </a:p>
          <a:p>
            <a:pPr eaLnBrk="1" hangingPunct="1">
              <a:spcBef>
                <a:spcPct val="0"/>
              </a:spcBef>
              <a:buFontTx/>
              <a:buNone/>
            </a:pPr>
            <a:endParaRPr lang="en-IN" altLang="en-US" sz="2400" b="1" dirty="0" smtClean="0">
              <a:solidFill>
                <a:schemeClr val="accent1">
                  <a:lumMod val="75000"/>
                </a:schemeClr>
              </a:solidFill>
              <a:latin typeface="Calibri" panose="020F0502020204030204" pitchFamily="34" charset="0"/>
            </a:endParaRPr>
          </a:p>
          <a:p>
            <a:pPr eaLnBrk="1" hangingPunct="1">
              <a:spcBef>
                <a:spcPct val="0"/>
              </a:spcBef>
              <a:buFontTx/>
              <a:buNone/>
            </a:pP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10</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pic>
        <p:nvPicPr>
          <p:cNvPr id="1030" name="Picture 6" descr="ISR prepares district-level earthquake ...">
            <a:extLst>
              <a:ext uri="{FF2B5EF4-FFF2-40B4-BE49-F238E27FC236}">
                <a16:creationId xmlns:a16="http://schemas.microsoft.com/office/drawing/2014/main" xmlns="" id="{3FF12CD6-D9C9-D90F-96B8-69CD1103984B}"/>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7186212" y="1868767"/>
            <a:ext cx="3854450" cy="3114396"/>
          </a:xfrm>
          <a:prstGeom prst="rect">
            <a:avLst/>
          </a:prstGeom>
          <a:noFill/>
          <a:extLst>
            <a:ext uri="{909E8E84-426E-40DD-AFC4-6F175D3DCCD1}">
              <a14:hiddenFill xmlns:a14="http://schemas.microsoft.com/office/drawing/2010/main" xmlns="">
                <a:solidFill>
                  <a:srgbClr val="FFFFFF"/>
                </a:solidFill>
              </a14:hiddenFill>
            </a:ext>
          </a:extLst>
        </p:spPr>
      </p:pic>
      <p:pic>
        <p:nvPicPr>
          <p:cNvPr id="1032" name="Picture 8" descr="2001 Gujarat earthquake ...">
            <a:extLst>
              <a:ext uri="{FF2B5EF4-FFF2-40B4-BE49-F238E27FC236}">
                <a16:creationId xmlns:a16="http://schemas.microsoft.com/office/drawing/2014/main" xmlns="" id="{5857F0DE-D5FF-7671-FD5A-3AF628B9056A}"/>
              </a:ext>
            </a:extLst>
          </p:cNvPr>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334963" y="2570164"/>
            <a:ext cx="6464019" cy="2412999"/>
          </a:xfrm>
          <a:prstGeom prst="rect">
            <a:avLst/>
          </a:prstGeom>
          <a:noFill/>
          <a:extLst>
            <a:ext uri="{909E8E84-426E-40DD-AFC4-6F175D3DCCD1}">
              <a14:hiddenFill xmlns:a14="http://schemas.microsoft.com/office/drawing/2010/main" xmlns="">
                <a:solidFill>
                  <a:srgbClr val="FFFFFF"/>
                </a:solidFill>
              </a14:hiddenFill>
            </a:ext>
          </a:extLst>
        </p:spPr>
      </p:pic>
      <p:sp>
        <p:nvSpPr>
          <p:cNvPr id="4" name="TextBox 3">
            <a:extLst>
              <a:ext uri="{FF2B5EF4-FFF2-40B4-BE49-F238E27FC236}">
                <a16:creationId xmlns:a16="http://schemas.microsoft.com/office/drawing/2014/main" xmlns="" id="{D058941E-06AB-5D95-536B-E8EB3ACE9946}"/>
              </a:ext>
            </a:extLst>
          </p:cNvPr>
          <p:cNvSpPr txBox="1"/>
          <p:nvPr/>
        </p:nvSpPr>
        <p:spPr>
          <a:xfrm>
            <a:off x="667820" y="1686583"/>
            <a:ext cx="4337969" cy="461665"/>
          </a:xfrm>
          <a:prstGeom prst="rect">
            <a:avLst/>
          </a:prstGeom>
          <a:noFill/>
        </p:spPr>
        <p:txBody>
          <a:bodyPr wrap="square" rtlCol="0">
            <a:spAutoFit/>
          </a:bodyPr>
          <a:lstStyle/>
          <a:p>
            <a:r>
              <a:rPr lang="en-IN" sz="2400" b="1" i="1" dirty="0">
                <a:solidFill>
                  <a:schemeClr val="accent1">
                    <a:lumMod val="75000"/>
                  </a:schemeClr>
                </a:solidFill>
              </a:rPr>
              <a:t>Gujarat earthquake, 2001</a:t>
            </a:r>
            <a:endParaRPr lang="en-IN" b="1" i="1" dirty="0">
              <a:solidFill>
                <a:schemeClr val="accent1">
                  <a:lumMod val="75000"/>
                </a:schemeClr>
              </a:solidFill>
            </a:endParaRPr>
          </a:p>
        </p:txBody>
      </p:sp>
      <p:sp>
        <p:nvSpPr>
          <p:cNvPr id="5" name="TextBox 4">
            <a:extLst>
              <a:ext uri="{FF2B5EF4-FFF2-40B4-BE49-F238E27FC236}">
                <a16:creationId xmlns:a16="http://schemas.microsoft.com/office/drawing/2014/main" xmlns="" id="{ACA4E794-A15B-39B0-8988-029851738122}"/>
              </a:ext>
            </a:extLst>
          </p:cNvPr>
          <p:cNvSpPr txBox="1"/>
          <p:nvPr/>
        </p:nvSpPr>
        <p:spPr>
          <a:xfrm>
            <a:off x="334963" y="6452171"/>
            <a:ext cx="2562349" cy="261610"/>
          </a:xfrm>
          <a:prstGeom prst="rect">
            <a:avLst/>
          </a:prstGeom>
          <a:noFill/>
        </p:spPr>
        <p:txBody>
          <a:bodyPr wrap="square" rtlCol="0">
            <a:spAutoFit/>
          </a:bodyPr>
          <a:lstStyle/>
          <a:p>
            <a:r>
              <a:rPr lang="en-IN" sz="1100" i="1" dirty="0"/>
              <a:t>Image source: The Indian Express</a:t>
            </a:r>
            <a:endParaRPr lang="en-IN" i="1" dirty="0"/>
          </a:p>
        </p:txBody>
      </p:sp>
    </p:spTree>
    <p:extLst>
      <p:ext uri="{BB962C8B-B14F-4D97-AF65-F5344CB8AC3E}">
        <p14:creationId xmlns:p14="http://schemas.microsoft.com/office/powerpoint/2010/main" xmlns="" val="354949410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11</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296742"/>
            <a:ext cx="8069298" cy="620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12700" indent="0" algn="just">
              <a:lnSpc>
                <a:spcPct val="150000"/>
              </a:lnSpc>
              <a:buNone/>
            </a:pPr>
            <a:r>
              <a:rPr lang="en-US" sz="2400" dirty="0">
                <a:solidFill>
                  <a:schemeClr val="accent1">
                    <a:lumMod val="75000"/>
                  </a:schemeClr>
                </a:solidFill>
                <a:latin typeface="Calibri" panose="020F0502020204030204" pitchFamily="34" charset="0"/>
              </a:rPr>
              <a:t>2. Flood</a:t>
            </a:r>
          </a:p>
          <a:p>
            <a:pPr algn="just" eaLnBrk="1" hangingPunct="1">
              <a:lnSpc>
                <a:spcPct val="150000"/>
              </a:lnSpc>
              <a:spcBef>
                <a:spcPct val="0"/>
              </a:spcBef>
            </a:pPr>
            <a:r>
              <a:rPr lang="en-US" altLang="en-US" sz="2400" dirty="0">
                <a:latin typeface="Calibri" panose="020F0502020204030204" pitchFamily="34" charset="0"/>
              </a:rPr>
              <a:t>A flood is an overflow of water that submerges land, may occur as an overflow of water from water bodies, such as a river or lake, in which the water overtops, resulting in some of that water escaping it’s usual boundaries or it may occur due to accumulation of rainwater on saturated ground in an areal flood. </a:t>
            </a:r>
          </a:p>
          <a:p>
            <a:pPr algn="just" eaLnBrk="1" hangingPunct="1">
              <a:lnSpc>
                <a:spcPct val="150000"/>
              </a:lnSpc>
              <a:spcBef>
                <a:spcPct val="0"/>
              </a:spcBef>
            </a:pPr>
            <a:r>
              <a:rPr lang="en-US" altLang="en-US" sz="2400" dirty="0">
                <a:solidFill>
                  <a:schemeClr val="accent1">
                    <a:lumMod val="75000"/>
                  </a:schemeClr>
                </a:solidFill>
                <a:latin typeface="Calibri" panose="020F0502020204030204" pitchFamily="34" charset="0"/>
              </a:rPr>
              <a:t>Flash floods </a:t>
            </a:r>
            <a:r>
              <a:rPr lang="en-US" altLang="en-US" sz="2400" dirty="0">
                <a:latin typeface="Calibri" panose="020F0502020204030204" pitchFamily="34" charset="0"/>
              </a:rPr>
              <a:t>can develop within hours of heavy rainfall. </a:t>
            </a:r>
          </a:p>
          <a:p>
            <a:pPr algn="just" eaLnBrk="1" hangingPunct="1">
              <a:lnSpc>
                <a:spcPct val="150000"/>
              </a:lnSpc>
              <a:spcBef>
                <a:spcPct val="0"/>
              </a:spcBef>
            </a:pPr>
            <a:r>
              <a:rPr lang="en-US" altLang="en-US" sz="2400" dirty="0">
                <a:latin typeface="Calibri" panose="020F0502020204030204" pitchFamily="34" charset="0"/>
              </a:rPr>
              <a:t>Deserts are vulnerable to flash floods. </a:t>
            </a:r>
            <a:r>
              <a:rPr lang="en-US" altLang="en-US" sz="2400" dirty="0">
                <a:solidFill>
                  <a:schemeClr val="accent1">
                    <a:lumMod val="75000"/>
                  </a:schemeClr>
                </a:solidFill>
                <a:latin typeface="Calibri" panose="020F0502020204030204" pitchFamily="34" charset="0"/>
              </a:rPr>
              <a:t>Wadis (Arroyos</a:t>
            </a:r>
            <a:r>
              <a:rPr lang="en-US" altLang="en-US" sz="2400" dirty="0">
                <a:latin typeface="Calibri" panose="020F0502020204030204" pitchFamily="34" charset="0"/>
              </a:rPr>
              <a:t>) are dry river beds that only flow during heavy rains. </a:t>
            </a:r>
          </a:p>
          <a:p>
            <a:pPr marL="12700" indent="0" algn="just">
              <a:lnSpc>
                <a:spcPct val="150000"/>
              </a:lnSpc>
              <a:buNone/>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47065983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12</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296742"/>
            <a:ext cx="8069298" cy="50949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150000"/>
              </a:lnSpc>
            </a:pPr>
            <a:r>
              <a:rPr lang="en-US" sz="2400" dirty="0">
                <a:latin typeface="Calibri" panose="020F0502020204030204" pitchFamily="34" charset="0"/>
              </a:rPr>
              <a:t>Floods are a common occurrence in India, especially during June to September.  </a:t>
            </a:r>
          </a:p>
          <a:p>
            <a:pPr algn="just">
              <a:lnSpc>
                <a:spcPct val="150000"/>
              </a:lnSpc>
            </a:pPr>
            <a:r>
              <a:rPr lang="en-US" sz="2400" dirty="0">
                <a:latin typeface="Calibri" panose="020F0502020204030204" pitchFamily="34" charset="0"/>
              </a:rPr>
              <a:t>One of the worst floods in India’s recent history occurred in Uttarakhand in June 2013. Heavy rain due to a cloudburst led to sudden flash floods and landslides in the northern part of Uttarakhand. While the military was able to evacuate more than 100,000 people trapped in landslides, an estimated 4,094 were killed and over 5,700 were missing (and eventually presumed dead).</a:t>
            </a: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59360460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a:t>
            </a:r>
            <a:r>
              <a:rPr lang="en-IN" altLang="en-US" sz="2400" b="1" dirty="0" smtClean="0">
                <a:solidFill>
                  <a:schemeClr val="accent1">
                    <a:lumMod val="75000"/>
                  </a:schemeClr>
                </a:solidFill>
                <a:latin typeface="Calibri" panose="020F0502020204030204" pitchFamily="34" charset="0"/>
              </a:rPr>
              <a:t>SCIENCES</a:t>
            </a:r>
          </a:p>
          <a:p>
            <a:pPr>
              <a:spcBef>
                <a:spcPct val="0"/>
              </a:spcBef>
              <a:buNone/>
            </a:pPr>
            <a:r>
              <a:rPr lang="en-IN" altLang="en-US" sz="2400" b="1" dirty="0" smtClean="0">
                <a:solidFill>
                  <a:srgbClr val="C55A11"/>
                </a:solidFill>
                <a:latin typeface="Calibri" panose="020F0502020204030204" pitchFamily="34" charset="0"/>
              </a:rPr>
              <a:t>Natural and man-made disasters</a:t>
            </a:r>
            <a:endParaRPr lang="en-US" altLang="en-US" sz="1800" dirty="0" smtClean="0"/>
          </a:p>
          <a:p>
            <a:pPr eaLnBrk="1" hangingPunct="1">
              <a:spcBef>
                <a:spcPct val="0"/>
              </a:spcBef>
              <a:buFontTx/>
              <a:buNone/>
            </a:pPr>
            <a:endParaRPr lang="en-IN" altLang="en-US" sz="2400" b="1" dirty="0" smtClean="0">
              <a:solidFill>
                <a:schemeClr val="accent1">
                  <a:lumMod val="75000"/>
                </a:schemeClr>
              </a:solidFill>
              <a:latin typeface="Calibri" panose="020F0502020204030204" pitchFamily="34" charset="0"/>
            </a:endParaRPr>
          </a:p>
          <a:p>
            <a:pPr eaLnBrk="1" hangingPunct="1">
              <a:spcBef>
                <a:spcPct val="0"/>
              </a:spcBef>
              <a:buFontTx/>
              <a:buNone/>
            </a:pP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13</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
        <p:nvSpPr>
          <p:cNvPr id="4" name="TextBox 3">
            <a:extLst>
              <a:ext uri="{FF2B5EF4-FFF2-40B4-BE49-F238E27FC236}">
                <a16:creationId xmlns:a16="http://schemas.microsoft.com/office/drawing/2014/main" xmlns="" id="{D058941E-06AB-5D95-536B-E8EB3ACE9946}"/>
              </a:ext>
            </a:extLst>
          </p:cNvPr>
          <p:cNvSpPr txBox="1"/>
          <p:nvPr/>
        </p:nvSpPr>
        <p:spPr>
          <a:xfrm>
            <a:off x="393700" y="1561380"/>
            <a:ext cx="4337969" cy="461665"/>
          </a:xfrm>
          <a:prstGeom prst="rect">
            <a:avLst/>
          </a:prstGeom>
          <a:noFill/>
        </p:spPr>
        <p:txBody>
          <a:bodyPr wrap="square" rtlCol="0">
            <a:spAutoFit/>
          </a:bodyPr>
          <a:lstStyle/>
          <a:p>
            <a:r>
              <a:rPr lang="en-IN" sz="2400" b="1" i="1" dirty="0">
                <a:solidFill>
                  <a:schemeClr val="accent1">
                    <a:lumMod val="75000"/>
                  </a:schemeClr>
                </a:solidFill>
              </a:rPr>
              <a:t>Uttarakhand floods, 2013</a:t>
            </a:r>
            <a:endParaRPr lang="en-IN" b="1" i="1" dirty="0">
              <a:solidFill>
                <a:schemeClr val="accent1">
                  <a:lumMod val="75000"/>
                </a:schemeClr>
              </a:solidFill>
            </a:endParaRPr>
          </a:p>
        </p:txBody>
      </p:sp>
      <p:pic>
        <p:nvPicPr>
          <p:cNvPr id="2056" name="Picture 8" descr="Century's Biggest Flood In Uttarakhand, Uttarkashi, KedarNath, Badrinath -  Shiva Statue on Make a GIF">
            <a:extLst>
              <a:ext uri="{FF2B5EF4-FFF2-40B4-BE49-F238E27FC236}">
                <a16:creationId xmlns:a16="http://schemas.microsoft.com/office/drawing/2014/main" xmlns="" id="{53E4E181-D732-86F6-02EB-A3ACF2514D70}"/>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825447" y="2448110"/>
            <a:ext cx="3811712" cy="2858784"/>
          </a:xfrm>
          <a:prstGeom prst="rect">
            <a:avLst/>
          </a:prstGeom>
          <a:noFill/>
          <a:extLst>
            <a:ext uri="{909E8E84-426E-40DD-AFC4-6F175D3DCCD1}">
              <a14:hiddenFill xmlns:a14="http://schemas.microsoft.com/office/drawing/2010/main" xmlns="">
                <a:solidFill>
                  <a:srgbClr val="FFFFFF"/>
                </a:solidFill>
              </a14:hiddenFill>
            </a:ext>
          </a:extLst>
        </p:spPr>
      </p:pic>
      <p:pic>
        <p:nvPicPr>
          <p:cNvPr id="2058" name="Picture 10" descr="Uttarakhand floods, survivors ...">
            <a:extLst>
              <a:ext uri="{FF2B5EF4-FFF2-40B4-BE49-F238E27FC236}">
                <a16:creationId xmlns:a16="http://schemas.microsoft.com/office/drawing/2014/main" xmlns="" id="{799D8BC5-DAC3-4E36-8CCA-86AA996AFF8A}"/>
              </a:ext>
            </a:extLst>
          </p:cNvPr>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496442" y="2591205"/>
            <a:ext cx="4969410" cy="2612948"/>
          </a:xfrm>
          <a:prstGeom prst="rect">
            <a:avLst/>
          </a:prstGeom>
          <a:noFill/>
          <a:extLst>
            <a:ext uri="{909E8E84-426E-40DD-AFC4-6F175D3DCCD1}">
              <a14:hiddenFill xmlns:a14="http://schemas.microsoft.com/office/drawing/2010/main" xmlns="">
                <a:solidFill>
                  <a:srgbClr val="FFFFFF"/>
                </a:solidFill>
              </a14:hiddenFill>
            </a:ext>
          </a:extLst>
        </p:spPr>
      </p:pic>
      <p:sp>
        <p:nvSpPr>
          <p:cNvPr id="3" name="TextBox 2">
            <a:extLst>
              <a:ext uri="{FF2B5EF4-FFF2-40B4-BE49-F238E27FC236}">
                <a16:creationId xmlns:a16="http://schemas.microsoft.com/office/drawing/2014/main" xmlns="" id="{E52A7621-546E-BC62-0C41-4CE3E6BB1508}"/>
              </a:ext>
            </a:extLst>
          </p:cNvPr>
          <p:cNvSpPr txBox="1"/>
          <p:nvPr/>
        </p:nvSpPr>
        <p:spPr>
          <a:xfrm>
            <a:off x="334963" y="6452171"/>
            <a:ext cx="2562349" cy="261610"/>
          </a:xfrm>
          <a:prstGeom prst="rect">
            <a:avLst/>
          </a:prstGeom>
          <a:noFill/>
        </p:spPr>
        <p:txBody>
          <a:bodyPr wrap="square" rtlCol="0">
            <a:spAutoFit/>
          </a:bodyPr>
          <a:lstStyle/>
          <a:p>
            <a:r>
              <a:rPr lang="en-IN" sz="1100" i="1" dirty="0"/>
              <a:t>Image source: First Post</a:t>
            </a:r>
            <a:endParaRPr lang="en-IN" i="1" dirty="0"/>
          </a:p>
        </p:txBody>
      </p:sp>
    </p:spTree>
    <p:extLst>
      <p:ext uri="{BB962C8B-B14F-4D97-AF65-F5344CB8AC3E}">
        <p14:creationId xmlns:p14="http://schemas.microsoft.com/office/powerpoint/2010/main" xmlns="" val="66755054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14</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296742"/>
            <a:ext cx="8069298" cy="50949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12700" indent="0" algn="just">
              <a:lnSpc>
                <a:spcPct val="150000"/>
              </a:lnSpc>
              <a:buNone/>
            </a:pPr>
            <a:r>
              <a:rPr lang="en-US" sz="2400" dirty="0">
                <a:solidFill>
                  <a:schemeClr val="accent1">
                    <a:lumMod val="75000"/>
                  </a:schemeClr>
                </a:solidFill>
                <a:latin typeface="Calibri" panose="020F0502020204030204" pitchFamily="34" charset="0"/>
              </a:rPr>
              <a:t>3. Landslide</a:t>
            </a:r>
          </a:p>
          <a:p>
            <a:pPr algn="just" eaLnBrk="1" hangingPunct="1">
              <a:lnSpc>
                <a:spcPct val="150000"/>
              </a:lnSpc>
              <a:spcBef>
                <a:spcPct val="0"/>
              </a:spcBef>
            </a:pPr>
            <a:r>
              <a:rPr lang="en-US" altLang="en-US" sz="2400" dirty="0">
                <a:latin typeface="Calibri" panose="020F0502020204030204" pitchFamily="34" charset="0"/>
              </a:rPr>
              <a:t>A landslide is a geological phenomenon that includes a wide range of ground movements, such as rock falls, deep failure of slopes &amp; shallow debris flows. </a:t>
            </a:r>
          </a:p>
          <a:p>
            <a:pPr algn="just" eaLnBrk="1" hangingPunct="1">
              <a:lnSpc>
                <a:spcPct val="150000"/>
              </a:lnSpc>
              <a:spcBef>
                <a:spcPct val="0"/>
              </a:spcBef>
            </a:pPr>
            <a:r>
              <a:rPr lang="en-US" altLang="en-US" sz="2400" dirty="0">
                <a:latin typeface="Calibri" panose="020F0502020204030204" pitchFamily="34" charset="0"/>
              </a:rPr>
              <a:t>Landslides can occur in offshore, coastal &amp; onshore environments. </a:t>
            </a:r>
          </a:p>
          <a:p>
            <a:pPr algn="just" eaLnBrk="1" hangingPunct="1">
              <a:lnSpc>
                <a:spcPct val="150000"/>
              </a:lnSpc>
              <a:spcBef>
                <a:spcPct val="0"/>
              </a:spcBef>
            </a:pPr>
            <a:r>
              <a:rPr lang="en-US" altLang="en-US" sz="2400" dirty="0">
                <a:latin typeface="Calibri" panose="020F0502020204030204" pitchFamily="34" charset="0"/>
              </a:rPr>
              <a:t>Landslides are caused by rain, earthquakes, volcanoes, or other factors that make the slope unstable.</a:t>
            </a:r>
          </a:p>
          <a:p>
            <a:pPr marL="12700" indent="0" algn="just">
              <a:lnSpc>
                <a:spcPct val="150000"/>
              </a:lnSpc>
              <a:buNone/>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01854350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a:t>
            </a:r>
            <a:r>
              <a:rPr lang="en-IN" altLang="en-US" sz="2400" b="1" dirty="0" smtClean="0">
                <a:solidFill>
                  <a:schemeClr val="accent1">
                    <a:lumMod val="75000"/>
                  </a:schemeClr>
                </a:solidFill>
                <a:latin typeface="Calibri" panose="020F0502020204030204" pitchFamily="34" charset="0"/>
              </a:rPr>
              <a:t>SCIENCES</a:t>
            </a:r>
          </a:p>
          <a:p>
            <a:pPr>
              <a:spcBef>
                <a:spcPct val="0"/>
              </a:spcBef>
              <a:buNone/>
            </a:pPr>
            <a:r>
              <a:rPr lang="en-IN" altLang="en-US" sz="2400" b="1" dirty="0" smtClean="0">
                <a:solidFill>
                  <a:srgbClr val="C55A11"/>
                </a:solidFill>
                <a:latin typeface="Calibri" panose="020F0502020204030204" pitchFamily="34" charset="0"/>
              </a:rPr>
              <a:t>Natural and man-made disasters</a:t>
            </a:r>
            <a:endParaRPr lang="en-US" altLang="en-US" sz="1800" dirty="0" smtClean="0"/>
          </a:p>
          <a:p>
            <a:pPr eaLnBrk="1" hangingPunct="1">
              <a:spcBef>
                <a:spcPct val="0"/>
              </a:spcBef>
              <a:buFontTx/>
              <a:buNone/>
            </a:pPr>
            <a:endParaRPr lang="en-IN" altLang="en-US" sz="2400" b="1" dirty="0" smtClean="0">
              <a:solidFill>
                <a:schemeClr val="accent1">
                  <a:lumMod val="75000"/>
                </a:schemeClr>
              </a:solidFill>
              <a:latin typeface="Calibri" panose="020F0502020204030204" pitchFamily="34" charset="0"/>
            </a:endParaRPr>
          </a:p>
          <a:p>
            <a:pPr eaLnBrk="1" hangingPunct="1">
              <a:spcBef>
                <a:spcPct val="0"/>
              </a:spcBef>
              <a:buFontTx/>
              <a:buNone/>
            </a:pP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15</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
        <p:nvSpPr>
          <p:cNvPr id="4" name="TextBox 3">
            <a:extLst>
              <a:ext uri="{FF2B5EF4-FFF2-40B4-BE49-F238E27FC236}">
                <a16:creationId xmlns:a16="http://schemas.microsoft.com/office/drawing/2014/main" xmlns="" id="{D058941E-06AB-5D95-536B-E8EB3ACE9946}"/>
              </a:ext>
            </a:extLst>
          </p:cNvPr>
          <p:cNvSpPr txBox="1"/>
          <p:nvPr/>
        </p:nvSpPr>
        <p:spPr>
          <a:xfrm>
            <a:off x="393700" y="1561380"/>
            <a:ext cx="4337969" cy="461665"/>
          </a:xfrm>
          <a:prstGeom prst="rect">
            <a:avLst/>
          </a:prstGeom>
          <a:noFill/>
        </p:spPr>
        <p:txBody>
          <a:bodyPr wrap="square" rtlCol="0">
            <a:spAutoFit/>
          </a:bodyPr>
          <a:lstStyle/>
          <a:p>
            <a:r>
              <a:rPr lang="en-IN" sz="2400" b="1" i="1" dirty="0">
                <a:solidFill>
                  <a:schemeClr val="accent1">
                    <a:lumMod val="75000"/>
                  </a:schemeClr>
                </a:solidFill>
              </a:rPr>
              <a:t>A landslide near Peru, 2018</a:t>
            </a:r>
            <a:endParaRPr lang="en-IN" b="1" i="1" dirty="0">
              <a:solidFill>
                <a:schemeClr val="accent1">
                  <a:lumMod val="75000"/>
                </a:schemeClr>
              </a:solidFill>
            </a:endParaRPr>
          </a:p>
        </p:txBody>
      </p:sp>
      <p:pic>
        <p:nvPicPr>
          <p:cNvPr id="3" name="Picture 4" descr="Landslide - Wikipedia">
            <a:extLst>
              <a:ext uri="{FF2B5EF4-FFF2-40B4-BE49-F238E27FC236}">
                <a16:creationId xmlns:a16="http://schemas.microsoft.com/office/drawing/2014/main" xmlns="" id="{0A66DEE0-86B3-EBC1-7605-F3E5419BAAD6}"/>
              </a:ext>
            </a:extLst>
          </p:cNvPr>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838200" y="2241127"/>
            <a:ext cx="6893853" cy="41152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Rectangle 9">
            <a:extLst>
              <a:ext uri="{FF2B5EF4-FFF2-40B4-BE49-F238E27FC236}">
                <a16:creationId xmlns:a16="http://schemas.microsoft.com/office/drawing/2014/main" xmlns="" id="{245B54EF-3D01-2B54-94DC-66FB93B4331C}"/>
              </a:ext>
            </a:extLst>
          </p:cNvPr>
          <p:cNvSpPr>
            <a:spLocks noChangeArrowheads="1"/>
          </p:cNvSpPr>
          <p:nvPr/>
        </p:nvSpPr>
        <p:spPr bwMode="auto">
          <a:xfrm>
            <a:off x="238125" y="6581775"/>
            <a:ext cx="2749550" cy="276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200" dirty="0"/>
              <a:t>https://en.wikipedia.org/wiki/Landslide</a:t>
            </a:r>
          </a:p>
        </p:txBody>
      </p:sp>
    </p:spTree>
    <p:extLst>
      <p:ext uri="{BB962C8B-B14F-4D97-AF65-F5344CB8AC3E}">
        <p14:creationId xmlns:p14="http://schemas.microsoft.com/office/powerpoint/2010/main" xmlns="" val="395652226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16</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412875"/>
            <a:ext cx="8069298" cy="56489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0"/>
              </a:spcBef>
            </a:pPr>
            <a:r>
              <a:rPr lang="en-US" altLang="en-US" sz="2400" dirty="0">
                <a:latin typeface="Calibri" panose="020F0502020204030204" pitchFamily="34" charset="0"/>
              </a:rPr>
              <a:t>There are several ways of describing how a landslide moves. These include falls, topples, translational slides, lateral spreads, and flows.</a:t>
            </a:r>
          </a:p>
          <a:p>
            <a:pPr algn="just" eaLnBrk="1" hangingPunct="1">
              <a:lnSpc>
                <a:spcPct val="150000"/>
              </a:lnSpc>
              <a:spcBef>
                <a:spcPct val="0"/>
              </a:spcBef>
            </a:pPr>
            <a:r>
              <a:rPr lang="en-IN" altLang="en-US" sz="2400" dirty="0">
                <a:latin typeface="Calibri" panose="020F0502020204030204" pitchFamily="34" charset="0"/>
              </a:rPr>
              <a:t>Falls &amp; topples-</a:t>
            </a:r>
            <a:r>
              <a:rPr lang="en-US" altLang="en-US" sz="2400" dirty="0">
                <a:latin typeface="Calibri" panose="020F0502020204030204" pitchFamily="34" charset="0"/>
              </a:rPr>
              <a:t>heavy blocks of material fall after separating from a very steep slope or cliff. </a:t>
            </a:r>
          </a:p>
          <a:p>
            <a:pPr algn="just" eaLnBrk="1" hangingPunct="1">
              <a:lnSpc>
                <a:spcPct val="150000"/>
              </a:lnSpc>
              <a:spcBef>
                <a:spcPct val="0"/>
              </a:spcBef>
            </a:pPr>
            <a:r>
              <a:rPr lang="en-US" altLang="en-US" sz="2400" dirty="0">
                <a:latin typeface="Calibri" panose="020F0502020204030204" pitchFamily="34" charset="0"/>
              </a:rPr>
              <a:t>In translational slides, surface material is separated from the more stable underlying layer of a slope.</a:t>
            </a:r>
          </a:p>
          <a:p>
            <a:pPr algn="just" eaLnBrk="1" hangingPunct="1">
              <a:lnSpc>
                <a:spcPct val="150000"/>
              </a:lnSpc>
              <a:spcBef>
                <a:spcPct val="0"/>
              </a:spcBef>
            </a:pPr>
            <a:r>
              <a:rPr lang="en-US" altLang="en-US" sz="2400" dirty="0">
                <a:latin typeface="Calibri" panose="020F0502020204030204" pitchFamily="34" charset="0"/>
              </a:rPr>
              <a:t>A lateral spread or flow is the movement of material sideways, or laterally.</a:t>
            </a:r>
          </a:p>
          <a:p>
            <a:pPr marL="12700" indent="0" algn="just">
              <a:lnSpc>
                <a:spcPct val="150000"/>
              </a:lnSpc>
              <a:buNone/>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96861440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a:t>
            </a:r>
            <a:r>
              <a:rPr lang="en-IN" altLang="en-US" sz="2400" b="1" dirty="0" smtClean="0">
                <a:solidFill>
                  <a:schemeClr val="accent1">
                    <a:lumMod val="75000"/>
                  </a:schemeClr>
                </a:solidFill>
                <a:latin typeface="Calibri" panose="020F0502020204030204" pitchFamily="34" charset="0"/>
              </a:rPr>
              <a:t>SCIENCES</a:t>
            </a:r>
          </a:p>
          <a:p>
            <a:pPr>
              <a:spcBef>
                <a:spcPct val="0"/>
              </a:spcBef>
              <a:buNone/>
            </a:pPr>
            <a:r>
              <a:rPr lang="en-IN" altLang="en-US" sz="2400" b="1" dirty="0" smtClean="0">
                <a:solidFill>
                  <a:srgbClr val="C55A11"/>
                </a:solidFill>
                <a:latin typeface="Calibri" panose="020F0502020204030204" pitchFamily="34" charset="0"/>
              </a:rPr>
              <a:t>Natural and man-made disasters</a:t>
            </a:r>
            <a:endParaRPr lang="en-US" altLang="en-US" sz="1800" dirty="0" smtClean="0"/>
          </a:p>
          <a:p>
            <a:pPr eaLnBrk="1" hangingPunct="1">
              <a:spcBef>
                <a:spcPct val="0"/>
              </a:spcBef>
              <a:buFontTx/>
              <a:buNone/>
            </a:pPr>
            <a:endParaRPr lang="en-IN" altLang="en-US" sz="2400" b="1" dirty="0" smtClean="0">
              <a:solidFill>
                <a:schemeClr val="accent1">
                  <a:lumMod val="75000"/>
                </a:schemeClr>
              </a:solidFill>
              <a:latin typeface="Calibri" panose="020F0502020204030204" pitchFamily="34" charset="0"/>
            </a:endParaRPr>
          </a:p>
          <a:p>
            <a:pPr eaLnBrk="1" hangingPunct="1">
              <a:spcBef>
                <a:spcPct val="0"/>
              </a:spcBef>
              <a:buFontTx/>
              <a:buNone/>
            </a:pPr>
            <a:endParaRPr lang="en-IN" altLang="en-US" sz="2400" b="1" dirty="0" smtClean="0">
              <a:solidFill>
                <a:schemeClr val="accent1">
                  <a:lumMod val="75000"/>
                </a:schemeClr>
              </a:solidFill>
              <a:latin typeface="Calibri" panose="020F0502020204030204" pitchFamily="34" charset="0"/>
            </a:endParaRPr>
          </a:p>
          <a:p>
            <a:pPr eaLnBrk="1" hangingPunct="1">
              <a:spcBef>
                <a:spcPct val="0"/>
              </a:spcBef>
              <a:buFontTx/>
              <a:buNone/>
            </a:pP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17</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
        <p:nvSpPr>
          <p:cNvPr id="5" name="Rectangle 9">
            <a:extLst>
              <a:ext uri="{FF2B5EF4-FFF2-40B4-BE49-F238E27FC236}">
                <a16:creationId xmlns:a16="http://schemas.microsoft.com/office/drawing/2014/main" xmlns="" id="{245B54EF-3D01-2B54-94DC-66FB93B4331C}"/>
              </a:ext>
            </a:extLst>
          </p:cNvPr>
          <p:cNvSpPr>
            <a:spLocks noChangeArrowheads="1"/>
          </p:cNvSpPr>
          <p:nvPr/>
        </p:nvSpPr>
        <p:spPr bwMode="auto">
          <a:xfrm>
            <a:off x="238125" y="6581775"/>
            <a:ext cx="1827744"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100" i="1" dirty="0">
                <a:latin typeface="+mn-lt"/>
              </a:rPr>
              <a:t>Image source: Research gate</a:t>
            </a:r>
            <a:endParaRPr lang="en-US" altLang="en-US" sz="1200" i="1" dirty="0">
              <a:latin typeface="+mn-lt"/>
            </a:endParaRPr>
          </a:p>
        </p:txBody>
      </p:sp>
      <p:pic>
        <p:nvPicPr>
          <p:cNvPr id="3074" name="Picture 2" descr="Types of movement of a landslide regardless of the material involved... |  Download Scientific Diagram">
            <a:extLst>
              <a:ext uri="{FF2B5EF4-FFF2-40B4-BE49-F238E27FC236}">
                <a16:creationId xmlns:a16="http://schemas.microsoft.com/office/drawing/2014/main" xmlns="" id="{81AB0BAF-9180-C6DA-F0F9-85DB8F109F99}"/>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151997" y="1643856"/>
            <a:ext cx="5966797" cy="441592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97864468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18</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73009" y="1290531"/>
            <a:ext cx="9366891" cy="35067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12700" indent="0" algn="just">
              <a:lnSpc>
                <a:spcPct val="150000"/>
              </a:lnSpc>
              <a:buNone/>
            </a:pPr>
            <a:r>
              <a:rPr lang="en-US" sz="2400" dirty="0">
                <a:solidFill>
                  <a:schemeClr val="accent1">
                    <a:lumMod val="75000"/>
                  </a:schemeClr>
                </a:solidFill>
                <a:latin typeface="Calibri" panose="020F0502020204030204" pitchFamily="34" charset="0"/>
              </a:rPr>
              <a:t>4. Avalanche</a:t>
            </a:r>
          </a:p>
          <a:p>
            <a:pPr algn="just">
              <a:lnSpc>
                <a:spcPct val="150000"/>
              </a:lnSpc>
            </a:pPr>
            <a:r>
              <a:rPr lang="en-US" sz="2400" dirty="0">
                <a:latin typeface="Calibri" panose="020F0502020204030204" pitchFamily="34" charset="0"/>
              </a:rPr>
              <a:t>Avalanche, a mass of material moving rapidly down a slope. An avalanche is typically triggered when material on a slope breaks loose from its surroundings; this material then quickly collects and carries additional material down the slope.</a:t>
            </a:r>
          </a:p>
          <a:p>
            <a:pPr algn="just">
              <a:lnSpc>
                <a:spcPct val="150000"/>
              </a:lnSpc>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pic>
        <p:nvPicPr>
          <p:cNvPr id="4098" name="Picture 2">
            <a:extLst>
              <a:ext uri="{FF2B5EF4-FFF2-40B4-BE49-F238E27FC236}">
                <a16:creationId xmlns:a16="http://schemas.microsoft.com/office/drawing/2014/main" xmlns="" id="{E9511DA1-CB31-E33E-BCC1-0ECE0AD696F2}"/>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843372" y="4252912"/>
            <a:ext cx="4191000" cy="2352675"/>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73205051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19</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44747" y="1281152"/>
            <a:ext cx="8069298" cy="620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150000"/>
              </a:lnSpc>
              <a:spcBef>
                <a:spcPct val="0"/>
              </a:spcBef>
            </a:pPr>
            <a:r>
              <a:rPr lang="en-US" altLang="en-US" sz="2400" dirty="0">
                <a:latin typeface="Calibri" panose="020F0502020204030204" pitchFamily="34" charset="0"/>
              </a:rPr>
              <a:t>There are two main types of snow avalanches—</a:t>
            </a:r>
            <a:r>
              <a:rPr lang="en-US" altLang="en-US" sz="2400" dirty="0">
                <a:solidFill>
                  <a:schemeClr val="accent1">
                    <a:lumMod val="75000"/>
                  </a:schemeClr>
                </a:solidFill>
                <a:latin typeface="Calibri" panose="020F0502020204030204" pitchFamily="34" charset="0"/>
              </a:rPr>
              <a:t>sluffs and slabs. </a:t>
            </a:r>
          </a:p>
          <a:p>
            <a:pPr algn="just" eaLnBrk="1" hangingPunct="1">
              <a:lnSpc>
                <a:spcPct val="150000"/>
              </a:lnSpc>
              <a:spcBef>
                <a:spcPct val="0"/>
              </a:spcBef>
            </a:pPr>
            <a:r>
              <a:rPr lang="en-US" altLang="en-US" sz="2400" dirty="0">
                <a:solidFill>
                  <a:schemeClr val="accent1">
                    <a:lumMod val="75000"/>
                  </a:schemeClr>
                </a:solidFill>
                <a:latin typeface="Calibri" panose="020F0502020204030204" pitchFamily="34" charset="0"/>
              </a:rPr>
              <a:t>Sluff avalanches </a:t>
            </a:r>
            <a:r>
              <a:rPr lang="en-US" altLang="en-US" sz="2400" dirty="0">
                <a:latin typeface="Calibri" panose="020F0502020204030204" pitchFamily="34" charset="0"/>
              </a:rPr>
              <a:t>occur when the weak layer of a snowpack is on the top. A sluff is a small slide of dry, powdery snow that moves as a formless mass</a:t>
            </a:r>
          </a:p>
          <a:p>
            <a:pPr algn="just" eaLnBrk="1" hangingPunct="1">
              <a:lnSpc>
                <a:spcPct val="150000"/>
              </a:lnSpc>
              <a:spcBef>
                <a:spcPct val="0"/>
              </a:spcBef>
            </a:pPr>
            <a:r>
              <a:rPr lang="en-US" altLang="en-US" sz="2400" dirty="0">
                <a:solidFill>
                  <a:schemeClr val="accent1">
                    <a:lumMod val="75000"/>
                  </a:schemeClr>
                </a:solidFill>
                <a:latin typeface="Calibri" panose="020F0502020204030204" pitchFamily="34" charset="0"/>
              </a:rPr>
              <a:t>A slab avalanche </a:t>
            </a:r>
            <a:r>
              <a:rPr lang="en-US" altLang="en-US" sz="2400" dirty="0">
                <a:latin typeface="Calibri" panose="020F0502020204030204" pitchFamily="34" charset="0"/>
              </a:rPr>
              <a:t>occurs when the weak layer lies lower down in a snowpack. This layer is covered with other layers of compressed snow. When the avalanche is triggered, the weak layer breaks off, pulling all the layers on top of it down the slope. </a:t>
            </a:r>
          </a:p>
          <a:p>
            <a:pPr marL="12700" indent="0" algn="just">
              <a:lnSpc>
                <a:spcPct val="150000"/>
              </a:lnSpc>
              <a:buNone/>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40851056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a:t>
            </a:r>
            <a:r>
              <a:rPr lang="en-IN" altLang="en-US" sz="2400" b="1" dirty="0" smtClean="0">
                <a:solidFill>
                  <a:schemeClr val="accent1">
                    <a:lumMod val="75000"/>
                  </a:schemeClr>
                </a:solidFill>
                <a:latin typeface="Calibri" panose="020F0502020204030204" pitchFamily="34" charset="0"/>
              </a:rPr>
              <a:t>SCIENCES</a:t>
            </a:r>
          </a:p>
          <a:p>
            <a:pPr>
              <a:spcBef>
                <a:spcPct val="0"/>
              </a:spcBef>
              <a:buNone/>
            </a:pPr>
            <a:r>
              <a:rPr lang="en-IN" altLang="en-US" sz="2400" b="1" dirty="0" smtClean="0">
                <a:solidFill>
                  <a:srgbClr val="C55A11"/>
                </a:solidFill>
                <a:latin typeface="Calibri" panose="020F0502020204030204" pitchFamily="34" charset="0"/>
              </a:rPr>
              <a:t>Natural and man-made disasters</a:t>
            </a:r>
            <a:endParaRPr lang="en-US" altLang="en-US" sz="1800" dirty="0" smtClean="0"/>
          </a:p>
          <a:p>
            <a:pPr eaLnBrk="1" hangingPunct="1">
              <a:spcBef>
                <a:spcPct val="0"/>
              </a:spcBef>
              <a:buFontTx/>
              <a:buNone/>
            </a:pPr>
            <a:endParaRPr lang="en-IN" altLang="en-US" sz="2400" b="1" dirty="0" smtClean="0">
              <a:solidFill>
                <a:schemeClr val="accent1">
                  <a:lumMod val="75000"/>
                </a:schemeClr>
              </a:solidFill>
              <a:latin typeface="Calibri" panose="020F0502020204030204" pitchFamily="34" charset="0"/>
            </a:endParaRPr>
          </a:p>
          <a:p>
            <a:pPr eaLnBrk="1" hangingPunct="1">
              <a:spcBef>
                <a:spcPct val="0"/>
              </a:spcBef>
              <a:buFontTx/>
              <a:buNone/>
            </a:pP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20</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pic>
        <p:nvPicPr>
          <p:cNvPr id="3" name="Picture 2" descr="Avalanche.org » Avalanche">
            <a:extLst>
              <a:ext uri="{FF2B5EF4-FFF2-40B4-BE49-F238E27FC236}">
                <a16:creationId xmlns:a16="http://schemas.microsoft.com/office/drawing/2014/main" xmlns="" id="{FCCDE40D-B68A-E709-D5D9-BFB48B4C4599}"/>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785443" y="1643856"/>
            <a:ext cx="3364282" cy="19986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122" name="Picture 2" descr="7j - Avalanche Types">
            <a:extLst>
              <a:ext uri="{FF2B5EF4-FFF2-40B4-BE49-F238E27FC236}">
                <a16:creationId xmlns:a16="http://schemas.microsoft.com/office/drawing/2014/main" xmlns="" id="{AD52221C-80FE-F52F-766E-9C3832A25961}"/>
              </a:ext>
            </a:extLst>
          </p:cNvPr>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4727182" y="1603619"/>
            <a:ext cx="2906516" cy="2038899"/>
          </a:xfrm>
          <a:prstGeom prst="rect">
            <a:avLst/>
          </a:prstGeom>
          <a:noFill/>
          <a:extLst>
            <a:ext uri="{909E8E84-426E-40DD-AFC4-6F175D3DCCD1}">
              <a14:hiddenFill xmlns:a14="http://schemas.microsoft.com/office/drawing/2010/main" xmlns="">
                <a:solidFill>
                  <a:srgbClr val="FFFFFF"/>
                </a:solidFill>
              </a14:hiddenFill>
            </a:ext>
          </a:extLst>
        </p:spPr>
      </p:pic>
      <p:pic>
        <p:nvPicPr>
          <p:cNvPr id="4" name="Picture 4" descr="Avalanche.org » Avalanche">
            <a:extLst>
              <a:ext uri="{FF2B5EF4-FFF2-40B4-BE49-F238E27FC236}">
                <a16:creationId xmlns:a16="http://schemas.microsoft.com/office/drawing/2014/main" xmlns="" id="{7919FE8E-7027-C82B-F3A2-F51300D054D5}"/>
              </a:ext>
            </a:extLst>
          </p:cNvPr>
          <p:cNvPicPr>
            <a:picLocks noChangeAspect="1" noChangeArrowheads="1"/>
          </p:cNvPicPr>
          <p:nvPr/>
        </p:nvPicPr>
        <p:blipFill>
          <a:blip r:embed="rId5">
            <a:extLst>
              <a:ext uri="{28A0092B-C50C-407E-A947-70E740481C1C}">
                <a14:useLocalDpi xmlns:a14="http://schemas.microsoft.com/office/drawing/2010/main" xmlns="" val="0"/>
              </a:ext>
            </a:extLst>
          </a:blip>
          <a:srcRect/>
          <a:stretch>
            <a:fillRect/>
          </a:stretch>
        </p:blipFill>
        <p:spPr bwMode="auto">
          <a:xfrm>
            <a:off x="777505" y="4171632"/>
            <a:ext cx="3364282" cy="2085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124" name="Picture 4" descr="7j - Avalanche Types">
            <a:extLst>
              <a:ext uri="{FF2B5EF4-FFF2-40B4-BE49-F238E27FC236}">
                <a16:creationId xmlns:a16="http://schemas.microsoft.com/office/drawing/2014/main" xmlns="" id="{CE8EE381-10FF-5008-88E7-74B8B8724C3E}"/>
              </a:ext>
            </a:extLst>
          </p:cNvPr>
          <p:cNvPicPr>
            <a:picLocks noChangeAspect="1" noChangeArrowheads="1"/>
          </p:cNvPicPr>
          <p:nvPr/>
        </p:nvPicPr>
        <p:blipFill>
          <a:blip r:embed="rId6">
            <a:extLst>
              <a:ext uri="{28A0092B-C50C-407E-A947-70E740481C1C}">
                <a14:useLocalDpi xmlns:a14="http://schemas.microsoft.com/office/drawing/2010/main" xmlns="" val="0"/>
              </a:ext>
            </a:extLst>
          </a:blip>
          <a:srcRect/>
          <a:stretch>
            <a:fillRect/>
          </a:stretch>
        </p:blipFill>
        <p:spPr bwMode="auto">
          <a:xfrm>
            <a:off x="4727182" y="4171632"/>
            <a:ext cx="2972267" cy="2085023"/>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94931439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21</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44747" y="1281152"/>
            <a:ext cx="8069298" cy="683078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12700" indent="0" algn="just">
              <a:lnSpc>
                <a:spcPct val="150000"/>
              </a:lnSpc>
              <a:buNone/>
            </a:pPr>
            <a:r>
              <a:rPr lang="en-US" sz="2400" dirty="0">
                <a:solidFill>
                  <a:schemeClr val="accent1">
                    <a:lumMod val="75000"/>
                  </a:schemeClr>
                </a:solidFill>
                <a:latin typeface="Calibri" panose="020F0502020204030204" pitchFamily="34" charset="0"/>
              </a:rPr>
              <a:t>5. Cyclone</a:t>
            </a:r>
          </a:p>
          <a:p>
            <a:pPr algn="just" eaLnBrk="1" hangingPunct="1">
              <a:lnSpc>
                <a:spcPct val="150000"/>
              </a:lnSpc>
              <a:spcBef>
                <a:spcPct val="0"/>
              </a:spcBef>
            </a:pPr>
            <a:r>
              <a:rPr lang="en-US" altLang="en-US" sz="2400" dirty="0">
                <a:latin typeface="Calibri" panose="020F0502020204030204" pitchFamily="34" charset="0"/>
              </a:rPr>
              <a:t>A cyclone is an area of closed, circular fluid motion rotating in the same direction as the Earth. </a:t>
            </a:r>
          </a:p>
          <a:p>
            <a:pPr algn="just" eaLnBrk="1" hangingPunct="1">
              <a:lnSpc>
                <a:spcPct val="150000"/>
              </a:lnSpc>
              <a:spcBef>
                <a:spcPct val="0"/>
              </a:spcBef>
            </a:pPr>
            <a:r>
              <a:rPr lang="en-US" altLang="en-US" sz="2400" dirty="0">
                <a:latin typeface="Calibri" panose="020F0502020204030204" pitchFamily="34" charset="0"/>
              </a:rPr>
              <a:t>This is usually characterized by inward circular winds that rotate anti-clockwise in the Northern Hemisphere &amp; clockwise in the Southern Hemisphere of the Earth. </a:t>
            </a:r>
          </a:p>
          <a:p>
            <a:pPr algn="just" eaLnBrk="1" hangingPunct="1">
              <a:lnSpc>
                <a:spcPct val="150000"/>
              </a:lnSpc>
              <a:spcBef>
                <a:spcPct val="0"/>
              </a:spcBef>
            </a:pPr>
            <a:r>
              <a:rPr lang="en-US" altLang="en-US" sz="2400" dirty="0">
                <a:solidFill>
                  <a:schemeClr val="accent1">
                    <a:lumMod val="75000"/>
                  </a:schemeClr>
                </a:solidFill>
                <a:latin typeface="Calibri" panose="020F0502020204030204" pitchFamily="34" charset="0"/>
              </a:rPr>
              <a:t>An anticyclone </a:t>
            </a:r>
            <a:r>
              <a:rPr lang="en-US" altLang="en-US" sz="2400" dirty="0">
                <a:latin typeface="Calibri" panose="020F0502020204030204" pitchFamily="34" charset="0"/>
              </a:rPr>
              <a:t>is the opposite of a cyclone. An anticyclone’s winds rotate clockwise in the Northern Hemisphere around a center of high pressure. Air comes in from above and sinks to the ground. </a:t>
            </a:r>
          </a:p>
          <a:p>
            <a:pPr marL="12700" indent="0" algn="just">
              <a:lnSpc>
                <a:spcPct val="150000"/>
              </a:lnSpc>
              <a:buNone/>
            </a:pPr>
            <a:endParaRPr lang="en-US" sz="2400" dirty="0">
              <a:latin typeface="Calibri" panose="020F0502020204030204" pitchFamily="34" charset="0"/>
            </a:endParaRPr>
          </a:p>
          <a:p>
            <a:pPr marL="12700" indent="0" algn="just">
              <a:lnSpc>
                <a:spcPct val="150000"/>
              </a:lnSpc>
              <a:buNone/>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pic>
        <p:nvPicPr>
          <p:cNvPr id="4" name="Picture 3" descr="Super-Cylone Ingrid Heads For Queensland Coast | Scoop News">
            <a:extLst>
              <a:ext uri="{FF2B5EF4-FFF2-40B4-BE49-F238E27FC236}">
                <a16:creationId xmlns:a16="http://schemas.microsoft.com/office/drawing/2014/main" xmlns="" id="{1FB8A6DB-990C-CA7D-BE87-259D2EDB8EDC}"/>
              </a:ext>
            </a:extLst>
          </p:cNvPr>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8610600" y="2856164"/>
            <a:ext cx="3482440" cy="21562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61959680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22</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44747" y="1412875"/>
            <a:ext cx="8069298" cy="62767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0"/>
              </a:spcBef>
            </a:pPr>
            <a:r>
              <a:rPr lang="en-US" altLang="en-US" sz="2400" dirty="0">
                <a:latin typeface="Calibri" panose="020F0502020204030204" pitchFamily="34" charset="0"/>
              </a:rPr>
              <a:t>Most large-scale cyclonic circulations are centered on areas of low atmospheric pressure.</a:t>
            </a:r>
          </a:p>
          <a:p>
            <a:pPr algn="just" eaLnBrk="1" hangingPunct="1">
              <a:lnSpc>
                <a:spcPct val="150000"/>
              </a:lnSpc>
              <a:spcBef>
                <a:spcPct val="0"/>
              </a:spcBef>
            </a:pPr>
            <a:r>
              <a:rPr lang="en-US" altLang="en-US" sz="2400" dirty="0">
                <a:latin typeface="Calibri" panose="020F0502020204030204" pitchFamily="34" charset="0"/>
              </a:rPr>
              <a:t>There are two types of cyclones: </a:t>
            </a:r>
            <a:r>
              <a:rPr lang="en-US" altLang="en-US" sz="2400" dirty="0">
                <a:solidFill>
                  <a:schemeClr val="accent1">
                    <a:lumMod val="75000"/>
                  </a:schemeClr>
                </a:solidFill>
                <a:latin typeface="Calibri" panose="020F0502020204030204" pitchFamily="34" charset="0"/>
              </a:rPr>
              <a:t>Mid-latitude cyclones </a:t>
            </a:r>
            <a:r>
              <a:rPr lang="en-US" altLang="en-US" sz="2400" dirty="0">
                <a:latin typeface="Calibri" panose="020F0502020204030204" pitchFamily="34" charset="0"/>
              </a:rPr>
              <a:t>are the main cause of winter storms in the middle latitudes. </a:t>
            </a:r>
          </a:p>
          <a:p>
            <a:pPr algn="just" eaLnBrk="1" hangingPunct="1">
              <a:lnSpc>
                <a:spcPct val="150000"/>
              </a:lnSpc>
              <a:spcBef>
                <a:spcPct val="0"/>
              </a:spcBef>
            </a:pPr>
            <a:r>
              <a:rPr lang="en-US" altLang="en-US" sz="2400" dirty="0">
                <a:solidFill>
                  <a:schemeClr val="accent1">
                    <a:lumMod val="75000"/>
                  </a:schemeClr>
                </a:solidFill>
                <a:latin typeface="Calibri" panose="020F0502020204030204" pitchFamily="34" charset="0"/>
              </a:rPr>
              <a:t>Tropical cyclones </a:t>
            </a:r>
            <a:r>
              <a:rPr lang="en-US" altLang="en-US" sz="2400" dirty="0">
                <a:latin typeface="Calibri" panose="020F0502020204030204" pitchFamily="34" charset="0"/>
              </a:rPr>
              <a:t>are also known as hurricanes. “</a:t>
            </a:r>
            <a:r>
              <a:rPr lang="en-IN" sz="2400" dirty="0">
                <a:latin typeface="Calibri" panose="020F0502020204030204" pitchFamily="34" charset="0"/>
              </a:rPr>
              <a:t>Hurricane Mitch” devastated Central America, particularly Honduras and Nicaragua, in late October 1998. It was recognized as the second deadliest Atlantic hurricane on record, after the Great Hurricane of 1780. </a:t>
            </a:r>
            <a:endParaRPr lang="en-US" altLang="en-US" sz="2400" dirty="0">
              <a:latin typeface="Calibri" panose="020F0502020204030204" pitchFamily="34" charset="0"/>
            </a:endParaRPr>
          </a:p>
          <a:p>
            <a:pPr marL="12700" indent="0" algn="just">
              <a:lnSpc>
                <a:spcPct val="150000"/>
              </a:lnSpc>
              <a:buNone/>
            </a:pPr>
            <a:endParaRPr lang="en-US" sz="2400" dirty="0">
              <a:latin typeface="Calibri" panose="020F0502020204030204" pitchFamily="34" charset="0"/>
            </a:endParaRPr>
          </a:p>
          <a:p>
            <a:pPr marL="12700" indent="0" algn="just">
              <a:lnSpc>
                <a:spcPct val="150000"/>
              </a:lnSpc>
              <a:buNone/>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02054581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Line 2"/>
          <p:cNvSpPr>
            <a:spLocks noChangeShapeType="1"/>
          </p:cNvSpPr>
          <p:nvPr/>
        </p:nvSpPr>
        <p:spPr bwMode="auto">
          <a:xfrm>
            <a:off x="0" y="1087852"/>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a:t>
            </a:r>
            <a:r>
              <a:rPr lang="en-IN" altLang="en-US" sz="2400" b="1" dirty="0" smtClean="0">
                <a:solidFill>
                  <a:schemeClr val="accent1">
                    <a:lumMod val="75000"/>
                  </a:schemeClr>
                </a:solidFill>
                <a:latin typeface="Calibri" panose="020F0502020204030204" pitchFamily="34" charset="0"/>
              </a:rPr>
              <a:t>SCIENCES</a:t>
            </a:r>
          </a:p>
          <a:p>
            <a:pPr>
              <a:spcBef>
                <a:spcPct val="0"/>
              </a:spcBef>
              <a:buNone/>
            </a:pPr>
            <a:r>
              <a:rPr lang="en-IN" altLang="en-US" sz="2400" b="1" dirty="0" smtClean="0">
                <a:solidFill>
                  <a:srgbClr val="C55A11"/>
                </a:solidFill>
                <a:latin typeface="Calibri" panose="020F0502020204030204" pitchFamily="34" charset="0"/>
              </a:rPr>
              <a:t>Natural and man-made disasters</a:t>
            </a:r>
            <a:endParaRPr lang="en-US" altLang="en-US" sz="1800" dirty="0" smtClean="0"/>
          </a:p>
          <a:p>
            <a:pPr eaLnBrk="1" hangingPunct="1">
              <a:spcBef>
                <a:spcPct val="0"/>
              </a:spcBef>
              <a:buFontTx/>
              <a:buNone/>
            </a:pPr>
            <a:endParaRPr lang="en-IN" altLang="en-US" sz="2400" b="1" dirty="0" smtClean="0">
              <a:solidFill>
                <a:schemeClr val="accent1">
                  <a:lumMod val="75000"/>
                </a:schemeClr>
              </a:solidFill>
              <a:latin typeface="Calibri" panose="020F0502020204030204" pitchFamily="34" charset="0"/>
            </a:endParaRPr>
          </a:p>
          <a:p>
            <a:pPr eaLnBrk="1" hangingPunct="1">
              <a:spcBef>
                <a:spcPct val="0"/>
              </a:spcBef>
              <a:buFontTx/>
              <a:buNone/>
            </a:pP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23</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44747" y="1281152"/>
            <a:ext cx="8069298" cy="12169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12700" indent="0" algn="just">
              <a:lnSpc>
                <a:spcPct val="150000"/>
              </a:lnSpc>
              <a:buNone/>
            </a:pPr>
            <a:endParaRPr lang="en-US" sz="2400" dirty="0">
              <a:latin typeface="Calibri" panose="020F0502020204030204" pitchFamily="34" charset="0"/>
            </a:endParaRPr>
          </a:p>
          <a:p>
            <a:pPr marL="12700" indent="0" algn="just">
              <a:lnSpc>
                <a:spcPct val="150000"/>
              </a:lnSpc>
              <a:buNone/>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
        <p:nvSpPr>
          <p:cNvPr id="5" name="TextBox 4">
            <a:extLst>
              <a:ext uri="{FF2B5EF4-FFF2-40B4-BE49-F238E27FC236}">
                <a16:creationId xmlns:a16="http://schemas.microsoft.com/office/drawing/2014/main" xmlns="" id="{346A073E-C01B-2AC3-648B-2687CFDE49CC}"/>
              </a:ext>
            </a:extLst>
          </p:cNvPr>
          <p:cNvSpPr txBox="1"/>
          <p:nvPr/>
        </p:nvSpPr>
        <p:spPr>
          <a:xfrm>
            <a:off x="421945" y="1143216"/>
            <a:ext cx="4168026" cy="5575052"/>
          </a:xfrm>
          <a:prstGeom prst="rect">
            <a:avLst/>
          </a:prstGeom>
          <a:noFill/>
        </p:spPr>
        <p:txBody>
          <a:bodyPr wrap="square">
            <a:spAutoFit/>
          </a:bodyPr>
          <a:lstStyle/>
          <a:p>
            <a:pPr algn="just">
              <a:lnSpc>
                <a:spcPct val="150000"/>
              </a:lnSpc>
            </a:pPr>
            <a:r>
              <a:rPr lang="en-US" sz="2400" b="0" i="0" dirty="0">
                <a:effectLst/>
              </a:rPr>
              <a:t>More severe tropical cyclones are called tropical storms. The most severe tropical cyclones are called either hurricanes or typhoons depending on where they occur. Tornadoes are rotating funnel clouds that only form over land, and they're much, much smaller than hurricanes.</a:t>
            </a:r>
            <a:endParaRPr lang="en-IN" sz="2400" dirty="0"/>
          </a:p>
        </p:txBody>
      </p:sp>
      <p:pic>
        <p:nvPicPr>
          <p:cNvPr id="6146" name="Picture 2" descr="Typhoon vs Hurricane vs Cyclone">
            <a:extLst>
              <a:ext uri="{FF2B5EF4-FFF2-40B4-BE49-F238E27FC236}">
                <a16:creationId xmlns:a16="http://schemas.microsoft.com/office/drawing/2014/main" xmlns="" id="{5DE85CD3-589D-F938-0C4C-3A205F610834}"/>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058034" y="1379811"/>
            <a:ext cx="6712021" cy="447468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95237490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24</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14219" y="1412875"/>
            <a:ext cx="8069298" cy="62767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12700" indent="0" algn="just">
              <a:lnSpc>
                <a:spcPct val="150000"/>
              </a:lnSpc>
              <a:buNone/>
            </a:pPr>
            <a:r>
              <a:rPr lang="en-US" sz="2400" dirty="0">
                <a:solidFill>
                  <a:schemeClr val="accent1">
                    <a:lumMod val="75000"/>
                  </a:schemeClr>
                </a:solidFill>
                <a:latin typeface="Calibri" panose="020F0502020204030204" pitchFamily="34" charset="0"/>
              </a:rPr>
              <a:t>6. Tsunami</a:t>
            </a:r>
          </a:p>
          <a:p>
            <a:pPr algn="just" eaLnBrk="1" hangingPunct="1">
              <a:lnSpc>
                <a:spcPct val="150000"/>
              </a:lnSpc>
              <a:spcBef>
                <a:spcPct val="0"/>
              </a:spcBef>
            </a:pPr>
            <a:r>
              <a:rPr lang="en-US" altLang="en-US" sz="2400" dirty="0">
                <a:latin typeface="Calibri" panose="020F0502020204030204" pitchFamily="34" charset="0"/>
              </a:rPr>
              <a:t>In Japanese, </a:t>
            </a:r>
            <a:r>
              <a:rPr lang="en-US" altLang="en-US" sz="2400" i="1" dirty="0">
                <a:latin typeface="Calibri" panose="020F0502020204030204" pitchFamily="34" charset="0"/>
              </a:rPr>
              <a:t>tsunami</a:t>
            </a:r>
            <a:r>
              <a:rPr lang="en-US" altLang="en-US" sz="2400" dirty="0">
                <a:latin typeface="Calibri" panose="020F0502020204030204" pitchFamily="34" charset="0"/>
              </a:rPr>
              <a:t> means "harbor wave."</a:t>
            </a:r>
          </a:p>
          <a:p>
            <a:pPr algn="just" eaLnBrk="1" hangingPunct="1">
              <a:lnSpc>
                <a:spcPct val="150000"/>
              </a:lnSpc>
              <a:spcBef>
                <a:spcPct val="0"/>
              </a:spcBef>
            </a:pPr>
            <a:r>
              <a:rPr lang="en-US" altLang="en-US" sz="2400" dirty="0">
                <a:latin typeface="Calibri" panose="020F0502020204030204" pitchFamily="34" charset="0"/>
              </a:rPr>
              <a:t>A Tsunami also known as seismic sea wave; it is a series of water waves caused by displacement of a large volume of a body of water, generally an ocean or a large lake.</a:t>
            </a:r>
          </a:p>
          <a:p>
            <a:pPr algn="just" eaLnBrk="1" hangingPunct="1">
              <a:lnSpc>
                <a:spcPct val="150000"/>
              </a:lnSpc>
              <a:spcBef>
                <a:spcPct val="0"/>
              </a:spcBef>
            </a:pPr>
            <a:r>
              <a:rPr lang="en-US" altLang="en-US" sz="2400" dirty="0">
                <a:latin typeface="Calibri" panose="020F0502020204030204" pitchFamily="34" charset="0"/>
              </a:rPr>
              <a:t>Tsunamis race across the sea at up to 500 miles (805 kilometers) an hour—about as fast as a jet airplane. At that pace, they can cross the entire expanse of the Pacific Ocean in less than a day.</a:t>
            </a:r>
          </a:p>
          <a:p>
            <a:pPr marL="12700" indent="0" algn="just">
              <a:lnSpc>
                <a:spcPct val="150000"/>
              </a:lnSpc>
              <a:buNone/>
            </a:pPr>
            <a:endParaRPr lang="en-US" sz="2400" dirty="0">
              <a:latin typeface="Calibri" panose="020F0502020204030204" pitchFamily="34" charset="0"/>
            </a:endParaRPr>
          </a:p>
          <a:p>
            <a:pPr marL="12700" indent="0" algn="just">
              <a:lnSpc>
                <a:spcPct val="150000"/>
              </a:lnSpc>
              <a:buNone/>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29340759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Line 2"/>
          <p:cNvSpPr>
            <a:spLocks noChangeShapeType="1"/>
          </p:cNvSpPr>
          <p:nvPr/>
        </p:nvSpPr>
        <p:spPr bwMode="auto">
          <a:xfrm>
            <a:off x="0" y="1065481"/>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a:t>
            </a:r>
            <a:r>
              <a:rPr lang="en-IN" altLang="en-US" sz="2400" b="1" dirty="0" smtClean="0">
                <a:solidFill>
                  <a:schemeClr val="accent1">
                    <a:lumMod val="75000"/>
                  </a:schemeClr>
                </a:solidFill>
                <a:latin typeface="Calibri" panose="020F0502020204030204" pitchFamily="34" charset="0"/>
              </a:rPr>
              <a:t>SCIENCES</a:t>
            </a:r>
          </a:p>
          <a:p>
            <a:pPr>
              <a:spcBef>
                <a:spcPct val="0"/>
              </a:spcBef>
              <a:buNone/>
            </a:pPr>
            <a:r>
              <a:rPr lang="en-IN" altLang="en-US" sz="2400" b="1" dirty="0" smtClean="0">
                <a:solidFill>
                  <a:srgbClr val="C55A11"/>
                </a:solidFill>
                <a:latin typeface="Calibri" panose="020F0502020204030204" pitchFamily="34" charset="0"/>
              </a:rPr>
              <a:t>Natural and man-made disasters</a:t>
            </a:r>
            <a:endParaRPr lang="en-US" altLang="en-US" sz="1800" dirty="0" smtClean="0"/>
          </a:p>
          <a:p>
            <a:pPr eaLnBrk="1" hangingPunct="1">
              <a:spcBef>
                <a:spcPct val="0"/>
              </a:spcBef>
              <a:buFontTx/>
              <a:buNone/>
            </a:pPr>
            <a:endParaRPr lang="en-IN" altLang="en-US" sz="2400" b="1" dirty="0" smtClean="0">
              <a:solidFill>
                <a:schemeClr val="accent1">
                  <a:lumMod val="75000"/>
                </a:schemeClr>
              </a:solidFill>
              <a:latin typeface="Calibri" panose="020F0502020204030204" pitchFamily="34" charset="0"/>
            </a:endParaRPr>
          </a:p>
          <a:p>
            <a:pPr eaLnBrk="1" hangingPunct="1">
              <a:spcBef>
                <a:spcPct val="0"/>
              </a:spcBef>
              <a:buFontTx/>
              <a:buNone/>
            </a:pPr>
            <a:endParaRPr lang="en-IN" altLang="en-US" sz="2400" b="1" dirty="0" smtClean="0">
              <a:solidFill>
                <a:schemeClr val="accent1">
                  <a:lumMod val="75000"/>
                </a:schemeClr>
              </a:solidFill>
              <a:latin typeface="Calibri" panose="020F0502020204030204" pitchFamily="34" charset="0"/>
            </a:endParaRPr>
          </a:p>
          <a:p>
            <a:pPr eaLnBrk="1" hangingPunct="1">
              <a:spcBef>
                <a:spcPct val="0"/>
              </a:spcBef>
              <a:buFontTx/>
              <a:buNone/>
            </a:pP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25</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44747" y="1281152"/>
            <a:ext cx="8069298" cy="12169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12700" indent="0" algn="just">
              <a:lnSpc>
                <a:spcPct val="150000"/>
              </a:lnSpc>
              <a:buNone/>
            </a:pPr>
            <a:endParaRPr lang="en-US" sz="2400" dirty="0">
              <a:latin typeface="Calibri" panose="020F0502020204030204" pitchFamily="34" charset="0"/>
            </a:endParaRPr>
          </a:p>
          <a:p>
            <a:pPr marL="12700" indent="0" algn="just">
              <a:lnSpc>
                <a:spcPct val="150000"/>
              </a:lnSpc>
              <a:buNone/>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pic>
        <p:nvPicPr>
          <p:cNvPr id="3" name="TSUNAMI Height Comparison (3D)">
            <a:hlinkClick r:id="" action="ppaction://media"/>
            <a:extLst>
              <a:ext uri="{FF2B5EF4-FFF2-40B4-BE49-F238E27FC236}">
                <a16:creationId xmlns:a16="http://schemas.microsoft.com/office/drawing/2014/main" xmlns="" id="{812F7574-38EA-AC40-92F1-0CE00DFC3D2B}"/>
              </a:ext>
            </a:extLst>
          </p:cNvPr>
          <p:cNvPicPr>
            <a:picLocks noChangeAspect="1"/>
          </p:cNvPicPr>
          <p:nvPr>
            <a:videoFile r:link="rId1"/>
            <p:extLst>
              <p:ext uri="{DAA4B4D4-6D71-4841-9C94-3DE7FCFB9230}">
                <p14:media xmlns:p14="http://schemas.microsoft.com/office/powerpoint/2010/main" xmlns="" r:embed="rId4"/>
              </p:ext>
            </p:extLst>
          </p:nvPr>
        </p:nvPicPr>
        <p:blipFill>
          <a:blip r:embed="rId5"/>
          <a:stretch>
            <a:fillRect/>
          </a:stretch>
        </p:blipFill>
        <p:spPr>
          <a:xfrm>
            <a:off x="334964" y="1281152"/>
            <a:ext cx="7004048" cy="3939777"/>
          </a:xfrm>
          <a:prstGeom prst="rect">
            <a:avLst/>
          </a:prstGeom>
        </p:spPr>
      </p:pic>
      <p:sp>
        <p:nvSpPr>
          <p:cNvPr id="4" name="TextBox 3">
            <a:extLst>
              <a:ext uri="{FF2B5EF4-FFF2-40B4-BE49-F238E27FC236}">
                <a16:creationId xmlns:a16="http://schemas.microsoft.com/office/drawing/2014/main" xmlns="" id="{D1132F3C-01DF-80F1-4FEF-2F08760877B6}"/>
              </a:ext>
            </a:extLst>
          </p:cNvPr>
          <p:cNvSpPr txBox="1"/>
          <p:nvPr/>
        </p:nvSpPr>
        <p:spPr>
          <a:xfrm>
            <a:off x="334963" y="6452171"/>
            <a:ext cx="3353459" cy="261610"/>
          </a:xfrm>
          <a:prstGeom prst="rect">
            <a:avLst/>
          </a:prstGeom>
          <a:noFill/>
        </p:spPr>
        <p:txBody>
          <a:bodyPr wrap="square" rtlCol="0">
            <a:spAutoFit/>
          </a:bodyPr>
          <a:lstStyle/>
          <a:p>
            <a:r>
              <a:rPr lang="en-IN" sz="1100" i="1" dirty="0"/>
              <a:t>You tube videos</a:t>
            </a:r>
            <a:endParaRPr lang="en-IN" i="1" dirty="0"/>
          </a:p>
        </p:txBody>
      </p:sp>
      <p:sp>
        <p:nvSpPr>
          <p:cNvPr id="10" name="TextBox 9"/>
          <p:cNvSpPr txBox="1"/>
          <p:nvPr/>
        </p:nvSpPr>
        <p:spPr>
          <a:xfrm>
            <a:off x="280219" y="5589638"/>
            <a:ext cx="9397829" cy="369332"/>
          </a:xfrm>
          <a:prstGeom prst="rect">
            <a:avLst/>
          </a:prstGeom>
          <a:noFill/>
        </p:spPr>
        <p:txBody>
          <a:bodyPr wrap="none" rtlCol="0">
            <a:spAutoFit/>
          </a:bodyPr>
          <a:lstStyle/>
          <a:p>
            <a:r>
              <a:rPr lang="en-IN" dirty="0" smtClean="0">
                <a:hlinkClick r:id="rId6"/>
              </a:rPr>
              <a:t>https://www.youtube.com/watch?v=DI9Y24SKPEg</a:t>
            </a:r>
            <a:r>
              <a:rPr lang="en-IN" dirty="0" smtClean="0"/>
              <a:t> </a:t>
            </a:r>
            <a:r>
              <a:rPr lang="en-IN" i="1" dirty="0" smtClean="0"/>
              <a:t>–Click on the link to watch the interesting video</a:t>
            </a:r>
            <a:endParaRPr lang="en-IN" i="1" dirty="0"/>
          </a:p>
        </p:txBody>
      </p:sp>
    </p:spTree>
    <p:extLst>
      <p:ext uri="{BB962C8B-B14F-4D97-AF65-F5344CB8AC3E}">
        <p14:creationId xmlns:p14="http://schemas.microsoft.com/office/powerpoint/2010/main" xmlns="" val="1465799910"/>
      </p:ext>
    </p:extLst>
  </p:cSld>
  <p:clrMapOvr>
    <a:masterClrMapping/>
  </p:clrMapOvr>
  <p:timing>
    <p:tnLst>
      <p:par>
        <p:cTn id="1" dur="indefinite" restart="never" nodeType="tmRoot">
          <p:childTnLst>
            <p:seq>
              <p:cTn id="2"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8839"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26</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397642"/>
            <a:ext cx="8069298" cy="62767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12700" indent="0" algn="just">
              <a:lnSpc>
                <a:spcPct val="150000"/>
              </a:lnSpc>
              <a:buNone/>
            </a:pPr>
            <a:r>
              <a:rPr lang="en-US" sz="2400" dirty="0">
                <a:solidFill>
                  <a:schemeClr val="accent1">
                    <a:lumMod val="75000"/>
                  </a:schemeClr>
                </a:solidFill>
                <a:latin typeface="Calibri" panose="020F0502020204030204" pitchFamily="34" charset="0"/>
              </a:rPr>
              <a:t>7. Drought</a:t>
            </a:r>
          </a:p>
          <a:p>
            <a:pPr algn="just" eaLnBrk="1" hangingPunct="1">
              <a:lnSpc>
                <a:spcPct val="150000"/>
              </a:lnSpc>
              <a:spcBef>
                <a:spcPct val="0"/>
              </a:spcBef>
            </a:pPr>
            <a:r>
              <a:rPr lang="en-US" altLang="en-US" sz="2400" dirty="0">
                <a:latin typeface="Calibri" panose="020F0502020204030204" pitchFamily="34" charset="0"/>
              </a:rPr>
              <a:t>Drought is an extended period when a region receives a deficiency in its water supply, whether atmospheric, surface or ground water. </a:t>
            </a:r>
          </a:p>
          <a:p>
            <a:pPr algn="just" eaLnBrk="1" hangingPunct="1">
              <a:lnSpc>
                <a:spcPct val="150000"/>
              </a:lnSpc>
              <a:spcBef>
                <a:spcPct val="0"/>
              </a:spcBef>
            </a:pPr>
            <a:r>
              <a:rPr lang="en-US" altLang="en-US" sz="2400" dirty="0">
                <a:latin typeface="Calibri" panose="020F0502020204030204" pitchFamily="34" charset="0"/>
              </a:rPr>
              <a:t>A drought can last for months or years, or may be declared after as few as 15 days, this occurs when a region receives consistently below average precipitation. </a:t>
            </a:r>
          </a:p>
          <a:p>
            <a:pPr algn="just" eaLnBrk="1" hangingPunct="1">
              <a:lnSpc>
                <a:spcPct val="150000"/>
              </a:lnSpc>
              <a:spcBef>
                <a:spcPct val="0"/>
              </a:spcBef>
            </a:pPr>
            <a:r>
              <a:rPr lang="en-US" altLang="en-US" sz="2400" dirty="0">
                <a:latin typeface="Calibri" panose="020F0502020204030204" pitchFamily="34" charset="0"/>
              </a:rPr>
              <a:t>A drought can have a substantial impact on the ecosystem &amp; agriculture of the affected region.</a:t>
            </a:r>
          </a:p>
          <a:p>
            <a:pPr marL="12700" indent="0" algn="just">
              <a:lnSpc>
                <a:spcPct val="150000"/>
              </a:lnSpc>
              <a:buNone/>
            </a:pPr>
            <a:endParaRPr lang="en-US" sz="2400" dirty="0">
              <a:latin typeface="Calibri" panose="020F0502020204030204" pitchFamily="34" charset="0"/>
            </a:endParaRPr>
          </a:p>
          <a:p>
            <a:pPr marL="12700" indent="0" algn="just">
              <a:lnSpc>
                <a:spcPct val="150000"/>
              </a:lnSpc>
              <a:buNone/>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43687059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27</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44747" y="1264667"/>
            <a:ext cx="8069298" cy="745864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12700" indent="0" algn="just">
              <a:lnSpc>
                <a:spcPct val="150000"/>
              </a:lnSpc>
              <a:buNone/>
            </a:pPr>
            <a:r>
              <a:rPr lang="en-US" sz="2400" dirty="0">
                <a:solidFill>
                  <a:schemeClr val="accent1">
                    <a:lumMod val="75000"/>
                  </a:schemeClr>
                </a:solidFill>
                <a:latin typeface="Calibri" panose="020F0502020204030204" pitchFamily="34" charset="0"/>
              </a:rPr>
              <a:t>8. Heat wave</a:t>
            </a:r>
          </a:p>
          <a:p>
            <a:pPr algn="just" eaLnBrk="1" hangingPunct="1">
              <a:lnSpc>
                <a:spcPct val="150000"/>
              </a:lnSpc>
              <a:spcBef>
                <a:spcPct val="0"/>
              </a:spcBef>
            </a:pPr>
            <a:r>
              <a:rPr lang="en-US" altLang="en-US" sz="2400" dirty="0">
                <a:latin typeface="Calibri" panose="020F0502020204030204" pitchFamily="34" charset="0"/>
              </a:rPr>
              <a:t>A heat wave is a prolonged period of excessively hot weather accompanied by high humidity, especially in oceanic climate countries.</a:t>
            </a:r>
          </a:p>
          <a:p>
            <a:pPr algn="just" eaLnBrk="1" hangingPunct="1">
              <a:lnSpc>
                <a:spcPct val="150000"/>
              </a:lnSpc>
              <a:spcBef>
                <a:spcPct val="0"/>
              </a:spcBef>
            </a:pPr>
            <a:r>
              <a:rPr lang="en-US" altLang="en-US" sz="2400" dirty="0">
                <a:latin typeface="Calibri" panose="020F0502020204030204" pitchFamily="34" charset="0"/>
              </a:rPr>
              <a:t>It occurs during the summer season in the North-Western parts of India. </a:t>
            </a:r>
          </a:p>
          <a:p>
            <a:pPr algn="just" eaLnBrk="1" hangingPunct="1">
              <a:lnSpc>
                <a:spcPct val="150000"/>
              </a:lnSpc>
              <a:spcBef>
                <a:spcPct val="0"/>
              </a:spcBef>
            </a:pPr>
            <a:r>
              <a:rPr lang="en-US" altLang="en-US" sz="2400" dirty="0">
                <a:latin typeface="Calibri" panose="020F0502020204030204" pitchFamily="34" charset="0"/>
              </a:rPr>
              <a:t>The extreme temperatures and resultant atmospheric conditions adversely affect people living in these regions as they cause physiological stress, sometimes resulting in death.</a:t>
            </a:r>
          </a:p>
          <a:p>
            <a:pPr marL="12700" indent="0" algn="just">
              <a:lnSpc>
                <a:spcPct val="150000"/>
              </a:lnSpc>
              <a:buNone/>
            </a:pPr>
            <a:endParaRPr lang="en-US" altLang="en-US" sz="2400" dirty="0">
              <a:latin typeface="Calibri" panose="020F0502020204030204" pitchFamily="34" charset="0"/>
            </a:endParaRPr>
          </a:p>
          <a:p>
            <a:pPr marL="12700" indent="0" algn="just">
              <a:lnSpc>
                <a:spcPct val="150000"/>
              </a:lnSpc>
              <a:buNone/>
            </a:pPr>
            <a:endParaRPr lang="en-US" sz="2400" dirty="0">
              <a:latin typeface="Calibri" panose="020F0502020204030204" pitchFamily="34" charset="0"/>
            </a:endParaRPr>
          </a:p>
          <a:p>
            <a:pPr marL="12700" indent="0" algn="just">
              <a:lnSpc>
                <a:spcPct val="150000"/>
              </a:lnSpc>
              <a:buNone/>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57749004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Line 2"/>
          <p:cNvSpPr>
            <a:spLocks noChangeShapeType="1"/>
          </p:cNvSpPr>
          <p:nvPr/>
        </p:nvSpPr>
        <p:spPr bwMode="auto">
          <a:xfrm>
            <a:off x="0" y="1131931"/>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a:t>
            </a:r>
            <a:r>
              <a:rPr lang="en-IN" altLang="en-US" sz="2400" b="1" dirty="0" smtClean="0">
                <a:solidFill>
                  <a:schemeClr val="accent1">
                    <a:lumMod val="75000"/>
                  </a:schemeClr>
                </a:solidFill>
                <a:latin typeface="Calibri" panose="020F0502020204030204" pitchFamily="34" charset="0"/>
              </a:rPr>
              <a:t>SCIENCES</a:t>
            </a:r>
          </a:p>
          <a:p>
            <a:pPr>
              <a:spcBef>
                <a:spcPct val="0"/>
              </a:spcBef>
              <a:buNone/>
            </a:pPr>
            <a:r>
              <a:rPr lang="en-IN" altLang="en-US" sz="2400" b="1" dirty="0" smtClean="0">
                <a:solidFill>
                  <a:srgbClr val="C55A11"/>
                </a:solidFill>
                <a:latin typeface="Calibri" panose="020F0502020204030204" pitchFamily="34" charset="0"/>
              </a:rPr>
              <a:t>Natural and man-made disasters</a:t>
            </a:r>
            <a:endParaRPr lang="en-US" altLang="en-US" sz="1800" dirty="0" smtClean="0"/>
          </a:p>
          <a:p>
            <a:pPr eaLnBrk="1" hangingPunct="1">
              <a:spcBef>
                <a:spcPct val="0"/>
              </a:spcBef>
              <a:buFontTx/>
              <a:buNone/>
            </a:pPr>
            <a:endParaRPr lang="en-IN" altLang="en-US" sz="2400" b="1" dirty="0" smtClean="0">
              <a:solidFill>
                <a:schemeClr val="accent1">
                  <a:lumMod val="75000"/>
                </a:schemeClr>
              </a:solidFill>
              <a:latin typeface="Calibri" panose="020F0502020204030204" pitchFamily="34" charset="0"/>
            </a:endParaRPr>
          </a:p>
          <a:p>
            <a:pPr eaLnBrk="1" hangingPunct="1">
              <a:spcBef>
                <a:spcPct val="0"/>
              </a:spcBef>
              <a:buFontTx/>
              <a:buNone/>
            </a:pPr>
            <a:endParaRPr lang="en-IN" altLang="en-US" sz="1200" dirty="0" smtClean="0">
              <a:solidFill>
                <a:schemeClr val="accent1">
                  <a:lumMod val="75000"/>
                </a:schemeClr>
              </a:solidFill>
            </a:endParaRPr>
          </a:p>
          <a:p>
            <a:pPr eaLnBrk="1" hangingPunct="1">
              <a:spcBef>
                <a:spcPct val="0"/>
              </a:spcBef>
              <a:buFontTx/>
              <a:buNone/>
            </a:pPr>
            <a:endParaRPr lang="en-IN" altLang="en-US" sz="1200" dirty="0" smtClean="0">
              <a:solidFill>
                <a:schemeClr val="accent1">
                  <a:lumMod val="75000"/>
                </a:schemeClr>
              </a:solidFill>
            </a:endParaRPr>
          </a:p>
          <a:p>
            <a:pPr eaLnBrk="1" hangingPunct="1">
              <a:spcBef>
                <a:spcPct val="0"/>
              </a:spcBef>
              <a:buFontTx/>
              <a:buNone/>
            </a:pPr>
            <a:endParaRPr lang="en-IN" altLang="en-US" sz="1200" dirty="0" smtClean="0">
              <a:solidFill>
                <a:schemeClr val="accent1">
                  <a:lumMod val="75000"/>
                </a:schemeClr>
              </a:solidFill>
            </a:endParaRPr>
          </a:p>
          <a:p>
            <a:pPr eaLnBrk="1" hangingPunct="1">
              <a:spcBef>
                <a:spcPct val="0"/>
              </a:spcBef>
              <a:buFontTx/>
              <a:buNone/>
            </a:pPr>
            <a:endParaRPr lang="en-IN" altLang="en-US" sz="1200" dirty="0" smtClean="0">
              <a:solidFill>
                <a:schemeClr val="accent1">
                  <a:lumMod val="75000"/>
                </a:schemeClr>
              </a:solidFill>
            </a:endParaRPr>
          </a:p>
          <a:p>
            <a:pPr eaLnBrk="1" hangingPunct="1">
              <a:spcBef>
                <a:spcPct val="0"/>
              </a:spcBef>
              <a:buFontTx/>
              <a:buNone/>
            </a:pPr>
            <a:endParaRPr lang="en-IN" altLang="en-US" sz="1200" dirty="0" smtClean="0">
              <a:solidFill>
                <a:schemeClr val="accent1">
                  <a:lumMod val="75000"/>
                </a:schemeClr>
              </a:solidFill>
            </a:endParaRPr>
          </a:p>
          <a:p>
            <a:pPr eaLnBrk="1" hangingPunct="1">
              <a:spcBef>
                <a:spcPct val="0"/>
              </a:spcBef>
              <a:buFontTx/>
              <a:buNone/>
            </a:pPr>
            <a:endParaRPr lang="en-IN" altLang="en-US" sz="1200" dirty="0" smtClean="0">
              <a:solidFill>
                <a:schemeClr val="accent1">
                  <a:lumMod val="75000"/>
                </a:schemeClr>
              </a:solidFill>
            </a:endParaRPr>
          </a:p>
          <a:p>
            <a:pPr eaLnBrk="1" hangingPunct="1">
              <a:spcBef>
                <a:spcPct val="0"/>
              </a:spcBef>
              <a:buFontTx/>
              <a:buNone/>
            </a:pPr>
            <a:endParaRPr lang="en-IN" altLang="en-US" sz="1200" dirty="0" smtClean="0">
              <a:solidFill>
                <a:schemeClr val="accent1">
                  <a:lumMod val="75000"/>
                </a:schemeClr>
              </a:solidFill>
            </a:endParaRPr>
          </a:p>
          <a:p>
            <a:pPr eaLnBrk="1" hangingPunct="1">
              <a:spcBef>
                <a:spcPct val="0"/>
              </a:spcBef>
              <a:buFontTx/>
              <a:buNone/>
            </a:pP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28</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341902"/>
            <a:ext cx="8069298" cy="184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12700" indent="0" algn="just">
              <a:lnSpc>
                <a:spcPct val="150000"/>
              </a:lnSpc>
              <a:buNone/>
            </a:pPr>
            <a:endParaRPr lang="en-US" altLang="en-US" sz="2400" dirty="0">
              <a:latin typeface="Calibri" panose="020F0502020204030204" pitchFamily="34" charset="0"/>
            </a:endParaRPr>
          </a:p>
          <a:p>
            <a:pPr marL="12700" indent="0" algn="just">
              <a:lnSpc>
                <a:spcPct val="150000"/>
              </a:lnSpc>
              <a:buNone/>
            </a:pPr>
            <a:endParaRPr lang="en-US" sz="2400" dirty="0">
              <a:latin typeface="Calibri" panose="020F0502020204030204" pitchFamily="34" charset="0"/>
            </a:endParaRPr>
          </a:p>
          <a:p>
            <a:pPr marL="12700" indent="0" algn="just">
              <a:lnSpc>
                <a:spcPct val="150000"/>
              </a:lnSpc>
              <a:buNone/>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pic>
        <p:nvPicPr>
          <p:cNvPr id="3" name="Picture 2" descr="Heat exhaustion vs. heat stroke: Here's how to know the difference">
            <a:extLst>
              <a:ext uri="{FF2B5EF4-FFF2-40B4-BE49-F238E27FC236}">
                <a16:creationId xmlns:a16="http://schemas.microsoft.com/office/drawing/2014/main" xmlns="" id="{F44DB909-3873-5D30-8973-BB0F1C2C497E}"/>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446951" y="1629874"/>
            <a:ext cx="8200886" cy="461310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TextBox 4">
            <a:extLst>
              <a:ext uri="{FF2B5EF4-FFF2-40B4-BE49-F238E27FC236}">
                <a16:creationId xmlns:a16="http://schemas.microsoft.com/office/drawing/2014/main" xmlns="" id="{B2DBDC2F-CEB0-E063-DF91-2C46E2AAE276}"/>
              </a:ext>
            </a:extLst>
          </p:cNvPr>
          <p:cNvSpPr txBox="1"/>
          <p:nvPr/>
        </p:nvSpPr>
        <p:spPr>
          <a:xfrm>
            <a:off x="334963" y="6469484"/>
            <a:ext cx="6097712" cy="261610"/>
          </a:xfrm>
          <a:prstGeom prst="rect">
            <a:avLst/>
          </a:prstGeom>
          <a:noFill/>
        </p:spPr>
        <p:txBody>
          <a:bodyPr wrap="square">
            <a:spAutoFit/>
          </a:bodyPr>
          <a:lstStyle/>
          <a:p>
            <a:r>
              <a:rPr lang="en-US" altLang="en-US" sz="1100" i="1" dirty="0"/>
              <a:t>Image source: https://www.news10.com/news/</a:t>
            </a:r>
            <a:endParaRPr lang="en-IN" sz="1100" i="1" dirty="0"/>
          </a:p>
        </p:txBody>
      </p:sp>
    </p:spTree>
    <p:extLst>
      <p:ext uri="{BB962C8B-B14F-4D97-AF65-F5344CB8AC3E}">
        <p14:creationId xmlns:p14="http://schemas.microsoft.com/office/powerpoint/2010/main" xmlns="" val="422904323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29</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397642"/>
            <a:ext cx="8069298" cy="572278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150000"/>
              </a:lnSpc>
            </a:pPr>
            <a:r>
              <a:rPr lang="en-US" sz="2400" dirty="0">
                <a:solidFill>
                  <a:schemeClr val="accent1">
                    <a:lumMod val="75000"/>
                  </a:schemeClr>
                </a:solidFill>
                <a:latin typeface="Calibri" panose="020F0502020204030204" pitchFamily="34" charset="0"/>
              </a:rPr>
              <a:t>Man-made disasters</a:t>
            </a:r>
          </a:p>
          <a:p>
            <a:pPr algn="just" eaLnBrk="1" hangingPunct="1">
              <a:lnSpc>
                <a:spcPct val="150000"/>
              </a:lnSpc>
              <a:spcBef>
                <a:spcPct val="0"/>
              </a:spcBef>
            </a:pPr>
            <a:r>
              <a:rPr lang="en-US" altLang="en-US" sz="2400" dirty="0">
                <a:latin typeface="Calibri" panose="020F0502020204030204" pitchFamily="34" charset="0"/>
              </a:rPr>
              <a:t>Disasters having elements of human intent, negligence, error, failure of human-made systems. </a:t>
            </a:r>
          </a:p>
          <a:p>
            <a:pPr algn="just" eaLnBrk="1" hangingPunct="1">
              <a:lnSpc>
                <a:spcPct val="150000"/>
              </a:lnSpc>
              <a:spcBef>
                <a:spcPct val="0"/>
              </a:spcBef>
            </a:pPr>
            <a:r>
              <a:rPr lang="en-US" altLang="en-US" sz="2400" dirty="0">
                <a:latin typeface="Calibri" panose="020F0502020204030204" pitchFamily="34" charset="0"/>
              </a:rPr>
              <a:t>Such events result in huge losses of life &amp; property along with damage to people’s mental, physical &amp; social well-being.</a:t>
            </a:r>
          </a:p>
          <a:p>
            <a:pPr algn="just" eaLnBrk="1" hangingPunct="1">
              <a:lnSpc>
                <a:spcPct val="150000"/>
              </a:lnSpc>
              <a:spcBef>
                <a:spcPct val="0"/>
              </a:spcBef>
            </a:pPr>
            <a:r>
              <a:rPr lang="en-US" altLang="en-US" sz="2400" dirty="0">
                <a:latin typeface="Calibri" panose="020F0502020204030204" pitchFamily="34" charset="0"/>
              </a:rPr>
              <a:t>Such man-made disasters are nuclear disaster, biological/chemical threat, accidental, terrorism, etc. </a:t>
            </a:r>
          </a:p>
          <a:p>
            <a:pPr marL="12700" indent="0" algn="just">
              <a:lnSpc>
                <a:spcPct val="150000"/>
              </a:lnSpc>
              <a:buNone/>
            </a:pPr>
            <a:endParaRPr lang="en-US" sz="2400" dirty="0">
              <a:latin typeface="Calibri" panose="020F0502020204030204" pitchFamily="34" charset="0"/>
            </a:endParaRPr>
          </a:p>
          <a:p>
            <a:pPr marL="12700" indent="0" algn="just">
              <a:lnSpc>
                <a:spcPct val="150000"/>
              </a:lnSpc>
              <a:buNone/>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10420432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30</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397642"/>
            <a:ext cx="8069298" cy="64245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150000"/>
              </a:lnSpc>
            </a:pPr>
            <a:r>
              <a:rPr lang="en-US" sz="2400" b="1" dirty="0">
                <a:solidFill>
                  <a:schemeClr val="accent1">
                    <a:lumMod val="75000"/>
                  </a:schemeClr>
                </a:solidFill>
                <a:latin typeface="Calibri" panose="020F0502020204030204" pitchFamily="34" charset="0"/>
              </a:rPr>
              <a:t>Nuclear disaster</a:t>
            </a:r>
          </a:p>
          <a:p>
            <a:pPr algn="just">
              <a:lnSpc>
                <a:spcPct val="150000"/>
              </a:lnSpc>
            </a:pPr>
            <a:r>
              <a:rPr lang="en-US" sz="2400" dirty="0">
                <a:latin typeface="Calibri" pitchFamily="34" charset="0"/>
                <a:cs typeface="Calibri" pitchFamily="34" charset="0"/>
              </a:rPr>
              <a:t>An accident taking place in any nuclear facility of the nuclear fuel cycle including the nuclear reactor, or in a facility using radioactive sources, leading to a large-scale release of radioactivity in the environment.</a:t>
            </a:r>
          </a:p>
          <a:p>
            <a:pPr algn="just">
              <a:lnSpc>
                <a:spcPct val="150000"/>
              </a:lnSpc>
            </a:pPr>
            <a:r>
              <a:rPr lang="en-US" sz="2400" dirty="0">
                <a:latin typeface="Calibri" pitchFamily="34" charset="0"/>
                <a:cs typeface="Calibri" pitchFamily="34" charset="0"/>
              </a:rPr>
              <a:t>A ‘criticality’ accident in a nuclear fuel cycle facility where an uncontrolled nuclear chain reaction takes place inadvertently leading to bursts of neutrons and gamma radiation (as had happened at </a:t>
            </a:r>
            <a:r>
              <a:rPr lang="en-US" sz="2400" dirty="0" err="1">
                <a:latin typeface="Calibri" pitchFamily="34" charset="0"/>
                <a:cs typeface="Calibri" pitchFamily="34" charset="0"/>
              </a:rPr>
              <a:t>Tokaimura</a:t>
            </a:r>
            <a:r>
              <a:rPr lang="en-US" sz="2400" dirty="0">
                <a:latin typeface="Calibri" pitchFamily="34" charset="0"/>
                <a:cs typeface="Calibri" pitchFamily="34" charset="0"/>
              </a:rPr>
              <a:t>, Japan).</a:t>
            </a:r>
          </a:p>
          <a:p>
            <a:pPr marL="12700" indent="0" algn="just">
              <a:lnSpc>
                <a:spcPct val="150000"/>
              </a:lnSpc>
              <a:buNone/>
            </a:pPr>
            <a:endParaRPr lang="en-US" sz="2400" dirty="0">
              <a:latin typeface="Calibri" pitchFamily="34" charset="0"/>
              <a:cs typeface="Calibri" pitchFamily="34" charset="0"/>
            </a:endParaRPr>
          </a:p>
          <a:p>
            <a:pPr marL="12700" indent="0" algn="just">
              <a:lnSpc>
                <a:spcPct val="150000"/>
              </a:lnSpc>
              <a:buNone/>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09030077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31</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397642"/>
            <a:ext cx="8069298" cy="62767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algn="just">
              <a:lnSpc>
                <a:spcPct val="150000"/>
              </a:lnSpc>
              <a:spcBef>
                <a:spcPct val="0"/>
              </a:spcBef>
            </a:pPr>
            <a:r>
              <a:rPr lang="en-US" altLang="en-US" sz="2400" dirty="0">
                <a:latin typeface="Calibri" panose="020F0502020204030204" pitchFamily="34" charset="0"/>
              </a:rPr>
              <a:t>An accident during the transportation of radioactive material.</a:t>
            </a:r>
          </a:p>
          <a:p>
            <a:pPr marL="342900" algn="just">
              <a:lnSpc>
                <a:spcPct val="150000"/>
              </a:lnSpc>
              <a:spcBef>
                <a:spcPct val="0"/>
              </a:spcBef>
            </a:pPr>
            <a:r>
              <a:rPr lang="en-US" altLang="en-US" sz="2400" dirty="0">
                <a:latin typeface="Calibri" panose="020F0502020204030204" pitchFamily="34" charset="0"/>
              </a:rPr>
              <a:t>The malevolent use of radioactive material as Radiological Dispersal Device (RDD) by terrorists for dispersing radioactive material in the environment.</a:t>
            </a:r>
          </a:p>
          <a:p>
            <a:pPr marL="342900" algn="just">
              <a:lnSpc>
                <a:spcPct val="150000"/>
              </a:lnSpc>
              <a:spcBef>
                <a:spcPct val="0"/>
              </a:spcBef>
            </a:pPr>
            <a:r>
              <a:rPr lang="en-US" altLang="en-US" sz="2400" dirty="0">
                <a:latin typeface="Calibri" panose="020F0502020204030204" pitchFamily="34" charset="0"/>
              </a:rPr>
              <a:t>A large-scale nuclear disaster resulting from a nuclear weapon attack (as had happened at Hiroshima and Nagasaki in Japan) which would lead to mass casualties and destruction of large areas and properties.</a:t>
            </a:r>
          </a:p>
          <a:p>
            <a:pPr marL="12700" indent="0" algn="just">
              <a:lnSpc>
                <a:spcPct val="150000"/>
              </a:lnSpc>
              <a:buNone/>
            </a:pPr>
            <a:endParaRPr lang="en-US" sz="2400" dirty="0">
              <a:latin typeface="Calibri" pitchFamily="34" charset="0"/>
              <a:cs typeface="Calibri" pitchFamily="34" charset="0"/>
            </a:endParaRPr>
          </a:p>
          <a:p>
            <a:pPr marL="12700" indent="0" algn="just">
              <a:lnSpc>
                <a:spcPct val="150000"/>
              </a:lnSpc>
              <a:buNone/>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30687152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32</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397642"/>
            <a:ext cx="8069298" cy="62767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algn="just">
              <a:lnSpc>
                <a:spcPct val="150000"/>
              </a:lnSpc>
              <a:spcBef>
                <a:spcPct val="0"/>
              </a:spcBef>
            </a:pPr>
            <a:r>
              <a:rPr lang="en-US" sz="2400" dirty="0">
                <a:solidFill>
                  <a:schemeClr val="accent1">
                    <a:lumMod val="75000"/>
                  </a:schemeClr>
                </a:solidFill>
                <a:latin typeface="Calibri" panose="020F0502020204030204" pitchFamily="34" charset="0"/>
              </a:rPr>
              <a:t>The Chernobyl disaster </a:t>
            </a:r>
            <a:r>
              <a:rPr lang="en-US" sz="2400" dirty="0">
                <a:latin typeface="Calibri" panose="020F0502020204030204" pitchFamily="34" charset="0"/>
              </a:rPr>
              <a:t>began on 26</a:t>
            </a:r>
            <a:r>
              <a:rPr lang="en-US" sz="2400" baseline="30000" dirty="0">
                <a:latin typeface="Calibri" panose="020F0502020204030204" pitchFamily="34" charset="0"/>
              </a:rPr>
              <a:t>th</a:t>
            </a:r>
            <a:r>
              <a:rPr lang="en-US" sz="2400" dirty="0">
                <a:latin typeface="Calibri" panose="020F0502020204030204" pitchFamily="34" charset="0"/>
              </a:rPr>
              <a:t> April 1986 with the explosion of the No. 4 reactor of the Chernobyl Nuclear Power Plant near the city of Pripyat in the north of the Ukrainian SSR, in the Soviet Union.</a:t>
            </a:r>
          </a:p>
          <a:p>
            <a:pPr marL="342900" algn="just">
              <a:lnSpc>
                <a:spcPct val="150000"/>
              </a:lnSpc>
              <a:spcBef>
                <a:spcPct val="0"/>
              </a:spcBef>
            </a:pPr>
            <a:r>
              <a:rPr lang="en-US" sz="2400" dirty="0">
                <a:latin typeface="Calibri" panose="020F0502020204030204" pitchFamily="34" charset="0"/>
              </a:rPr>
              <a:t>It was the worst nuclear disaster in history, and the costliest disaster in human history, costing an estimated US$700 billion.</a:t>
            </a:r>
          </a:p>
          <a:p>
            <a:pPr marL="342900" algn="just">
              <a:lnSpc>
                <a:spcPct val="150000"/>
              </a:lnSpc>
              <a:spcBef>
                <a:spcPct val="0"/>
              </a:spcBef>
            </a:pPr>
            <a:r>
              <a:rPr lang="en-US" sz="2400" dirty="0">
                <a:latin typeface="Calibri" panose="020F0502020204030204" pitchFamily="34" charset="0"/>
              </a:rPr>
              <a:t>It was the result of a flawed reactor design that was operated with inadequately trained personnel.</a:t>
            </a:r>
          </a:p>
          <a:p>
            <a:pPr marL="342900" algn="just">
              <a:lnSpc>
                <a:spcPct val="150000"/>
              </a:lnSpc>
              <a:spcBef>
                <a:spcPct val="0"/>
              </a:spcBef>
            </a:pPr>
            <a:endParaRPr lang="en-US" sz="2400" dirty="0">
              <a:latin typeface="Calibri" panose="020F0502020204030204" pitchFamily="34" charset="0"/>
            </a:endParaRPr>
          </a:p>
          <a:p>
            <a:pPr marL="12700" indent="0" algn="just">
              <a:lnSpc>
                <a:spcPct val="150000"/>
              </a:lnSpc>
              <a:buNone/>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18385257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33</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397642"/>
            <a:ext cx="8069298" cy="620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150000"/>
              </a:lnSpc>
              <a:buFont typeface="Arial" panose="020B0604020202020204" pitchFamily="34" charset="0"/>
              <a:buChar char="•"/>
            </a:pPr>
            <a:r>
              <a:rPr lang="en-US" sz="2400" dirty="0">
                <a:latin typeface="Calibri" panose="020F0502020204030204" pitchFamily="34" charset="0"/>
              </a:rPr>
              <a:t>The resulting steam explosion and fires released at least 5 % of the radioactive reactor core into the environment, with the deposition of radioactive materials in many parts of Europe.</a:t>
            </a:r>
          </a:p>
          <a:p>
            <a:pPr marL="342900" algn="just">
              <a:lnSpc>
                <a:spcPct val="150000"/>
              </a:lnSpc>
              <a:spcBef>
                <a:spcPct val="0"/>
              </a:spcBef>
            </a:pPr>
            <a:r>
              <a:rPr lang="en-US" sz="2400" dirty="0">
                <a:latin typeface="Calibri" panose="020F0502020204030204" pitchFamily="34" charset="0"/>
              </a:rPr>
              <a:t>Two Chernobyl plant workers died due to the explosion on the night of the accident, and a further 28 people died within a few weeks as a result of acute radiation syndrome.</a:t>
            </a:r>
          </a:p>
          <a:p>
            <a:pPr marL="342900" algn="just">
              <a:lnSpc>
                <a:spcPct val="150000"/>
              </a:lnSpc>
              <a:spcBef>
                <a:spcPct val="0"/>
              </a:spcBef>
            </a:pPr>
            <a:r>
              <a:rPr lang="en-US" sz="2400" dirty="0">
                <a:latin typeface="Calibri" panose="020F0502020204030204" pitchFamily="34" charset="0"/>
              </a:rPr>
              <a:t>Some 350,000 people were evacuated as a result of the accident.</a:t>
            </a:r>
          </a:p>
          <a:p>
            <a:pPr marL="342900" algn="just">
              <a:lnSpc>
                <a:spcPct val="150000"/>
              </a:lnSpc>
              <a:spcBef>
                <a:spcPct val="0"/>
              </a:spcBef>
            </a:pPr>
            <a:endParaRPr lang="en-US" sz="2400" dirty="0">
              <a:latin typeface="Calibri" panose="020F0502020204030204" pitchFamily="34" charset="0"/>
            </a:endParaRPr>
          </a:p>
          <a:p>
            <a:pPr marL="12700" indent="0" algn="just">
              <a:lnSpc>
                <a:spcPct val="150000"/>
              </a:lnSpc>
              <a:buNone/>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36905839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Chernobyl disaster</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34</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pic>
        <p:nvPicPr>
          <p:cNvPr id="3074" name="Picture 2" descr="Chernobyl disaster - Wikipedia">
            <a:extLst>
              <a:ext uri="{FF2B5EF4-FFF2-40B4-BE49-F238E27FC236}">
                <a16:creationId xmlns:a16="http://schemas.microsoft.com/office/drawing/2014/main" xmlns="" id="{BD390D41-758A-2B99-C5EE-EC0273F3DA94}"/>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747821" y="1837795"/>
            <a:ext cx="2294455" cy="3824092"/>
          </a:xfrm>
          <a:prstGeom prst="rect">
            <a:avLst/>
          </a:prstGeom>
          <a:noFill/>
          <a:extLst>
            <a:ext uri="{909E8E84-426E-40DD-AFC4-6F175D3DCCD1}">
              <a14:hiddenFill xmlns:a14="http://schemas.microsoft.com/office/drawing/2010/main" xmlns="">
                <a:solidFill>
                  <a:srgbClr val="FFFFFF"/>
                </a:solidFill>
              </a14:hiddenFill>
            </a:ext>
          </a:extLst>
        </p:spPr>
      </p:pic>
      <p:pic>
        <p:nvPicPr>
          <p:cNvPr id="3" name="Picture 4" descr="Remembering the World's Worst Nuclear Disaster | by USAID | U.S. Agency for  International Development | Medium">
            <a:extLst>
              <a:ext uri="{FF2B5EF4-FFF2-40B4-BE49-F238E27FC236}">
                <a16:creationId xmlns:a16="http://schemas.microsoft.com/office/drawing/2014/main" xmlns="" id="{F96B2466-1B16-CD99-D545-FD72979429C2}"/>
              </a:ext>
            </a:extLst>
          </p:cNvPr>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1155781" y="1482030"/>
            <a:ext cx="3544316" cy="2360962"/>
          </a:xfrm>
          <a:prstGeom prst="rect">
            <a:avLst/>
          </a:prstGeom>
          <a:noFill/>
          <a:extLst>
            <a:ext uri="{909E8E84-426E-40DD-AFC4-6F175D3DCCD1}">
              <a14:hiddenFill xmlns:a14="http://schemas.microsoft.com/office/drawing/2010/main" xmlns="">
                <a:solidFill>
                  <a:srgbClr val="FFFFFF"/>
                </a:solidFill>
              </a14:hiddenFill>
            </a:ext>
          </a:extLst>
        </p:spPr>
      </p:pic>
      <p:pic>
        <p:nvPicPr>
          <p:cNvPr id="4" name="Picture 6" descr="Chernobyl disaster | Causes, Effects, Deaths, Videos, Location, &amp; Facts |  Britannica">
            <a:extLst>
              <a:ext uri="{FF2B5EF4-FFF2-40B4-BE49-F238E27FC236}">
                <a16:creationId xmlns:a16="http://schemas.microsoft.com/office/drawing/2014/main" xmlns="" id="{C02957B7-24EC-0290-D0B2-249B5B7E3845}"/>
              </a:ext>
            </a:extLst>
          </p:cNvPr>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1155781" y="4063860"/>
            <a:ext cx="3544317" cy="2363608"/>
          </a:xfrm>
          <a:prstGeom prst="rect">
            <a:avLst/>
          </a:prstGeom>
          <a:noFill/>
          <a:extLst>
            <a:ext uri="{909E8E84-426E-40DD-AFC4-6F175D3DCCD1}">
              <a14:hiddenFill xmlns:a14="http://schemas.microsoft.com/office/drawing/2010/main" xmlns="">
                <a:solidFill>
                  <a:srgbClr val="FFFFFF"/>
                </a:solidFill>
              </a14:hiddenFill>
            </a:ext>
          </a:extLst>
        </p:spPr>
      </p:pic>
      <p:sp>
        <p:nvSpPr>
          <p:cNvPr id="5" name="Rectangle 11">
            <a:extLst>
              <a:ext uri="{FF2B5EF4-FFF2-40B4-BE49-F238E27FC236}">
                <a16:creationId xmlns:a16="http://schemas.microsoft.com/office/drawing/2014/main" xmlns="" id="{E5096D41-74A4-91D7-5869-35230B7FE8BA}"/>
              </a:ext>
            </a:extLst>
          </p:cNvPr>
          <p:cNvSpPr>
            <a:spLocks noChangeArrowheads="1"/>
          </p:cNvSpPr>
          <p:nvPr/>
        </p:nvSpPr>
        <p:spPr bwMode="auto">
          <a:xfrm>
            <a:off x="334963" y="6605587"/>
            <a:ext cx="1603324" cy="261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43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3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32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7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700">
                <a:solidFill>
                  <a:schemeClr val="tx1"/>
                </a:solidFill>
                <a:latin typeface="Calibri" panose="020F0502020204030204" pitchFamily="34" charset="0"/>
              </a:defRPr>
            </a:lvl5pPr>
            <a:lvl6pPr marL="2514600" indent="-228600" defTabSz="1233488" eaLnBrk="0" fontAlgn="base" hangingPunct="0">
              <a:spcBef>
                <a:spcPct val="20000"/>
              </a:spcBef>
              <a:spcAft>
                <a:spcPct val="0"/>
              </a:spcAft>
              <a:buFont typeface="Arial" panose="020B0604020202020204" pitchFamily="34" charset="0"/>
              <a:buChar char="»"/>
              <a:defRPr sz="2700">
                <a:solidFill>
                  <a:schemeClr val="tx1"/>
                </a:solidFill>
                <a:latin typeface="Calibri" panose="020F0502020204030204" pitchFamily="34" charset="0"/>
              </a:defRPr>
            </a:lvl6pPr>
            <a:lvl7pPr marL="2971800" indent="-228600" defTabSz="1233488" eaLnBrk="0" fontAlgn="base" hangingPunct="0">
              <a:spcBef>
                <a:spcPct val="20000"/>
              </a:spcBef>
              <a:spcAft>
                <a:spcPct val="0"/>
              </a:spcAft>
              <a:buFont typeface="Arial" panose="020B0604020202020204" pitchFamily="34" charset="0"/>
              <a:buChar char="»"/>
              <a:defRPr sz="2700">
                <a:solidFill>
                  <a:schemeClr val="tx1"/>
                </a:solidFill>
                <a:latin typeface="Calibri" panose="020F0502020204030204" pitchFamily="34" charset="0"/>
              </a:defRPr>
            </a:lvl7pPr>
            <a:lvl8pPr marL="3429000" indent="-228600" defTabSz="1233488" eaLnBrk="0" fontAlgn="base" hangingPunct="0">
              <a:spcBef>
                <a:spcPct val="20000"/>
              </a:spcBef>
              <a:spcAft>
                <a:spcPct val="0"/>
              </a:spcAft>
              <a:buFont typeface="Arial" panose="020B0604020202020204" pitchFamily="34" charset="0"/>
              <a:buChar char="»"/>
              <a:defRPr sz="2700">
                <a:solidFill>
                  <a:schemeClr val="tx1"/>
                </a:solidFill>
                <a:latin typeface="Calibri" panose="020F0502020204030204" pitchFamily="34" charset="0"/>
              </a:defRPr>
            </a:lvl8pPr>
            <a:lvl9pPr marL="3886200" indent="-228600" defTabSz="1233488" eaLnBrk="0" fontAlgn="base" hangingPunct="0">
              <a:spcBef>
                <a:spcPct val="20000"/>
              </a:spcBef>
              <a:spcAft>
                <a:spcPct val="0"/>
              </a:spcAft>
              <a:buFont typeface="Arial" panose="020B0604020202020204" pitchFamily="34" charset="0"/>
              <a:buChar char="»"/>
              <a:defRPr sz="2700">
                <a:solidFill>
                  <a:schemeClr val="tx1"/>
                </a:solidFill>
                <a:latin typeface="Calibri" panose="020F0502020204030204" pitchFamily="34" charset="0"/>
              </a:defRPr>
            </a:lvl9pPr>
          </a:lstStyle>
          <a:p>
            <a:pPr eaLnBrk="1" hangingPunct="1">
              <a:spcBef>
                <a:spcPct val="0"/>
              </a:spcBef>
              <a:buFontTx/>
              <a:buNone/>
            </a:pPr>
            <a:r>
              <a:rPr lang="en-IN" altLang="en-US" sz="1100" i="1" dirty="0"/>
              <a:t>Image source: Britannica</a:t>
            </a:r>
          </a:p>
        </p:txBody>
      </p:sp>
    </p:spTree>
    <p:extLst>
      <p:ext uri="{BB962C8B-B14F-4D97-AF65-F5344CB8AC3E}">
        <p14:creationId xmlns:p14="http://schemas.microsoft.com/office/powerpoint/2010/main" xmlns="" val="17843087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35</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397642"/>
            <a:ext cx="8069298" cy="69785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150000"/>
              </a:lnSpc>
              <a:buFont typeface="Arial" panose="020B0604020202020204" pitchFamily="34" charset="0"/>
              <a:buChar char="•"/>
            </a:pPr>
            <a:r>
              <a:rPr lang="en-US" sz="2400" b="1" dirty="0">
                <a:solidFill>
                  <a:schemeClr val="accent1">
                    <a:lumMod val="75000"/>
                  </a:schemeClr>
                </a:solidFill>
                <a:latin typeface="Calibri" panose="020F0502020204030204" pitchFamily="34" charset="0"/>
              </a:rPr>
              <a:t>Chemical disaster</a:t>
            </a:r>
          </a:p>
          <a:p>
            <a:pPr algn="just">
              <a:lnSpc>
                <a:spcPct val="150000"/>
              </a:lnSpc>
              <a:buFont typeface="Arial" panose="020B0604020202020204" pitchFamily="34" charset="0"/>
              <a:buChar char="•"/>
            </a:pPr>
            <a:r>
              <a:rPr lang="en-US" altLang="en-US" sz="2400" dirty="0">
                <a:latin typeface="Calibri" panose="020F0502020204030204" pitchFamily="34" charset="0"/>
              </a:rPr>
              <a:t>Chemical, being at the core of modern industrial systems, has attained a very serious concern for disaster management.</a:t>
            </a:r>
          </a:p>
          <a:p>
            <a:pPr algn="just">
              <a:lnSpc>
                <a:spcPct val="150000"/>
              </a:lnSpc>
              <a:buFont typeface="Arial" panose="020B0604020202020204" pitchFamily="34" charset="0"/>
              <a:buChar char="•"/>
            </a:pPr>
            <a:r>
              <a:rPr lang="en-US" altLang="en-US" sz="2400" dirty="0">
                <a:latin typeface="Calibri" panose="020F0502020204030204" pitchFamily="34" charset="0"/>
              </a:rPr>
              <a:t>The elements which are at highest risks due to chemical disaster primarily include the industrial plant, its employees &amp; workers, hazardous chemicals vehicles, the residents of nearby settlements, adjacent buildings, occupants and surrounding community.</a:t>
            </a:r>
          </a:p>
          <a:p>
            <a:pPr algn="just">
              <a:lnSpc>
                <a:spcPct val="150000"/>
              </a:lnSpc>
              <a:buFont typeface="Arial" panose="020B0604020202020204" pitchFamily="34" charset="0"/>
              <a:buChar char="•"/>
            </a:pPr>
            <a:endParaRPr lang="en-US" sz="2400" dirty="0">
              <a:latin typeface="Calibri" panose="020F0502020204030204" pitchFamily="34" charset="0"/>
            </a:endParaRPr>
          </a:p>
          <a:p>
            <a:pPr marL="342900" algn="just">
              <a:lnSpc>
                <a:spcPct val="150000"/>
              </a:lnSpc>
              <a:spcBef>
                <a:spcPct val="0"/>
              </a:spcBef>
            </a:pPr>
            <a:endParaRPr lang="en-US" sz="2400" dirty="0">
              <a:latin typeface="Calibri" panose="020F0502020204030204" pitchFamily="34" charset="0"/>
            </a:endParaRPr>
          </a:p>
          <a:p>
            <a:pPr marL="12700" indent="0" algn="just">
              <a:lnSpc>
                <a:spcPct val="150000"/>
              </a:lnSpc>
              <a:buNone/>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0781567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36</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397642"/>
            <a:ext cx="8069298" cy="50949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150000"/>
              </a:lnSpc>
              <a:spcBef>
                <a:spcPct val="0"/>
              </a:spcBef>
            </a:pPr>
            <a:r>
              <a:rPr lang="en-US" altLang="en-US" sz="2400" dirty="0">
                <a:latin typeface="Calibri" panose="020F0502020204030204" pitchFamily="34" charset="0"/>
              </a:rPr>
              <a:t>Chemical disasters may arise in number of ways, such as:-</a:t>
            </a:r>
          </a:p>
          <a:p>
            <a:pPr lvl="1" algn="just" eaLnBrk="1" hangingPunct="1">
              <a:lnSpc>
                <a:spcPct val="150000"/>
              </a:lnSpc>
              <a:spcBef>
                <a:spcPct val="0"/>
              </a:spcBef>
              <a:buFont typeface="Arial" panose="020B0604020202020204" pitchFamily="34" charset="0"/>
              <a:buAutoNum type="arabicPeriod"/>
            </a:pPr>
            <a:r>
              <a:rPr lang="en-US" altLang="en-US" sz="2400" dirty="0">
                <a:latin typeface="Calibri" panose="020F0502020204030204" pitchFamily="34" charset="0"/>
              </a:rPr>
              <a:t>Process and safety systems failures: Human errors, Technical errors, Management errors</a:t>
            </a:r>
          </a:p>
          <a:p>
            <a:pPr lvl="1" algn="just" eaLnBrk="1" hangingPunct="1">
              <a:lnSpc>
                <a:spcPct val="150000"/>
              </a:lnSpc>
              <a:spcBef>
                <a:spcPct val="0"/>
              </a:spcBef>
              <a:buFont typeface="Arial" panose="020B0604020202020204" pitchFamily="34" charset="0"/>
              <a:buAutoNum type="arabicPeriod"/>
            </a:pPr>
            <a:r>
              <a:rPr lang="en-US" altLang="en-US" sz="2400" dirty="0">
                <a:latin typeface="Calibri" panose="020F0502020204030204" pitchFamily="34" charset="0"/>
              </a:rPr>
              <a:t>Induced effect of natural calamities</a:t>
            </a:r>
          </a:p>
          <a:p>
            <a:pPr lvl="1" algn="just" eaLnBrk="1" hangingPunct="1">
              <a:lnSpc>
                <a:spcPct val="150000"/>
              </a:lnSpc>
              <a:spcBef>
                <a:spcPct val="0"/>
              </a:spcBef>
              <a:buFont typeface="Arial" panose="020B0604020202020204" pitchFamily="34" charset="0"/>
              <a:buAutoNum type="arabicPeriod"/>
            </a:pPr>
            <a:r>
              <a:rPr lang="en-US" altLang="en-US" sz="2400" dirty="0">
                <a:latin typeface="Calibri" panose="020F0502020204030204" pitchFamily="34" charset="0"/>
              </a:rPr>
              <a:t>Accidents during the transportation</a:t>
            </a:r>
          </a:p>
          <a:p>
            <a:pPr lvl="1" algn="just" eaLnBrk="1" hangingPunct="1">
              <a:lnSpc>
                <a:spcPct val="150000"/>
              </a:lnSpc>
              <a:spcBef>
                <a:spcPct val="0"/>
              </a:spcBef>
              <a:buFont typeface="Arial" panose="020B0604020202020204" pitchFamily="34" charset="0"/>
              <a:buAutoNum type="arabicPeriod"/>
            </a:pPr>
            <a:r>
              <a:rPr lang="en-US" altLang="en-US" sz="2400" dirty="0">
                <a:latin typeface="Calibri" panose="020F0502020204030204" pitchFamily="34" charset="0"/>
              </a:rPr>
              <a:t>Hazardous waste processing/ disposal</a:t>
            </a:r>
          </a:p>
          <a:p>
            <a:pPr lvl="1" algn="just" eaLnBrk="1" hangingPunct="1">
              <a:lnSpc>
                <a:spcPct val="150000"/>
              </a:lnSpc>
              <a:spcBef>
                <a:spcPct val="0"/>
              </a:spcBef>
              <a:buFont typeface="Arial" panose="020B0604020202020204" pitchFamily="34" charset="0"/>
              <a:buAutoNum type="arabicPeriod"/>
            </a:pPr>
            <a:r>
              <a:rPr lang="en-US" altLang="en-US" sz="2400" dirty="0">
                <a:latin typeface="Calibri" panose="020F0502020204030204" pitchFamily="34" charset="0"/>
              </a:rPr>
              <a:t>Terrorist attack/ unrest leading to sabotage</a:t>
            </a:r>
            <a:endParaRPr lang="en-US" sz="2400" dirty="0">
              <a:latin typeface="Calibri" panose="020F0502020204030204" pitchFamily="34" charset="0"/>
            </a:endParaRPr>
          </a:p>
          <a:p>
            <a:pPr marL="342900" algn="just">
              <a:lnSpc>
                <a:spcPct val="150000"/>
              </a:lnSpc>
              <a:spcBef>
                <a:spcPct val="0"/>
              </a:spcBef>
            </a:pPr>
            <a:endParaRPr lang="en-US" sz="2400" dirty="0">
              <a:latin typeface="Calibri" panose="020F0502020204030204" pitchFamily="34" charset="0"/>
            </a:endParaRPr>
          </a:p>
          <a:p>
            <a:pPr marL="12700" indent="0" algn="just">
              <a:lnSpc>
                <a:spcPct val="150000"/>
              </a:lnSpc>
              <a:buNone/>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5331184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37</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397642"/>
            <a:ext cx="8069298" cy="67569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algn="just">
              <a:lnSpc>
                <a:spcPct val="150000"/>
              </a:lnSpc>
              <a:spcBef>
                <a:spcPct val="0"/>
              </a:spcBef>
            </a:pPr>
            <a:r>
              <a:rPr lang="en-US" altLang="en-US" sz="2400" dirty="0">
                <a:latin typeface="Calibri" panose="020F0502020204030204" pitchFamily="34" charset="0"/>
              </a:rPr>
              <a:t>India witnessed the world’s worst chemical (industrial) disaster </a:t>
            </a:r>
            <a:r>
              <a:rPr lang="en-US" altLang="en-US" sz="2400" dirty="0">
                <a:solidFill>
                  <a:schemeClr val="accent1">
                    <a:lumMod val="75000"/>
                  </a:schemeClr>
                </a:solidFill>
                <a:latin typeface="Calibri" panose="020F0502020204030204" pitchFamily="34" charset="0"/>
              </a:rPr>
              <a:t>“Bhopal Gas Tragedy” </a:t>
            </a:r>
            <a:r>
              <a:rPr lang="en-US" altLang="en-US" sz="2400" dirty="0">
                <a:latin typeface="Calibri" panose="020F0502020204030204" pitchFamily="34" charset="0"/>
              </a:rPr>
              <a:t>in the year 1984. </a:t>
            </a:r>
          </a:p>
          <a:p>
            <a:pPr marL="342900" algn="just">
              <a:lnSpc>
                <a:spcPct val="150000"/>
              </a:lnSpc>
              <a:spcBef>
                <a:spcPct val="0"/>
              </a:spcBef>
            </a:pPr>
            <a:r>
              <a:rPr lang="en-US" altLang="en-US" sz="2400" dirty="0">
                <a:latin typeface="Calibri" panose="020F0502020204030204" pitchFamily="34" charset="0"/>
              </a:rPr>
              <a:t>The Bhopal Gas tragedy was most devastating chemical accident in history, where over 2500 people died due to accidental release of toxic gas </a:t>
            </a:r>
            <a:r>
              <a:rPr lang="en-US" altLang="en-US" sz="2400" b="1" dirty="0">
                <a:latin typeface="Calibri" panose="020F0502020204030204" pitchFamily="34" charset="0"/>
              </a:rPr>
              <a:t>Methyl Iso Cyanate </a:t>
            </a:r>
            <a:r>
              <a:rPr lang="en-US" altLang="en-US" sz="2400" dirty="0">
                <a:latin typeface="Calibri" panose="020F0502020204030204" pitchFamily="34" charset="0"/>
              </a:rPr>
              <a:t>(MIC) </a:t>
            </a:r>
            <a:r>
              <a:rPr lang="en-US" sz="2400" dirty="0">
                <a:latin typeface="Calibri" panose="020F0502020204030204" pitchFamily="34" charset="0"/>
              </a:rPr>
              <a:t>from Union Carbide India Ltd.’s (UCIL’s) pesticide factory.</a:t>
            </a:r>
          </a:p>
          <a:p>
            <a:pPr marL="342900" algn="just">
              <a:lnSpc>
                <a:spcPct val="150000"/>
              </a:lnSpc>
              <a:spcBef>
                <a:spcPct val="0"/>
              </a:spcBef>
            </a:pPr>
            <a:r>
              <a:rPr lang="en-US" sz="2400" dirty="0">
                <a:latin typeface="Calibri" panose="020F0502020204030204" pitchFamily="34" charset="0"/>
              </a:rPr>
              <a:t>Bhopal became a colossal gas chamber, killing thousands of people immediately and creating a panic as tens of thousands of others attempted to flee Bhopal.</a:t>
            </a:r>
            <a:endParaRPr lang="en-US" altLang="en-US" sz="2400" dirty="0">
              <a:latin typeface="Calibri" panose="020F0502020204030204" pitchFamily="34" charset="0"/>
            </a:endParaRPr>
          </a:p>
          <a:p>
            <a:pPr marL="342900" algn="just">
              <a:lnSpc>
                <a:spcPct val="150000"/>
              </a:lnSpc>
              <a:spcBef>
                <a:spcPct val="0"/>
              </a:spcBef>
            </a:pPr>
            <a:endParaRPr lang="en-US" altLang="en-US" sz="2400" dirty="0">
              <a:latin typeface="Calibri" panose="020F0502020204030204" pitchFamily="34" charset="0"/>
            </a:endParaRPr>
          </a:p>
          <a:p>
            <a:pPr marL="342900" algn="just">
              <a:lnSpc>
                <a:spcPct val="150000"/>
              </a:lnSpc>
              <a:spcBef>
                <a:spcPct val="0"/>
              </a:spcBef>
            </a:pPr>
            <a:endParaRPr lang="en-US" sz="2400" dirty="0">
              <a:latin typeface="Calibri" panose="020F0502020204030204" pitchFamily="34" charset="0"/>
            </a:endParaRPr>
          </a:p>
          <a:p>
            <a:pPr marL="12700" indent="0" algn="just">
              <a:lnSpc>
                <a:spcPct val="150000"/>
              </a:lnSpc>
              <a:buNone/>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26926799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38</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397642"/>
            <a:ext cx="8069298" cy="62029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algn="just">
              <a:lnSpc>
                <a:spcPct val="150000"/>
              </a:lnSpc>
              <a:spcBef>
                <a:spcPct val="0"/>
              </a:spcBef>
            </a:pPr>
            <a:r>
              <a:rPr lang="en-US" sz="2400" dirty="0">
                <a:latin typeface="Calibri" panose="020F0502020204030204" pitchFamily="34" charset="0"/>
              </a:rPr>
              <a:t>The final death toll was estimated to be between 15,000 and 20,000.</a:t>
            </a:r>
          </a:p>
          <a:p>
            <a:pPr marL="342900" algn="just">
              <a:lnSpc>
                <a:spcPct val="150000"/>
              </a:lnSpc>
              <a:spcBef>
                <a:spcPct val="0"/>
              </a:spcBef>
            </a:pPr>
            <a:r>
              <a:rPr lang="en-US" sz="2400" dirty="0">
                <a:latin typeface="Calibri" panose="020F0502020204030204" pitchFamily="34" charset="0"/>
              </a:rPr>
              <a:t>Some half a million survivors suffered respiratory problems, eye irritation or blindness, and other maladies resulting from exposure to the toxic gas; many were awarded compensation of a few hundred dollars. </a:t>
            </a:r>
          </a:p>
          <a:p>
            <a:pPr marL="342900" algn="just">
              <a:lnSpc>
                <a:spcPct val="150000"/>
              </a:lnSpc>
              <a:spcBef>
                <a:spcPct val="0"/>
              </a:spcBef>
            </a:pPr>
            <a:r>
              <a:rPr lang="en-US" sz="2400" dirty="0">
                <a:latin typeface="Calibri" panose="020F0502020204030204" pitchFamily="34" charset="0"/>
              </a:rPr>
              <a:t>Investigations later established that substandard operating and safety procedures at the understaffed plant had led to the disaster.  </a:t>
            </a:r>
            <a:endParaRPr lang="en-US" altLang="en-US" sz="2400" dirty="0">
              <a:latin typeface="Calibri" panose="020F0502020204030204" pitchFamily="34" charset="0"/>
            </a:endParaRPr>
          </a:p>
          <a:p>
            <a:pPr marL="342900" algn="just">
              <a:lnSpc>
                <a:spcPct val="150000"/>
              </a:lnSpc>
              <a:spcBef>
                <a:spcPct val="0"/>
              </a:spcBef>
            </a:pPr>
            <a:endParaRPr lang="en-US" sz="2400" dirty="0">
              <a:latin typeface="Calibri" panose="020F0502020204030204" pitchFamily="34" charset="0"/>
            </a:endParaRPr>
          </a:p>
          <a:p>
            <a:pPr marL="12700" indent="0" algn="just">
              <a:lnSpc>
                <a:spcPct val="150000"/>
              </a:lnSpc>
              <a:buNone/>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26303262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a:t>
            </a:r>
            <a:r>
              <a:rPr lang="en-IN" altLang="en-US" sz="2400" b="1" dirty="0" smtClean="0">
                <a:solidFill>
                  <a:schemeClr val="accent1">
                    <a:lumMod val="75000"/>
                  </a:schemeClr>
                </a:solidFill>
                <a:latin typeface="Calibri" panose="020F0502020204030204" pitchFamily="34" charset="0"/>
              </a:rPr>
              <a:t>SCIENCES</a:t>
            </a:r>
          </a:p>
          <a:p>
            <a:pPr>
              <a:spcBef>
                <a:spcPct val="0"/>
              </a:spcBef>
              <a:buNone/>
            </a:pPr>
            <a:r>
              <a:rPr lang="en-IN" altLang="en-US" sz="2400" b="1" dirty="0" smtClean="0">
                <a:solidFill>
                  <a:srgbClr val="C55A11"/>
                </a:solidFill>
                <a:latin typeface="Calibri" panose="020F0502020204030204" pitchFamily="34" charset="0"/>
              </a:rPr>
              <a:t>Natural and man-made disasters</a:t>
            </a:r>
            <a:endParaRPr lang="en-US" altLang="en-US" sz="1800" dirty="0" smtClean="0"/>
          </a:p>
          <a:p>
            <a:pPr eaLnBrk="1" hangingPunct="1">
              <a:spcBef>
                <a:spcPct val="0"/>
              </a:spcBef>
              <a:buFontTx/>
              <a:buNone/>
            </a:pPr>
            <a:endParaRPr lang="en-IN" altLang="en-US" sz="2400" b="1" dirty="0" smtClean="0">
              <a:solidFill>
                <a:schemeClr val="accent1">
                  <a:lumMod val="75000"/>
                </a:schemeClr>
              </a:solidFill>
              <a:latin typeface="Calibri" panose="020F0502020204030204" pitchFamily="34" charset="0"/>
            </a:endParaRPr>
          </a:p>
          <a:p>
            <a:pPr eaLnBrk="1" hangingPunct="1">
              <a:spcBef>
                <a:spcPct val="0"/>
              </a:spcBef>
              <a:buFontTx/>
              <a:buNone/>
            </a:pP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39</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397642"/>
            <a:ext cx="8069298" cy="12169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algn="just">
              <a:lnSpc>
                <a:spcPct val="150000"/>
              </a:lnSpc>
              <a:spcBef>
                <a:spcPct val="0"/>
              </a:spcBef>
            </a:pPr>
            <a:endParaRPr lang="en-US" sz="2400" dirty="0">
              <a:latin typeface="Calibri" panose="020F0502020204030204" pitchFamily="34" charset="0"/>
            </a:endParaRPr>
          </a:p>
          <a:p>
            <a:pPr marL="12700" indent="0" algn="just">
              <a:lnSpc>
                <a:spcPct val="150000"/>
              </a:lnSpc>
              <a:buNone/>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pic>
        <p:nvPicPr>
          <p:cNvPr id="3" name="Picture 2" descr="Lessons learned 30 years after the Bhopal disaster: a new safety culture -  PrevenControl">
            <a:extLst>
              <a:ext uri="{FF2B5EF4-FFF2-40B4-BE49-F238E27FC236}">
                <a16:creationId xmlns:a16="http://schemas.microsoft.com/office/drawing/2014/main" xmlns="" id="{3EC1FE03-5206-C882-958D-7F1D29C6FE09}"/>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334963" y="1960933"/>
            <a:ext cx="5452878" cy="3632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 name="Picture 3" descr="Bhopal Gas Tragedy: All you need to know">
            <a:extLst>
              <a:ext uri="{FF2B5EF4-FFF2-40B4-BE49-F238E27FC236}">
                <a16:creationId xmlns:a16="http://schemas.microsoft.com/office/drawing/2014/main" xmlns="" id="{AB7E08C2-465B-F119-268C-13F5CC094537}"/>
              </a:ext>
            </a:extLst>
          </p:cNvPr>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6095999" y="1943097"/>
            <a:ext cx="5702890" cy="36705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TextBox 5">
            <a:extLst>
              <a:ext uri="{FF2B5EF4-FFF2-40B4-BE49-F238E27FC236}">
                <a16:creationId xmlns:a16="http://schemas.microsoft.com/office/drawing/2014/main" xmlns="" id="{C474E724-6E6C-9C7A-217B-D7A3DFF9CF40}"/>
              </a:ext>
            </a:extLst>
          </p:cNvPr>
          <p:cNvSpPr txBox="1"/>
          <p:nvPr/>
        </p:nvSpPr>
        <p:spPr>
          <a:xfrm>
            <a:off x="393700" y="6408107"/>
            <a:ext cx="6097712" cy="261610"/>
          </a:xfrm>
          <a:prstGeom prst="rect">
            <a:avLst/>
          </a:prstGeom>
          <a:noFill/>
        </p:spPr>
        <p:txBody>
          <a:bodyPr wrap="square">
            <a:spAutoFit/>
          </a:bodyPr>
          <a:lstStyle/>
          <a:p>
            <a:r>
              <a:rPr lang="en-US" sz="1100" i="1" dirty="0"/>
              <a:t>Image source: https://prevencontrol.com/prevenblog/lessons-learned</a:t>
            </a:r>
            <a:endParaRPr lang="en-IN" sz="1100" i="1" dirty="0"/>
          </a:p>
        </p:txBody>
      </p:sp>
    </p:spTree>
    <p:extLst>
      <p:ext uri="{BB962C8B-B14F-4D97-AF65-F5344CB8AC3E}">
        <p14:creationId xmlns:p14="http://schemas.microsoft.com/office/powerpoint/2010/main" xmlns="" val="314182883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40</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397642"/>
            <a:ext cx="8069298" cy="56489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algn="just">
              <a:lnSpc>
                <a:spcPct val="150000"/>
              </a:lnSpc>
              <a:spcBef>
                <a:spcPct val="0"/>
              </a:spcBef>
            </a:pPr>
            <a:r>
              <a:rPr lang="en-US" sz="2400" b="1" dirty="0">
                <a:solidFill>
                  <a:schemeClr val="accent1">
                    <a:lumMod val="75000"/>
                  </a:schemeClr>
                </a:solidFill>
                <a:latin typeface="Calibri" panose="020F0502020204030204" pitchFamily="34" charset="0"/>
              </a:rPr>
              <a:t>Biological disasters</a:t>
            </a:r>
          </a:p>
          <a:p>
            <a:pPr algn="just" eaLnBrk="1" hangingPunct="1">
              <a:lnSpc>
                <a:spcPct val="150000"/>
              </a:lnSpc>
              <a:spcBef>
                <a:spcPct val="0"/>
              </a:spcBef>
            </a:pPr>
            <a:r>
              <a:rPr lang="en-US" altLang="en-US" sz="2400" dirty="0">
                <a:latin typeface="Calibri" panose="020F0502020204030204" pitchFamily="34" charset="0"/>
              </a:rPr>
              <a:t>Charles Baldwin developed the symbol for biohazard in 1966.</a:t>
            </a:r>
          </a:p>
          <a:p>
            <a:pPr algn="just" eaLnBrk="1" hangingPunct="1">
              <a:lnSpc>
                <a:spcPct val="150000"/>
              </a:lnSpc>
              <a:spcBef>
                <a:spcPct val="0"/>
              </a:spcBef>
            </a:pPr>
            <a:r>
              <a:rPr lang="en-US" altLang="en-US" sz="2400" dirty="0">
                <a:latin typeface="Calibri" panose="020F0502020204030204" pitchFamily="34" charset="0"/>
              </a:rPr>
              <a:t>Biological disasters are natural scenarios involving disease, disability, or death on a large scale among humans, animals, and plants due to micro-organisms like bacteria, or viruses, or toxins.</a:t>
            </a:r>
          </a:p>
          <a:p>
            <a:pPr marL="342900" algn="just">
              <a:lnSpc>
                <a:spcPct val="150000"/>
              </a:lnSpc>
              <a:spcBef>
                <a:spcPct val="0"/>
              </a:spcBef>
            </a:pPr>
            <a:endParaRPr lang="en-US" altLang="en-US" sz="2400" dirty="0">
              <a:latin typeface="Calibri" panose="020F0502020204030204" pitchFamily="34" charset="0"/>
            </a:endParaRPr>
          </a:p>
          <a:p>
            <a:pPr marL="342900" algn="just">
              <a:lnSpc>
                <a:spcPct val="150000"/>
              </a:lnSpc>
              <a:spcBef>
                <a:spcPct val="0"/>
              </a:spcBef>
            </a:pPr>
            <a:endParaRPr lang="en-US" sz="2400" dirty="0">
              <a:latin typeface="Calibri" panose="020F0502020204030204" pitchFamily="34" charset="0"/>
            </a:endParaRPr>
          </a:p>
          <a:p>
            <a:pPr marL="12700" indent="0" algn="just">
              <a:lnSpc>
                <a:spcPct val="150000"/>
              </a:lnSpc>
              <a:buNone/>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pic>
        <p:nvPicPr>
          <p:cNvPr id="3" name="Picture 2">
            <a:extLst>
              <a:ext uri="{FF2B5EF4-FFF2-40B4-BE49-F238E27FC236}">
                <a16:creationId xmlns:a16="http://schemas.microsoft.com/office/drawing/2014/main" xmlns="" id="{E8C379A4-5155-5CD8-2232-C4AD3856F420}"/>
              </a:ext>
            </a:extLst>
          </p:cNvPr>
          <p:cNvPicPr>
            <a:picLocks noChangeAspect="1"/>
          </p:cNvPicPr>
          <p:nvPr/>
        </p:nvPicPr>
        <p:blipFill>
          <a:blip r:embed="rId3" cstate="print"/>
          <a:stretch>
            <a:fillRect/>
          </a:stretch>
        </p:blipFill>
        <p:spPr>
          <a:xfrm>
            <a:off x="2423592" y="4955082"/>
            <a:ext cx="4038853" cy="1510235"/>
          </a:xfrm>
          <a:prstGeom prst="rect">
            <a:avLst/>
          </a:prstGeom>
        </p:spPr>
      </p:pic>
      <p:sp>
        <p:nvSpPr>
          <p:cNvPr id="4" name="TextBox 3">
            <a:extLst>
              <a:ext uri="{FF2B5EF4-FFF2-40B4-BE49-F238E27FC236}">
                <a16:creationId xmlns:a16="http://schemas.microsoft.com/office/drawing/2014/main" xmlns="" id="{1FEC4D1F-8CBA-21B6-A8B9-843F50451002}"/>
              </a:ext>
            </a:extLst>
          </p:cNvPr>
          <p:cNvSpPr txBox="1"/>
          <p:nvPr/>
        </p:nvSpPr>
        <p:spPr>
          <a:xfrm>
            <a:off x="2499857" y="6356350"/>
            <a:ext cx="4392488" cy="369332"/>
          </a:xfrm>
          <a:prstGeom prst="rect">
            <a:avLst/>
          </a:prstGeom>
          <a:noFill/>
        </p:spPr>
        <p:txBody>
          <a:bodyPr wrap="square" rtlCol="0">
            <a:spAutoFit/>
          </a:bodyPr>
          <a:lstStyle/>
          <a:p>
            <a:r>
              <a:rPr lang="en-IN" dirty="0"/>
              <a:t>    Atomic        Biological       Chemical</a:t>
            </a:r>
          </a:p>
        </p:txBody>
      </p:sp>
    </p:spTree>
    <p:extLst>
      <p:ext uri="{BB962C8B-B14F-4D97-AF65-F5344CB8AC3E}">
        <p14:creationId xmlns:p14="http://schemas.microsoft.com/office/powerpoint/2010/main" xmlns="" val="368503028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41</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412875"/>
            <a:ext cx="8069298" cy="50949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eaLnBrk="1" hangingPunct="1">
              <a:lnSpc>
                <a:spcPct val="150000"/>
              </a:lnSpc>
              <a:spcBef>
                <a:spcPct val="0"/>
              </a:spcBef>
            </a:pPr>
            <a:r>
              <a:rPr lang="en-US" altLang="en-US" sz="2400" dirty="0">
                <a:latin typeface="Calibri" panose="020F0502020204030204" pitchFamily="34" charset="0"/>
              </a:rPr>
              <a:t>The US </a:t>
            </a:r>
            <a:r>
              <a:rPr lang="en-US" altLang="en-US" sz="2400" dirty="0">
                <a:solidFill>
                  <a:schemeClr val="accent1">
                    <a:lumMod val="75000"/>
                  </a:schemeClr>
                </a:solidFill>
                <a:latin typeface="Calibri" panose="020F0502020204030204" pitchFamily="34" charset="0"/>
              </a:rPr>
              <a:t>Center for Disease Control </a:t>
            </a:r>
            <a:r>
              <a:rPr lang="en-US" altLang="en-US" sz="2400" dirty="0">
                <a:latin typeface="Calibri" panose="020F0502020204030204" pitchFamily="34" charset="0"/>
              </a:rPr>
              <a:t>classifies biohazards into four biosafety levels (BSL) as follows:</a:t>
            </a:r>
          </a:p>
          <a:p>
            <a:pPr marL="342900" algn="just">
              <a:lnSpc>
                <a:spcPct val="150000"/>
              </a:lnSpc>
              <a:spcBef>
                <a:spcPct val="0"/>
              </a:spcBef>
            </a:pPr>
            <a:r>
              <a:rPr lang="en-US" altLang="en-US" sz="2400" dirty="0">
                <a:solidFill>
                  <a:schemeClr val="accent1">
                    <a:lumMod val="75000"/>
                  </a:schemeClr>
                </a:solidFill>
                <a:latin typeface="Calibri" panose="020F0502020204030204" pitchFamily="34" charset="0"/>
              </a:rPr>
              <a:t>BSL 1:</a:t>
            </a:r>
            <a:r>
              <a:rPr lang="en-US" altLang="en-US" sz="2400" dirty="0">
                <a:latin typeface="Calibri" panose="020F0502020204030204" pitchFamily="34" charset="0"/>
              </a:rPr>
              <a:t> M</a:t>
            </a:r>
            <a:r>
              <a:rPr lang="en-US" sz="2400" dirty="0">
                <a:latin typeface="Calibri" panose="020F0502020204030204" pitchFamily="34" charset="0"/>
              </a:rPr>
              <a:t>icrobes that are not known to cause disease in healthy adults and present minimal potential hazard to laboratorians and the environment. Example- Non pathogenic strain of </a:t>
            </a:r>
            <a:r>
              <a:rPr lang="en-US" sz="2400" i="1" dirty="0">
                <a:latin typeface="Calibri" panose="020F0502020204030204" pitchFamily="34" charset="0"/>
              </a:rPr>
              <a:t>Escherichia coli, Bacillus subtilis etc.</a:t>
            </a:r>
            <a:r>
              <a:rPr lang="en-US" sz="2400" dirty="0">
                <a:latin typeface="Calibri" panose="020F0502020204030204" pitchFamily="34" charset="0"/>
              </a:rPr>
              <a:t>  </a:t>
            </a:r>
            <a:r>
              <a:rPr lang="en-US" altLang="en-US" sz="2400" dirty="0">
                <a:latin typeface="Calibri" panose="020F0502020204030204" pitchFamily="34" charset="0"/>
              </a:rPr>
              <a:t>Protection is only facial protection and gloves.</a:t>
            </a:r>
          </a:p>
          <a:p>
            <a:pPr marL="342900" algn="just">
              <a:lnSpc>
                <a:spcPct val="150000"/>
              </a:lnSpc>
              <a:spcBef>
                <a:spcPct val="0"/>
              </a:spcBef>
            </a:pPr>
            <a:endParaRPr lang="en-US" sz="2400" dirty="0">
              <a:latin typeface="Calibri" panose="020F0502020204030204" pitchFamily="34" charset="0"/>
            </a:endParaRPr>
          </a:p>
          <a:p>
            <a:pPr marL="12700" indent="0" algn="just">
              <a:lnSpc>
                <a:spcPct val="150000"/>
              </a:lnSpc>
              <a:buNone/>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58572864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42</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412875"/>
            <a:ext cx="8069298" cy="50949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algn="just">
              <a:lnSpc>
                <a:spcPct val="150000"/>
              </a:lnSpc>
              <a:spcBef>
                <a:spcPct val="0"/>
              </a:spcBef>
            </a:pPr>
            <a:r>
              <a:rPr lang="en-US" altLang="en-US" sz="2400" dirty="0">
                <a:solidFill>
                  <a:schemeClr val="accent1">
                    <a:lumMod val="75000"/>
                  </a:schemeClr>
                </a:solidFill>
                <a:latin typeface="Calibri" panose="020F0502020204030204" pitchFamily="34" charset="0"/>
              </a:rPr>
              <a:t>BSL 2: </a:t>
            </a:r>
            <a:r>
              <a:rPr lang="en-US" altLang="en-US" sz="2400" dirty="0">
                <a:latin typeface="Calibri" panose="020F0502020204030204" pitchFamily="34" charset="0"/>
              </a:rPr>
              <a:t>M</a:t>
            </a:r>
            <a:r>
              <a:rPr lang="en-US" sz="2400" dirty="0">
                <a:latin typeface="Calibri" panose="020F0502020204030204" pitchFamily="34" charset="0"/>
              </a:rPr>
              <a:t>icrobes pose moderate hazards to laboratorians and the environment. The microbes are typically indigenous and associated with diseases of varying severity. Examples- </a:t>
            </a:r>
            <a:r>
              <a:rPr lang="en-US" sz="2400" i="1" dirty="0">
                <a:latin typeface="Calibri" panose="020F0502020204030204" pitchFamily="34" charset="0"/>
              </a:rPr>
              <a:t>Staphylococcus aureus, </a:t>
            </a:r>
            <a:r>
              <a:rPr lang="en-IN" sz="2400" dirty="0">
                <a:latin typeface="Calibri" panose="020F0502020204030204" pitchFamily="34" charset="0"/>
              </a:rPr>
              <a:t>human adenoviruses, Hepatitis virus, HIV</a:t>
            </a:r>
            <a:r>
              <a:rPr lang="en-US" sz="2400" dirty="0">
                <a:latin typeface="Calibri" panose="020F0502020204030204" pitchFamily="34" charset="0"/>
              </a:rPr>
              <a:t>. </a:t>
            </a:r>
            <a:r>
              <a:rPr lang="en-US" altLang="en-US" sz="2400" dirty="0">
                <a:latin typeface="Calibri" panose="020F0502020204030204" pitchFamily="34" charset="0"/>
              </a:rPr>
              <a:t>Protection – use of autoclaves for sterilizing and biological safety cabinets.</a:t>
            </a:r>
            <a:endParaRPr lang="en-US" sz="2400" dirty="0">
              <a:latin typeface="Calibri" panose="020F0502020204030204" pitchFamily="34" charset="0"/>
            </a:endParaRPr>
          </a:p>
          <a:p>
            <a:pPr marL="342900" algn="just">
              <a:lnSpc>
                <a:spcPct val="150000"/>
              </a:lnSpc>
              <a:spcBef>
                <a:spcPct val="0"/>
              </a:spcBef>
            </a:pPr>
            <a:endParaRPr lang="en-US" altLang="en-US" sz="2400" dirty="0">
              <a:latin typeface="Calibri" panose="020F0502020204030204" pitchFamily="34" charset="0"/>
            </a:endParaRPr>
          </a:p>
          <a:p>
            <a:pPr marL="342900" algn="just">
              <a:lnSpc>
                <a:spcPct val="150000"/>
              </a:lnSpc>
              <a:spcBef>
                <a:spcPct val="0"/>
              </a:spcBef>
            </a:pPr>
            <a:endParaRPr lang="en-US" sz="2400" dirty="0">
              <a:latin typeface="Calibri" panose="020F0502020204030204" pitchFamily="34" charset="0"/>
            </a:endParaRPr>
          </a:p>
          <a:p>
            <a:pPr marL="12700" indent="0" algn="just">
              <a:lnSpc>
                <a:spcPct val="150000"/>
              </a:lnSpc>
              <a:buNone/>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77231808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43</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169273" y="1457066"/>
            <a:ext cx="8468724" cy="73109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lvl="1" algn="just">
              <a:lnSpc>
                <a:spcPct val="150000"/>
              </a:lnSpc>
              <a:spcBef>
                <a:spcPct val="0"/>
              </a:spcBef>
              <a:buFont typeface="Arial" panose="020B0604020202020204" pitchFamily="34" charset="0"/>
              <a:buChar char="•"/>
            </a:pPr>
            <a:r>
              <a:rPr lang="en-US" altLang="en-US" sz="2400" dirty="0">
                <a:solidFill>
                  <a:schemeClr val="accent1">
                    <a:lumMod val="75000"/>
                  </a:schemeClr>
                </a:solidFill>
                <a:latin typeface="Calibri" panose="020F0502020204030204" pitchFamily="34" charset="0"/>
              </a:rPr>
              <a:t>BSL 3:</a:t>
            </a:r>
            <a:r>
              <a:rPr lang="en-US" altLang="en-US" sz="2400" dirty="0">
                <a:latin typeface="Calibri" panose="020F0502020204030204" pitchFamily="34" charset="0"/>
              </a:rPr>
              <a:t> Bacteria and viruses causing severe to fatal disease in humans. Example: West Nile virus, anthrax, MERS coronavirus. Protection – Stringent safety protocols such as the use of respirators to prevent airborne infection.</a:t>
            </a:r>
          </a:p>
          <a:p>
            <a:pPr lvl="1" algn="just">
              <a:lnSpc>
                <a:spcPct val="150000"/>
              </a:lnSpc>
              <a:spcBef>
                <a:spcPct val="0"/>
              </a:spcBef>
              <a:buFont typeface="Arial" panose="020B0604020202020204" pitchFamily="34" charset="0"/>
              <a:buChar char="•"/>
            </a:pPr>
            <a:r>
              <a:rPr lang="en-US" altLang="en-US" sz="2400" dirty="0">
                <a:solidFill>
                  <a:schemeClr val="accent1">
                    <a:lumMod val="75000"/>
                  </a:schemeClr>
                </a:solidFill>
                <a:latin typeface="Calibri" panose="020F0502020204030204" pitchFamily="34" charset="0"/>
              </a:rPr>
              <a:t>BSL 4:</a:t>
            </a:r>
            <a:r>
              <a:rPr lang="en-US" altLang="en-US" sz="2400" dirty="0">
                <a:latin typeface="Calibri" panose="020F0502020204030204" pitchFamily="34" charset="0"/>
              </a:rPr>
              <a:t> Potentially fatal (to human beings) viruses like Ebola virus, Marburg virus, Lassa fever virus, etc. Protection – use of a positive pressure personnel suit, with a segregated air supply.</a:t>
            </a:r>
          </a:p>
          <a:p>
            <a:pPr marL="457200" lvl="1" indent="0" algn="just">
              <a:lnSpc>
                <a:spcPct val="150000"/>
              </a:lnSpc>
              <a:spcBef>
                <a:spcPct val="0"/>
              </a:spcBef>
              <a:buNone/>
            </a:pPr>
            <a:endParaRPr lang="en-US" altLang="en-US" sz="2400" dirty="0">
              <a:latin typeface="Calibri" panose="020F0502020204030204" pitchFamily="34" charset="0"/>
            </a:endParaRPr>
          </a:p>
          <a:p>
            <a:pPr marL="342900" algn="just">
              <a:lnSpc>
                <a:spcPct val="150000"/>
              </a:lnSpc>
              <a:spcBef>
                <a:spcPct val="0"/>
              </a:spcBef>
            </a:pPr>
            <a:endParaRPr lang="en-US" sz="2400" dirty="0">
              <a:latin typeface="Calibri" panose="020F0502020204030204" pitchFamily="34" charset="0"/>
            </a:endParaRPr>
          </a:p>
          <a:p>
            <a:pPr marL="342900" algn="just">
              <a:lnSpc>
                <a:spcPct val="150000"/>
              </a:lnSpc>
              <a:spcBef>
                <a:spcPct val="0"/>
              </a:spcBef>
            </a:pPr>
            <a:endParaRPr lang="en-US" altLang="en-US" sz="2400" dirty="0">
              <a:latin typeface="Calibri" panose="020F0502020204030204" pitchFamily="34" charset="0"/>
            </a:endParaRPr>
          </a:p>
          <a:p>
            <a:pPr marL="342900" algn="just">
              <a:lnSpc>
                <a:spcPct val="150000"/>
              </a:lnSpc>
              <a:spcBef>
                <a:spcPct val="0"/>
              </a:spcBef>
            </a:pPr>
            <a:endParaRPr lang="en-US" sz="2400" dirty="0">
              <a:latin typeface="Calibri" panose="020F0502020204030204" pitchFamily="34" charset="0"/>
            </a:endParaRPr>
          </a:p>
          <a:p>
            <a:pPr marL="12700" indent="0" algn="just">
              <a:lnSpc>
                <a:spcPct val="150000"/>
              </a:lnSpc>
              <a:buNone/>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92845561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Line 2"/>
          <p:cNvSpPr>
            <a:spLocks noChangeShapeType="1"/>
          </p:cNvSpPr>
          <p:nvPr/>
        </p:nvSpPr>
        <p:spPr bwMode="auto">
          <a:xfrm>
            <a:off x="0" y="1164500"/>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a:t>
            </a:r>
            <a:r>
              <a:rPr lang="en-IN" altLang="en-US" sz="2400" b="1" dirty="0" smtClean="0">
                <a:solidFill>
                  <a:schemeClr val="accent1">
                    <a:lumMod val="75000"/>
                  </a:schemeClr>
                </a:solidFill>
                <a:latin typeface="Calibri" panose="020F0502020204030204" pitchFamily="34" charset="0"/>
              </a:rPr>
              <a:t>SCIENCES</a:t>
            </a:r>
          </a:p>
          <a:p>
            <a:pPr>
              <a:spcBef>
                <a:spcPct val="0"/>
              </a:spcBef>
              <a:buNone/>
            </a:pPr>
            <a:r>
              <a:rPr lang="en-IN" altLang="en-US" sz="2400" b="1" dirty="0" smtClean="0">
                <a:solidFill>
                  <a:srgbClr val="C55A11"/>
                </a:solidFill>
                <a:latin typeface="Calibri" panose="020F0502020204030204" pitchFamily="34" charset="0"/>
              </a:rPr>
              <a:t>Natural and man-made disasters</a:t>
            </a:r>
            <a:endParaRPr lang="en-US" altLang="en-US" sz="1800" dirty="0" smtClean="0"/>
          </a:p>
          <a:p>
            <a:pPr eaLnBrk="1" hangingPunct="1">
              <a:spcBef>
                <a:spcPct val="0"/>
              </a:spcBef>
              <a:buFontTx/>
              <a:buNone/>
            </a:pPr>
            <a:endParaRPr lang="en-IN" altLang="en-US" sz="2400" b="1" dirty="0" smtClean="0">
              <a:solidFill>
                <a:schemeClr val="accent1">
                  <a:lumMod val="75000"/>
                </a:schemeClr>
              </a:solidFill>
              <a:latin typeface="Calibri" panose="020F0502020204030204" pitchFamily="34" charset="0"/>
            </a:endParaRPr>
          </a:p>
          <a:p>
            <a:pPr eaLnBrk="1" hangingPunct="1">
              <a:spcBef>
                <a:spcPct val="0"/>
              </a:spcBef>
              <a:buFontTx/>
              <a:buNone/>
            </a:pP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44</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397642"/>
            <a:ext cx="8069298" cy="12169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algn="just">
              <a:lnSpc>
                <a:spcPct val="150000"/>
              </a:lnSpc>
              <a:spcBef>
                <a:spcPct val="0"/>
              </a:spcBef>
            </a:pPr>
            <a:endParaRPr lang="en-US" sz="2400" dirty="0">
              <a:latin typeface="Calibri" panose="020F0502020204030204" pitchFamily="34" charset="0"/>
            </a:endParaRPr>
          </a:p>
          <a:p>
            <a:pPr marL="12700" indent="0" algn="just">
              <a:lnSpc>
                <a:spcPct val="150000"/>
              </a:lnSpc>
              <a:buNone/>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TextBox 5">
            <a:extLst>
              <a:ext uri="{FF2B5EF4-FFF2-40B4-BE49-F238E27FC236}">
                <a16:creationId xmlns:a16="http://schemas.microsoft.com/office/drawing/2014/main" xmlns="" id="{C474E724-6E6C-9C7A-217B-D7A3DFF9CF40}"/>
              </a:ext>
            </a:extLst>
          </p:cNvPr>
          <p:cNvSpPr txBox="1"/>
          <p:nvPr/>
        </p:nvSpPr>
        <p:spPr>
          <a:xfrm>
            <a:off x="393700" y="6408107"/>
            <a:ext cx="6097712" cy="261610"/>
          </a:xfrm>
          <a:prstGeom prst="rect">
            <a:avLst/>
          </a:prstGeom>
          <a:noFill/>
        </p:spPr>
        <p:txBody>
          <a:bodyPr wrap="square">
            <a:spAutoFit/>
          </a:bodyPr>
          <a:lstStyle/>
          <a:p>
            <a:r>
              <a:rPr lang="en-US" sz="1100" i="1" dirty="0"/>
              <a:t>Image source: Microbe notes</a:t>
            </a:r>
            <a:endParaRPr lang="en-IN" sz="1100" i="1" dirty="0"/>
          </a:p>
        </p:txBody>
      </p:sp>
      <p:pic>
        <p:nvPicPr>
          <p:cNvPr id="5" name="Picture 4" descr="BioSafety Levels 1 &amp; 2: What's the Difference?">
            <a:extLst>
              <a:ext uri="{FF2B5EF4-FFF2-40B4-BE49-F238E27FC236}">
                <a16:creationId xmlns:a16="http://schemas.microsoft.com/office/drawing/2014/main" xmlns="" id="{0784DDC5-281C-B797-5919-82AE6D6C9572}"/>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680076" y="2178121"/>
            <a:ext cx="2554992" cy="29727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4" descr="BSL-3 Laboratory Training | ABSA International">
            <a:extLst>
              <a:ext uri="{FF2B5EF4-FFF2-40B4-BE49-F238E27FC236}">
                <a16:creationId xmlns:a16="http://schemas.microsoft.com/office/drawing/2014/main" xmlns="" id="{3973E8BA-2473-98CE-AD25-659F40B1DF8E}"/>
              </a:ext>
            </a:extLst>
          </p:cNvPr>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3580181" y="2416163"/>
            <a:ext cx="3535204" cy="27061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 name="Picture 2" descr="CLIMVIB › BSL-4 FACILITIES">
            <a:extLst>
              <a:ext uri="{FF2B5EF4-FFF2-40B4-BE49-F238E27FC236}">
                <a16:creationId xmlns:a16="http://schemas.microsoft.com/office/drawing/2014/main" xmlns="" id="{E522CC9F-3012-414D-5A04-A3778244EAE6}"/>
              </a:ext>
            </a:extLst>
          </p:cNvPr>
          <p:cNvPicPr>
            <a:picLocks noChangeAspect="1" noChangeArrowheads="1"/>
          </p:cNvPicPr>
          <p:nvPr/>
        </p:nvPicPr>
        <p:blipFill>
          <a:blip r:embed="rId5">
            <a:extLst>
              <a:ext uri="{28A0092B-C50C-407E-A947-70E740481C1C}">
                <a14:useLocalDpi xmlns:a14="http://schemas.microsoft.com/office/drawing/2010/main" xmlns="" val="0"/>
              </a:ext>
            </a:extLst>
          </a:blip>
          <a:srcRect r="13115"/>
          <a:stretch>
            <a:fillRect/>
          </a:stretch>
        </p:blipFill>
        <p:spPr bwMode="auto">
          <a:xfrm>
            <a:off x="7522593" y="2419962"/>
            <a:ext cx="3368014" cy="26689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9" name="TextBox 8">
            <a:extLst>
              <a:ext uri="{FF2B5EF4-FFF2-40B4-BE49-F238E27FC236}">
                <a16:creationId xmlns:a16="http://schemas.microsoft.com/office/drawing/2014/main" xmlns="" id="{1067FC1B-CB93-5DE3-5F25-74294FA104CF}"/>
              </a:ext>
            </a:extLst>
          </p:cNvPr>
          <p:cNvSpPr txBox="1"/>
          <p:nvPr/>
        </p:nvSpPr>
        <p:spPr>
          <a:xfrm>
            <a:off x="680076" y="5338292"/>
            <a:ext cx="2895762" cy="400110"/>
          </a:xfrm>
          <a:prstGeom prst="rect">
            <a:avLst/>
          </a:prstGeom>
          <a:noFill/>
        </p:spPr>
        <p:txBody>
          <a:bodyPr wrap="square" rtlCol="0">
            <a:spAutoFit/>
          </a:bodyPr>
          <a:lstStyle/>
          <a:p>
            <a:r>
              <a:rPr lang="en-IN" sz="2000" dirty="0">
                <a:latin typeface="Calibri" panose="020F0502020204030204" pitchFamily="34" charset="0"/>
                <a:ea typeface="Calibri" panose="020F0502020204030204" pitchFamily="34" charset="0"/>
                <a:cs typeface="Calibri" panose="020F0502020204030204" pitchFamily="34" charset="0"/>
              </a:rPr>
              <a:t>                BSL - 2</a:t>
            </a:r>
          </a:p>
        </p:txBody>
      </p:sp>
      <p:sp>
        <p:nvSpPr>
          <p:cNvPr id="11" name="TextBox 10">
            <a:extLst>
              <a:ext uri="{FF2B5EF4-FFF2-40B4-BE49-F238E27FC236}">
                <a16:creationId xmlns:a16="http://schemas.microsoft.com/office/drawing/2014/main" xmlns="" id="{23FD4A59-1674-FA91-4F40-666E4F79D332}"/>
              </a:ext>
            </a:extLst>
          </p:cNvPr>
          <p:cNvSpPr txBox="1"/>
          <p:nvPr/>
        </p:nvSpPr>
        <p:spPr>
          <a:xfrm>
            <a:off x="4661899" y="5408667"/>
            <a:ext cx="6097712" cy="400110"/>
          </a:xfrm>
          <a:prstGeom prst="rect">
            <a:avLst/>
          </a:prstGeom>
          <a:noFill/>
        </p:spPr>
        <p:txBody>
          <a:bodyPr wrap="square">
            <a:spAutoFit/>
          </a:bodyPr>
          <a:lstStyle/>
          <a:p>
            <a:pPr eaLnBrk="1" hangingPunct="1">
              <a:spcBef>
                <a:spcPct val="0"/>
              </a:spcBef>
              <a:buFontTx/>
              <a:buNone/>
            </a:pPr>
            <a:r>
              <a:rPr lang="en-IN" altLang="en-US" sz="2000" dirty="0">
                <a:latin typeface="Calibri" panose="020F0502020204030204" pitchFamily="34" charset="0"/>
                <a:cs typeface="Calibri" panose="020F0502020204030204" pitchFamily="34" charset="0"/>
              </a:rPr>
              <a:t>BSL - 3</a:t>
            </a:r>
            <a:endParaRPr lang="en-US" altLang="en-US" sz="2000" dirty="0">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xmlns="" id="{42673CFC-E1F6-B571-C640-E36841127D1D}"/>
              </a:ext>
            </a:extLst>
          </p:cNvPr>
          <p:cNvSpPr txBox="1">
            <a:spLocks noChangeArrowheads="1"/>
          </p:cNvSpPr>
          <p:nvPr/>
        </p:nvSpPr>
        <p:spPr bwMode="auto">
          <a:xfrm>
            <a:off x="8986871" y="5310981"/>
            <a:ext cx="873957"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000" dirty="0">
                <a:latin typeface="Calibri" panose="020F0502020204030204" pitchFamily="34" charset="0"/>
                <a:cs typeface="Calibri" panose="020F0502020204030204" pitchFamily="34" charset="0"/>
              </a:rPr>
              <a:t>BSL - 4</a:t>
            </a:r>
            <a:endParaRPr lang="en-US" altLang="en-US" sz="20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xmlns="" id="{21E27C8B-8F9F-7F53-7EC5-EE86D530A82D}"/>
              </a:ext>
            </a:extLst>
          </p:cNvPr>
          <p:cNvSpPr txBox="1"/>
          <p:nvPr/>
        </p:nvSpPr>
        <p:spPr>
          <a:xfrm>
            <a:off x="526982" y="1406925"/>
            <a:ext cx="6097712" cy="461665"/>
          </a:xfrm>
          <a:prstGeom prst="rect">
            <a:avLst/>
          </a:prstGeom>
          <a:noFill/>
        </p:spPr>
        <p:txBody>
          <a:bodyPr wrap="square">
            <a:spAutoFit/>
          </a:bodyPr>
          <a:lstStyle/>
          <a:p>
            <a:r>
              <a:rPr lang="en-IN" sz="2400" b="1" i="1"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Biological safety cabinet </a:t>
            </a:r>
            <a:endParaRPr lang="en-IN" sz="2400" b="1" i="1" dirty="0">
              <a:solidFill>
                <a:schemeClr val="accent1">
                  <a:lumMod val="75000"/>
                </a:schemeClr>
              </a:solidFill>
            </a:endParaRPr>
          </a:p>
        </p:txBody>
      </p:sp>
    </p:spTree>
    <p:extLst>
      <p:ext uri="{BB962C8B-B14F-4D97-AF65-F5344CB8AC3E}">
        <p14:creationId xmlns:p14="http://schemas.microsoft.com/office/powerpoint/2010/main" xmlns="" val="18880870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45</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93111" y="1412875"/>
            <a:ext cx="8069298" cy="5890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12700" indent="0" algn="just" eaLnBrk="1" hangingPunct="1">
              <a:lnSpc>
                <a:spcPct val="150000"/>
              </a:lnSpc>
              <a:spcBef>
                <a:spcPct val="0"/>
              </a:spcBef>
              <a:buNone/>
            </a:pPr>
            <a:r>
              <a:rPr lang="en-US" altLang="en-US" sz="2400" b="1" dirty="0">
                <a:solidFill>
                  <a:schemeClr val="accent1">
                    <a:lumMod val="75000"/>
                  </a:schemeClr>
                </a:solidFill>
                <a:latin typeface="Calibri" panose="020F0502020204030204" pitchFamily="34" charset="0"/>
              </a:rPr>
              <a:t>Pre and post disaster management</a:t>
            </a: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pic>
        <p:nvPicPr>
          <p:cNvPr id="3" name="Picture 2">
            <a:extLst>
              <a:ext uri="{FF2B5EF4-FFF2-40B4-BE49-F238E27FC236}">
                <a16:creationId xmlns:a16="http://schemas.microsoft.com/office/drawing/2014/main" xmlns="" id="{54112828-9D38-DC61-188B-E505E0151D08}"/>
              </a:ext>
            </a:extLst>
          </p:cNvPr>
          <p:cNvPicPr>
            <a:picLocks noChangeAspect="1" noChangeArrowheads="1"/>
          </p:cNvPicPr>
          <p:nvPr/>
        </p:nvPicPr>
        <p:blipFill rotWithShape="1">
          <a:blip r:embed="rId3">
            <a:extLst>
              <a:ext uri="{28A0092B-C50C-407E-A947-70E740481C1C}">
                <a14:useLocalDpi xmlns:a14="http://schemas.microsoft.com/office/drawing/2010/main" xmlns="" val="0"/>
              </a:ext>
            </a:extLst>
          </a:blip>
          <a:srcRect l="18915" r="18260"/>
          <a:stretch/>
        </p:blipFill>
        <p:spPr bwMode="auto">
          <a:xfrm>
            <a:off x="674852" y="2233613"/>
            <a:ext cx="6696744" cy="3590702"/>
          </a:xfrm>
          <a:prstGeom prst="rect">
            <a:avLst/>
          </a:prstGeom>
          <a:noFill/>
          <a:extLst>
            <a:ext uri="{909E8E84-426E-40DD-AFC4-6F175D3DCCD1}">
              <a14:hiddenFill xmlns:a14="http://schemas.microsoft.com/office/drawing/2010/main" xmlns="">
                <a:solidFill>
                  <a:srgbClr val="FFFFFF"/>
                </a:solidFill>
              </a14:hiddenFill>
            </a:ext>
          </a:extLst>
        </p:spPr>
      </p:pic>
      <p:sp>
        <p:nvSpPr>
          <p:cNvPr id="4" name="TextBox 3">
            <a:extLst>
              <a:ext uri="{FF2B5EF4-FFF2-40B4-BE49-F238E27FC236}">
                <a16:creationId xmlns:a16="http://schemas.microsoft.com/office/drawing/2014/main" xmlns="" id="{3FD9AD08-CC54-EAE3-93D6-E482FF9893E0}"/>
              </a:ext>
            </a:extLst>
          </p:cNvPr>
          <p:cNvSpPr txBox="1"/>
          <p:nvPr/>
        </p:nvSpPr>
        <p:spPr>
          <a:xfrm>
            <a:off x="393700" y="6408107"/>
            <a:ext cx="6097712" cy="261610"/>
          </a:xfrm>
          <a:prstGeom prst="rect">
            <a:avLst/>
          </a:prstGeom>
          <a:noFill/>
        </p:spPr>
        <p:txBody>
          <a:bodyPr wrap="square">
            <a:spAutoFit/>
          </a:bodyPr>
          <a:lstStyle/>
          <a:p>
            <a:r>
              <a:rPr lang="en-US" sz="1100" i="1" dirty="0"/>
              <a:t>Image source: GK Today</a:t>
            </a:r>
            <a:endParaRPr lang="en-IN" sz="1100" i="1" dirty="0"/>
          </a:p>
        </p:txBody>
      </p:sp>
    </p:spTree>
    <p:extLst>
      <p:ext uri="{BB962C8B-B14F-4D97-AF65-F5344CB8AC3E}">
        <p14:creationId xmlns:p14="http://schemas.microsoft.com/office/powerpoint/2010/main" xmlns="" val="26998581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46</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412875"/>
            <a:ext cx="8069298" cy="635064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indent="-342900" algn="just">
              <a:lnSpc>
                <a:spcPct val="150000"/>
              </a:lnSpc>
              <a:buFont typeface="Arial" panose="020B0604020202020204" pitchFamily="34" charset="0"/>
              <a:buChar char="•"/>
            </a:pPr>
            <a:r>
              <a:rPr lang="en-US" sz="2400" b="0" i="0" dirty="0">
                <a:solidFill>
                  <a:schemeClr val="accent1">
                    <a:lumMod val="75000"/>
                  </a:schemeClr>
                </a:solidFill>
                <a:effectLst/>
                <a:latin typeface="Calibri" panose="020F0502020204030204" pitchFamily="34" charset="0"/>
                <a:ea typeface="Calibri" panose="020F0502020204030204" pitchFamily="34" charset="0"/>
                <a:cs typeface="Calibri" panose="020F0502020204030204" pitchFamily="34" charset="0"/>
              </a:rPr>
              <a:t>Pre-disaster management</a:t>
            </a:r>
          </a:p>
          <a:p>
            <a:pPr marL="342900" indent="-342900" algn="just">
              <a:lnSpc>
                <a:spcPct val="150000"/>
              </a:lnSpc>
              <a:buFont typeface="Arial" panose="020B0604020202020204" pitchFamily="34" charset="0"/>
              <a:buChar char="•"/>
            </a:pPr>
            <a:r>
              <a:rPr lang="en-US" sz="2400" b="0" i="0" dirty="0">
                <a:solidFill>
                  <a:srgbClr val="090909"/>
                </a:solidFill>
                <a:effectLst/>
                <a:latin typeface="Calibri" panose="020F0502020204030204" pitchFamily="34" charset="0"/>
                <a:ea typeface="Calibri" panose="020F0502020204030204" pitchFamily="34" charset="0"/>
                <a:cs typeface="Calibri" panose="020F0502020204030204" pitchFamily="34" charset="0"/>
              </a:rPr>
              <a:t>Disaster </a:t>
            </a:r>
            <a:r>
              <a:rPr lang="en-US" sz="2400" b="1" i="0" dirty="0">
                <a:solidFill>
                  <a:srgbClr val="090909"/>
                </a:solidFill>
                <a:effectLst/>
                <a:latin typeface="Calibri" panose="020F0502020204030204" pitchFamily="34" charset="0"/>
                <a:ea typeface="Calibri" panose="020F0502020204030204" pitchFamily="34" charset="0"/>
                <a:cs typeface="Calibri" panose="020F0502020204030204" pitchFamily="34" charset="0"/>
              </a:rPr>
              <a:t>prevention and mitigation</a:t>
            </a:r>
            <a:r>
              <a:rPr lang="en-US" sz="2400" b="0" i="0" dirty="0">
                <a:solidFill>
                  <a:srgbClr val="090909"/>
                </a:solidFill>
                <a:effectLst/>
                <a:latin typeface="Calibri" panose="020F0502020204030204" pitchFamily="34" charset="0"/>
                <a:ea typeface="Calibri" panose="020F0502020204030204" pitchFamily="34" charset="0"/>
                <a:cs typeface="Calibri" panose="020F0502020204030204" pitchFamily="34" charset="0"/>
              </a:rPr>
              <a:t> refers to the activities which are undertaken to prevent or mitigate the adverse effects of a disaster in short and long term. </a:t>
            </a:r>
          </a:p>
          <a:p>
            <a:pPr marL="342900" indent="-342900" algn="just">
              <a:lnSpc>
                <a:spcPct val="150000"/>
              </a:lnSpc>
              <a:buFont typeface="Arial" panose="020B0604020202020204" pitchFamily="34" charset="0"/>
              <a:buChar char="•"/>
            </a:pPr>
            <a:r>
              <a:rPr lang="en-US" sz="2400" b="0" i="0" dirty="0">
                <a:solidFill>
                  <a:srgbClr val="090909"/>
                </a:solidFill>
                <a:effectLst/>
                <a:latin typeface="Calibri" panose="020F0502020204030204" pitchFamily="34" charset="0"/>
                <a:ea typeface="Calibri" panose="020F0502020204030204" pitchFamily="34" charset="0"/>
                <a:cs typeface="Calibri" panose="020F0502020204030204" pitchFamily="34" charset="0"/>
              </a:rPr>
              <a:t>On the one hand they include political, legal, administrative and infrastructural measures; while on the other hand it includes educating vulnerable communities influencing their lifestyle and </a:t>
            </a:r>
            <a:r>
              <a:rPr lang="en-US" sz="2400" b="0" i="0" dirty="0" err="1">
                <a:solidFill>
                  <a:srgbClr val="090909"/>
                </a:solidFill>
                <a:effectLst/>
                <a:latin typeface="Calibri" panose="020F0502020204030204" pitchFamily="34" charset="0"/>
                <a:ea typeface="Calibri" panose="020F0502020204030204" pitchFamily="34" charset="0"/>
                <a:cs typeface="Calibri" panose="020F0502020204030204" pitchFamily="34" charset="0"/>
              </a:rPr>
              <a:t>behaviour</a:t>
            </a:r>
            <a:r>
              <a:rPr lang="en-US" sz="2400" b="0" i="0" dirty="0">
                <a:solidFill>
                  <a:srgbClr val="090909"/>
                </a:solidFill>
                <a:effectLst/>
                <a:latin typeface="Calibri" panose="020F0502020204030204" pitchFamily="34" charset="0"/>
                <a:ea typeface="Calibri" panose="020F0502020204030204" pitchFamily="34" charset="0"/>
                <a:cs typeface="Calibri" panose="020F0502020204030204" pitchFamily="34" charset="0"/>
              </a:rPr>
              <a:t> in order to reduce their disaster risk.</a:t>
            </a:r>
            <a:endParaRPr lang="en-IN" sz="2400" dirty="0">
              <a:latin typeface="Calibri" panose="020F0502020204030204" pitchFamily="34" charset="0"/>
              <a:ea typeface="Calibri" panose="020F0502020204030204" pitchFamily="34" charset="0"/>
              <a:cs typeface="Calibri" panose="020F0502020204030204" pitchFamily="34" charset="0"/>
            </a:endParaRPr>
          </a:p>
          <a:p>
            <a:pPr algn="just" eaLnBrk="1" hangingPunct="1">
              <a:lnSpc>
                <a:spcPct val="150000"/>
              </a:lnSpc>
              <a:spcBef>
                <a:spcPct val="0"/>
              </a:spcBef>
            </a:pPr>
            <a:endParaRPr lang="en-US" altLang="en-US" sz="2400" b="1" dirty="0">
              <a:solidFill>
                <a:schemeClr val="accent1">
                  <a:lumMod val="75000"/>
                </a:schemeClr>
              </a:solidFill>
              <a:latin typeface="Calibri" panose="020F0502020204030204" pitchFamily="34" charset="0"/>
            </a:endParaRPr>
          </a:p>
          <a:p>
            <a:pPr marL="342900" algn="just">
              <a:lnSpc>
                <a:spcPct val="150000"/>
              </a:lnSpc>
              <a:spcBef>
                <a:spcPct val="0"/>
              </a:spcBef>
            </a:pPr>
            <a:endParaRPr lang="en-US" sz="2400" dirty="0">
              <a:latin typeface="Calibri" panose="020F0502020204030204" pitchFamily="34" charset="0"/>
            </a:endParaRPr>
          </a:p>
          <a:p>
            <a:pPr marL="12700" indent="0" algn="just">
              <a:lnSpc>
                <a:spcPct val="150000"/>
              </a:lnSpc>
              <a:buNone/>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94706082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47</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412875"/>
            <a:ext cx="8069298" cy="579665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indent="-342900" algn="l" rtl="0">
              <a:lnSpc>
                <a:spcPct val="150000"/>
              </a:lnSpc>
              <a:buFont typeface="Arial" panose="020B0604020202020204" pitchFamily="34" charset="0"/>
              <a:buChar char="•"/>
            </a:pPr>
            <a:r>
              <a:rPr lang="en-US" sz="2400" b="1" dirty="0">
                <a:solidFill>
                  <a:srgbClr val="090909"/>
                </a:solidFill>
                <a:latin typeface="Calibri" panose="020F0502020204030204" pitchFamily="34" charset="0"/>
                <a:ea typeface="Calibri" panose="020F0502020204030204" pitchFamily="34" charset="0"/>
                <a:cs typeface="Calibri" panose="020F0502020204030204" pitchFamily="34" charset="0"/>
              </a:rPr>
              <a:t>Disaster Preparedness</a:t>
            </a:r>
          </a:p>
          <a:p>
            <a:pPr marL="342900" indent="-342900" algn="just" rtl="0">
              <a:lnSpc>
                <a:spcPct val="150000"/>
              </a:lnSpc>
              <a:buFont typeface="Arial" panose="020B0604020202020204" pitchFamily="34" charset="0"/>
              <a:buChar char="•"/>
            </a:pPr>
            <a:r>
              <a:rPr lang="en-US" sz="2400" dirty="0">
                <a:solidFill>
                  <a:srgbClr val="090909"/>
                </a:solidFill>
                <a:latin typeface="Calibri" panose="020F0502020204030204" pitchFamily="34" charset="0"/>
                <a:ea typeface="Calibri" panose="020F0502020204030204" pitchFamily="34" charset="0"/>
                <a:cs typeface="Calibri" panose="020F0502020204030204" pitchFamily="34" charset="0"/>
              </a:rPr>
              <a:t>The intention of Disaster preparedness is to prevent or minimize the losses and damage in case of a disaster. </a:t>
            </a:r>
          </a:p>
          <a:p>
            <a:pPr marL="342900" indent="-342900" algn="just" rtl="0">
              <a:lnSpc>
                <a:spcPct val="150000"/>
              </a:lnSpc>
              <a:buFont typeface="Arial" panose="020B0604020202020204" pitchFamily="34" charset="0"/>
              <a:buChar char="•"/>
            </a:pPr>
            <a:r>
              <a:rPr lang="en-US" sz="2400" dirty="0">
                <a:solidFill>
                  <a:srgbClr val="090909"/>
                </a:solidFill>
                <a:latin typeface="Calibri" panose="020F0502020204030204" pitchFamily="34" charset="0"/>
                <a:ea typeface="Calibri" panose="020F0502020204030204" pitchFamily="34" charset="0"/>
                <a:cs typeface="Calibri" panose="020F0502020204030204" pitchFamily="34" charset="0"/>
              </a:rPr>
              <a:t>This would include the preparedness of all civic bodies such as civil administration, fire-brigade, hospitals, police etc. Preparedness denotes the third phase of emergency management.</a:t>
            </a:r>
          </a:p>
          <a:p>
            <a:pPr algn="just" eaLnBrk="1" hangingPunct="1">
              <a:lnSpc>
                <a:spcPct val="150000"/>
              </a:lnSpc>
              <a:spcBef>
                <a:spcPct val="0"/>
              </a:spcBef>
            </a:pPr>
            <a:endParaRPr lang="en-US" altLang="en-US" sz="2400" b="1" dirty="0">
              <a:solidFill>
                <a:schemeClr val="accent1">
                  <a:lumMod val="75000"/>
                </a:schemeClr>
              </a:solidFill>
              <a:latin typeface="Calibri" panose="020F0502020204030204" pitchFamily="34" charset="0"/>
            </a:endParaRPr>
          </a:p>
          <a:p>
            <a:pPr marL="342900" algn="just">
              <a:lnSpc>
                <a:spcPct val="150000"/>
              </a:lnSpc>
              <a:spcBef>
                <a:spcPct val="0"/>
              </a:spcBef>
            </a:pPr>
            <a:endParaRPr lang="en-US" sz="2400" dirty="0">
              <a:latin typeface="Calibri" panose="020F0502020204030204" pitchFamily="34" charset="0"/>
            </a:endParaRPr>
          </a:p>
          <a:p>
            <a:pPr marL="12700" indent="0" algn="just">
              <a:lnSpc>
                <a:spcPct val="150000"/>
              </a:lnSpc>
              <a:buNone/>
            </a:pP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84042148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ustomShape 1"/>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
        <p:nvSpPr>
          <p:cNvPr id="17412" name="Line 2"/>
          <p:cNvSpPr>
            <a:spLocks noChangeShapeType="1"/>
          </p:cNvSpPr>
          <p:nvPr/>
        </p:nvSpPr>
        <p:spPr bwMode="auto">
          <a:xfrm>
            <a:off x="0" y="1264667"/>
            <a:ext cx="8299451"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17413"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17414"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95BD099D-46DD-4E9B-B51D-0BE320D137CE}" type="slidenum">
              <a:rPr lang="en-IN" altLang="en-US" sz="1200">
                <a:solidFill>
                  <a:srgbClr val="8B8B8B"/>
                </a:solidFill>
                <a:latin typeface="Calibri" panose="020F0502020204030204" pitchFamily="34" charset="0"/>
              </a:rPr>
              <a:pPr algn="r" eaLnBrk="1" hangingPunct="1">
                <a:spcBef>
                  <a:spcPct val="0"/>
                </a:spcBef>
                <a:buFontTx/>
                <a:buNone/>
              </a:pPr>
              <a:t>48</a:t>
            </a:fld>
            <a:endParaRPr lang="en-US" altLang="en-US" sz="1800"/>
          </a:p>
        </p:txBody>
      </p:sp>
      <p:sp>
        <p:nvSpPr>
          <p:cNvPr id="17415" name="Rectangle 8"/>
          <p:cNvSpPr>
            <a:spLocks noChangeArrowheads="1"/>
          </p:cNvSpPr>
          <p:nvPr/>
        </p:nvSpPr>
        <p:spPr bwMode="auto">
          <a:xfrm>
            <a:off x="334963" y="1412875"/>
            <a:ext cx="8424862"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355600" indent="-342900">
              <a:spcBef>
                <a:spcPct val="20000"/>
              </a:spcBef>
              <a:buChar char="•"/>
              <a:tabLst>
                <a:tab pos="354013" algn="l"/>
                <a:tab pos="355600" algn="l"/>
              </a:tabLst>
              <a:defRPr sz="3200">
                <a:solidFill>
                  <a:schemeClr val="tx1"/>
                </a:solidFill>
                <a:latin typeface="Arial" panose="020B0604020202020204" pitchFamily="34" charset="0"/>
              </a:defRPr>
            </a:lvl1pPr>
            <a:lvl2pPr marL="742950" indent="-285750">
              <a:spcBef>
                <a:spcPct val="20000"/>
              </a:spcBef>
              <a:buChar char="–"/>
              <a:tabLst>
                <a:tab pos="354013" algn="l"/>
                <a:tab pos="355600" algn="l"/>
              </a:tabLst>
              <a:defRPr sz="2800">
                <a:solidFill>
                  <a:schemeClr val="tx1"/>
                </a:solidFill>
                <a:latin typeface="Arial" panose="020B0604020202020204" pitchFamily="34" charset="0"/>
              </a:defRPr>
            </a:lvl2pPr>
            <a:lvl3pPr marL="1143000" indent="-228600">
              <a:spcBef>
                <a:spcPct val="20000"/>
              </a:spcBef>
              <a:buChar char="•"/>
              <a:tabLst>
                <a:tab pos="354013" algn="l"/>
                <a:tab pos="355600" algn="l"/>
              </a:tabLst>
              <a:defRPr sz="2400">
                <a:solidFill>
                  <a:schemeClr val="tx1"/>
                </a:solidFill>
                <a:latin typeface="Arial" panose="020B0604020202020204" pitchFamily="34" charset="0"/>
              </a:defRPr>
            </a:lvl3pPr>
            <a:lvl4pPr marL="1600200" indent="-228600">
              <a:spcBef>
                <a:spcPct val="20000"/>
              </a:spcBef>
              <a:buChar char="–"/>
              <a:tabLst>
                <a:tab pos="354013" algn="l"/>
                <a:tab pos="355600" algn="l"/>
              </a:tabLst>
              <a:defRPr sz="2000">
                <a:solidFill>
                  <a:schemeClr val="tx1"/>
                </a:solidFill>
                <a:latin typeface="Arial" panose="020B0604020202020204" pitchFamily="34" charset="0"/>
              </a:defRPr>
            </a:lvl4pPr>
            <a:lvl5pPr marL="2057400" indent="-228600">
              <a:spcBef>
                <a:spcPct val="20000"/>
              </a:spcBef>
              <a:buChar char="»"/>
              <a:tabLst>
                <a:tab pos="354013" algn="l"/>
                <a:tab pos="355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354013" algn="l"/>
                <a:tab pos="355600" algn="l"/>
              </a:tabLst>
              <a:defRPr sz="2000">
                <a:solidFill>
                  <a:schemeClr val="tx1"/>
                </a:solidFill>
                <a:latin typeface="Arial" panose="020B0604020202020204" pitchFamily="34" charset="0"/>
              </a:defRPr>
            </a:lvl9pPr>
          </a:lstStyle>
          <a:p>
            <a:pPr eaLnBrk="1" hangingPunct="1">
              <a:spcBef>
                <a:spcPts val="488"/>
              </a:spcBef>
              <a:buFontTx/>
              <a:buNone/>
            </a:pPr>
            <a:endParaRPr lang="en-IN" altLang="en-US" sz="2400">
              <a:latin typeface="Calibri" panose="020F0502020204030204" pitchFamily="34" charset="0"/>
              <a:cs typeface="Arial" panose="020B0604020202020204" pitchFamily="34" charset="0"/>
            </a:endParaRPr>
          </a:p>
        </p:txBody>
      </p:sp>
      <p:sp>
        <p:nvSpPr>
          <p:cNvPr id="17416" name="Rectangle 7"/>
          <p:cNvSpPr>
            <a:spLocks noChangeArrowheads="1"/>
          </p:cNvSpPr>
          <p:nvPr/>
        </p:nvSpPr>
        <p:spPr bwMode="auto">
          <a:xfrm>
            <a:off x="334963" y="1412875"/>
            <a:ext cx="8069298" cy="46886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3556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indent="-342900" algn="l" rtl="0">
              <a:lnSpc>
                <a:spcPct val="150000"/>
              </a:lnSpc>
              <a:buFont typeface="Arial" panose="020B0604020202020204" pitchFamily="34" charset="0"/>
              <a:buChar char="•"/>
            </a:pPr>
            <a:r>
              <a:rPr lang="en-US" sz="2400"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Post-disaster management</a:t>
            </a:r>
          </a:p>
          <a:p>
            <a:pPr marL="342900" indent="-342900" algn="l" rtl="0">
              <a:lnSpc>
                <a:spcPct val="150000"/>
              </a:lnSpc>
              <a:buFont typeface="Arial" panose="020B0604020202020204" pitchFamily="34" charset="0"/>
              <a:buChar char="•"/>
            </a:pPr>
            <a:r>
              <a:rPr lang="en-US" sz="2400" b="1" dirty="0">
                <a:solidFill>
                  <a:srgbClr val="090909"/>
                </a:solidFill>
                <a:latin typeface="Calibri" panose="020F0502020204030204" pitchFamily="34" charset="0"/>
                <a:ea typeface="Calibri" panose="020F0502020204030204" pitchFamily="34" charset="0"/>
                <a:cs typeface="Calibri" panose="020F0502020204030204" pitchFamily="34" charset="0"/>
              </a:rPr>
              <a:t>Response, Recovery and Reconstruction</a:t>
            </a:r>
          </a:p>
          <a:p>
            <a:pPr marL="342900" indent="-342900" algn="just" rtl="0">
              <a:lnSpc>
                <a:spcPct val="150000"/>
              </a:lnSpc>
              <a:buFont typeface="Arial" panose="020B0604020202020204" pitchFamily="34" charset="0"/>
              <a:buChar char="•"/>
            </a:pPr>
            <a:r>
              <a:rPr lang="en-US" sz="2400" dirty="0">
                <a:solidFill>
                  <a:srgbClr val="090909"/>
                </a:solidFill>
                <a:latin typeface="Calibri" panose="020F0502020204030204" pitchFamily="34" charset="0"/>
                <a:ea typeface="Calibri" panose="020F0502020204030204" pitchFamily="34" charset="0"/>
                <a:cs typeface="Calibri" panose="020F0502020204030204" pitchFamily="34" charset="0"/>
              </a:rPr>
              <a:t>The response phase includes the search and rescue; fulfilling basic humanitarian needs of victims ; assistance by regional, national and international bodies etc. Recovery phase starts after the immediate threat to human life has subsided. </a:t>
            </a:r>
          </a:p>
          <a:p>
            <a:pPr marL="342900" indent="-342900" algn="just" rtl="0">
              <a:lnSpc>
                <a:spcPct val="150000"/>
              </a:lnSpc>
              <a:buFont typeface="Arial" panose="020B0604020202020204" pitchFamily="34" charset="0"/>
              <a:buChar char="•"/>
            </a:pPr>
            <a:r>
              <a:rPr lang="en-US" sz="2400" dirty="0">
                <a:solidFill>
                  <a:srgbClr val="090909"/>
                </a:solidFill>
                <a:latin typeface="Calibri" panose="020F0502020204030204" pitchFamily="34" charset="0"/>
                <a:ea typeface="Calibri" panose="020F0502020204030204" pitchFamily="34" charset="0"/>
                <a:cs typeface="Calibri" panose="020F0502020204030204" pitchFamily="34" charset="0"/>
              </a:rPr>
              <a:t>The immediate goal of the recovery phase is to bring the affected area back to some degree of normalcy. </a:t>
            </a:r>
            <a:endParaRPr lang="en-US" sz="2400" dirty="0">
              <a:latin typeface="Calibri" panose="020F0502020204030204" pitchFamily="34" charset="0"/>
            </a:endParaRPr>
          </a:p>
        </p:txBody>
      </p:sp>
      <p:pic>
        <p:nvPicPr>
          <p:cNvPr id="2" name="Picture 4" descr="PESSAT - All India Online Entrance Exam for Admission to PES University">
            <a:extLst>
              <a:ext uri="{FF2B5EF4-FFF2-40B4-BE49-F238E27FC236}">
                <a16:creationId xmlns:a16="http://schemas.microsoft.com/office/drawing/2014/main" xmlns="" id="{822DC9B4-C814-1891-9264-1F82CCD677D1}"/>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71415830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CustomShape 1"/>
          <p:cNvSpPr>
            <a:spLocks noChangeArrowheads="1"/>
          </p:cNvSpPr>
          <p:nvPr/>
        </p:nvSpPr>
        <p:spPr bwMode="auto">
          <a:xfrm>
            <a:off x="371475" y="609600"/>
            <a:ext cx="7999413" cy="455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dirty="0"/>
          </a:p>
        </p:txBody>
      </p:sp>
      <p:sp>
        <p:nvSpPr>
          <p:cNvPr id="61444" name="Line 2"/>
          <p:cNvSpPr>
            <a:spLocks noChangeShapeType="1"/>
          </p:cNvSpPr>
          <p:nvPr/>
        </p:nvSpPr>
        <p:spPr bwMode="auto">
          <a:xfrm>
            <a:off x="-18724" y="1228280"/>
            <a:ext cx="8299450"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61445"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61446"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EDD03FDF-C65C-499E-B742-38AC5EF9D801}" type="slidenum">
              <a:rPr lang="en-IN" altLang="en-US" sz="1200">
                <a:solidFill>
                  <a:srgbClr val="8B8B8B"/>
                </a:solidFill>
                <a:latin typeface="Calibri" panose="020F0502020204030204" pitchFamily="34" charset="0"/>
              </a:rPr>
              <a:pPr algn="r" eaLnBrk="1" hangingPunct="1">
                <a:spcBef>
                  <a:spcPct val="0"/>
                </a:spcBef>
                <a:buFontTx/>
                <a:buNone/>
              </a:pPr>
              <a:t>49</a:t>
            </a:fld>
            <a:endParaRPr lang="en-US" altLang="en-US" sz="1800"/>
          </a:p>
        </p:txBody>
      </p:sp>
      <p:sp>
        <p:nvSpPr>
          <p:cNvPr id="61447" name="Rectangle 9"/>
          <p:cNvSpPr>
            <a:spLocks noChangeArrowheads="1"/>
          </p:cNvSpPr>
          <p:nvPr/>
        </p:nvSpPr>
        <p:spPr bwMode="auto">
          <a:xfrm>
            <a:off x="316238" y="1344555"/>
            <a:ext cx="7964488" cy="445044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457200" indent="-4572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indent="-342900" algn="just">
              <a:lnSpc>
                <a:spcPct val="150000"/>
              </a:lnSpc>
              <a:buFont typeface="Arial" panose="020B0604020202020204" pitchFamily="34" charset="0"/>
              <a:buChar char="•"/>
              <a:defRPr/>
            </a:pPr>
            <a:r>
              <a:rPr lang="en-IN" altLang="en-US" sz="2400" b="1" dirty="0">
                <a:solidFill>
                  <a:schemeClr val="accent1">
                    <a:lumMod val="75000"/>
                  </a:schemeClr>
                </a:solidFill>
                <a:latin typeface="Calibri" panose="020F0502020204030204" pitchFamily="34" charset="0"/>
              </a:rPr>
              <a:t>Bioterrorism</a:t>
            </a:r>
            <a:endParaRPr lang="en-US" altLang="en-US" sz="1800" dirty="0">
              <a:solidFill>
                <a:schemeClr val="accent1">
                  <a:lumMod val="75000"/>
                </a:schemeClr>
              </a:solidFill>
            </a:endParaRPr>
          </a:p>
          <a:p>
            <a:pPr marL="342900" indent="-342900" algn="just">
              <a:lnSpc>
                <a:spcPct val="150000"/>
              </a:lnSpc>
              <a:buFont typeface="Arial" panose="020B0604020202020204" pitchFamily="34" charset="0"/>
              <a:buChar char="•"/>
              <a:defRPr/>
            </a:pPr>
            <a:r>
              <a:rPr lang="en-IN" sz="2400" dirty="0">
                <a:latin typeface="Calibri" panose="020F0502020204030204" pitchFamily="34" charset="0"/>
                <a:ea typeface="Calibri" panose="020F0502020204030204" pitchFamily="34" charset="0"/>
                <a:cs typeface="Calibri" panose="020F0502020204030204" pitchFamily="34" charset="0"/>
              </a:rPr>
              <a:t>A biological attack, or </a:t>
            </a:r>
            <a:r>
              <a:rPr lang="en-IN" sz="2400" b="1" dirty="0">
                <a:latin typeface="Calibri" panose="020F0502020204030204" pitchFamily="34" charset="0"/>
                <a:ea typeface="Calibri" panose="020F0502020204030204" pitchFamily="34" charset="0"/>
                <a:cs typeface="Calibri" panose="020F0502020204030204" pitchFamily="34" charset="0"/>
              </a:rPr>
              <a:t>bioterrorism</a:t>
            </a:r>
            <a:r>
              <a:rPr lang="en-IN" sz="2400" dirty="0">
                <a:latin typeface="Calibri" panose="020F0502020204030204" pitchFamily="34" charset="0"/>
                <a:ea typeface="Calibri" panose="020F0502020204030204" pitchFamily="34" charset="0"/>
                <a:cs typeface="Calibri" panose="020F0502020204030204" pitchFamily="34" charset="0"/>
              </a:rPr>
              <a:t>, is the intentional release of viruses, bacteria, or other germs that can sicken or kill people, livestock, or crops.</a:t>
            </a:r>
          </a:p>
          <a:p>
            <a:pPr marL="342900" indent="-342900" algn="just">
              <a:lnSpc>
                <a:spcPct val="150000"/>
              </a:lnSpc>
              <a:buFont typeface="Arial" panose="020B0604020202020204" pitchFamily="34" charset="0"/>
              <a:buChar char="•"/>
              <a:defRPr/>
            </a:pPr>
            <a:r>
              <a:rPr lang="en-IN" sz="2400" b="1"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Biological warfare: </a:t>
            </a:r>
            <a:r>
              <a:rPr lang="en-IN" sz="2400" dirty="0">
                <a:latin typeface="Calibri" panose="020F0502020204030204" pitchFamily="34" charset="0"/>
                <a:ea typeface="Calibri" panose="020F0502020204030204" pitchFamily="34" charset="0"/>
                <a:cs typeface="Calibri" panose="020F0502020204030204" pitchFamily="34" charset="0"/>
              </a:rPr>
              <a:t>intentional use of microorganisms and toxins usually of microbial, plant or animal origin to produce disease and death among humans, live stock and crops.</a:t>
            </a:r>
          </a:p>
          <a:p>
            <a:pPr marL="342900" indent="-342900" algn="just">
              <a:buFont typeface="Arial" panose="020B0604020202020204" pitchFamily="34" charset="0"/>
              <a:buChar char="•"/>
              <a:defRPr/>
            </a:pPr>
            <a:endParaRPr lang="en-IN" sz="1800" dirty="0">
              <a:latin typeface="+mn-lt"/>
            </a:endParaRPr>
          </a:p>
        </p:txBody>
      </p:sp>
      <p:pic>
        <p:nvPicPr>
          <p:cNvPr id="2" name="Picture 4" descr="PESSAT - All India Online Entrance Exam for Admission to PES University">
            <a:extLst>
              <a:ext uri="{FF2B5EF4-FFF2-40B4-BE49-F238E27FC236}">
                <a16:creationId xmlns:a16="http://schemas.microsoft.com/office/drawing/2014/main" xmlns="" id="{8F6E1112-3F5C-8AC9-7E71-2DAA90CC919B}"/>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
        <p:nvSpPr>
          <p:cNvPr id="3" name="CustomShape 1">
            <a:extLst>
              <a:ext uri="{FF2B5EF4-FFF2-40B4-BE49-F238E27FC236}">
                <a16:creationId xmlns:a16="http://schemas.microsoft.com/office/drawing/2014/main" xmlns="" id="{6D9CADB9-BD8B-6C39-5DA8-9BA63EB4DFEF}"/>
              </a:ext>
            </a:extLst>
          </p:cNvPr>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Tree>
    <p:extLst>
      <p:ext uri="{BB962C8B-B14F-4D97-AF65-F5344CB8AC3E}">
        <p14:creationId xmlns:p14="http://schemas.microsoft.com/office/powerpoint/2010/main" xmlns="" val="304346960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Line 2"/>
          <p:cNvSpPr>
            <a:spLocks noChangeShapeType="1"/>
          </p:cNvSpPr>
          <p:nvPr/>
        </p:nvSpPr>
        <p:spPr bwMode="auto">
          <a:xfrm>
            <a:off x="0" y="1250149"/>
            <a:ext cx="8299450"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62469"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62470"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EA1E95C6-4CD4-47BE-A7AC-FEF6E4B9AF13}" type="slidenum">
              <a:rPr lang="en-IN" altLang="en-US" sz="1200">
                <a:solidFill>
                  <a:srgbClr val="8B8B8B"/>
                </a:solidFill>
                <a:latin typeface="Calibri" panose="020F0502020204030204" pitchFamily="34" charset="0"/>
              </a:rPr>
              <a:pPr algn="r" eaLnBrk="1" hangingPunct="1">
                <a:spcBef>
                  <a:spcPct val="0"/>
                </a:spcBef>
                <a:buFontTx/>
                <a:buNone/>
              </a:pPr>
              <a:t>50</a:t>
            </a:fld>
            <a:endParaRPr lang="en-US" altLang="en-US" sz="1800"/>
          </a:p>
        </p:txBody>
      </p:sp>
      <p:pic>
        <p:nvPicPr>
          <p:cNvPr id="2" name="Picture 4" descr="PESSAT - All India Online Entrance Exam for Admission to PES University">
            <a:extLst>
              <a:ext uri="{FF2B5EF4-FFF2-40B4-BE49-F238E27FC236}">
                <a16:creationId xmlns:a16="http://schemas.microsoft.com/office/drawing/2014/main" xmlns="" id="{1B1D10A7-88D7-B0A5-CB44-6CB24800BEB6}"/>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
        <p:nvSpPr>
          <p:cNvPr id="3" name="CustomShape 1">
            <a:extLst>
              <a:ext uri="{FF2B5EF4-FFF2-40B4-BE49-F238E27FC236}">
                <a16:creationId xmlns:a16="http://schemas.microsoft.com/office/drawing/2014/main" xmlns="" id="{977F1767-D993-7A3E-6CA1-1F090EDB3DC3}"/>
              </a:ext>
            </a:extLst>
          </p:cNvPr>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graphicFrame>
        <p:nvGraphicFramePr>
          <p:cNvPr id="5" name="Table 4">
            <a:extLst>
              <a:ext uri="{FF2B5EF4-FFF2-40B4-BE49-F238E27FC236}">
                <a16:creationId xmlns:a16="http://schemas.microsoft.com/office/drawing/2014/main" xmlns="" id="{73A329F1-ACF7-CC7F-7CF5-62BF9A851300}"/>
              </a:ext>
            </a:extLst>
          </p:cNvPr>
          <p:cNvGraphicFramePr>
            <a:graphicFrameLocks noGrp="1"/>
          </p:cNvGraphicFramePr>
          <p:nvPr>
            <p:extLst>
              <p:ext uri="{D42A27DB-BD31-4B8C-83A1-F6EECF244321}">
                <p14:modId xmlns:p14="http://schemas.microsoft.com/office/powerpoint/2010/main" xmlns="" val="3179216743"/>
              </p:ext>
            </p:extLst>
          </p:nvPr>
        </p:nvGraphicFramePr>
        <p:xfrm>
          <a:off x="393111" y="1512278"/>
          <a:ext cx="7911388" cy="5007175"/>
        </p:xfrm>
        <a:graphic>
          <a:graphicData uri="http://schemas.openxmlformats.org/drawingml/2006/table">
            <a:tbl>
              <a:tblPr firstRow="1" bandRow="1">
                <a:tableStyleId>{5C22544A-7EE6-4342-B048-85BDC9FD1C3A}</a:tableStyleId>
              </a:tblPr>
              <a:tblGrid>
                <a:gridCol w="1716070">
                  <a:extLst>
                    <a:ext uri="{9D8B030D-6E8A-4147-A177-3AD203B41FA5}">
                      <a16:colId xmlns:a16="http://schemas.microsoft.com/office/drawing/2014/main" xmlns="" val="3367927259"/>
                    </a:ext>
                  </a:extLst>
                </a:gridCol>
                <a:gridCol w="6195318">
                  <a:extLst>
                    <a:ext uri="{9D8B030D-6E8A-4147-A177-3AD203B41FA5}">
                      <a16:colId xmlns:a16="http://schemas.microsoft.com/office/drawing/2014/main" xmlns="" val="73354793"/>
                    </a:ext>
                  </a:extLst>
                </a:gridCol>
              </a:tblGrid>
              <a:tr h="679015">
                <a:tc>
                  <a:txBody>
                    <a:bodyPr/>
                    <a:lstStyle/>
                    <a:p>
                      <a:pPr algn="ctr"/>
                      <a:r>
                        <a:rPr lang="en-IN" sz="2400" dirty="0"/>
                        <a:t>Year</a:t>
                      </a:r>
                    </a:p>
                  </a:txBody>
                  <a:tcPr/>
                </a:tc>
                <a:tc>
                  <a:txBody>
                    <a:bodyPr/>
                    <a:lstStyle/>
                    <a:p>
                      <a:pPr algn="ctr"/>
                      <a:r>
                        <a:rPr lang="en-IN" sz="2400" dirty="0"/>
                        <a:t>Attack</a:t>
                      </a:r>
                    </a:p>
                  </a:txBody>
                  <a:tcPr/>
                </a:tc>
                <a:extLst>
                  <a:ext uri="{0D108BD9-81ED-4DB2-BD59-A6C34878D82A}">
                    <a16:rowId xmlns:a16="http://schemas.microsoft.com/office/drawing/2014/main" xmlns="" val="3543897224"/>
                  </a:ext>
                </a:extLst>
              </a:tr>
              <a:tr h="679015">
                <a:tc>
                  <a:txBody>
                    <a:bodyPr/>
                    <a:lstStyle/>
                    <a:p>
                      <a:r>
                        <a:rPr lang="en-IN" sz="2000" b="0" i="0" kern="1200" dirty="0">
                          <a:solidFill>
                            <a:schemeClr val="dk1"/>
                          </a:solidFill>
                          <a:effectLst/>
                          <a:latin typeface="+mn-lt"/>
                          <a:ea typeface="+mn-ea"/>
                          <a:cs typeface="+mn-cs"/>
                        </a:rPr>
                        <a:t>1155</a:t>
                      </a:r>
                      <a:endParaRPr lang="en-IN" sz="2000" dirty="0">
                        <a:latin typeface="+mn-lt"/>
                      </a:endParaRPr>
                    </a:p>
                  </a:txBody>
                  <a:tcPr/>
                </a:tc>
                <a:tc>
                  <a:txBody>
                    <a:bodyPr/>
                    <a:lstStyle/>
                    <a:p>
                      <a:r>
                        <a:rPr lang="en-US" sz="2000" b="0" i="0" kern="1200" dirty="0">
                          <a:solidFill>
                            <a:schemeClr val="dk1"/>
                          </a:solidFill>
                          <a:effectLst/>
                          <a:latin typeface="+mn-lt"/>
                          <a:ea typeface="+mn-ea"/>
                          <a:cs typeface="+mn-cs"/>
                        </a:rPr>
                        <a:t>Emperor Barbarossa poisons water wells with human bodies, </a:t>
                      </a:r>
                      <a:r>
                        <a:rPr lang="en-US" sz="2000" b="0" i="0" kern="1200" dirty="0" err="1">
                          <a:solidFill>
                            <a:schemeClr val="dk1"/>
                          </a:solidFill>
                          <a:effectLst/>
                          <a:latin typeface="+mn-lt"/>
                          <a:ea typeface="+mn-ea"/>
                          <a:cs typeface="+mn-cs"/>
                        </a:rPr>
                        <a:t>Tortona</a:t>
                      </a:r>
                      <a:r>
                        <a:rPr lang="en-US" sz="2000" b="0" i="0" kern="1200" dirty="0">
                          <a:solidFill>
                            <a:schemeClr val="dk1"/>
                          </a:solidFill>
                          <a:effectLst/>
                          <a:latin typeface="+mn-lt"/>
                          <a:ea typeface="+mn-ea"/>
                          <a:cs typeface="+mn-cs"/>
                        </a:rPr>
                        <a:t>, Italy</a:t>
                      </a:r>
                      <a:endParaRPr lang="en-IN" sz="2000" dirty="0">
                        <a:latin typeface="+mn-lt"/>
                      </a:endParaRPr>
                    </a:p>
                  </a:txBody>
                  <a:tcPr/>
                </a:tc>
                <a:extLst>
                  <a:ext uri="{0D108BD9-81ED-4DB2-BD59-A6C34878D82A}">
                    <a16:rowId xmlns:a16="http://schemas.microsoft.com/office/drawing/2014/main" xmlns="" val="2459092483"/>
                  </a:ext>
                </a:extLst>
              </a:tr>
              <a:tr h="679015">
                <a:tc>
                  <a:txBody>
                    <a:bodyPr/>
                    <a:lstStyle/>
                    <a:p>
                      <a:r>
                        <a:rPr lang="en-IN" sz="2000" dirty="0">
                          <a:latin typeface="+mn-lt"/>
                        </a:rPr>
                        <a:t>1346</a:t>
                      </a:r>
                    </a:p>
                  </a:txBody>
                  <a:tcPr/>
                </a:tc>
                <a:tc>
                  <a:txBody>
                    <a:bodyPr/>
                    <a:lstStyle/>
                    <a:p>
                      <a:r>
                        <a:rPr lang="en-US" sz="2000" b="0" i="0" kern="1200" dirty="0">
                          <a:solidFill>
                            <a:schemeClr val="dk1"/>
                          </a:solidFill>
                          <a:effectLst/>
                          <a:latin typeface="+mn-lt"/>
                          <a:ea typeface="+mn-ea"/>
                          <a:cs typeface="+mn-cs"/>
                        </a:rPr>
                        <a:t>Mongols catapult bodies of plague victims over the city walls of Caffa, Crimean Peninsula</a:t>
                      </a:r>
                      <a:endParaRPr lang="en-IN" sz="2000" dirty="0">
                        <a:latin typeface="+mn-lt"/>
                      </a:endParaRPr>
                    </a:p>
                  </a:txBody>
                  <a:tcPr/>
                </a:tc>
                <a:extLst>
                  <a:ext uri="{0D108BD9-81ED-4DB2-BD59-A6C34878D82A}">
                    <a16:rowId xmlns:a16="http://schemas.microsoft.com/office/drawing/2014/main" xmlns="" val="978457057"/>
                  </a:ext>
                </a:extLst>
              </a:tr>
              <a:tr h="679015">
                <a:tc>
                  <a:txBody>
                    <a:bodyPr/>
                    <a:lstStyle/>
                    <a:p>
                      <a:r>
                        <a:rPr lang="en-IN" sz="2000" dirty="0">
                          <a:latin typeface="+mn-lt"/>
                        </a:rPr>
                        <a:t>1763</a:t>
                      </a:r>
                    </a:p>
                  </a:txBody>
                  <a:tcPr/>
                </a:tc>
                <a:tc>
                  <a:txBody>
                    <a:bodyPr/>
                    <a:lstStyle/>
                    <a:p>
                      <a:r>
                        <a:rPr lang="en-US" sz="2000" b="0" i="0" kern="1200" dirty="0">
                          <a:solidFill>
                            <a:schemeClr val="dk1"/>
                          </a:solidFill>
                          <a:effectLst/>
                          <a:latin typeface="+mn-lt"/>
                          <a:ea typeface="+mn-ea"/>
                          <a:cs typeface="+mn-cs"/>
                        </a:rPr>
                        <a:t>British distribute blankets from smallpox patients to native Americans</a:t>
                      </a:r>
                      <a:endParaRPr lang="en-IN" sz="2000" dirty="0">
                        <a:latin typeface="+mn-lt"/>
                      </a:endParaRPr>
                    </a:p>
                  </a:txBody>
                  <a:tcPr/>
                </a:tc>
                <a:extLst>
                  <a:ext uri="{0D108BD9-81ED-4DB2-BD59-A6C34878D82A}">
                    <a16:rowId xmlns:a16="http://schemas.microsoft.com/office/drawing/2014/main" xmlns="" val="2167680443"/>
                  </a:ext>
                </a:extLst>
              </a:tr>
              <a:tr h="679015">
                <a:tc>
                  <a:txBody>
                    <a:bodyPr/>
                    <a:lstStyle/>
                    <a:p>
                      <a:r>
                        <a:rPr lang="en-IN" sz="2000" dirty="0">
                          <a:latin typeface="+mn-lt"/>
                        </a:rPr>
                        <a:t>First World War, Second World War, Soviet Union 1979, Japan 1995, USA 2001</a:t>
                      </a:r>
                    </a:p>
                  </a:txBody>
                  <a:tcPr/>
                </a:tc>
                <a:tc>
                  <a:txBody>
                    <a:bodyPr/>
                    <a:lstStyle/>
                    <a:p>
                      <a:r>
                        <a:rPr lang="en-IN" sz="2000" i="1" dirty="0">
                          <a:latin typeface="+mn-lt"/>
                        </a:rPr>
                        <a:t>Bacillus anthracis</a:t>
                      </a:r>
                    </a:p>
                    <a:p>
                      <a:endParaRPr lang="en-IN" sz="2000" i="1"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latin typeface="+mn-lt"/>
                          <a:ea typeface="Calibri" panose="020F0502020204030204" pitchFamily="34" charset="0"/>
                          <a:cs typeface="Calibri" panose="020F0502020204030204" pitchFamily="34" charset="0"/>
                        </a:rPr>
                        <a:t>In September 2001, the American public was exposed to anthrax spores as a bioweapon delivered through the US postal system, called </a:t>
                      </a:r>
                      <a:r>
                        <a:rPr lang="en-US" sz="2000" dirty="0">
                          <a:latin typeface="+mn-lt"/>
                          <a:ea typeface="Calibri" panose="020F0502020204030204" pitchFamily="34" charset="0"/>
                          <a:cs typeface="Calibri" panose="020F0502020204030204" pitchFamily="34" charset="0"/>
                        </a:rPr>
                        <a:t>the case of the 'anthrax letters' in the aftermath of the World Trade Center attack.</a:t>
                      </a:r>
                      <a:endParaRPr lang="en-IN" sz="1600" dirty="0">
                        <a:latin typeface="+mn-lt"/>
                      </a:endParaRPr>
                    </a:p>
                  </a:txBody>
                  <a:tcPr/>
                </a:tc>
                <a:extLst>
                  <a:ext uri="{0D108BD9-81ED-4DB2-BD59-A6C34878D82A}">
                    <a16:rowId xmlns:a16="http://schemas.microsoft.com/office/drawing/2014/main" xmlns="" val="201338508"/>
                  </a:ext>
                </a:extLst>
              </a:tr>
            </a:tbl>
          </a:graphicData>
        </a:graphic>
      </p:graphicFrame>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Line 2"/>
          <p:cNvSpPr>
            <a:spLocks noChangeShapeType="1"/>
          </p:cNvSpPr>
          <p:nvPr/>
        </p:nvSpPr>
        <p:spPr bwMode="auto">
          <a:xfrm>
            <a:off x="-10015" y="1215201"/>
            <a:ext cx="8299450"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62469"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62470"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EA1E95C6-4CD4-47BE-A7AC-FEF6E4B9AF13}" type="slidenum">
              <a:rPr lang="en-IN" altLang="en-US" sz="1200">
                <a:solidFill>
                  <a:srgbClr val="8B8B8B"/>
                </a:solidFill>
                <a:latin typeface="Calibri" panose="020F0502020204030204" pitchFamily="34" charset="0"/>
              </a:rPr>
              <a:pPr algn="r" eaLnBrk="1" hangingPunct="1">
                <a:spcBef>
                  <a:spcPct val="0"/>
                </a:spcBef>
                <a:buFontTx/>
                <a:buNone/>
              </a:pPr>
              <a:t>51</a:t>
            </a:fld>
            <a:endParaRPr lang="en-US" altLang="en-US" sz="1800"/>
          </a:p>
        </p:txBody>
      </p:sp>
      <p:sp>
        <p:nvSpPr>
          <p:cNvPr id="62471" name="Rectangle 9"/>
          <p:cNvSpPr>
            <a:spLocks noChangeArrowheads="1"/>
          </p:cNvSpPr>
          <p:nvPr/>
        </p:nvSpPr>
        <p:spPr bwMode="auto">
          <a:xfrm>
            <a:off x="393111" y="1215201"/>
            <a:ext cx="7896324" cy="53903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457200" indent="-4572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indent="-342900" algn="just">
              <a:lnSpc>
                <a:spcPct val="150000"/>
              </a:lnSpc>
              <a:buFont typeface="Arial" panose="020B0604020202020204" pitchFamily="34" charset="0"/>
              <a:buChar char="•"/>
              <a:defRPr/>
            </a:pPr>
            <a:r>
              <a:rPr lang="en-IN" sz="2400" b="1"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Features of a bioterrorist agent: </a:t>
            </a:r>
          </a:p>
          <a:p>
            <a:pPr marL="342900" indent="-342900">
              <a:lnSpc>
                <a:spcPct val="150000"/>
              </a:lnSpc>
              <a:buFont typeface="Arial" panose="020B0604020202020204" pitchFamily="34" charset="0"/>
              <a:buChar char="•"/>
              <a:defRPr/>
            </a:pPr>
            <a:r>
              <a:rPr lang="en-IN" sz="2400" dirty="0">
                <a:latin typeface="Calibri" panose="020F0502020204030204" pitchFamily="34" charset="0"/>
                <a:ea typeface="Calibri" panose="020F0502020204030204" pitchFamily="34" charset="0"/>
                <a:cs typeface="Calibri" panose="020F0502020204030204" pitchFamily="34" charset="0"/>
              </a:rPr>
              <a:t>Consistently produces a given effect, death or disease, at low concentrations. </a:t>
            </a:r>
          </a:p>
          <a:p>
            <a:pPr marL="342900" indent="-342900" algn="just">
              <a:lnSpc>
                <a:spcPct val="150000"/>
              </a:lnSpc>
              <a:buFont typeface="Arial" panose="020B0604020202020204" pitchFamily="34" charset="0"/>
              <a:buChar char="•"/>
              <a:defRPr/>
            </a:pPr>
            <a:r>
              <a:rPr lang="en-IN" sz="2400" dirty="0">
                <a:latin typeface="Calibri" panose="020F0502020204030204" pitchFamily="34" charset="0"/>
                <a:ea typeface="Calibri" panose="020F0502020204030204" pitchFamily="34" charset="0"/>
                <a:cs typeface="Calibri" panose="020F0502020204030204" pitchFamily="34" charset="0"/>
              </a:rPr>
              <a:t>Highly contagious. </a:t>
            </a:r>
          </a:p>
          <a:p>
            <a:pPr marL="342900" indent="-342900" algn="just">
              <a:lnSpc>
                <a:spcPct val="150000"/>
              </a:lnSpc>
              <a:buFont typeface="Arial" panose="020B0604020202020204" pitchFamily="34" charset="0"/>
              <a:buChar char="•"/>
              <a:defRPr/>
            </a:pPr>
            <a:r>
              <a:rPr lang="en-IN" sz="2400" dirty="0">
                <a:latin typeface="Calibri" panose="020F0502020204030204" pitchFamily="34" charset="0"/>
                <a:ea typeface="Calibri" panose="020F0502020204030204" pitchFamily="34" charset="0"/>
                <a:cs typeface="Calibri" panose="020F0502020204030204" pitchFamily="34" charset="0"/>
              </a:rPr>
              <a:t>Short and predictable incubation period. </a:t>
            </a:r>
          </a:p>
          <a:p>
            <a:pPr marL="342900" indent="-342900" algn="just">
              <a:lnSpc>
                <a:spcPct val="150000"/>
              </a:lnSpc>
              <a:buFont typeface="Arial" panose="020B0604020202020204" pitchFamily="34" charset="0"/>
              <a:buChar char="•"/>
              <a:defRPr/>
            </a:pPr>
            <a:r>
              <a:rPr lang="en-IN" sz="2400" dirty="0">
                <a:latin typeface="Calibri" panose="020F0502020204030204" pitchFamily="34" charset="0"/>
                <a:ea typeface="Calibri" panose="020F0502020204030204" pitchFamily="34" charset="0"/>
                <a:cs typeface="Calibri" panose="020F0502020204030204" pitchFamily="34" charset="0"/>
              </a:rPr>
              <a:t>Target population has little or no immunity against the organism. </a:t>
            </a:r>
          </a:p>
          <a:p>
            <a:pPr marL="342900" indent="-342900">
              <a:lnSpc>
                <a:spcPct val="150000"/>
              </a:lnSpc>
              <a:buFont typeface="Arial" panose="020B0604020202020204" pitchFamily="34" charset="0"/>
              <a:buChar char="•"/>
              <a:defRPr/>
            </a:pPr>
            <a:r>
              <a:rPr lang="en-IN" sz="2400" dirty="0">
                <a:latin typeface="Calibri" panose="020F0502020204030204" pitchFamily="34" charset="0"/>
                <a:ea typeface="Calibri" panose="020F0502020204030204" pitchFamily="34" charset="0"/>
                <a:cs typeface="Calibri" panose="020F0502020204030204" pitchFamily="34" charset="0"/>
              </a:rPr>
              <a:t>Little or no prophylaxis or treatment available with the native population.</a:t>
            </a:r>
          </a:p>
        </p:txBody>
      </p:sp>
      <p:pic>
        <p:nvPicPr>
          <p:cNvPr id="2" name="Picture 4" descr="PESSAT - All India Online Entrance Exam for Admission to PES University">
            <a:extLst>
              <a:ext uri="{FF2B5EF4-FFF2-40B4-BE49-F238E27FC236}">
                <a16:creationId xmlns:a16="http://schemas.microsoft.com/office/drawing/2014/main" xmlns="" id="{1B1D10A7-88D7-B0A5-CB44-6CB24800BEB6}"/>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
        <p:nvSpPr>
          <p:cNvPr id="3" name="CustomShape 1">
            <a:extLst>
              <a:ext uri="{FF2B5EF4-FFF2-40B4-BE49-F238E27FC236}">
                <a16:creationId xmlns:a16="http://schemas.microsoft.com/office/drawing/2014/main" xmlns="" id="{3B54917D-2AA4-3D8B-590A-5CB9DF3EF5E7}"/>
              </a:ext>
            </a:extLst>
          </p:cNvPr>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Tree>
    <p:extLst>
      <p:ext uri="{BB962C8B-B14F-4D97-AF65-F5344CB8AC3E}">
        <p14:creationId xmlns:p14="http://schemas.microsoft.com/office/powerpoint/2010/main" xmlns="" val="419014859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Line 2"/>
          <p:cNvSpPr>
            <a:spLocks noChangeShapeType="1"/>
          </p:cNvSpPr>
          <p:nvPr/>
        </p:nvSpPr>
        <p:spPr bwMode="auto">
          <a:xfrm>
            <a:off x="0" y="1203113"/>
            <a:ext cx="8299450"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62469" name="CustomShape 3"/>
          <p:cNvSpPr>
            <a:spLocks noChangeArrowheads="1"/>
          </p:cNvSpPr>
          <p:nvPr/>
        </p:nvSpPr>
        <p:spPr bwMode="auto">
          <a:xfrm>
            <a:off x="393700" y="2524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chemeClr val="accent1">
                    <a:lumMod val="75000"/>
                  </a:schemeClr>
                </a:solidFill>
                <a:latin typeface="Calibri" panose="020F0502020204030204" pitchFamily="34" charset="0"/>
              </a:rPr>
              <a:t>ENVIRONMENTAL STUDIES &amp; LIFE SCIENCES</a:t>
            </a:r>
            <a:endParaRPr lang="en-IN" altLang="en-US" sz="1200" dirty="0">
              <a:solidFill>
                <a:schemeClr val="accent1">
                  <a:lumMod val="75000"/>
                </a:schemeClr>
              </a:solidFill>
            </a:endParaRPr>
          </a:p>
        </p:txBody>
      </p:sp>
      <p:sp>
        <p:nvSpPr>
          <p:cNvPr id="62470" name="TextShape 4"/>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EA1E95C6-4CD4-47BE-A7AC-FEF6E4B9AF13}" type="slidenum">
              <a:rPr lang="en-IN" altLang="en-US" sz="1200">
                <a:solidFill>
                  <a:srgbClr val="8B8B8B"/>
                </a:solidFill>
                <a:latin typeface="Calibri" panose="020F0502020204030204" pitchFamily="34" charset="0"/>
              </a:rPr>
              <a:pPr algn="r" eaLnBrk="1" hangingPunct="1">
                <a:spcBef>
                  <a:spcPct val="0"/>
                </a:spcBef>
                <a:buFontTx/>
                <a:buNone/>
              </a:pPr>
              <a:t>52</a:t>
            </a:fld>
            <a:endParaRPr lang="en-US" altLang="en-US" sz="1800"/>
          </a:p>
        </p:txBody>
      </p:sp>
      <p:sp>
        <p:nvSpPr>
          <p:cNvPr id="62471" name="Rectangle 9"/>
          <p:cNvSpPr>
            <a:spLocks noChangeArrowheads="1"/>
          </p:cNvSpPr>
          <p:nvPr/>
        </p:nvSpPr>
        <p:spPr bwMode="auto">
          <a:xfrm>
            <a:off x="364791" y="1321502"/>
            <a:ext cx="7896324" cy="435625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marL="457200" indent="-4572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indent="-342900" algn="just" eaLnBrk="1" hangingPunct="1">
              <a:lnSpc>
                <a:spcPct val="150000"/>
              </a:lnSpc>
              <a:buFont typeface="Arial" panose="020B0604020202020204" pitchFamily="34" charset="0"/>
              <a:buChar char="•"/>
            </a:pPr>
            <a:r>
              <a:rPr lang="en-IN" altLang="en-US" sz="2400" dirty="0">
                <a:latin typeface="Calibri" panose="020F0502020204030204" pitchFamily="34" charset="0"/>
                <a:ea typeface="Calibri" panose="020F0502020204030204" pitchFamily="34" charset="0"/>
                <a:cs typeface="Calibri" panose="020F0502020204030204" pitchFamily="34" charset="0"/>
              </a:rPr>
              <a:t>The bioterrorist agents with highest priority are</a:t>
            </a:r>
          </a:p>
          <a:p>
            <a:pPr marL="342900" indent="-342900" algn="just" eaLnBrk="1" hangingPunct="1">
              <a:lnSpc>
                <a:spcPct val="150000"/>
              </a:lnSpc>
              <a:buFont typeface="Arial" panose="020B0604020202020204" pitchFamily="34" charset="0"/>
              <a:buChar char="•"/>
            </a:pPr>
            <a:r>
              <a:rPr lang="en-IN" altLang="en-US" sz="2400" dirty="0">
                <a:latin typeface="Calibri" panose="020F0502020204030204" pitchFamily="34" charset="0"/>
                <a:ea typeface="Calibri" panose="020F0502020204030204" pitchFamily="34" charset="0"/>
                <a:cs typeface="Calibri" panose="020F0502020204030204" pitchFamily="34" charset="0"/>
              </a:rPr>
              <a:t>Anthrax (</a:t>
            </a:r>
            <a:r>
              <a:rPr lang="en-IN" altLang="en-US" sz="2400" i="1" dirty="0">
                <a:latin typeface="Calibri" panose="020F0502020204030204" pitchFamily="34" charset="0"/>
                <a:ea typeface="Calibri" panose="020F0502020204030204" pitchFamily="34" charset="0"/>
                <a:cs typeface="Calibri" panose="020F0502020204030204" pitchFamily="34" charset="0"/>
              </a:rPr>
              <a:t>Bacillus anthracis</a:t>
            </a:r>
            <a:r>
              <a:rPr lang="en-IN" altLang="en-US" sz="2400" dirty="0">
                <a:latin typeface="Calibri" panose="020F0502020204030204" pitchFamily="34" charset="0"/>
                <a:ea typeface="Calibri" panose="020F0502020204030204" pitchFamily="34" charset="0"/>
                <a:cs typeface="Calibri" panose="020F0502020204030204" pitchFamily="34" charset="0"/>
              </a:rPr>
              <a:t>), </a:t>
            </a:r>
          </a:p>
          <a:p>
            <a:pPr marL="342900" indent="-342900" algn="just" eaLnBrk="1" hangingPunct="1">
              <a:lnSpc>
                <a:spcPct val="150000"/>
              </a:lnSpc>
              <a:buFont typeface="Arial" panose="020B0604020202020204" pitchFamily="34" charset="0"/>
              <a:buChar char="•"/>
            </a:pPr>
            <a:r>
              <a:rPr lang="en-IN" altLang="en-US" sz="2400" dirty="0">
                <a:latin typeface="Calibri" panose="020F0502020204030204" pitchFamily="34" charset="0"/>
                <a:ea typeface="Calibri" panose="020F0502020204030204" pitchFamily="34" charset="0"/>
                <a:cs typeface="Calibri" panose="020F0502020204030204" pitchFamily="34" charset="0"/>
              </a:rPr>
              <a:t>Botulism (</a:t>
            </a:r>
            <a:r>
              <a:rPr lang="en-IN" altLang="en-US" sz="2400" i="1" dirty="0">
                <a:latin typeface="Calibri" panose="020F0502020204030204" pitchFamily="34" charset="0"/>
                <a:ea typeface="Calibri" panose="020F0502020204030204" pitchFamily="34" charset="0"/>
                <a:cs typeface="Calibri" panose="020F0502020204030204" pitchFamily="34" charset="0"/>
              </a:rPr>
              <a:t>Clostridium botulinum</a:t>
            </a:r>
            <a:r>
              <a:rPr lang="en-IN" altLang="en-US" sz="2400" dirty="0">
                <a:latin typeface="Calibri" panose="020F0502020204030204" pitchFamily="34" charset="0"/>
                <a:ea typeface="Calibri" panose="020F0502020204030204" pitchFamily="34" charset="0"/>
                <a:cs typeface="Calibri" panose="020F0502020204030204" pitchFamily="34" charset="0"/>
              </a:rPr>
              <a:t>),</a:t>
            </a:r>
          </a:p>
          <a:p>
            <a:pPr marL="342900" indent="-342900" algn="just" eaLnBrk="1" hangingPunct="1">
              <a:lnSpc>
                <a:spcPct val="150000"/>
              </a:lnSpc>
              <a:buFont typeface="Arial" panose="020B0604020202020204" pitchFamily="34" charset="0"/>
              <a:buChar char="•"/>
            </a:pPr>
            <a:r>
              <a:rPr lang="en-IN" altLang="en-US" sz="2400" dirty="0">
                <a:latin typeface="Calibri" panose="020F0502020204030204" pitchFamily="34" charset="0"/>
                <a:ea typeface="Calibri" panose="020F0502020204030204" pitchFamily="34" charset="0"/>
                <a:cs typeface="Calibri" panose="020F0502020204030204" pitchFamily="34" charset="0"/>
              </a:rPr>
              <a:t>Plague (</a:t>
            </a:r>
            <a:r>
              <a:rPr lang="en-IN" altLang="en-US" sz="2400" i="1" dirty="0">
                <a:latin typeface="Calibri" panose="020F0502020204030204" pitchFamily="34" charset="0"/>
                <a:ea typeface="Calibri" panose="020F0502020204030204" pitchFamily="34" charset="0"/>
                <a:cs typeface="Calibri" panose="020F0502020204030204" pitchFamily="34" charset="0"/>
              </a:rPr>
              <a:t>Yersinia pestis</a:t>
            </a:r>
            <a:r>
              <a:rPr lang="en-IN" altLang="en-US" sz="2400" dirty="0">
                <a:latin typeface="Calibri" panose="020F0502020204030204" pitchFamily="34" charset="0"/>
                <a:ea typeface="Calibri" panose="020F0502020204030204" pitchFamily="34" charset="0"/>
                <a:cs typeface="Calibri" panose="020F0502020204030204" pitchFamily="34" charset="0"/>
              </a:rPr>
              <a:t>), </a:t>
            </a:r>
          </a:p>
          <a:p>
            <a:pPr marL="342900" indent="-342900" algn="just" eaLnBrk="1" hangingPunct="1">
              <a:lnSpc>
                <a:spcPct val="150000"/>
              </a:lnSpc>
              <a:buFont typeface="Arial" panose="020B0604020202020204" pitchFamily="34" charset="0"/>
              <a:buChar char="•"/>
            </a:pPr>
            <a:r>
              <a:rPr lang="en-IN" altLang="en-US" sz="2400" dirty="0">
                <a:latin typeface="Calibri" panose="020F0502020204030204" pitchFamily="34" charset="0"/>
                <a:ea typeface="Calibri" panose="020F0502020204030204" pitchFamily="34" charset="0"/>
                <a:cs typeface="Calibri" panose="020F0502020204030204" pitchFamily="34" charset="0"/>
              </a:rPr>
              <a:t>Smallpox (</a:t>
            </a:r>
            <a:r>
              <a:rPr lang="en-IN" altLang="en-US" sz="2400" i="1" dirty="0">
                <a:latin typeface="Calibri" panose="020F0502020204030204" pitchFamily="34" charset="0"/>
                <a:ea typeface="Calibri" panose="020F0502020204030204" pitchFamily="34" charset="0"/>
                <a:cs typeface="Calibri" panose="020F0502020204030204" pitchFamily="34" charset="0"/>
              </a:rPr>
              <a:t>Variola major</a:t>
            </a:r>
            <a:r>
              <a:rPr lang="en-IN" altLang="en-US" sz="2400" dirty="0">
                <a:latin typeface="Calibri" panose="020F0502020204030204" pitchFamily="34" charset="0"/>
                <a:ea typeface="Calibri" panose="020F0502020204030204" pitchFamily="34" charset="0"/>
                <a:cs typeface="Calibri" panose="020F0502020204030204" pitchFamily="34" charset="0"/>
              </a:rPr>
              <a:t>), </a:t>
            </a:r>
          </a:p>
          <a:p>
            <a:pPr marL="342900" indent="-342900" algn="just" eaLnBrk="1" hangingPunct="1">
              <a:lnSpc>
                <a:spcPct val="150000"/>
              </a:lnSpc>
              <a:buFont typeface="Arial" panose="020B0604020202020204" pitchFamily="34" charset="0"/>
              <a:buChar char="•"/>
            </a:pPr>
            <a:r>
              <a:rPr lang="en-IN" altLang="en-US" sz="2400" dirty="0">
                <a:latin typeface="Calibri" panose="020F0502020204030204" pitchFamily="34" charset="0"/>
                <a:ea typeface="Calibri" panose="020F0502020204030204" pitchFamily="34" charset="0"/>
                <a:cs typeface="Calibri" panose="020F0502020204030204" pitchFamily="34" charset="0"/>
              </a:rPr>
              <a:t>Tularaemia (</a:t>
            </a:r>
            <a:r>
              <a:rPr lang="en-IN" altLang="en-US" sz="2400" i="1" dirty="0" err="1">
                <a:latin typeface="Calibri" panose="020F0502020204030204" pitchFamily="34" charset="0"/>
                <a:ea typeface="Calibri" panose="020F0502020204030204" pitchFamily="34" charset="0"/>
                <a:cs typeface="Calibri" panose="020F0502020204030204" pitchFamily="34" charset="0"/>
              </a:rPr>
              <a:t>Francisella</a:t>
            </a:r>
            <a:r>
              <a:rPr lang="en-IN" altLang="en-US" sz="2400" i="1" dirty="0">
                <a:latin typeface="Calibri" panose="020F0502020204030204" pitchFamily="34" charset="0"/>
                <a:ea typeface="Calibri" panose="020F0502020204030204" pitchFamily="34" charset="0"/>
                <a:cs typeface="Calibri" panose="020F0502020204030204" pitchFamily="34" charset="0"/>
              </a:rPr>
              <a:t> tularensis</a:t>
            </a:r>
            <a:r>
              <a:rPr lang="en-IN" altLang="en-US" sz="2400" dirty="0">
                <a:latin typeface="Calibri" panose="020F0502020204030204" pitchFamily="34" charset="0"/>
                <a:ea typeface="Calibri" panose="020F0502020204030204" pitchFamily="34" charset="0"/>
                <a:cs typeface="Calibri" panose="020F0502020204030204" pitchFamily="34" charset="0"/>
              </a:rPr>
              <a:t>) and</a:t>
            </a:r>
          </a:p>
          <a:p>
            <a:pPr marL="342900" indent="-342900" algn="just" eaLnBrk="1" hangingPunct="1">
              <a:lnSpc>
                <a:spcPct val="150000"/>
              </a:lnSpc>
              <a:buFont typeface="Arial" panose="020B0604020202020204" pitchFamily="34" charset="0"/>
              <a:buChar char="•"/>
            </a:pPr>
            <a:r>
              <a:rPr lang="en-IN" altLang="en-US" sz="2400" dirty="0">
                <a:latin typeface="Calibri" panose="020F0502020204030204" pitchFamily="34" charset="0"/>
                <a:ea typeface="Calibri" panose="020F0502020204030204" pitchFamily="34" charset="0"/>
                <a:cs typeface="Calibri" panose="020F0502020204030204" pitchFamily="34" charset="0"/>
              </a:rPr>
              <a:t>Viral haemorrhagic fevers (Filoviruses and Arena viruses).</a:t>
            </a:r>
          </a:p>
        </p:txBody>
      </p:sp>
      <p:pic>
        <p:nvPicPr>
          <p:cNvPr id="2" name="Picture 4" descr="PESSAT - All India Online Entrance Exam for Admission to PES University">
            <a:extLst>
              <a:ext uri="{FF2B5EF4-FFF2-40B4-BE49-F238E27FC236}">
                <a16:creationId xmlns:a16="http://schemas.microsoft.com/office/drawing/2014/main" xmlns="" id="{1B1D10A7-88D7-B0A5-CB44-6CB24800BEB6}"/>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6268" y="276317"/>
            <a:ext cx="1812621" cy="825592"/>
          </a:xfrm>
          <a:prstGeom prst="rect">
            <a:avLst/>
          </a:prstGeom>
          <a:noFill/>
          <a:extLst>
            <a:ext uri="{909E8E84-426E-40DD-AFC4-6F175D3DCCD1}">
              <a14:hiddenFill xmlns:a14="http://schemas.microsoft.com/office/drawing/2010/main" xmlns="">
                <a:solidFill>
                  <a:srgbClr val="FFFFFF"/>
                </a:solidFill>
              </a14:hiddenFill>
            </a:ext>
          </a:extLst>
        </p:spPr>
      </p:pic>
      <p:sp>
        <p:nvSpPr>
          <p:cNvPr id="3" name="CustomShape 1">
            <a:extLst>
              <a:ext uri="{FF2B5EF4-FFF2-40B4-BE49-F238E27FC236}">
                <a16:creationId xmlns:a16="http://schemas.microsoft.com/office/drawing/2014/main" xmlns="" id="{D02AAF4E-D08F-9179-6DB7-AEF932FECABB}"/>
              </a:ext>
            </a:extLst>
          </p:cNvPr>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Tree>
    <p:extLst>
      <p:ext uri="{BB962C8B-B14F-4D97-AF65-F5344CB8AC3E}">
        <p14:creationId xmlns:p14="http://schemas.microsoft.com/office/powerpoint/2010/main" xmlns="" val="236531709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Line 2">
            <a:extLst>
              <a:ext uri="{FF2B5EF4-FFF2-40B4-BE49-F238E27FC236}">
                <a16:creationId xmlns:a16="http://schemas.microsoft.com/office/drawing/2014/main" xmlns="" id="{243EE641-ABD7-4E81-AB93-53429E54ED9A}"/>
              </a:ext>
            </a:extLst>
          </p:cNvPr>
          <p:cNvSpPr>
            <a:spLocks noChangeShapeType="1"/>
          </p:cNvSpPr>
          <p:nvPr/>
        </p:nvSpPr>
        <p:spPr bwMode="auto">
          <a:xfrm>
            <a:off x="1589" y="1143000"/>
            <a:ext cx="8297863"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lIns="123462" tIns="61731" rIns="123462" bIns="61731"/>
          <a:lstStyle/>
          <a:p>
            <a:endParaRPr lang="en-IN"/>
          </a:p>
        </p:txBody>
      </p:sp>
      <p:sp>
        <p:nvSpPr>
          <p:cNvPr id="18437" name="CustomShape 3">
            <a:extLst>
              <a:ext uri="{FF2B5EF4-FFF2-40B4-BE49-F238E27FC236}">
                <a16:creationId xmlns:a16="http://schemas.microsoft.com/office/drawing/2014/main" xmlns="" id="{84DD01C7-17E4-4350-8DEF-C0D61D47FD80}"/>
              </a:ext>
            </a:extLst>
          </p:cNvPr>
          <p:cNvSpPr>
            <a:spLocks noChangeArrowheads="1"/>
          </p:cNvSpPr>
          <p:nvPr/>
        </p:nvSpPr>
        <p:spPr bwMode="auto">
          <a:xfrm>
            <a:off x="395289" y="252413"/>
            <a:ext cx="9129713"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21518" tIns="60759" rIns="121518" bIns="60759"/>
          <a:lstStyle>
            <a:lvl1pPr eaLnBrk="0" hangingPunct="0">
              <a:defRPr sz="2400">
                <a:solidFill>
                  <a:schemeClr val="tx1"/>
                </a:solidFill>
                <a:latin typeface="Arial" panose="020B0604020202020204" pitchFamily="34" charset="0"/>
                <a:cs typeface="Arial" panose="020B0604020202020204" pitchFamily="34" charset="0"/>
              </a:defRPr>
            </a:lvl1pPr>
            <a:lvl2pPr marL="742950" indent="-285750" eaLnBrk="0" hangingPunct="0">
              <a:defRPr sz="2400">
                <a:solidFill>
                  <a:schemeClr val="tx1"/>
                </a:solidFill>
                <a:latin typeface="Arial" panose="020B0604020202020204" pitchFamily="34" charset="0"/>
                <a:cs typeface="Arial" panose="020B0604020202020204" pitchFamily="34" charset="0"/>
              </a:defRPr>
            </a:lvl2pPr>
            <a:lvl3pPr marL="1143000" indent="-228600" eaLnBrk="0" hangingPunct="0">
              <a:defRPr sz="2400">
                <a:solidFill>
                  <a:schemeClr val="tx1"/>
                </a:solidFill>
                <a:latin typeface="Arial" panose="020B0604020202020204" pitchFamily="34" charset="0"/>
                <a:cs typeface="Arial" panose="020B0604020202020204" pitchFamily="34" charset="0"/>
              </a:defRPr>
            </a:lvl3pPr>
            <a:lvl4pPr marL="1600200" indent="-228600" eaLnBrk="0" hangingPunct="0">
              <a:defRPr sz="2400">
                <a:solidFill>
                  <a:schemeClr val="tx1"/>
                </a:solidFill>
                <a:latin typeface="Arial" panose="020B0604020202020204" pitchFamily="34" charset="0"/>
                <a:cs typeface="Arial" panose="020B0604020202020204" pitchFamily="34" charset="0"/>
              </a:defRPr>
            </a:lvl4pPr>
            <a:lvl5pPr marL="2057400" indent="-228600" eaLnBrk="0" hangingPunct="0">
              <a:defRPr sz="2400">
                <a:solidFill>
                  <a:schemeClr val="tx1"/>
                </a:solidFill>
                <a:latin typeface="Arial" panose="020B0604020202020204" pitchFamily="34" charset="0"/>
                <a:cs typeface="Arial" panose="020B0604020202020204" pitchFamily="34" charset="0"/>
              </a:defRPr>
            </a:lvl5pPr>
            <a:lvl6pPr marL="2514600" indent="-228600" defTabSz="12334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defTabSz="12334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defTabSz="12334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defTabSz="12334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IN" altLang="en-US" b="1">
                <a:solidFill>
                  <a:schemeClr val="tx2"/>
                </a:solidFill>
                <a:latin typeface="Calibri" panose="020F0502020204030204" pitchFamily="34" charset="0"/>
                <a:cs typeface="DejaVu Sans"/>
              </a:rPr>
              <a:t>ENVIRONMENTAL STUDIES &amp; LIFE SCIENCES</a:t>
            </a:r>
            <a:endParaRPr lang="en-IN" altLang="en-US">
              <a:solidFill>
                <a:schemeClr val="tx2"/>
              </a:solidFill>
              <a:latin typeface="Calibri" panose="020F0502020204030204" pitchFamily="34" charset="0"/>
              <a:cs typeface="DejaVu Sans"/>
            </a:endParaRPr>
          </a:p>
        </p:txBody>
      </p:sp>
      <p:sp>
        <p:nvSpPr>
          <p:cNvPr id="18438" name="TextShape 4">
            <a:extLst>
              <a:ext uri="{FF2B5EF4-FFF2-40B4-BE49-F238E27FC236}">
                <a16:creationId xmlns:a16="http://schemas.microsoft.com/office/drawing/2014/main" xmlns="" id="{73E4A13F-ABBD-4E0D-ABAE-26FE2EB57BDB}"/>
              </a:ext>
            </a:extLst>
          </p:cNvPr>
          <p:cNvSpPr txBox="1">
            <a:spLocks noChangeArrowheads="1"/>
          </p:cNvSpPr>
          <p:nvPr/>
        </p:nvSpPr>
        <p:spPr bwMode="auto">
          <a:xfrm>
            <a:off x="8610601" y="6356351"/>
            <a:ext cx="2741612"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23462" tIns="61731" rIns="123462" bIns="61731" anchor="ctr"/>
          <a:lstStyle>
            <a:lvl1pPr eaLnBrk="0" hangingPunct="0">
              <a:defRPr sz="2400">
                <a:solidFill>
                  <a:schemeClr val="tx1"/>
                </a:solidFill>
                <a:latin typeface="Arial" panose="020B0604020202020204" pitchFamily="34" charset="0"/>
                <a:cs typeface="Arial" panose="020B0604020202020204" pitchFamily="34" charset="0"/>
              </a:defRPr>
            </a:lvl1pPr>
            <a:lvl2pPr marL="742950" indent="-285750" eaLnBrk="0" hangingPunct="0">
              <a:defRPr sz="2400">
                <a:solidFill>
                  <a:schemeClr val="tx1"/>
                </a:solidFill>
                <a:latin typeface="Arial" panose="020B0604020202020204" pitchFamily="34" charset="0"/>
                <a:cs typeface="Arial" panose="020B0604020202020204" pitchFamily="34" charset="0"/>
              </a:defRPr>
            </a:lvl2pPr>
            <a:lvl3pPr marL="1143000" indent="-228600" eaLnBrk="0" hangingPunct="0">
              <a:defRPr sz="2400">
                <a:solidFill>
                  <a:schemeClr val="tx1"/>
                </a:solidFill>
                <a:latin typeface="Arial" panose="020B0604020202020204" pitchFamily="34" charset="0"/>
                <a:cs typeface="Arial" panose="020B0604020202020204" pitchFamily="34" charset="0"/>
              </a:defRPr>
            </a:lvl3pPr>
            <a:lvl4pPr marL="1600200" indent="-228600" eaLnBrk="0" hangingPunct="0">
              <a:defRPr sz="2400">
                <a:solidFill>
                  <a:schemeClr val="tx1"/>
                </a:solidFill>
                <a:latin typeface="Arial" panose="020B0604020202020204" pitchFamily="34" charset="0"/>
                <a:cs typeface="Arial" panose="020B0604020202020204" pitchFamily="34" charset="0"/>
              </a:defRPr>
            </a:lvl4pPr>
            <a:lvl5pPr marL="2057400" indent="-228600" eaLnBrk="0" hangingPunct="0">
              <a:defRPr sz="2400">
                <a:solidFill>
                  <a:schemeClr val="tx1"/>
                </a:solidFill>
                <a:latin typeface="Arial" panose="020B0604020202020204" pitchFamily="34" charset="0"/>
                <a:cs typeface="Arial" panose="020B0604020202020204" pitchFamily="34" charset="0"/>
              </a:defRPr>
            </a:lvl5pPr>
            <a:lvl6pPr marL="2514600" indent="-228600" defTabSz="12334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defTabSz="12334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defTabSz="12334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defTabSz="12334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r" eaLnBrk="1" hangingPunct="1"/>
            <a:fld id="{D5EFEBE6-5823-4D7B-9090-BD6C67910FF7}" type="slidenum">
              <a:rPr lang="en-IN" altLang="en-US" sz="1600">
                <a:solidFill>
                  <a:srgbClr val="8B8B8B"/>
                </a:solidFill>
                <a:latin typeface="Calibri" panose="020F0502020204030204" pitchFamily="34" charset="0"/>
                <a:cs typeface="DejaVu Sans"/>
              </a:rPr>
              <a:pPr algn="r" eaLnBrk="1" hangingPunct="1"/>
              <a:t>53</a:t>
            </a:fld>
            <a:endParaRPr lang="en-US" altLang="en-US">
              <a:latin typeface="Calibri" panose="020F0502020204030204" pitchFamily="34" charset="0"/>
              <a:cs typeface="DejaVu Sans"/>
            </a:endParaRPr>
          </a:p>
        </p:txBody>
      </p:sp>
      <p:sp>
        <p:nvSpPr>
          <p:cNvPr id="18439" name="Rectangle 8">
            <a:extLst>
              <a:ext uri="{FF2B5EF4-FFF2-40B4-BE49-F238E27FC236}">
                <a16:creationId xmlns:a16="http://schemas.microsoft.com/office/drawing/2014/main" xmlns="" id="{FBAF6D76-1369-48F3-8571-D0AE8773F518}"/>
              </a:ext>
            </a:extLst>
          </p:cNvPr>
          <p:cNvSpPr>
            <a:spLocks noChangeArrowheads="1"/>
          </p:cNvSpPr>
          <p:nvPr/>
        </p:nvSpPr>
        <p:spPr bwMode="auto">
          <a:xfrm>
            <a:off x="304802" y="1219200"/>
            <a:ext cx="8423275" cy="6175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23462" tIns="61731" rIns="123462" bIns="61731">
            <a:spAutoFit/>
          </a:bodyPr>
          <a:lstStyle>
            <a:lvl1pPr marL="479425" indent="-461963" eaLnBrk="0" hangingPunct="0">
              <a:tabLst>
                <a:tab pos="477838" algn="l"/>
                <a:tab pos="479425" algn="l"/>
              </a:tabLst>
              <a:defRPr sz="2400">
                <a:solidFill>
                  <a:schemeClr val="tx1"/>
                </a:solidFill>
                <a:latin typeface="Arial" panose="020B0604020202020204" pitchFamily="34" charset="0"/>
                <a:cs typeface="Arial" panose="020B0604020202020204" pitchFamily="34" charset="0"/>
              </a:defRPr>
            </a:lvl1pPr>
            <a:lvl2pPr marL="742950" indent="-285750" eaLnBrk="0" hangingPunct="0">
              <a:tabLst>
                <a:tab pos="477838" algn="l"/>
                <a:tab pos="479425" algn="l"/>
              </a:tabLst>
              <a:defRPr sz="2400">
                <a:solidFill>
                  <a:schemeClr val="tx1"/>
                </a:solidFill>
                <a:latin typeface="Arial" panose="020B0604020202020204" pitchFamily="34" charset="0"/>
                <a:cs typeface="Arial" panose="020B0604020202020204" pitchFamily="34" charset="0"/>
              </a:defRPr>
            </a:lvl2pPr>
            <a:lvl3pPr marL="1143000" indent="-228600" eaLnBrk="0" hangingPunct="0">
              <a:tabLst>
                <a:tab pos="477838" algn="l"/>
                <a:tab pos="479425" algn="l"/>
              </a:tabLst>
              <a:defRPr sz="2400">
                <a:solidFill>
                  <a:schemeClr val="tx1"/>
                </a:solidFill>
                <a:latin typeface="Arial" panose="020B0604020202020204" pitchFamily="34" charset="0"/>
                <a:cs typeface="Arial" panose="020B0604020202020204" pitchFamily="34" charset="0"/>
              </a:defRPr>
            </a:lvl3pPr>
            <a:lvl4pPr marL="1600200" indent="-228600" eaLnBrk="0" hangingPunct="0">
              <a:tabLst>
                <a:tab pos="477838" algn="l"/>
                <a:tab pos="479425" algn="l"/>
              </a:tabLst>
              <a:defRPr sz="2400">
                <a:solidFill>
                  <a:schemeClr val="tx1"/>
                </a:solidFill>
                <a:latin typeface="Arial" panose="020B0604020202020204" pitchFamily="34" charset="0"/>
                <a:cs typeface="Arial" panose="020B0604020202020204" pitchFamily="34" charset="0"/>
              </a:defRPr>
            </a:lvl4pPr>
            <a:lvl5pPr marL="2057400" indent="-228600" eaLnBrk="0" hangingPunct="0">
              <a:tabLst>
                <a:tab pos="477838" algn="l"/>
                <a:tab pos="479425" algn="l"/>
              </a:tabLst>
              <a:defRPr sz="2400">
                <a:solidFill>
                  <a:schemeClr val="tx1"/>
                </a:solidFill>
                <a:latin typeface="Arial" panose="020B0604020202020204" pitchFamily="34" charset="0"/>
                <a:cs typeface="Arial" panose="020B0604020202020204" pitchFamily="34" charset="0"/>
              </a:defRPr>
            </a:lvl5pPr>
            <a:lvl6pPr marL="2514600" indent="-228600" defTabSz="1233488" eaLnBrk="0" fontAlgn="base" hangingPunct="0">
              <a:spcBef>
                <a:spcPct val="0"/>
              </a:spcBef>
              <a:spcAft>
                <a:spcPct val="0"/>
              </a:spcAft>
              <a:tabLst>
                <a:tab pos="477838" algn="l"/>
                <a:tab pos="479425" algn="l"/>
              </a:tabLst>
              <a:defRPr sz="2400">
                <a:solidFill>
                  <a:schemeClr val="tx1"/>
                </a:solidFill>
                <a:latin typeface="Arial" panose="020B0604020202020204" pitchFamily="34" charset="0"/>
                <a:cs typeface="Arial" panose="020B0604020202020204" pitchFamily="34" charset="0"/>
              </a:defRPr>
            </a:lvl6pPr>
            <a:lvl7pPr marL="2971800" indent="-228600" defTabSz="1233488" eaLnBrk="0" fontAlgn="base" hangingPunct="0">
              <a:spcBef>
                <a:spcPct val="0"/>
              </a:spcBef>
              <a:spcAft>
                <a:spcPct val="0"/>
              </a:spcAft>
              <a:tabLst>
                <a:tab pos="477838" algn="l"/>
                <a:tab pos="479425" algn="l"/>
              </a:tabLst>
              <a:defRPr sz="2400">
                <a:solidFill>
                  <a:schemeClr val="tx1"/>
                </a:solidFill>
                <a:latin typeface="Arial" panose="020B0604020202020204" pitchFamily="34" charset="0"/>
                <a:cs typeface="Arial" panose="020B0604020202020204" pitchFamily="34" charset="0"/>
              </a:defRPr>
            </a:lvl7pPr>
            <a:lvl8pPr marL="3429000" indent="-228600" defTabSz="1233488" eaLnBrk="0" fontAlgn="base" hangingPunct="0">
              <a:spcBef>
                <a:spcPct val="0"/>
              </a:spcBef>
              <a:spcAft>
                <a:spcPct val="0"/>
              </a:spcAft>
              <a:tabLst>
                <a:tab pos="477838" algn="l"/>
                <a:tab pos="479425" algn="l"/>
              </a:tabLst>
              <a:defRPr sz="2400">
                <a:solidFill>
                  <a:schemeClr val="tx1"/>
                </a:solidFill>
                <a:latin typeface="Arial" panose="020B0604020202020204" pitchFamily="34" charset="0"/>
                <a:cs typeface="Arial" panose="020B0604020202020204" pitchFamily="34" charset="0"/>
              </a:defRPr>
            </a:lvl8pPr>
            <a:lvl9pPr marL="3886200" indent="-228600" defTabSz="1233488" eaLnBrk="0" fontAlgn="base" hangingPunct="0">
              <a:spcBef>
                <a:spcPct val="0"/>
              </a:spcBef>
              <a:spcAft>
                <a:spcPct val="0"/>
              </a:spcAft>
              <a:tabLst>
                <a:tab pos="477838" algn="l"/>
                <a:tab pos="479425" algn="l"/>
              </a:tabLst>
              <a:defRPr sz="2400">
                <a:solidFill>
                  <a:schemeClr val="tx1"/>
                </a:solidFill>
                <a:latin typeface="Arial" panose="020B0604020202020204" pitchFamily="34" charset="0"/>
                <a:cs typeface="Arial" panose="020B0604020202020204" pitchFamily="34" charset="0"/>
              </a:defRPr>
            </a:lvl9pPr>
          </a:lstStyle>
          <a:p>
            <a:pPr eaLnBrk="1" hangingPunct="1">
              <a:spcBef>
                <a:spcPts val="663"/>
              </a:spcBef>
            </a:pPr>
            <a:endParaRPr lang="en-IN" altLang="en-US" sz="3200">
              <a:latin typeface="Calibri" panose="020F0502020204030204" pitchFamily="34" charset="0"/>
            </a:endParaRPr>
          </a:p>
        </p:txBody>
      </p:sp>
      <p:sp>
        <p:nvSpPr>
          <p:cNvPr id="9" name="Rectangle 3">
            <a:extLst>
              <a:ext uri="{FF2B5EF4-FFF2-40B4-BE49-F238E27FC236}">
                <a16:creationId xmlns:a16="http://schemas.microsoft.com/office/drawing/2014/main" xmlns="" id="{D8B64F0E-955F-4BE4-93DA-1E1C350474C4}"/>
              </a:ext>
            </a:extLst>
          </p:cNvPr>
          <p:cNvSpPr txBox="1">
            <a:spLocks noChangeArrowheads="1"/>
          </p:cNvSpPr>
          <p:nvPr/>
        </p:nvSpPr>
        <p:spPr>
          <a:xfrm>
            <a:off x="458789" y="1295401"/>
            <a:ext cx="7694613" cy="4830763"/>
          </a:xfrm>
          <a:prstGeom prst="rect">
            <a:avLst/>
          </a:prstGeom>
        </p:spPr>
        <p:txBody>
          <a:bodyPr/>
          <a:lstStyle/>
          <a:p>
            <a:pPr marL="461963" indent="-461963">
              <a:spcBef>
                <a:spcPct val="20000"/>
              </a:spcBef>
              <a:defRPr/>
            </a:pPr>
            <a:endParaRPr lang="en-US" sz="2800" dirty="0">
              <a:latin typeface="+mj-lt"/>
              <a:cs typeface="+mn-cs"/>
            </a:endParaRPr>
          </a:p>
        </p:txBody>
      </p:sp>
      <p:sp>
        <p:nvSpPr>
          <p:cNvPr id="18441" name="AutoShape 10" descr="Anthrax">
            <a:extLst>
              <a:ext uri="{FF2B5EF4-FFF2-40B4-BE49-F238E27FC236}">
                <a16:creationId xmlns:a16="http://schemas.microsoft.com/office/drawing/2014/main" xmlns="" id="{EB69A35A-67F8-454F-A942-20EFA0DD8317}"/>
              </a:ext>
            </a:extLst>
          </p:cNvPr>
          <p:cNvSpPr>
            <a:spLocks noChangeAspect="1" noChangeArrowheads="1"/>
          </p:cNvSpPr>
          <p:nvPr/>
        </p:nvSpPr>
        <p:spPr bwMode="auto">
          <a:xfrm>
            <a:off x="177801" y="-182563"/>
            <a:ext cx="304800" cy="30480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cs typeface="Arial" panose="020B0604020202020204" pitchFamily="34" charset="0"/>
              </a:defRPr>
            </a:lvl1pPr>
            <a:lvl2pPr marL="742950" indent="-285750" eaLnBrk="0" hangingPunct="0">
              <a:defRPr sz="2400">
                <a:solidFill>
                  <a:schemeClr val="tx1"/>
                </a:solidFill>
                <a:latin typeface="Arial" panose="020B0604020202020204" pitchFamily="34" charset="0"/>
                <a:cs typeface="Arial" panose="020B0604020202020204" pitchFamily="34" charset="0"/>
              </a:defRPr>
            </a:lvl2pPr>
            <a:lvl3pPr marL="1143000" indent="-228600" eaLnBrk="0" hangingPunct="0">
              <a:defRPr sz="2400">
                <a:solidFill>
                  <a:schemeClr val="tx1"/>
                </a:solidFill>
                <a:latin typeface="Arial" panose="020B0604020202020204" pitchFamily="34" charset="0"/>
                <a:cs typeface="Arial" panose="020B0604020202020204" pitchFamily="34" charset="0"/>
              </a:defRPr>
            </a:lvl3pPr>
            <a:lvl4pPr marL="1600200" indent="-228600" eaLnBrk="0" hangingPunct="0">
              <a:defRPr sz="2400">
                <a:solidFill>
                  <a:schemeClr val="tx1"/>
                </a:solidFill>
                <a:latin typeface="Arial" panose="020B0604020202020204" pitchFamily="34" charset="0"/>
                <a:cs typeface="Arial" panose="020B0604020202020204" pitchFamily="34" charset="0"/>
              </a:defRPr>
            </a:lvl4pPr>
            <a:lvl5pPr marL="2057400" indent="-228600" eaLnBrk="0" hangingPunct="0">
              <a:defRPr sz="2400">
                <a:solidFill>
                  <a:schemeClr val="tx1"/>
                </a:solidFill>
                <a:latin typeface="Arial" panose="020B0604020202020204" pitchFamily="34" charset="0"/>
                <a:cs typeface="Arial" panose="020B0604020202020204" pitchFamily="34" charset="0"/>
              </a:defRPr>
            </a:lvl5pPr>
            <a:lvl6pPr marL="2514600" indent="-228600" defTabSz="12334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defTabSz="12334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defTabSz="12334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defTabSz="12334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IN" altLang="en-US"/>
          </a:p>
        </p:txBody>
      </p:sp>
      <p:sp>
        <p:nvSpPr>
          <p:cNvPr id="10" name="Rectangle 9">
            <a:extLst>
              <a:ext uri="{FF2B5EF4-FFF2-40B4-BE49-F238E27FC236}">
                <a16:creationId xmlns:a16="http://schemas.microsoft.com/office/drawing/2014/main" xmlns="" id="{FD8D0C60-786B-4FE9-B15E-19CF4D263AE9}"/>
              </a:ext>
            </a:extLst>
          </p:cNvPr>
          <p:cNvSpPr/>
          <p:nvPr/>
        </p:nvSpPr>
        <p:spPr>
          <a:xfrm>
            <a:off x="393111" y="1219200"/>
            <a:ext cx="8382000" cy="5355312"/>
          </a:xfrm>
          <a:prstGeom prst="rect">
            <a:avLst/>
          </a:prstGeom>
        </p:spPr>
        <p:txBody>
          <a:bodyPr>
            <a:spAutoFit/>
          </a:bodyPr>
          <a:lstStyle/>
          <a:p>
            <a:pPr algn="just">
              <a:lnSpc>
                <a:spcPct val="150000"/>
              </a:lnSpc>
              <a:defRPr/>
            </a:pPr>
            <a:r>
              <a:rPr lang="en-IN" sz="2400" dirty="0">
                <a:solidFill>
                  <a:schemeClr val="accent1">
                    <a:lumMod val="75000"/>
                  </a:schemeClr>
                </a:solidFill>
                <a:latin typeface="Calibri" panose="020F0502020204030204" pitchFamily="34" charset="0"/>
                <a:ea typeface="Calibri" panose="020F0502020204030204" pitchFamily="34" charset="0"/>
                <a:cs typeface="Calibri" panose="020F0502020204030204" pitchFamily="34" charset="0"/>
              </a:rPr>
              <a:t>Delivery Mechanisms</a:t>
            </a:r>
            <a:r>
              <a:rPr lang="en-IN" sz="2400" dirty="0">
                <a:latin typeface="Calibri" panose="020F0502020204030204" pitchFamily="34" charset="0"/>
                <a:ea typeface="Calibri" panose="020F0502020204030204" pitchFamily="34" charset="0"/>
                <a:cs typeface="Calibri" panose="020F0502020204030204" pitchFamily="34" charset="0"/>
              </a:rPr>
              <a:t> </a:t>
            </a:r>
          </a:p>
          <a:p>
            <a:pPr marL="457200" indent="-457200" algn="just">
              <a:lnSpc>
                <a:spcPct val="150000"/>
              </a:lnSpc>
              <a:buFontTx/>
              <a:buAutoNum type="arabicParenR"/>
              <a:defRPr/>
            </a:pPr>
            <a:r>
              <a:rPr lang="en-IN" sz="2400" b="1" dirty="0">
                <a:latin typeface="Calibri" panose="020F0502020204030204" pitchFamily="34" charset="0"/>
                <a:ea typeface="Calibri" panose="020F0502020204030204" pitchFamily="34" charset="0"/>
                <a:cs typeface="Calibri" panose="020F0502020204030204" pitchFamily="34" charset="0"/>
              </a:rPr>
              <a:t>Aerosol spray </a:t>
            </a:r>
            <a:r>
              <a:rPr lang="en-IN" sz="2400" dirty="0">
                <a:latin typeface="Calibri" panose="020F0502020204030204" pitchFamily="34" charset="0"/>
                <a:ea typeface="Calibri" panose="020F0502020204030204" pitchFamily="34" charset="0"/>
                <a:cs typeface="Calibri" panose="020F0502020204030204" pitchFamily="34" charset="0"/>
              </a:rPr>
              <a:t>: easiest method of dispersal. Highest number of people victimized</a:t>
            </a:r>
          </a:p>
          <a:p>
            <a:pPr marL="457200" indent="-457200" algn="just">
              <a:lnSpc>
                <a:spcPct val="150000"/>
              </a:lnSpc>
              <a:buFontTx/>
              <a:buAutoNum type="arabicParenR"/>
              <a:defRPr/>
            </a:pPr>
            <a:r>
              <a:rPr lang="en-IN" sz="2400" b="1" dirty="0">
                <a:latin typeface="Calibri" panose="020F0502020204030204" pitchFamily="34" charset="0"/>
                <a:ea typeface="Calibri" panose="020F0502020204030204" pitchFamily="34" charset="0"/>
                <a:cs typeface="Calibri" panose="020F0502020204030204" pitchFamily="34" charset="0"/>
              </a:rPr>
              <a:t>Food &amp; Water contamination </a:t>
            </a:r>
            <a:r>
              <a:rPr lang="en-IN" sz="2400" dirty="0">
                <a:latin typeface="Calibri" panose="020F0502020204030204" pitchFamily="34" charset="0"/>
                <a:ea typeface="Calibri" panose="020F0502020204030204" pitchFamily="34" charset="0"/>
                <a:cs typeface="Calibri" panose="020F0502020204030204" pitchFamily="34" charset="0"/>
              </a:rPr>
              <a:t>: more cumbersome. People victimized are less &amp; large quantities of agent required</a:t>
            </a:r>
          </a:p>
          <a:p>
            <a:pPr marL="457200" indent="-457200" algn="just">
              <a:lnSpc>
                <a:spcPct val="150000"/>
              </a:lnSpc>
              <a:buFontTx/>
              <a:buAutoNum type="arabicParenR"/>
              <a:defRPr/>
            </a:pPr>
            <a:r>
              <a:rPr lang="en-US" sz="2400" b="1" dirty="0">
                <a:latin typeface="Calibri" panose="020F0502020204030204" pitchFamily="34" charset="0"/>
                <a:ea typeface="Calibri" panose="020F0502020204030204" pitchFamily="34" charset="0"/>
                <a:cs typeface="Calibri" panose="020F0502020204030204" pitchFamily="34" charset="0"/>
              </a:rPr>
              <a:t> </a:t>
            </a:r>
            <a:r>
              <a:rPr lang="en-IN" sz="2400" b="1" dirty="0">
                <a:latin typeface="Calibri" panose="020F0502020204030204" pitchFamily="34" charset="0"/>
                <a:ea typeface="Calibri" panose="020F0502020204030204" pitchFamily="34" charset="0"/>
                <a:cs typeface="Calibri" panose="020F0502020204030204" pitchFamily="34" charset="0"/>
              </a:rPr>
              <a:t>Spores </a:t>
            </a:r>
            <a:r>
              <a:rPr lang="en-IN" sz="2400" dirty="0">
                <a:latin typeface="Calibri" panose="020F0502020204030204" pitchFamily="34" charset="0"/>
                <a:ea typeface="Calibri" panose="020F0502020204030204" pitchFamily="34" charset="0"/>
                <a:cs typeface="Calibri" panose="020F0502020204030204" pitchFamily="34" charset="0"/>
              </a:rPr>
              <a:t>: Through envelops (Anthrax) easy dispersal.</a:t>
            </a:r>
          </a:p>
          <a:p>
            <a:pPr marL="457200" indent="-457200" algn="just">
              <a:lnSpc>
                <a:spcPct val="150000"/>
              </a:lnSpc>
              <a:buFontTx/>
              <a:buAutoNum type="arabicParenR"/>
              <a:defRPr/>
            </a:pPr>
            <a:r>
              <a:rPr lang="en-IN" sz="2400" dirty="0">
                <a:latin typeface="Calibri" panose="020F0502020204030204" pitchFamily="34" charset="0"/>
                <a:ea typeface="Calibri" panose="020F0502020204030204" pitchFamily="34" charset="0"/>
                <a:cs typeface="Calibri" panose="020F0502020204030204" pitchFamily="34" charset="0"/>
              </a:rPr>
              <a:t> </a:t>
            </a:r>
            <a:r>
              <a:rPr lang="en-IN" sz="2400" b="1" dirty="0">
                <a:latin typeface="Calibri" panose="020F0502020204030204" pitchFamily="34" charset="0"/>
                <a:ea typeface="Calibri" panose="020F0502020204030204" pitchFamily="34" charset="0"/>
                <a:cs typeface="Calibri" panose="020F0502020204030204" pitchFamily="34" charset="0"/>
              </a:rPr>
              <a:t>Infected People/ Animals : </a:t>
            </a:r>
            <a:r>
              <a:rPr lang="en-IN" sz="2400" dirty="0">
                <a:latin typeface="Calibri" panose="020F0502020204030204" pitchFamily="34" charset="0"/>
                <a:ea typeface="Calibri" panose="020F0502020204030204" pitchFamily="34" charset="0"/>
                <a:cs typeface="Calibri" panose="020F0502020204030204" pitchFamily="34" charset="0"/>
              </a:rPr>
              <a:t>People or animals in the </a:t>
            </a:r>
            <a:r>
              <a:rPr lang="en-IN" sz="2400" dirty="0" err="1">
                <a:latin typeface="Calibri" panose="020F0502020204030204" pitchFamily="34" charset="0"/>
                <a:ea typeface="Calibri" panose="020F0502020204030204" pitchFamily="34" charset="0"/>
                <a:cs typeface="Calibri" panose="020F0502020204030204" pitchFamily="34" charset="0"/>
              </a:rPr>
              <a:t>prodromal</a:t>
            </a:r>
            <a:r>
              <a:rPr lang="en-IN" sz="2400" dirty="0">
                <a:latin typeface="Calibri" panose="020F0502020204030204" pitchFamily="34" charset="0"/>
                <a:ea typeface="Calibri" panose="020F0502020204030204" pitchFamily="34" charset="0"/>
                <a:cs typeface="Calibri" panose="020F0502020204030204" pitchFamily="34" charset="0"/>
              </a:rPr>
              <a:t> or latent illness where the organism can’t be identified. Very difficult and very few people will be infected.</a:t>
            </a:r>
          </a:p>
          <a:p>
            <a:pPr marL="457200" indent="-457200">
              <a:buFontTx/>
              <a:buAutoNum type="arabicParenR"/>
              <a:defRPr/>
            </a:pPr>
            <a:endParaRPr lang="en-IN" dirty="0">
              <a:latin typeface="+mn-lt"/>
            </a:endParaRPr>
          </a:p>
        </p:txBody>
      </p:sp>
      <p:pic>
        <p:nvPicPr>
          <p:cNvPr id="2" name="Picture 4" descr="PESSAT - All India Online Entrance Exam for Admission to PES University">
            <a:extLst>
              <a:ext uri="{FF2B5EF4-FFF2-40B4-BE49-F238E27FC236}">
                <a16:creationId xmlns:a16="http://schemas.microsoft.com/office/drawing/2014/main" xmlns="" id="{31FC9211-817E-574E-B74A-AB55C07BEF34}"/>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4090" y="295229"/>
            <a:ext cx="1812621" cy="825592"/>
          </a:xfrm>
          <a:prstGeom prst="rect">
            <a:avLst/>
          </a:prstGeom>
          <a:noFill/>
          <a:extLst>
            <a:ext uri="{909E8E84-426E-40DD-AFC4-6F175D3DCCD1}">
              <a14:hiddenFill xmlns:a14="http://schemas.microsoft.com/office/drawing/2010/main" xmlns="">
                <a:solidFill>
                  <a:srgbClr val="FFFFFF"/>
                </a:solidFill>
              </a14:hiddenFill>
            </a:ext>
          </a:extLst>
        </p:spPr>
      </p:pic>
      <p:sp>
        <p:nvSpPr>
          <p:cNvPr id="3" name="CustomShape 1">
            <a:extLst>
              <a:ext uri="{FF2B5EF4-FFF2-40B4-BE49-F238E27FC236}">
                <a16:creationId xmlns:a16="http://schemas.microsoft.com/office/drawing/2014/main" xmlns="" id="{9241C5A2-C5F0-C0A5-2740-0C15FEEEB818}"/>
              </a:ext>
            </a:extLst>
          </p:cNvPr>
          <p:cNvSpPr>
            <a:spLocks noChangeArrowheads="1"/>
          </p:cNvSpPr>
          <p:nvPr/>
        </p:nvSpPr>
        <p:spPr bwMode="auto">
          <a:xfrm>
            <a:off x="393111" y="691540"/>
            <a:ext cx="8870950"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a:solidFill>
                  <a:srgbClr val="C55A11"/>
                </a:solidFill>
                <a:latin typeface="Calibri" panose="020F0502020204030204" pitchFamily="34" charset="0"/>
              </a:rPr>
              <a:t>Natural and man-made disasters</a:t>
            </a:r>
            <a:endParaRPr lang="en-US" altLang="en-US" sz="1800" dirty="0"/>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Line 2">
            <a:extLst>
              <a:ext uri="{FF2B5EF4-FFF2-40B4-BE49-F238E27FC236}">
                <a16:creationId xmlns:a16="http://schemas.microsoft.com/office/drawing/2014/main" xmlns="" id="{C4A6E74E-C696-4C59-8889-55F87F088642}"/>
              </a:ext>
            </a:extLst>
          </p:cNvPr>
          <p:cNvSpPr>
            <a:spLocks noChangeShapeType="1"/>
          </p:cNvSpPr>
          <p:nvPr/>
        </p:nvSpPr>
        <p:spPr bwMode="auto">
          <a:xfrm>
            <a:off x="1589" y="1143000"/>
            <a:ext cx="8297863"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lIns="123462" tIns="61731" rIns="123462" bIns="61731"/>
          <a:lstStyle/>
          <a:p>
            <a:endParaRPr lang="en-IN"/>
          </a:p>
        </p:txBody>
      </p:sp>
      <p:sp>
        <p:nvSpPr>
          <p:cNvPr id="20485" name="CustomShape 3">
            <a:extLst>
              <a:ext uri="{FF2B5EF4-FFF2-40B4-BE49-F238E27FC236}">
                <a16:creationId xmlns:a16="http://schemas.microsoft.com/office/drawing/2014/main" xmlns="" id="{2CFBF1C5-D5A0-42BB-8A53-7565F5F31626}"/>
              </a:ext>
            </a:extLst>
          </p:cNvPr>
          <p:cNvSpPr>
            <a:spLocks noChangeArrowheads="1"/>
          </p:cNvSpPr>
          <p:nvPr/>
        </p:nvSpPr>
        <p:spPr bwMode="auto">
          <a:xfrm>
            <a:off x="395289" y="252413"/>
            <a:ext cx="9129713"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21518" tIns="60759" rIns="121518" bIns="60759"/>
          <a:lstStyle>
            <a:lvl1pPr eaLnBrk="0" hangingPunct="0">
              <a:defRPr sz="2400">
                <a:solidFill>
                  <a:schemeClr val="tx1"/>
                </a:solidFill>
                <a:latin typeface="Arial" panose="020B0604020202020204" pitchFamily="34" charset="0"/>
                <a:cs typeface="Arial" panose="020B0604020202020204" pitchFamily="34" charset="0"/>
              </a:defRPr>
            </a:lvl1pPr>
            <a:lvl2pPr marL="742950" indent="-285750" eaLnBrk="0" hangingPunct="0">
              <a:defRPr sz="2400">
                <a:solidFill>
                  <a:schemeClr val="tx1"/>
                </a:solidFill>
                <a:latin typeface="Arial" panose="020B0604020202020204" pitchFamily="34" charset="0"/>
                <a:cs typeface="Arial" panose="020B0604020202020204" pitchFamily="34" charset="0"/>
              </a:defRPr>
            </a:lvl2pPr>
            <a:lvl3pPr marL="1143000" indent="-228600" eaLnBrk="0" hangingPunct="0">
              <a:defRPr sz="2400">
                <a:solidFill>
                  <a:schemeClr val="tx1"/>
                </a:solidFill>
                <a:latin typeface="Arial" panose="020B0604020202020204" pitchFamily="34" charset="0"/>
                <a:cs typeface="Arial" panose="020B0604020202020204" pitchFamily="34" charset="0"/>
              </a:defRPr>
            </a:lvl3pPr>
            <a:lvl4pPr marL="1600200" indent="-228600" eaLnBrk="0" hangingPunct="0">
              <a:defRPr sz="2400">
                <a:solidFill>
                  <a:schemeClr val="tx1"/>
                </a:solidFill>
                <a:latin typeface="Arial" panose="020B0604020202020204" pitchFamily="34" charset="0"/>
                <a:cs typeface="Arial" panose="020B0604020202020204" pitchFamily="34" charset="0"/>
              </a:defRPr>
            </a:lvl4pPr>
            <a:lvl5pPr marL="2057400" indent="-228600" eaLnBrk="0" hangingPunct="0">
              <a:defRPr sz="2400">
                <a:solidFill>
                  <a:schemeClr val="tx1"/>
                </a:solidFill>
                <a:latin typeface="Arial" panose="020B0604020202020204" pitchFamily="34" charset="0"/>
                <a:cs typeface="Arial" panose="020B0604020202020204" pitchFamily="34" charset="0"/>
              </a:defRPr>
            </a:lvl5pPr>
            <a:lvl6pPr marL="2514600" indent="-228600" defTabSz="12334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defTabSz="12334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defTabSz="12334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defTabSz="12334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r>
              <a:rPr lang="en-IN" altLang="en-US" b="1" dirty="0">
                <a:solidFill>
                  <a:schemeClr val="accent1">
                    <a:lumMod val="75000"/>
                  </a:schemeClr>
                </a:solidFill>
                <a:latin typeface="Calibri" panose="020F0502020204030204" pitchFamily="34" charset="0"/>
                <a:cs typeface="DejaVu Sans"/>
              </a:rPr>
              <a:t>ENVIRONMENTAL STUDIES &amp; LIFE </a:t>
            </a:r>
            <a:r>
              <a:rPr lang="en-IN" altLang="en-US" b="1" dirty="0" smtClean="0">
                <a:solidFill>
                  <a:schemeClr val="accent1">
                    <a:lumMod val="75000"/>
                  </a:schemeClr>
                </a:solidFill>
                <a:latin typeface="Calibri" panose="020F0502020204030204" pitchFamily="34" charset="0"/>
                <a:cs typeface="DejaVu Sans"/>
              </a:rPr>
              <a:t>SCIENCES</a:t>
            </a:r>
          </a:p>
          <a:p>
            <a:pPr eaLnBrk="1" hangingPunct="1"/>
            <a:r>
              <a:rPr lang="en-IN" altLang="en-US" b="1" dirty="0" smtClean="0">
                <a:solidFill>
                  <a:srgbClr val="C55A11"/>
                </a:solidFill>
                <a:latin typeface="Calibri" panose="020F0502020204030204" pitchFamily="34" charset="0"/>
              </a:rPr>
              <a:t>Natural and man-made disasters</a:t>
            </a:r>
            <a:endParaRPr lang="en-US" altLang="en-US" sz="1800" dirty="0" smtClean="0"/>
          </a:p>
          <a:p>
            <a:pPr eaLnBrk="1" hangingPunct="1"/>
            <a:endParaRPr lang="en-IN" altLang="en-US" dirty="0">
              <a:solidFill>
                <a:schemeClr val="accent1">
                  <a:lumMod val="75000"/>
                </a:schemeClr>
              </a:solidFill>
              <a:latin typeface="Calibri" panose="020F0502020204030204" pitchFamily="34" charset="0"/>
              <a:cs typeface="DejaVu Sans"/>
            </a:endParaRPr>
          </a:p>
        </p:txBody>
      </p:sp>
      <p:sp>
        <p:nvSpPr>
          <p:cNvPr id="20486" name="TextShape 4">
            <a:extLst>
              <a:ext uri="{FF2B5EF4-FFF2-40B4-BE49-F238E27FC236}">
                <a16:creationId xmlns:a16="http://schemas.microsoft.com/office/drawing/2014/main" xmlns="" id="{D0D1ADC1-EC18-41DD-AB9E-C15FA1BE4E50}"/>
              </a:ext>
            </a:extLst>
          </p:cNvPr>
          <p:cNvSpPr txBox="1">
            <a:spLocks noChangeArrowheads="1"/>
          </p:cNvSpPr>
          <p:nvPr/>
        </p:nvSpPr>
        <p:spPr bwMode="auto">
          <a:xfrm>
            <a:off x="8610601" y="6356351"/>
            <a:ext cx="2741612"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23462" tIns="61731" rIns="123462" bIns="61731" anchor="ctr"/>
          <a:lstStyle>
            <a:lvl1pPr eaLnBrk="0" hangingPunct="0">
              <a:defRPr sz="2400">
                <a:solidFill>
                  <a:schemeClr val="tx1"/>
                </a:solidFill>
                <a:latin typeface="Arial" panose="020B0604020202020204" pitchFamily="34" charset="0"/>
                <a:cs typeface="Arial" panose="020B0604020202020204" pitchFamily="34" charset="0"/>
              </a:defRPr>
            </a:lvl1pPr>
            <a:lvl2pPr marL="742950" indent="-285750" eaLnBrk="0" hangingPunct="0">
              <a:defRPr sz="2400">
                <a:solidFill>
                  <a:schemeClr val="tx1"/>
                </a:solidFill>
                <a:latin typeface="Arial" panose="020B0604020202020204" pitchFamily="34" charset="0"/>
                <a:cs typeface="Arial" panose="020B0604020202020204" pitchFamily="34" charset="0"/>
              </a:defRPr>
            </a:lvl2pPr>
            <a:lvl3pPr marL="1143000" indent="-228600" eaLnBrk="0" hangingPunct="0">
              <a:defRPr sz="2400">
                <a:solidFill>
                  <a:schemeClr val="tx1"/>
                </a:solidFill>
                <a:latin typeface="Arial" panose="020B0604020202020204" pitchFamily="34" charset="0"/>
                <a:cs typeface="Arial" panose="020B0604020202020204" pitchFamily="34" charset="0"/>
              </a:defRPr>
            </a:lvl3pPr>
            <a:lvl4pPr marL="1600200" indent="-228600" eaLnBrk="0" hangingPunct="0">
              <a:defRPr sz="2400">
                <a:solidFill>
                  <a:schemeClr val="tx1"/>
                </a:solidFill>
                <a:latin typeface="Arial" panose="020B0604020202020204" pitchFamily="34" charset="0"/>
                <a:cs typeface="Arial" panose="020B0604020202020204" pitchFamily="34" charset="0"/>
              </a:defRPr>
            </a:lvl4pPr>
            <a:lvl5pPr marL="2057400" indent="-228600" eaLnBrk="0" hangingPunct="0">
              <a:defRPr sz="2400">
                <a:solidFill>
                  <a:schemeClr val="tx1"/>
                </a:solidFill>
                <a:latin typeface="Arial" panose="020B0604020202020204" pitchFamily="34" charset="0"/>
                <a:cs typeface="Arial" panose="020B0604020202020204" pitchFamily="34" charset="0"/>
              </a:defRPr>
            </a:lvl5pPr>
            <a:lvl6pPr marL="2514600" indent="-228600" defTabSz="12334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defTabSz="12334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defTabSz="12334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defTabSz="12334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algn="r" eaLnBrk="1" hangingPunct="1"/>
            <a:fld id="{85158391-111B-4A6D-8842-B656F1631791}" type="slidenum">
              <a:rPr lang="en-IN" altLang="en-US" sz="1600">
                <a:solidFill>
                  <a:srgbClr val="8B8B8B"/>
                </a:solidFill>
                <a:latin typeface="Calibri" panose="020F0502020204030204" pitchFamily="34" charset="0"/>
                <a:cs typeface="DejaVu Sans"/>
              </a:rPr>
              <a:pPr algn="r" eaLnBrk="1" hangingPunct="1"/>
              <a:t>54</a:t>
            </a:fld>
            <a:endParaRPr lang="en-US" altLang="en-US">
              <a:latin typeface="Calibri" panose="020F0502020204030204" pitchFamily="34" charset="0"/>
              <a:cs typeface="DejaVu Sans"/>
            </a:endParaRPr>
          </a:p>
        </p:txBody>
      </p:sp>
      <p:sp>
        <p:nvSpPr>
          <p:cNvPr id="20487" name="Rectangle 8">
            <a:extLst>
              <a:ext uri="{FF2B5EF4-FFF2-40B4-BE49-F238E27FC236}">
                <a16:creationId xmlns:a16="http://schemas.microsoft.com/office/drawing/2014/main" xmlns="" id="{D084ACDC-E133-4F48-8E56-C6DA19405381}"/>
              </a:ext>
            </a:extLst>
          </p:cNvPr>
          <p:cNvSpPr>
            <a:spLocks noChangeArrowheads="1"/>
          </p:cNvSpPr>
          <p:nvPr/>
        </p:nvSpPr>
        <p:spPr bwMode="auto">
          <a:xfrm>
            <a:off x="304802" y="1219200"/>
            <a:ext cx="8423275" cy="6175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23462" tIns="61731" rIns="123462" bIns="61731">
            <a:spAutoFit/>
          </a:bodyPr>
          <a:lstStyle>
            <a:lvl1pPr marL="479425" indent="-461963" eaLnBrk="0" hangingPunct="0">
              <a:tabLst>
                <a:tab pos="477838" algn="l"/>
                <a:tab pos="479425" algn="l"/>
              </a:tabLst>
              <a:defRPr sz="2400">
                <a:solidFill>
                  <a:schemeClr val="tx1"/>
                </a:solidFill>
                <a:latin typeface="Arial" panose="020B0604020202020204" pitchFamily="34" charset="0"/>
                <a:cs typeface="Arial" panose="020B0604020202020204" pitchFamily="34" charset="0"/>
              </a:defRPr>
            </a:lvl1pPr>
            <a:lvl2pPr marL="742950" indent="-285750" eaLnBrk="0" hangingPunct="0">
              <a:tabLst>
                <a:tab pos="477838" algn="l"/>
                <a:tab pos="479425" algn="l"/>
              </a:tabLst>
              <a:defRPr sz="2400">
                <a:solidFill>
                  <a:schemeClr val="tx1"/>
                </a:solidFill>
                <a:latin typeface="Arial" panose="020B0604020202020204" pitchFamily="34" charset="0"/>
                <a:cs typeface="Arial" panose="020B0604020202020204" pitchFamily="34" charset="0"/>
              </a:defRPr>
            </a:lvl2pPr>
            <a:lvl3pPr marL="1143000" indent="-228600" eaLnBrk="0" hangingPunct="0">
              <a:tabLst>
                <a:tab pos="477838" algn="l"/>
                <a:tab pos="479425" algn="l"/>
              </a:tabLst>
              <a:defRPr sz="2400">
                <a:solidFill>
                  <a:schemeClr val="tx1"/>
                </a:solidFill>
                <a:latin typeface="Arial" panose="020B0604020202020204" pitchFamily="34" charset="0"/>
                <a:cs typeface="Arial" panose="020B0604020202020204" pitchFamily="34" charset="0"/>
              </a:defRPr>
            </a:lvl3pPr>
            <a:lvl4pPr marL="1600200" indent="-228600" eaLnBrk="0" hangingPunct="0">
              <a:tabLst>
                <a:tab pos="477838" algn="l"/>
                <a:tab pos="479425" algn="l"/>
              </a:tabLst>
              <a:defRPr sz="2400">
                <a:solidFill>
                  <a:schemeClr val="tx1"/>
                </a:solidFill>
                <a:latin typeface="Arial" panose="020B0604020202020204" pitchFamily="34" charset="0"/>
                <a:cs typeface="Arial" panose="020B0604020202020204" pitchFamily="34" charset="0"/>
              </a:defRPr>
            </a:lvl4pPr>
            <a:lvl5pPr marL="2057400" indent="-228600" eaLnBrk="0" hangingPunct="0">
              <a:tabLst>
                <a:tab pos="477838" algn="l"/>
                <a:tab pos="479425" algn="l"/>
              </a:tabLst>
              <a:defRPr sz="2400">
                <a:solidFill>
                  <a:schemeClr val="tx1"/>
                </a:solidFill>
                <a:latin typeface="Arial" panose="020B0604020202020204" pitchFamily="34" charset="0"/>
                <a:cs typeface="Arial" panose="020B0604020202020204" pitchFamily="34" charset="0"/>
              </a:defRPr>
            </a:lvl5pPr>
            <a:lvl6pPr marL="2514600" indent="-228600" defTabSz="1233488" eaLnBrk="0" fontAlgn="base" hangingPunct="0">
              <a:spcBef>
                <a:spcPct val="0"/>
              </a:spcBef>
              <a:spcAft>
                <a:spcPct val="0"/>
              </a:spcAft>
              <a:tabLst>
                <a:tab pos="477838" algn="l"/>
                <a:tab pos="479425" algn="l"/>
              </a:tabLst>
              <a:defRPr sz="2400">
                <a:solidFill>
                  <a:schemeClr val="tx1"/>
                </a:solidFill>
                <a:latin typeface="Arial" panose="020B0604020202020204" pitchFamily="34" charset="0"/>
                <a:cs typeface="Arial" panose="020B0604020202020204" pitchFamily="34" charset="0"/>
              </a:defRPr>
            </a:lvl6pPr>
            <a:lvl7pPr marL="2971800" indent="-228600" defTabSz="1233488" eaLnBrk="0" fontAlgn="base" hangingPunct="0">
              <a:spcBef>
                <a:spcPct val="0"/>
              </a:spcBef>
              <a:spcAft>
                <a:spcPct val="0"/>
              </a:spcAft>
              <a:tabLst>
                <a:tab pos="477838" algn="l"/>
                <a:tab pos="479425" algn="l"/>
              </a:tabLst>
              <a:defRPr sz="2400">
                <a:solidFill>
                  <a:schemeClr val="tx1"/>
                </a:solidFill>
                <a:latin typeface="Arial" panose="020B0604020202020204" pitchFamily="34" charset="0"/>
                <a:cs typeface="Arial" panose="020B0604020202020204" pitchFamily="34" charset="0"/>
              </a:defRPr>
            </a:lvl7pPr>
            <a:lvl8pPr marL="3429000" indent="-228600" defTabSz="1233488" eaLnBrk="0" fontAlgn="base" hangingPunct="0">
              <a:spcBef>
                <a:spcPct val="0"/>
              </a:spcBef>
              <a:spcAft>
                <a:spcPct val="0"/>
              </a:spcAft>
              <a:tabLst>
                <a:tab pos="477838" algn="l"/>
                <a:tab pos="479425" algn="l"/>
              </a:tabLst>
              <a:defRPr sz="2400">
                <a:solidFill>
                  <a:schemeClr val="tx1"/>
                </a:solidFill>
                <a:latin typeface="Arial" panose="020B0604020202020204" pitchFamily="34" charset="0"/>
                <a:cs typeface="Arial" panose="020B0604020202020204" pitchFamily="34" charset="0"/>
              </a:defRPr>
            </a:lvl8pPr>
            <a:lvl9pPr marL="3886200" indent="-228600" defTabSz="1233488" eaLnBrk="0" fontAlgn="base" hangingPunct="0">
              <a:spcBef>
                <a:spcPct val="0"/>
              </a:spcBef>
              <a:spcAft>
                <a:spcPct val="0"/>
              </a:spcAft>
              <a:tabLst>
                <a:tab pos="477838" algn="l"/>
                <a:tab pos="479425" algn="l"/>
              </a:tabLst>
              <a:defRPr sz="2400">
                <a:solidFill>
                  <a:schemeClr val="tx1"/>
                </a:solidFill>
                <a:latin typeface="Arial" panose="020B0604020202020204" pitchFamily="34" charset="0"/>
                <a:cs typeface="Arial" panose="020B0604020202020204" pitchFamily="34" charset="0"/>
              </a:defRPr>
            </a:lvl9pPr>
          </a:lstStyle>
          <a:p>
            <a:pPr eaLnBrk="1" hangingPunct="1">
              <a:spcBef>
                <a:spcPts val="663"/>
              </a:spcBef>
            </a:pPr>
            <a:endParaRPr lang="en-IN" altLang="en-US" sz="3200">
              <a:latin typeface="Calibri" panose="020F0502020204030204" pitchFamily="34" charset="0"/>
            </a:endParaRPr>
          </a:p>
        </p:txBody>
      </p:sp>
      <p:sp>
        <p:nvSpPr>
          <p:cNvPr id="9" name="Rectangle 3">
            <a:extLst>
              <a:ext uri="{FF2B5EF4-FFF2-40B4-BE49-F238E27FC236}">
                <a16:creationId xmlns:a16="http://schemas.microsoft.com/office/drawing/2014/main" xmlns="" id="{00176882-8296-448F-AEE7-F690D49133FC}"/>
              </a:ext>
            </a:extLst>
          </p:cNvPr>
          <p:cNvSpPr txBox="1">
            <a:spLocks noChangeArrowheads="1"/>
          </p:cNvSpPr>
          <p:nvPr/>
        </p:nvSpPr>
        <p:spPr>
          <a:xfrm>
            <a:off x="458789" y="1295401"/>
            <a:ext cx="7694613" cy="4830763"/>
          </a:xfrm>
          <a:prstGeom prst="rect">
            <a:avLst/>
          </a:prstGeom>
        </p:spPr>
        <p:txBody>
          <a:bodyPr/>
          <a:lstStyle/>
          <a:p>
            <a:pPr marL="461963" indent="-461963">
              <a:spcBef>
                <a:spcPct val="20000"/>
              </a:spcBef>
              <a:defRPr/>
            </a:pPr>
            <a:endParaRPr lang="en-US" dirty="0">
              <a:latin typeface="+mj-lt"/>
              <a:cs typeface="+mn-cs"/>
            </a:endParaRPr>
          </a:p>
        </p:txBody>
      </p:sp>
      <p:sp>
        <p:nvSpPr>
          <p:cNvPr id="20489" name="AutoShape 10" descr="Anthrax">
            <a:extLst>
              <a:ext uri="{FF2B5EF4-FFF2-40B4-BE49-F238E27FC236}">
                <a16:creationId xmlns:a16="http://schemas.microsoft.com/office/drawing/2014/main" xmlns="" id="{5B4A5A5B-6F9E-45C1-99A7-E18857FB4EF0}"/>
              </a:ext>
            </a:extLst>
          </p:cNvPr>
          <p:cNvSpPr>
            <a:spLocks noChangeAspect="1" noChangeArrowheads="1"/>
          </p:cNvSpPr>
          <p:nvPr/>
        </p:nvSpPr>
        <p:spPr bwMode="auto">
          <a:xfrm>
            <a:off x="177801" y="-182563"/>
            <a:ext cx="304800" cy="30480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cs typeface="Arial" panose="020B0604020202020204" pitchFamily="34" charset="0"/>
              </a:defRPr>
            </a:lvl1pPr>
            <a:lvl2pPr marL="742950" indent="-285750" eaLnBrk="0" hangingPunct="0">
              <a:defRPr sz="2400">
                <a:solidFill>
                  <a:schemeClr val="tx1"/>
                </a:solidFill>
                <a:latin typeface="Arial" panose="020B0604020202020204" pitchFamily="34" charset="0"/>
                <a:cs typeface="Arial" panose="020B0604020202020204" pitchFamily="34" charset="0"/>
              </a:defRPr>
            </a:lvl2pPr>
            <a:lvl3pPr marL="1143000" indent="-228600" eaLnBrk="0" hangingPunct="0">
              <a:defRPr sz="2400">
                <a:solidFill>
                  <a:schemeClr val="tx1"/>
                </a:solidFill>
                <a:latin typeface="Arial" panose="020B0604020202020204" pitchFamily="34" charset="0"/>
                <a:cs typeface="Arial" panose="020B0604020202020204" pitchFamily="34" charset="0"/>
              </a:defRPr>
            </a:lvl3pPr>
            <a:lvl4pPr marL="1600200" indent="-228600" eaLnBrk="0" hangingPunct="0">
              <a:defRPr sz="2400">
                <a:solidFill>
                  <a:schemeClr val="tx1"/>
                </a:solidFill>
                <a:latin typeface="Arial" panose="020B0604020202020204" pitchFamily="34" charset="0"/>
                <a:cs typeface="Arial" panose="020B0604020202020204" pitchFamily="34" charset="0"/>
              </a:defRPr>
            </a:lvl4pPr>
            <a:lvl5pPr marL="2057400" indent="-228600" eaLnBrk="0" hangingPunct="0">
              <a:defRPr sz="2400">
                <a:solidFill>
                  <a:schemeClr val="tx1"/>
                </a:solidFill>
                <a:latin typeface="Arial" panose="020B0604020202020204" pitchFamily="34" charset="0"/>
                <a:cs typeface="Arial" panose="020B0604020202020204" pitchFamily="34" charset="0"/>
              </a:defRPr>
            </a:lvl5pPr>
            <a:lvl6pPr marL="2514600" indent="-228600" defTabSz="12334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defTabSz="12334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defTabSz="12334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defTabSz="1233488"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pPr eaLnBrk="1" hangingPunct="1"/>
            <a:endParaRPr lang="en-IN" altLang="en-US"/>
          </a:p>
        </p:txBody>
      </p:sp>
      <p:pic>
        <p:nvPicPr>
          <p:cNvPr id="2" name="Picture 4" descr="PESSAT - All India Online Entrance Exam for Admission to PES University">
            <a:extLst>
              <a:ext uri="{FF2B5EF4-FFF2-40B4-BE49-F238E27FC236}">
                <a16:creationId xmlns:a16="http://schemas.microsoft.com/office/drawing/2014/main" xmlns="" id="{B722553B-FEC7-94D9-46BA-EAFC7C1A1C15}"/>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84090" y="295229"/>
            <a:ext cx="1812621" cy="825592"/>
          </a:xfrm>
          <a:prstGeom prst="rect">
            <a:avLst/>
          </a:prstGeom>
          <a:noFill/>
          <a:extLst>
            <a:ext uri="{909E8E84-426E-40DD-AFC4-6F175D3DCCD1}">
              <a14:hiddenFill xmlns:a14="http://schemas.microsoft.com/office/drawing/2010/main" xmlns="">
                <a:solidFill>
                  <a:srgbClr val="FFFFFF"/>
                </a:solidFill>
              </a14:hiddenFill>
            </a:ext>
          </a:extLst>
        </p:spPr>
      </p:pic>
      <p:pic>
        <p:nvPicPr>
          <p:cNvPr id="1026" name="Picture 2" descr="Remaining Vigilant Against Bioterrorism: Slideshow">
            <a:extLst>
              <a:ext uri="{FF2B5EF4-FFF2-40B4-BE49-F238E27FC236}">
                <a16:creationId xmlns:a16="http://schemas.microsoft.com/office/drawing/2014/main" xmlns="" id="{32D0486C-9E29-CF78-230C-916529124DDC}"/>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910861" y="1584327"/>
            <a:ext cx="6790467" cy="4618038"/>
          </a:xfrm>
          <a:prstGeom prst="rect">
            <a:avLst/>
          </a:prstGeom>
          <a:noFill/>
          <a:extLst>
            <a:ext uri="{909E8E84-426E-40DD-AFC4-6F175D3DCCD1}">
              <a14:hiddenFill xmlns:a14="http://schemas.microsoft.com/office/drawing/2010/main" xmlns="">
                <a:solidFill>
                  <a:srgbClr val="FFFFFF"/>
                </a:solidFill>
              </a14:hiddenFill>
            </a:ext>
          </a:extLst>
        </p:spPr>
      </p:pic>
      <p:sp>
        <p:nvSpPr>
          <p:cNvPr id="4" name="TextBox 3">
            <a:extLst>
              <a:ext uri="{FF2B5EF4-FFF2-40B4-BE49-F238E27FC236}">
                <a16:creationId xmlns:a16="http://schemas.microsoft.com/office/drawing/2014/main" xmlns="" id="{07786F2D-3D31-1897-C85C-4CF8EC8295EE}"/>
              </a:ext>
            </a:extLst>
          </p:cNvPr>
          <p:cNvSpPr txBox="1"/>
          <p:nvPr/>
        </p:nvSpPr>
        <p:spPr>
          <a:xfrm>
            <a:off x="374027" y="6491291"/>
            <a:ext cx="6097712" cy="261610"/>
          </a:xfrm>
          <a:prstGeom prst="rect">
            <a:avLst/>
          </a:prstGeom>
          <a:noFill/>
        </p:spPr>
        <p:txBody>
          <a:bodyPr wrap="square">
            <a:spAutoFit/>
          </a:bodyPr>
          <a:lstStyle/>
          <a:p>
            <a:r>
              <a:rPr lang="en-US" sz="1100" i="1" dirty="0"/>
              <a:t>Image source: Medscape</a:t>
            </a:r>
            <a:endParaRPr lang="en-IN" sz="1100" i="1" dirty="0"/>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Line 1"/>
          <p:cNvSpPr>
            <a:spLocks noChangeShapeType="1"/>
          </p:cNvSpPr>
          <p:nvPr/>
        </p:nvSpPr>
        <p:spPr bwMode="auto">
          <a:xfrm>
            <a:off x="5448300" y="2887663"/>
            <a:ext cx="4581525" cy="0"/>
          </a:xfrm>
          <a:prstGeom prst="line">
            <a:avLst/>
          </a:prstGeom>
          <a:noFill/>
          <a:ln w="38160">
            <a:solidFill>
              <a:srgbClr val="C55A11"/>
            </a:solidFill>
            <a:miter lim="800000"/>
            <a:headEnd/>
            <a:tailEnd/>
          </a:ln>
          <a:extLst>
            <a:ext uri="{909E8E84-426E-40DD-AFC4-6F175D3DCCD1}">
              <a14:hiddenFill xmlns:a14="http://schemas.microsoft.com/office/drawing/2010/main" xmlns="">
                <a:noFill/>
              </a14:hiddenFill>
            </a:ext>
          </a:extLst>
        </p:spPr>
        <p:txBody>
          <a:bodyPr/>
          <a:lstStyle/>
          <a:p>
            <a:endParaRPr lang="en-IN"/>
          </a:p>
        </p:txBody>
      </p:sp>
      <p:sp>
        <p:nvSpPr>
          <p:cNvPr id="54275" name="CustomShape 2"/>
          <p:cNvSpPr>
            <a:spLocks noChangeArrowheads="1"/>
          </p:cNvSpPr>
          <p:nvPr/>
        </p:nvSpPr>
        <p:spPr bwMode="auto">
          <a:xfrm>
            <a:off x="5461000" y="404971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smtClean="0">
                <a:solidFill>
                  <a:srgbClr val="000000"/>
                </a:solidFill>
                <a:latin typeface="Calibri" panose="020F0502020204030204" pitchFamily="34" charset="0"/>
              </a:rPr>
              <a:t>--------------------@</a:t>
            </a:r>
            <a:r>
              <a:rPr lang="en-IN" altLang="en-US" sz="2400" b="1" dirty="0">
                <a:solidFill>
                  <a:srgbClr val="000000"/>
                </a:solidFill>
                <a:latin typeface="Calibri" panose="020F0502020204030204" pitchFamily="34" charset="0"/>
              </a:rPr>
              <a:t>pes.edu</a:t>
            </a:r>
            <a:endParaRPr lang="en-US" altLang="en-US" sz="1800" dirty="0"/>
          </a:p>
        </p:txBody>
      </p:sp>
      <p:sp>
        <p:nvSpPr>
          <p:cNvPr id="54276" name="CustomShape 3"/>
          <p:cNvSpPr>
            <a:spLocks noChangeArrowheads="1"/>
          </p:cNvSpPr>
          <p:nvPr/>
        </p:nvSpPr>
        <p:spPr bwMode="auto">
          <a:xfrm>
            <a:off x="5461000" y="4573588"/>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dirty="0">
                <a:solidFill>
                  <a:srgbClr val="000000"/>
                </a:solidFill>
                <a:latin typeface="Calibri" panose="020F0502020204030204" pitchFamily="34" charset="0"/>
              </a:rPr>
              <a:t>+91 80 2672 6672 </a:t>
            </a:r>
            <a:r>
              <a:rPr lang="en-IN" altLang="en-US" sz="2400" dirty="0" err="1">
                <a:solidFill>
                  <a:srgbClr val="000000"/>
                </a:solidFill>
                <a:latin typeface="Calibri" panose="020F0502020204030204" pitchFamily="34" charset="0"/>
              </a:rPr>
              <a:t>Extn</a:t>
            </a:r>
            <a:r>
              <a:rPr lang="en-IN" altLang="en-US" sz="2400">
                <a:solidFill>
                  <a:srgbClr val="000000"/>
                </a:solidFill>
                <a:latin typeface="Calibri" panose="020F0502020204030204" pitchFamily="34" charset="0"/>
              </a:rPr>
              <a:t> </a:t>
            </a:r>
            <a:r>
              <a:rPr lang="en-IN" altLang="en-US" sz="2400" smtClean="0">
                <a:solidFill>
                  <a:srgbClr val="000000"/>
                </a:solidFill>
                <a:latin typeface="Calibri" panose="020F0502020204030204" pitchFamily="34" charset="0"/>
              </a:rPr>
              <a:t>358</a:t>
            </a:r>
            <a:endParaRPr lang="en-US" altLang="en-US" sz="1800" dirty="0"/>
          </a:p>
        </p:txBody>
      </p:sp>
      <p:sp>
        <p:nvSpPr>
          <p:cNvPr id="54277" name="CustomShape 4"/>
          <p:cNvSpPr>
            <a:spLocks noChangeArrowheads="1"/>
          </p:cNvSpPr>
          <p:nvPr/>
        </p:nvSpPr>
        <p:spPr bwMode="auto">
          <a:xfrm>
            <a:off x="11787188" y="360363"/>
            <a:ext cx="44450" cy="1066800"/>
          </a:xfrm>
          <a:prstGeom prst="rect">
            <a:avLst/>
          </a:prstGeom>
          <a:solidFill>
            <a:srgbClr val="C55A11"/>
          </a:solidFill>
          <a:ln>
            <a:noFill/>
          </a:ln>
          <a:extLst>
            <a:ext uri="{91240B29-F687-4F45-9708-019B960494DF}">
              <a14:hiddenLine xmlns:a14="http://schemas.microsoft.com/office/drawing/2010/main" xmlns="" w="12600">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IN" altLang="en-US" sz="1800"/>
          </a:p>
        </p:txBody>
      </p:sp>
      <p:sp>
        <p:nvSpPr>
          <p:cNvPr id="54278" name="CustomShape 5"/>
          <p:cNvSpPr>
            <a:spLocks noChangeArrowheads="1"/>
          </p:cNvSpPr>
          <p:nvPr/>
        </p:nvSpPr>
        <p:spPr bwMode="auto">
          <a:xfrm rot="5400000">
            <a:off x="11275219" y="-161131"/>
            <a:ext cx="46038" cy="1066800"/>
          </a:xfrm>
          <a:prstGeom prst="rect">
            <a:avLst/>
          </a:prstGeom>
          <a:solidFill>
            <a:srgbClr val="C55A11"/>
          </a:solidFill>
          <a:ln>
            <a:noFill/>
          </a:ln>
          <a:extLst>
            <a:ext uri="{91240B29-F687-4F45-9708-019B960494DF}">
              <a14:hiddenLine xmlns:a14="http://schemas.microsoft.com/office/drawing/2010/main" xmlns="" w="12600">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IN" altLang="en-US" sz="1800"/>
          </a:p>
        </p:txBody>
      </p:sp>
      <p:sp>
        <p:nvSpPr>
          <p:cNvPr id="54279" name="CustomShape 6"/>
          <p:cNvSpPr>
            <a:spLocks noChangeArrowheads="1"/>
          </p:cNvSpPr>
          <p:nvPr/>
        </p:nvSpPr>
        <p:spPr bwMode="auto">
          <a:xfrm rot="5400000">
            <a:off x="824706" y="6011069"/>
            <a:ext cx="46038" cy="1066800"/>
          </a:xfrm>
          <a:prstGeom prst="rect">
            <a:avLst/>
          </a:prstGeom>
          <a:solidFill>
            <a:srgbClr val="C55A11"/>
          </a:solidFill>
          <a:ln>
            <a:noFill/>
          </a:ln>
          <a:extLst>
            <a:ext uri="{91240B29-F687-4F45-9708-019B960494DF}">
              <a14:hiddenLine xmlns:a14="http://schemas.microsoft.com/office/drawing/2010/main" xmlns="" w="12600">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IN" altLang="en-US" sz="1800"/>
          </a:p>
        </p:txBody>
      </p:sp>
      <p:sp>
        <p:nvSpPr>
          <p:cNvPr id="54280" name="CustomShape 7"/>
          <p:cNvSpPr>
            <a:spLocks noChangeArrowheads="1"/>
          </p:cNvSpPr>
          <p:nvPr/>
        </p:nvSpPr>
        <p:spPr bwMode="auto">
          <a:xfrm rot="10800000">
            <a:off x="314325" y="5489575"/>
            <a:ext cx="46038" cy="1066800"/>
          </a:xfrm>
          <a:prstGeom prst="rect">
            <a:avLst/>
          </a:prstGeom>
          <a:solidFill>
            <a:srgbClr val="C55A11"/>
          </a:solidFill>
          <a:ln>
            <a:noFill/>
          </a:ln>
          <a:extLst>
            <a:ext uri="{91240B29-F687-4F45-9708-019B960494DF}">
              <a14:hiddenLine xmlns:a14="http://schemas.microsoft.com/office/drawing/2010/main" xmlns="" w="12600">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IN" altLang="en-US" sz="1800"/>
          </a:p>
        </p:txBody>
      </p:sp>
      <p:sp>
        <p:nvSpPr>
          <p:cNvPr id="54282" name="CustomShape 8"/>
          <p:cNvSpPr>
            <a:spLocks noChangeArrowheads="1"/>
          </p:cNvSpPr>
          <p:nvPr/>
        </p:nvSpPr>
        <p:spPr bwMode="auto">
          <a:xfrm>
            <a:off x="5448300" y="2049463"/>
            <a:ext cx="4603750" cy="6397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3600" b="1">
                <a:solidFill>
                  <a:srgbClr val="C55A11"/>
                </a:solidFill>
                <a:latin typeface="Calibri" panose="020F0502020204030204" pitchFamily="34" charset="0"/>
              </a:rPr>
              <a:t>THANK YOU</a:t>
            </a:r>
            <a:endParaRPr lang="en-US" altLang="en-US" sz="1800"/>
          </a:p>
        </p:txBody>
      </p:sp>
      <p:sp>
        <p:nvSpPr>
          <p:cNvPr id="54283" name="CustomShape 9"/>
          <p:cNvSpPr>
            <a:spLocks noChangeArrowheads="1"/>
          </p:cNvSpPr>
          <p:nvPr/>
        </p:nvSpPr>
        <p:spPr bwMode="auto">
          <a:xfrm>
            <a:off x="5448300" y="312896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b="1" dirty="0" smtClean="0">
                <a:solidFill>
                  <a:srgbClr val="000000"/>
                </a:solidFill>
                <a:latin typeface="Calibri" panose="020F0502020204030204" pitchFamily="34" charset="0"/>
              </a:rPr>
              <a:t>Faculty Name</a:t>
            </a:r>
            <a:r>
              <a:rPr lang="en-IN" altLang="en-US" sz="2400" b="1" dirty="0">
                <a:solidFill>
                  <a:srgbClr val="000000"/>
                </a:solidFill>
                <a:latin typeface="Calibri" panose="020F0502020204030204" pitchFamily="34" charset="0"/>
              </a:rPr>
              <a:t>	</a:t>
            </a:r>
            <a:endParaRPr lang="en-US" altLang="en-US" sz="1800" dirty="0"/>
          </a:p>
        </p:txBody>
      </p:sp>
      <p:sp>
        <p:nvSpPr>
          <p:cNvPr id="54284" name="CustomShape 10"/>
          <p:cNvSpPr>
            <a:spLocks noChangeArrowheads="1"/>
          </p:cNvSpPr>
          <p:nvPr/>
        </p:nvSpPr>
        <p:spPr bwMode="auto">
          <a:xfrm>
            <a:off x="5448300" y="3499503"/>
            <a:ext cx="7496175" cy="455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5000" rIns="90000" bIns="45000"/>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IN" altLang="en-US" sz="2400">
                <a:solidFill>
                  <a:srgbClr val="000000"/>
                </a:solidFill>
                <a:latin typeface="Calibri" panose="020F0502020204030204" pitchFamily="34" charset="0"/>
              </a:rPr>
              <a:t>Department of Biotechnology</a:t>
            </a:r>
            <a:endParaRPr lang="en-US" altLang="en-US" sz="1800"/>
          </a:p>
        </p:txBody>
      </p:sp>
      <p:sp>
        <p:nvSpPr>
          <p:cNvPr id="54285" name="TextShape 11"/>
          <p:cNvSpPr txBox="1">
            <a:spLocks noChangeArrowheads="1"/>
          </p:cNvSpPr>
          <p:nvPr/>
        </p:nvSpPr>
        <p:spPr bwMode="auto">
          <a:xfrm>
            <a:off x="8610600" y="6356350"/>
            <a:ext cx="2743200" cy="365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fld id="{6F591FAD-560C-49E4-9044-92C7556599DF}" type="slidenum">
              <a:rPr lang="en-IN" altLang="en-US" sz="1200">
                <a:solidFill>
                  <a:srgbClr val="8B8B8B"/>
                </a:solidFill>
                <a:latin typeface="Calibri" panose="020F0502020204030204" pitchFamily="34" charset="0"/>
              </a:rPr>
              <a:pPr algn="r" eaLnBrk="1" hangingPunct="1">
                <a:spcBef>
                  <a:spcPct val="0"/>
                </a:spcBef>
                <a:buFontTx/>
                <a:buNone/>
              </a:pPr>
              <a:t>55</a:t>
            </a:fld>
            <a:endParaRPr lang="en-US" altLang="en-US" sz="1800"/>
          </a:p>
        </p:txBody>
      </p:sp>
      <p:pic>
        <p:nvPicPr>
          <p:cNvPr id="2" name="Picture 1" descr="PESSAT - All India Online Entrance Exam for Admission to PES University">
            <a:extLst>
              <a:ext uri="{FF2B5EF4-FFF2-40B4-BE49-F238E27FC236}">
                <a16:creationId xmlns:a16="http://schemas.microsoft.com/office/drawing/2014/main" xmlns="" id="{FF40F002-D90D-0F8D-42BC-866672978710}"/>
              </a:ext>
            </a:extLst>
          </p:cNvPr>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47528" y="2245164"/>
            <a:ext cx="3000839" cy="1366788"/>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585</TotalTime>
  <Words>2252</Words>
  <Application>Microsoft Office PowerPoint</Application>
  <PresentationFormat>Custom</PresentationFormat>
  <Paragraphs>353</Paragraphs>
  <Slides>55</Slides>
  <Notes>0</Notes>
  <HiddenSlides>0</HiddenSlides>
  <MMClips>2</MMClips>
  <ScaleCrop>false</ScaleCrop>
  <HeadingPairs>
    <vt:vector size="4" baseType="variant">
      <vt:variant>
        <vt:lpstr>Theme</vt:lpstr>
      </vt:variant>
      <vt:variant>
        <vt:i4>1</vt:i4>
      </vt:variant>
      <vt:variant>
        <vt:lpstr>Slide Titles</vt:lpstr>
      </vt:variant>
      <vt:variant>
        <vt:i4>55</vt:i4>
      </vt:variant>
    </vt:vector>
  </HeadingPairs>
  <TitlesOfParts>
    <vt:vector size="56"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Angira Bhuyan</dc:creator>
  <cp:lastModifiedBy>prady</cp:lastModifiedBy>
  <cp:revision>131</cp:revision>
  <dcterms:created xsi:type="dcterms:W3CDTF">2024-06-28T09:10:54Z</dcterms:created>
  <dcterms:modified xsi:type="dcterms:W3CDTF">2024-08-08T12:05:20Z</dcterms:modified>
</cp:coreProperties>
</file>