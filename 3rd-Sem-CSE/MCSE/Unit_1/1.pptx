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6DF02A-2CF3-45D2-8E98-6D800CC16A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247DB6-B354-442F-A24E-9A70AB58A3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A2E39CB-84B9-4720-8095-4188130C37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CF2D324-7939-49DB-B518-F31A59EEE3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4AABA89-4F6D-490E-914D-CC905C4F94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9A3D61A-B1F5-4B05-9373-69FF33BA44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80FD520-99C5-4A3B-9AC4-8F4D444118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4B2B2DC-1C8F-4510-A1E6-E0CF2EDE5D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ED786A1-7EBB-46FB-AD24-FC31CCD163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63D41C1-1F9B-4584-A2A7-F6116380EA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135DC2B-17BE-4C85-9C69-A78CACB2CD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B2C981-AAD1-4F41-91ED-E08BCA56291C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3860CE-6C90-4C40-AE67-56834C05CDC6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18500B-7CE7-4D0E-9B5A-F03261D21153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5DC602-3015-4ED1-886D-743014E9FBFF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503F99-FEDC-42C4-9BF4-56B69C2675EC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E3A435-FE62-434A-AD32-C3951653E875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470A9E-59FE-4B52-AB94-BAD3BEDBDB2F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FA8A97-A3FC-4176-9BD1-97567F3DC7BD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652CDB-AE42-410E-9FA2-98CFE3AA0B7F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C07D09-0388-4DA1-B1D8-6F6D6608CEE5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DC07F4-8972-4E20-8D8F-C5ABA0D1685D}" type="slidenum">
              <a:rPr b="0" lang="en-GB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www.w3schools.com/TAGs/att_progress_max.asp" TargetMode="External"/><Relationship Id="rId2" Type="http://schemas.openxmlformats.org/officeDocument/2006/relationships/hyperlink" Target="https://www.w3schools.com/TAGs/att_progress_value.asp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84;p1"/>
          <p:cNvSpPr/>
          <p:nvPr/>
        </p:nvSpPr>
        <p:spPr>
          <a:xfrm>
            <a:off x="4781880" y="1688400"/>
            <a:ext cx="749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3600" spc="-1" strike="noStrike">
                <a:solidFill>
                  <a:srgbClr val="c55a11"/>
                </a:solidFill>
                <a:latin typeface="Arial"/>
                <a:ea typeface="Arial"/>
              </a:rPr>
              <a:t>WEB TECHNOLOGIES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85;p1"/>
          <p:cNvSpPr/>
          <p:nvPr/>
        </p:nvSpPr>
        <p:spPr>
          <a:xfrm>
            <a:off x="4579920" y="2334600"/>
            <a:ext cx="6994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3600" spc="-1" strike="noStrike">
                <a:solidFill>
                  <a:srgbClr val="2f5496"/>
                </a:solidFill>
                <a:latin typeface="Arial"/>
                <a:ea typeface="Arial"/>
              </a:rPr>
              <a:t>HTML 5 – Audio, Video and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3600" spc="-1" strike="noStrike">
                <a:solidFill>
                  <a:srgbClr val="2f5496"/>
                </a:solidFill>
                <a:latin typeface="Arial"/>
                <a:ea typeface="Arial"/>
              </a:rPr>
              <a:t> </a:t>
            </a:r>
            <a:r>
              <a:rPr b="1" lang="en-GB" sz="3600" spc="-1" strike="noStrike">
                <a:solidFill>
                  <a:srgbClr val="2f5496"/>
                </a:solidFill>
                <a:latin typeface="Arial"/>
                <a:ea typeface="Arial"/>
              </a:rPr>
              <a:t>Progress elements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86;p1"/>
          <p:cNvSpPr/>
          <p:nvPr/>
        </p:nvSpPr>
        <p:spPr>
          <a:xfrm>
            <a:off x="4781880" y="4813200"/>
            <a:ext cx="749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Arial"/>
                <a:ea typeface="Arial"/>
              </a:rPr>
              <a:t>Department of Computer Science and Engineering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" name="Google Shape;87;p1"/>
          <p:cNvGrpSpPr/>
          <p:nvPr/>
        </p:nvGrpSpPr>
        <p:grpSpPr>
          <a:xfrm>
            <a:off x="313920" y="5490000"/>
            <a:ext cx="1066680" cy="1077480"/>
            <a:chOff x="313920" y="5490000"/>
            <a:chExt cx="1066680" cy="1077480"/>
          </a:xfrm>
        </p:grpSpPr>
        <p:sp>
          <p:nvSpPr>
            <p:cNvPr id="69" name="Google Shape;88;p1"/>
            <p:cNvSpPr/>
            <p:nvPr/>
          </p:nvSpPr>
          <p:spPr>
            <a:xfrm rot="5400000">
              <a:off x="824400" y="601128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Google Shape;89;p1"/>
            <p:cNvSpPr/>
            <p:nvPr/>
          </p:nvSpPr>
          <p:spPr>
            <a:xfrm rot="10800000">
              <a:off x="314280" y="549000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71" name="Google Shape;90;p1"/>
          <p:cNvCxnSpPr/>
          <p:nvPr/>
        </p:nvCxnSpPr>
        <p:spPr>
          <a:xfrm>
            <a:off x="4781880" y="4112280"/>
            <a:ext cx="458172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grpSp>
        <p:nvGrpSpPr>
          <p:cNvPr id="72" name="Google Shape;91;p1"/>
          <p:cNvGrpSpPr/>
          <p:nvPr/>
        </p:nvGrpSpPr>
        <p:grpSpPr>
          <a:xfrm>
            <a:off x="10855800" y="266400"/>
            <a:ext cx="1066680" cy="1077480"/>
            <a:chOff x="10855800" y="266400"/>
            <a:chExt cx="1066680" cy="1077480"/>
          </a:xfrm>
        </p:grpSpPr>
        <p:sp>
          <p:nvSpPr>
            <p:cNvPr id="73" name="Google Shape;92;p1"/>
            <p:cNvSpPr/>
            <p:nvPr/>
          </p:nvSpPr>
          <p:spPr>
            <a:xfrm rot="16200000">
              <a:off x="11366280" y="-24408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" name="Google Shape;93;p1"/>
            <p:cNvSpPr/>
            <p:nvPr/>
          </p:nvSpPr>
          <p:spPr>
            <a:xfrm>
              <a:off x="11876760" y="27720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75" name="Google Shape;94;p1" descr=""/>
          <p:cNvPicPr/>
          <p:nvPr/>
        </p:nvPicPr>
        <p:blipFill>
          <a:blip r:embed="rId1"/>
          <a:stretch/>
        </p:blipFill>
        <p:spPr>
          <a:xfrm>
            <a:off x="1767960" y="1606320"/>
            <a:ext cx="2120760" cy="3549960"/>
          </a:xfrm>
          <a:prstGeom prst="rect">
            <a:avLst/>
          </a:prstGeom>
          <a:ln w="0">
            <a:noFill/>
          </a:ln>
        </p:spPr>
      </p:pic>
      <p:sp>
        <p:nvSpPr>
          <p:cNvPr id="76" name="Google Shape;95;p1"/>
          <p:cNvSpPr/>
          <p:nvPr/>
        </p:nvSpPr>
        <p:spPr>
          <a:xfrm>
            <a:off x="4781880" y="4415400"/>
            <a:ext cx="7497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Calibri"/>
              </a:rPr>
              <a:t>Prof. Pavan A 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96;p1"/>
          <p:cNvSpPr/>
          <p:nvPr/>
        </p:nvSpPr>
        <p:spPr>
          <a:xfrm>
            <a:off x="1665720" y="5470560"/>
            <a:ext cx="7084800" cy="96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  <a:ea typeface="Calibri"/>
              </a:rPr>
              <a:t>Acknowledgement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Calibri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Calibri"/>
              </a:rPr>
              <a:t>Teaching Assistants(Harini B and Chandana MS)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01;p2"/>
          <p:cNvSpPr/>
          <p:nvPr/>
        </p:nvSpPr>
        <p:spPr>
          <a:xfrm>
            <a:off x="371520" y="652320"/>
            <a:ext cx="7999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Audio elements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9" name="Google Shape;102;p2"/>
          <p:cNvCxnSpPr/>
          <p:nvPr/>
        </p:nvCxnSpPr>
        <p:spPr>
          <a:xfrm>
            <a:off x="-7920" y="1315800"/>
            <a:ext cx="829944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80" name="Google Shape;103;p2"/>
          <p:cNvSpPr/>
          <p:nvPr/>
        </p:nvSpPr>
        <p:spPr>
          <a:xfrm>
            <a:off x="393840" y="252360"/>
            <a:ext cx="749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Audio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04;p2"/>
          <p:cNvSpPr/>
          <p:nvPr/>
        </p:nvSpPr>
        <p:spPr>
          <a:xfrm>
            <a:off x="457200" y="1775880"/>
            <a:ext cx="89082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5960" indent="-3459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A standard approach for browser to play audio without the use of plug-in.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Mp3, Wav and ogg formats supported by HTML5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Syntax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&lt;audio controls="c1"&gt;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74772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&lt;source src="song.ogg" type="audio/ogg" /&gt;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74772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&lt;source src="song.mp3" type="audio/mp3" /&gt;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74772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Your browser does not support the audio element.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&lt;/audio&gt;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Google Shape;105;p2" descr=""/>
          <p:cNvPicPr/>
          <p:nvPr/>
        </p:nvPicPr>
        <p:blipFill>
          <a:blip r:embed="rId1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110;p3"/>
          <p:cNvSpPr/>
          <p:nvPr/>
        </p:nvSpPr>
        <p:spPr>
          <a:xfrm>
            <a:off x="371520" y="652320"/>
            <a:ext cx="7999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Audio element properties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Google Shape;111;p3"/>
          <p:cNvCxnSpPr/>
          <p:nvPr/>
        </p:nvCxnSpPr>
        <p:spPr>
          <a:xfrm>
            <a:off x="-7920" y="1315800"/>
            <a:ext cx="829944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85" name="Google Shape;112;p3"/>
          <p:cNvSpPr/>
          <p:nvPr/>
        </p:nvSpPr>
        <p:spPr>
          <a:xfrm>
            <a:off x="393840" y="252360"/>
            <a:ext cx="749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Audio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113;p3" descr=""/>
          <p:cNvPicPr/>
          <p:nvPr/>
        </p:nvPicPr>
        <p:blipFill>
          <a:blip r:embed="rId1"/>
          <a:stretch/>
        </p:blipFill>
        <p:spPr>
          <a:xfrm>
            <a:off x="381960" y="1596240"/>
            <a:ext cx="9036720" cy="364068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14;p3" descr=""/>
          <p:cNvPicPr/>
          <p:nvPr/>
        </p:nvPicPr>
        <p:blipFill>
          <a:blip r:embed="rId2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19;p4"/>
          <p:cNvSpPr/>
          <p:nvPr/>
        </p:nvSpPr>
        <p:spPr>
          <a:xfrm>
            <a:off x="371520" y="652320"/>
            <a:ext cx="7999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Video elements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" name="Google Shape;120;p4"/>
          <p:cNvCxnSpPr/>
          <p:nvPr/>
        </p:nvCxnSpPr>
        <p:spPr>
          <a:xfrm>
            <a:off x="-7920" y="1315800"/>
            <a:ext cx="829944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90" name="Google Shape;121;p4"/>
          <p:cNvSpPr/>
          <p:nvPr/>
        </p:nvSpPr>
        <p:spPr>
          <a:xfrm>
            <a:off x="393840" y="252360"/>
            <a:ext cx="749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Video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22;p4"/>
          <p:cNvSpPr/>
          <p:nvPr/>
        </p:nvSpPr>
        <p:spPr>
          <a:xfrm>
            <a:off x="457200" y="1775880"/>
            <a:ext cx="903312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5960" indent="-3459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A standard approach for browser to play video without the use of plug-in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Any content between the opening and closing  tags is fallback content. This content is displayed only by browsers that don't support the &lt;video&gt; tag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Syntax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017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&lt;video width="320" height="240" controls="controls"&gt;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858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&lt;source src="movie.ogg" type="video/ogg" /&gt;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858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&lt;source src="movie.mp4" type="video/mp4" /&gt;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858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&lt;source src="movie.webm" type="video/webm" /&gt;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858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Your browser does not support the video tag.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017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&lt;/video&gt;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Google Shape;123;p4" descr=""/>
          <p:cNvPicPr/>
          <p:nvPr/>
        </p:nvPicPr>
        <p:blipFill>
          <a:blip r:embed="rId1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128;p5"/>
          <p:cNvSpPr/>
          <p:nvPr/>
        </p:nvSpPr>
        <p:spPr>
          <a:xfrm>
            <a:off x="371520" y="652320"/>
            <a:ext cx="7999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Video element properties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Google Shape;129;p5"/>
          <p:cNvCxnSpPr/>
          <p:nvPr/>
        </p:nvCxnSpPr>
        <p:spPr>
          <a:xfrm>
            <a:off x="-7920" y="1315800"/>
            <a:ext cx="829944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95" name="Google Shape;130;p5"/>
          <p:cNvSpPr/>
          <p:nvPr/>
        </p:nvSpPr>
        <p:spPr>
          <a:xfrm>
            <a:off x="393840" y="252360"/>
            <a:ext cx="749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Video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131;p5" descr=""/>
          <p:cNvPicPr/>
          <p:nvPr/>
        </p:nvPicPr>
        <p:blipFill>
          <a:blip r:embed="rId1"/>
          <a:stretch/>
        </p:blipFill>
        <p:spPr>
          <a:xfrm>
            <a:off x="420480" y="1751400"/>
            <a:ext cx="9138600" cy="477396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132;p5" descr=""/>
          <p:cNvPicPr/>
          <p:nvPr/>
        </p:nvPicPr>
        <p:blipFill>
          <a:blip r:embed="rId2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37;p6"/>
          <p:cNvSpPr/>
          <p:nvPr/>
        </p:nvSpPr>
        <p:spPr>
          <a:xfrm>
            <a:off x="371520" y="652320"/>
            <a:ext cx="7999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Progress elements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9" name="Google Shape;138;p6"/>
          <p:cNvCxnSpPr/>
          <p:nvPr/>
        </p:nvCxnSpPr>
        <p:spPr>
          <a:xfrm>
            <a:off x="-7920" y="1315800"/>
            <a:ext cx="829944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100" name="Google Shape;139;p6"/>
          <p:cNvSpPr/>
          <p:nvPr/>
        </p:nvSpPr>
        <p:spPr>
          <a:xfrm>
            <a:off x="393840" y="252360"/>
            <a:ext cx="749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Video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40;p6"/>
          <p:cNvSpPr/>
          <p:nvPr/>
        </p:nvSpPr>
        <p:spPr>
          <a:xfrm>
            <a:off x="457200" y="1775880"/>
            <a:ext cx="94208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5960" indent="-3459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The &lt;progress&gt; tag represents the completion progress of a task.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Always add the &lt;label&gt; tag for describing the task!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Use JavaScript to manipulate the value of the progress bar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Syntax: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&lt;label for="file"&gt;Downloading progress:&lt;/label&gt;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&lt;progress id="file" value="32" max="100"&gt; 32% &lt;/progress&gt;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5960" indent="-34596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0176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2" name="Google Shape;141;p6"/>
          <p:cNvGraphicFramePr/>
          <p:nvPr/>
        </p:nvGraphicFramePr>
        <p:xfrm>
          <a:off x="577440" y="4587120"/>
          <a:ext cx="8580240" cy="1951200"/>
        </p:xfrm>
        <a:graphic>
          <a:graphicData uri="http://schemas.openxmlformats.org/drawingml/2006/table">
            <a:tbl>
              <a:tblPr/>
              <a:tblGrid>
                <a:gridCol w="1348200"/>
                <a:gridCol w="1329840"/>
                <a:gridCol w="5901840"/>
              </a:tblGrid>
              <a:tr h="279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2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Attribute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2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Value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2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solidFill>
                      <a:srgbClr val="d5dbe5"/>
                    </a:solidFill>
                  </a:tcPr>
                </a:tc>
              </a:tr>
              <a:tr h="279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2200" spc="-1" strike="noStrike" u="sng">
                          <a:solidFill>
                            <a:schemeClr val="hlink"/>
                          </a:solidFill>
                          <a:uFillTx/>
                          <a:latin typeface="Arial"/>
                          <a:ea typeface="Arial"/>
                          <a:hlinkClick r:id="rId1"/>
                        </a:rPr>
                        <a:t>max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GB" sz="2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number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2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Specifies how much work the task requires in total. Default value is 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noFill/>
                  </a:tcPr>
                </a:tc>
              </a:tr>
              <a:tr h="279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2200" spc="-1" strike="noStrike" u="sng">
                          <a:solidFill>
                            <a:schemeClr val="hlink"/>
                          </a:solidFill>
                          <a:uFillTx/>
                          <a:latin typeface="Arial"/>
                          <a:ea typeface="Arial"/>
                          <a:hlinkClick r:id="rId2"/>
                        </a:rPr>
                        <a:t>value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i="1" lang="en-GB" sz="2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number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2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Specifies how much of the task has been completed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5a5a5"/>
                      </a:solidFill>
                      <a:prstDash val="solid"/>
                    </a:lnL>
                    <a:lnR w="12240">
                      <a:solidFill>
                        <a:srgbClr val="a5a5a5"/>
                      </a:solidFill>
                      <a:prstDash val="solid"/>
                    </a:lnR>
                    <a:lnT w="12240">
                      <a:solidFill>
                        <a:srgbClr val="a5a5a5"/>
                      </a:solidFill>
                      <a:prstDash val="solid"/>
                    </a:lnT>
                    <a:lnB w="12240">
                      <a:solidFill>
                        <a:srgbClr val="a5a5a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3" name="Google Shape;142;p6" descr=""/>
          <p:cNvPicPr/>
          <p:nvPr/>
        </p:nvPicPr>
        <p:blipFill>
          <a:blip r:embed="rId3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47;g34537d0980e_0_2"/>
          <p:cNvSpPr/>
          <p:nvPr/>
        </p:nvSpPr>
        <p:spPr>
          <a:xfrm>
            <a:off x="371520" y="652320"/>
            <a:ext cx="79992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MCQ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5" name="Google Shape;148;g34537d0980e_0_2"/>
          <p:cNvCxnSpPr/>
          <p:nvPr/>
        </p:nvCxnSpPr>
        <p:spPr>
          <a:xfrm>
            <a:off x="-7920" y="1315800"/>
            <a:ext cx="829980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106" name="Google Shape;149;g34537d0980e_0_2"/>
          <p:cNvSpPr/>
          <p:nvPr/>
        </p:nvSpPr>
        <p:spPr>
          <a:xfrm>
            <a:off x="393840" y="252360"/>
            <a:ext cx="74959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Google Shape;150;g34537d0980e_0_2" descr=""/>
          <p:cNvPicPr/>
          <p:nvPr/>
        </p:nvPicPr>
        <p:blipFill>
          <a:blip r:embed="rId1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  <p:sp>
        <p:nvSpPr>
          <p:cNvPr id="108" name="Google Shape;151;g34537d0980e_0_2"/>
          <p:cNvSpPr/>
          <p:nvPr/>
        </p:nvSpPr>
        <p:spPr>
          <a:xfrm>
            <a:off x="496800" y="1378080"/>
            <a:ext cx="11022120" cy="56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1. Which HTML5 tag is used to embed audio files in a web page?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A) &lt;video&gt;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B) &lt;sound&gt;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C) &lt;audio&gt;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D) &lt;music&gt;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2. In the &lt;audio&gt; tag, which attribute is used to display the browser’s default audio controls?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A) autoplay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B) controls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C) loop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D) muted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3. What happens to the content placed between &lt;video&gt; and &lt;/video&gt; tags if the browser does not support the &lt;video&gt; tag?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A) It is ignored.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B) It acts as fallback content and is displayed.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C) It throws an error.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D) It is automatically converted to audio.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56;g34537d0980e_0_15"/>
          <p:cNvSpPr/>
          <p:nvPr/>
        </p:nvSpPr>
        <p:spPr>
          <a:xfrm>
            <a:off x="371520" y="652320"/>
            <a:ext cx="79992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MCQ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" name="Google Shape;157;g34537d0980e_0_15"/>
          <p:cNvCxnSpPr/>
          <p:nvPr/>
        </p:nvCxnSpPr>
        <p:spPr>
          <a:xfrm>
            <a:off x="-7920" y="1315800"/>
            <a:ext cx="829980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111" name="Google Shape;158;g34537d0980e_0_15"/>
          <p:cNvSpPr/>
          <p:nvPr/>
        </p:nvSpPr>
        <p:spPr>
          <a:xfrm>
            <a:off x="393840" y="252360"/>
            <a:ext cx="74959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Google Shape;159;g34537d0980e_0_15" descr=""/>
          <p:cNvPicPr/>
          <p:nvPr/>
        </p:nvPicPr>
        <p:blipFill>
          <a:blip r:embed="rId1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160;g34537d0980e_0_15"/>
          <p:cNvSpPr/>
          <p:nvPr/>
        </p:nvSpPr>
        <p:spPr>
          <a:xfrm>
            <a:off x="496800" y="1378080"/>
            <a:ext cx="11022120" cy="33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4. Which attributes are used in the &lt;progress&gt; tag to indicate task completion?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A) loop and autoplay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B) src and controls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C) max and value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D) muted and preload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5. What is an “indeterminate” progress bar in HTML5?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A) A progress bar without color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B) A progress bar showing cyclic movement without exact progress value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C) A vertical progress bar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900" spc="-1" strike="noStrike">
                <a:solidFill>
                  <a:schemeClr val="dk1"/>
                </a:solidFill>
                <a:latin typeface="Calibri"/>
                <a:ea typeface="Calibri"/>
              </a:rPr>
              <a:t>D) A disabled progress bar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65;g34537d0980e_0_24"/>
          <p:cNvSpPr/>
          <p:nvPr/>
        </p:nvSpPr>
        <p:spPr>
          <a:xfrm>
            <a:off x="371520" y="652320"/>
            <a:ext cx="79992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c55a11"/>
                </a:solidFill>
                <a:latin typeface="Calibri"/>
                <a:ea typeface="Calibri"/>
              </a:rPr>
              <a:t>MCQ - Answers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5" name="Google Shape;166;g34537d0980e_0_24"/>
          <p:cNvCxnSpPr/>
          <p:nvPr/>
        </p:nvCxnSpPr>
        <p:spPr>
          <a:xfrm>
            <a:off x="-7920" y="1315800"/>
            <a:ext cx="829980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116" name="Google Shape;167;g34537d0980e_0_24"/>
          <p:cNvSpPr/>
          <p:nvPr/>
        </p:nvSpPr>
        <p:spPr>
          <a:xfrm>
            <a:off x="393840" y="252360"/>
            <a:ext cx="74959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rgbClr val="2f5496"/>
                </a:solidFill>
                <a:latin typeface="Calibri"/>
                <a:ea typeface="Calibri"/>
              </a:rPr>
              <a:t>HTML5 -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Google Shape;168;g34537d0980e_0_24" descr=""/>
          <p:cNvPicPr/>
          <p:nvPr/>
        </p:nvPicPr>
        <p:blipFill>
          <a:blip r:embed="rId1"/>
          <a:stretch/>
        </p:blipFill>
        <p:spPr>
          <a:xfrm>
            <a:off x="10863720" y="252360"/>
            <a:ext cx="779400" cy="124992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69;g34537d0980e_0_24"/>
          <p:cNvSpPr/>
          <p:nvPr/>
        </p:nvSpPr>
        <p:spPr>
          <a:xfrm>
            <a:off x="371520" y="2088000"/>
            <a:ext cx="11022120" cy="43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  <a:ea typeface="Calibri"/>
              </a:rPr>
              <a:t>Answer 1: C) &lt;audio&gt;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  <a:ea typeface="Calibri"/>
              </a:rPr>
              <a:t>Answer 2: B) controls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  <a:ea typeface="Calibri"/>
              </a:rPr>
              <a:t>Answer 3: B) It acts as fallback content and is displayed.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  <a:ea typeface="Calibri"/>
              </a:rPr>
              <a:t>Answer 4: C) max and value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  <a:ea typeface="Calibri"/>
              </a:rPr>
              <a:t>Answer 5: B) A progress bar showing cyclic movement without exact progress value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74;p7"/>
          <p:cNvCxnSpPr/>
          <p:nvPr/>
        </p:nvCxnSpPr>
        <p:spPr>
          <a:xfrm>
            <a:off x="5447880" y="2887200"/>
            <a:ext cx="4582080" cy="360"/>
          </a:xfrm>
          <a:prstGeom prst="straightConnector1">
            <a:avLst/>
          </a:prstGeom>
          <a:ln w="38100">
            <a:solidFill>
              <a:srgbClr val="c55a11"/>
            </a:solidFill>
            <a:miter/>
          </a:ln>
        </p:spPr>
      </p:cxnSp>
      <p:sp>
        <p:nvSpPr>
          <p:cNvPr id="120" name="Google Shape;175;p7"/>
          <p:cNvSpPr/>
          <p:nvPr/>
        </p:nvSpPr>
        <p:spPr>
          <a:xfrm>
            <a:off x="5448240" y="2049480"/>
            <a:ext cx="460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3600" spc="-1" strike="noStrike">
                <a:solidFill>
                  <a:srgbClr val="c55a11"/>
                </a:solidFill>
                <a:latin typeface="Arial"/>
                <a:ea typeface="Arial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76;p7"/>
          <p:cNvSpPr/>
          <p:nvPr/>
        </p:nvSpPr>
        <p:spPr>
          <a:xfrm>
            <a:off x="5448240" y="3128400"/>
            <a:ext cx="7497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400" spc="-1" strike="noStrike">
                <a:solidFill>
                  <a:schemeClr val="dk1"/>
                </a:solidFill>
                <a:latin typeface="Calibri"/>
                <a:ea typeface="Calibri"/>
              </a:rPr>
              <a:t>Prof. Pavan A 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77;p7"/>
          <p:cNvSpPr/>
          <p:nvPr/>
        </p:nvSpPr>
        <p:spPr>
          <a:xfrm>
            <a:off x="5448240" y="3525840"/>
            <a:ext cx="7497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200" spc="-1" strike="noStrike">
                <a:solidFill>
                  <a:schemeClr val="dk1"/>
                </a:solidFill>
                <a:latin typeface="Arial"/>
                <a:ea typeface="Arial"/>
              </a:rPr>
              <a:t>Department of Computer Science and Engineering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" name="Google Shape;178;p7"/>
          <p:cNvGrpSpPr/>
          <p:nvPr/>
        </p:nvGrpSpPr>
        <p:grpSpPr>
          <a:xfrm>
            <a:off x="313920" y="349560"/>
            <a:ext cx="11518200" cy="6217920"/>
            <a:chOff x="313920" y="349560"/>
            <a:chExt cx="11518200" cy="6217920"/>
          </a:xfrm>
        </p:grpSpPr>
        <p:sp>
          <p:nvSpPr>
            <p:cNvPr id="124" name="Google Shape;179;p7"/>
            <p:cNvSpPr/>
            <p:nvPr/>
          </p:nvSpPr>
          <p:spPr>
            <a:xfrm>
              <a:off x="11786400" y="36072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Google Shape;180;p7"/>
            <p:cNvSpPr/>
            <p:nvPr/>
          </p:nvSpPr>
          <p:spPr>
            <a:xfrm rot="5400000">
              <a:off x="11275920" y="-16092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Google Shape;181;p7"/>
            <p:cNvSpPr/>
            <p:nvPr/>
          </p:nvSpPr>
          <p:spPr>
            <a:xfrm rot="5400000">
              <a:off x="824400" y="601128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Google Shape;182;p7"/>
            <p:cNvSpPr/>
            <p:nvPr/>
          </p:nvSpPr>
          <p:spPr>
            <a:xfrm rot="10800000">
              <a:off x="314280" y="5490000"/>
              <a:ext cx="45360" cy="1066680"/>
            </a:xfrm>
            <a:prstGeom prst="rect">
              <a:avLst/>
            </a:prstGeom>
            <a:solidFill>
              <a:srgbClr val="c55a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28" name="Google Shape;183;p7" descr=""/>
          <p:cNvPicPr/>
          <p:nvPr/>
        </p:nvPicPr>
        <p:blipFill>
          <a:blip r:embed="rId1"/>
          <a:stretch/>
        </p:blipFill>
        <p:spPr>
          <a:xfrm>
            <a:off x="2959200" y="1412640"/>
            <a:ext cx="2168640" cy="394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2025-09-11T21:24:28Z</dcterms:created>
  <dc:creator/>
  <dc:description/>
  <dc:language>en-US</dc:language>
  <cp:lastModifiedBy/>
  <cp:revision>0</cp:revision>
  <dc:subject/>
  <dc:title/>
</cp:coreProperties>
</file>