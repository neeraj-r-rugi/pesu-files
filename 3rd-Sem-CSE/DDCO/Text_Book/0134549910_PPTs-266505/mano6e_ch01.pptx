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18" r:id="rId2"/>
    <p:sldId id="328" r:id="rId3"/>
    <p:sldId id="354" r:id="rId4"/>
    <p:sldId id="355" r:id="rId5"/>
    <p:sldId id="329" r:id="rId6"/>
    <p:sldId id="330" r:id="rId7"/>
    <p:sldId id="357" r:id="rId8"/>
    <p:sldId id="358" r:id="rId9"/>
    <p:sldId id="356" r:id="rId10"/>
    <p:sldId id="359" r:id="rId11"/>
    <p:sldId id="361" r:id="rId12"/>
    <p:sldId id="360" r:id="rId13"/>
    <p:sldId id="362" r:id="rId14"/>
    <p:sldId id="363" r:id="rId15"/>
    <p:sldId id="364" r:id="rId16"/>
  </p:sldIdLst>
  <p:sldSz cx="9144000" cy="6858000" type="screen4x3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432">
          <p15:clr>
            <a:srgbClr val="A4A3A4"/>
          </p15:clr>
        </p15:guide>
        <p15:guide id="4" orient="horz" pos="864">
          <p15:clr>
            <a:srgbClr val="A4A3A4"/>
          </p15:clr>
        </p15:guide>
        <p15:guide id="5" orient="horz" pos="4017">
          <p15:clr>
            <a:srgbClr val="A4A3A4"/>
          </p15:clr>
        </p15:guide>
        <p15:guide id="6" pos="288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A3"/>
    <a:srgbClr val="D4EAE4"/>
    <a:srgbClr val="0015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31" autoAdjust="0"/>
    <p:restoredTop sz="95122" autoAdjust="0"/>
  </p:normalViewPr>
  <p:slideViewPr>
    <p:cSldViewPr>
      <p:cViewPr>
        <p:scale>
          <a:sx n="66" d="100"/>
          <a:sy n="66" d="100"/>
        </p:scale>
        <p:origin x="-1698" y="-288"/>
      </p:cViewPr>
      <p:guideLst>
        <p:guide orient="horz" pos="2160"/>
        <p:guide orient="horz" pos="432"/>
        <p:guide orient="horz" pos="864"/>
        <p:guide orient="horz" pos="4017"/>
        <p:guide pos="2880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1794" y="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8D874E-E9D5-433B-A149-BDF6BFDD40A8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DCAA22-461C-45B4-A301-BFCA580174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1922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51F04-9E25-42C3-8BC5-EC2E8469D95E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D6722-9B4D-4E29-B226-C325925A811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59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BF78A6-6942-440F-9655-1DC0E3C5C1FC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370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white">
          <a:xfrm>
            <a:off x="0" y="0"/>
            <a:ext cx="9144000" cy="3886200"/>
          </a:xfrm>
          <a:prstGeom prst="rect">
            <a:avLst/>
          </a:prstGeom>
          <a:solidFill>
            <a:srgbClr val="007FA3"/>
          </a:solidFill>
          <a:ln>
            <a:solidFill>
              <a:srgbClr val="007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4687" y="3962400"/>
            <a:ext cx="7794626" cy="1752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 smtClean="0">
                <a:ea typeface="Verdana" panose="020B0604030504040204" pitchFamily="34" charset="0"/>
                <a:cs typeface="Verdana" panose="020B0604030504040204" pitchFamily="34" charset="0"/>
              </a:rPr>
              <a:t>Copyright © 2018 Pearson India Education Services Pvt. Ltd</a:t>
            </a:r>
            <a:endParaRPr lang="en-US" altLang="en-US" sz="700" b="1" dirty="0" smtClean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98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 smtClean="0"/>
              <a:t>Add edition here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 smtClean="0"/>
              <a:t>Chapter ##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 smtClean="0"/>
              <a:t>Chapter title</a:t>
            </a:r>
            <a:endParaRPr lang="en-US" dirty="0"/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65337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 smtClean="0">
                <a:ea typeface="Verdana" panose="020B0604030504040204" pitchFamily="34" charset="0"/>
                <a:cs typeface="Verdana" panose="020B0604030504040204" pitchFamily="34" charset="0"/>
              </a:rPr>
              <a:t>Copyright © 2018 Pearson India Education Services Pvt. Ltd</a:t>
            </a:r>
            <a:endParaRPr lang="en-US" altLang="en-US" sz="700" b="1" dirty="0" smtClean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062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earning Objectiv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7" name="Learning Objectives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027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 smtClean="0"/>
              <a:t>Click to add Learning Objective(s)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</a:t>
            </a:r>
          </a:p>
          <a:p>
            <a:pPr lvl="6"/>
            <a:r>
              <a:rPr lang="en-US" dirty="0" smtClean="0"/>
              <a:t>Seventh</a:t>
            </a:r>
          </a:p>
          <a:p>
            <a:pPr lvl="7"/>
            <a:r>
              <a:rPr lang="en-US" dirty="0" smtClean="0"/>
              <a:t>Eighth</a:t>
            </a:r>
          </a:p>
          <a:p>
            <a:pPr lvl="8"/>
            <a:r>
              <a:rPr lang="en-US" dirty="0" smtClean="0"/>
              <a:t>Ninth</a:t>
            </a:r>
            <a:endParaRPr lang="en-US" dirty="0"/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463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/>
            </a:lvl1pPr>
            <a:lvl2pPr>
              <a:buClr>
                <a:srgbClr val="007FA3"/>
              </a:buClr>
              <a:defRPr/>
            </a:lvl2pPr>
            <a:lvl3pPr>
              <a:buClr>
                <a:srgbClr val="007FA3"/>
              </a:buClr>
              <a:defRPr/>
            </a:lvl3pPr>
            <a:lvl4pPr>
              <a:buClr>
                <a:srgbClr val="007FA3"/>
              </a:buClr>
              <a:defRPr/>
            </a:lvl4pPr>
            <a:lvl5pPr>
              <a:buClr>
                <a:srgbClr val="007FA3"/>
              </a:buClr>
              <a:defRPr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</a:t>
            </a:r>
          </a:p>
          <a:p>
            <a:pPr lvl="6"/>
            <a:r>
              <a:rPr lang="en-US" dirty="0" smtClean="0"/>
              <a:t>Seventh</a:t>
            </a:r>
          </a:p>
          <a:p>
            <a:pPr lvl="7"/>
            <a:r>
              <a:rPr lang="en-US" dirty="0" smtClean="0"/>
              <a:t>Eighth</a:t>
            </a:r>
          </a:p>
          <a:p>
            <a:pPr lvl="8"/>
            <a:r>
              <a:rPr lang="en-US" dirty="0" smtClean="0"/>
              <a:t>Ninth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90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872" indent="-118872">
              <a:buClr>
                <a:srgbClr val="007FA3"/>
              </a:buClr>
              <a:buSzPct val="25000"/>
              <a:defRPr sz="1600"/>
            </a:lvl1pPr>
            <a:lvl2pPr marL="569913" indent="-285750">
              <a:buClr>
                <a:srgbClr val="007FA3"/>
              </a:buClr>
              <a:defRPr sz="1600"/>
            </a:lvl2pPr>
            <a:lvl3pPr>
              <a:buClr>
                <a:srgbClr val="007FA3"/>
              </a:buClr>
              <a:defRPr sz="1600"/>
            </a:lvl3pPr>
            <a:lvl4pPr>
              <a:buClr>
                <a:srgbClr val="007FA3"/>
              </a:buClr>
              <a:defRPr sz="1600"/>
            </a:lvl4pPr>
            <a:lvl5pPr>
              <a:buClr>
                <a:srgbClr val="007FA3"/>
              </a:buClr>
              <a:defRPr sz="16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</a:t>
            </a:r>
          </a:p>
          <a:p>
            <a:pPr lvl="6"/>
            <a:r>
              <a:rPr lang="en-US" dirty="0" smtClean="0"/>
              <a:t>Seventh</a:t>
            </a:r>
          </a:p>
          <a:p>
            <a:pPr lvl="7"/>
            <a:r>
              <a:rPr lang="en-US" dirty="0" smtClean="0"/>
              <a:t>Eighth</a:t>
            </a:r>
          </a:p>
          <a:p>
            <a:pPr lvl="8"/>
            <a:r>
              <a:rPr lang="en-US" dirty="0" smtClean="0"/>
              <a:t>Ninth</a:t>
            </a:r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00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 smtClean="0"/>
              <a:t>Click to add figure number and title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 smtClean="0"/>
              <a:t>Click to add caption</a:t>
            </a:r>
            <a:endParaRPr lang="en-US" dirty="0"/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10" y="6376789"/>
            <a:ext cx="918000" cy="279915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 smtClean="0">
                <a:ea typeface="Verdana" panose="020B0604030504040204" pitchFamily="34" charset="0"/>
                <a:cs typeface="Verdana" panose="020B0604030504040204" pitchFamily="34" charset="0"/>
              </a:rPr>
              <a:t>Copyright © 2018 Pearson India Education Services Pvt. Ltd</a:t>
            </a:r>
            <a:endParaRPr lang="en-US" altLang="en-US" sz="700" b="1" dirty="0" smtClean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796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799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47800"/>
            <a:ext cx="7772400" cy="2152651"/>
          </a:xfrm>
        </p:spPr>
        <p:txBody>
          <a:bodyPr anchor="b">
            <a:noAutofit/>
          </a:bodyPr>
          <a:lstStyle>
            <a:lvl1pPr algn="l">
              <a:defRPr sz="3400" b="1" cap="none" baseline="0">
                <a:solidFill>
                  <a:srgbClr val="007FA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4687" y="3962400"/>
            <a:ext cx="7794627" cy="175260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04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12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10" y="6376789"/>
            <a:ext cx="918000" cy="279915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 smtClean="0">
                <a:ea typeface="Verdana" panose="020B0604030504040204" pitchFamily="34" charset="0"/>
                <a:cs typeface="Verdana" panose="020B0604030504040204" pitchFamily="34" charset="0"/>
              </a:rPr>
              <a:t>Copyright © 2018 Pearson India Education Services Pvt. Ltd</a:t>
            </a:r>
            <a:endParaRPr lang="en-US" altLang="en-US" sz="700" b="1" dirty="0" smtClean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136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 smtClean="0"/>
              <a:t>Click to edit </a:t>
            </a:r>
            <a:br>
              <a:rPr lang="en-US" dirty="0" smtClean="0"/>
            </a:br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</a:t>
            </a:r>
          </a:p>
          <a:p>
            <a:pPr lvl="6"/>
            <a:r>
              <a:rPr lang="en-US" dirty="0" smtClean="0"/>
              <a:t>Seventh</a:t>
            </a:r>
          </a:p>
          <a:p>
            <a:pPr lvl="7"/>
            <a:r>
              <a:rPr lang="en-US" dirty="0" smtClean="0"/>
              <a:t>Eighth</a:t>
            </a:r>
          </a:p>
          <a:p>
            <a:pPr lvl="8"/>
            <a:r>
              <a:rPr lang="en-US" dirty="0" smtClean="0"/>
              <a:t>Ninth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3969" y="6172200"/>
            <a:ext cx="8595360" cy="23546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35713" y="113072"/>
            <a:ext cx="21336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6/21/2018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312" y="113072"/>
            <a:ext cx="551783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Pearson Logo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600200" y="6429345"/>
            <a:ext cx="71628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700" b="1" dirty="0" smtClean="0">
                <a:ea typeface="Verdana" panose="020B0604030504040204" pitchFamily="34" charset="0"/>
                <a:cs typeface="Verdana" panose="020B0604030504040204" pitchFamily="34" charset="0"/>
              </a:rPr>
              <a:t>Copyright © 2018 Pearson India Education Services Pvt. Ltd</a:t>
            </a:r>
            <a:endParaRPr lang="en-US" altLang="en-US" sz="700" b="1" dirty="0" smtClean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57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6" r:id="rId3"/>
    <p:sldLayoutId id="2147483650" r:id="rId4"/>
    <p:sldLayoutId id="2147483659" r:id="rId5"/>
    <p:sldLayoutId id="2147483658" r:id="rId6"/>
    <p:sldLayoutId id="2147483660" r:id="rId7"/>
    <p:sldLayoutId id="2147483651" r:id="rId8"/>
    <p:sldLayoutId id="2147483654" r:id="rId9"/>
    <p:sldLayoutId id="2147483655" r:id="rId10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1" kern="1200">
          <a:solidFill>
            <a:srgbClr val="007FA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56032" indent="-256032" algn="l" defTabSz="914400" rtl="0" eaLnBrk="1" latinLnBrk="0" hangingPunct="1">
        <a:spcBef>
          <a:spcPts val="15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600"/>
        </a:spcBef>
        <a:buClr>
          <a:srgbClr val="007FA3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4828"/>
            <a:ext cx="8229600" cy="622828"/>
          </a:xfrm>
        </p:spPr>
        <p:txBody>
          <a:bodyPr/>
          <a:lstStyle/>
          <a:p>
            <a:r>
              <a:rPr lang="en-US" dirty="0">
                <a:latin typeface="+mj-lt"/>
              </a:rPr>
              <a:t>Digital Design</a:t>
            </a:r>
            <a:endParaRPr lang="en-US" b="1" dirty="0">
              <a:latin typeface="+mj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771294"/>
            <a:ext cx="8229600" cy="478970"/>
          </a:xfrm>
        </p:spPr>
        <p:txBody>
          <a:bodyPr/>
          <a:lstStyle/>
          <a:p>
            <a:r>
              <a:rPr lang="en-US" sz="2400" dirty="0"/>
              <a:t>With an Introduction to the Verilog HDL</a:t>
            </a:r>
            <a:r>
              <a:rPr lang="en-US" sz="2400" dirty="0" smtClean="0"/>
              <a:t>, VHDL</a:t>
            </a:r>
            <a:r>
              <a:rPr lang="en-US" sz="2400" dirty="0"/>
              <a:t>, and </a:t>
            </a:r>
            <a:r>
              <a:rPr lang="en-US" sz="2400" dirty="0" smtClean="0"/>
              <a:t>SystemVerilog</a:t>
            </a:r>
          </a:p>
          <a:p>
            <a:r>
              <a:rPr lang="en-US" sz="2400" dirty="0" smtClean="0">
                <a:latin typeface="+mj-lt"/>
              </a:rPr>
              <a:t>6</a:t>
            </a:r>
            <a:r>
              <a:rPr lang="en-US" sz="2400" baseline="30000" dirty="0" smtClean="0">
                <a:latin typeface="+mj-lt"/>
              </a:rPr>
              <a:t>th</a:t>
            </a:r>
            <a:r>
              <a:rPr lang="en-US" sz="2400" dirty="0" smtClean="0">
                <a:latin typeface="+mj-lt"/>
              </a:rPr>
              <a:t> </a:t>
            </a:r>
            <a:r>
              <a:rPr lang="en-US" sz="1800" dirty="0" smtClean="0">
                <a:latin typeface="+mj-lt"/>
              </a:rPr>
              <a:t>Edition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800600" y="3048000"/>
            <a:ext cx="3657600" cy="533399"/>
          </a:xfrm>
        </p:spPr>
        <p:txBody>
          <a:bodyPr/>
          <a:lstStyle/>
          <a:p>
            <a:pPr algn="ctr"/>
            <a:r>
              <a:rPr lang="en-US" sz="3000" dirty="0" smtClean="0"/>
              <a:t>Chapter 01</a:t>
            </a:r>
            <a:endParaRPr lang="en-US" sz="3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4191000" y="3581399"/>
            <a:ext cx="4876800" cy="457201"/>
          </a:xfrm>
        </p:spPr>
        <p:txBody>
          <a:bodyPr/>
          <a:lstStyle/>
          <a:p>
            <a:pPr algn="ctr"/>
            <a:r>
              <a:rPr lang="en-IN" dirty="0" smtClean="0"/>
              <a:t>Digital </a:t>
            </a:r>
            <a:r>
              <a:rPr lang="en-IN" dirty="0"/>
              <a:t>Systems and Binary Numbers</a:t>
            </a:r>
            <a:endParaRPr lang="en-US" dirty="0"/>
          </a:p>
        </p:txBody>
      </p:sp>
      <p:pic>
        <p:nvPicPr>
          <p:cNvPr id="1026" name="Picture 2" descr="G:\08VOL4\Graphics\Powerpoint\PEARSON\CRAIG-PPT\Final files\Craig_final_CVR_HiRes.jpg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685800" y="1995029"/>
            <a:ext cx="3302862" cy="41418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53861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5346"/>
            <a:ext cx="8391728" cy="944880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Table 1</a:t>
            </a:r>
            <a:r>
              <a:rPr lang="en-US" sz="2000" dirty="0" smtClean="0">
                <a:latin typeface="+mn-lt"/>
              </a:rPr>
              <a:t>.1</a:t>
            </a:r>
            <a:r>
              <a:rPr lang="en-US" sz="2000" b="1" dirty="0" smtClean="0">
                <a:latin typeface="+mn-lt"/>
              </a:rPr>
              <a:t/>
            </a:r>
            <a:br>
              <a:rPr lang="en-US" sz="2000" b="1" dirty="0" smtClean="0">
                <a:latin typeface="+mn-lt"/>
              </a:rPr>
            </a:br>
            <a:r>
              <a:rPr lang="en-IN" sz="2000" dirty="0" smtClean="0">
                <a:latin typeface="+mn-lt"/>
              </a:rPr>
              <a:t>Powers </a:t>
            </a:r>
            <a:r>
              <a:rPr lang="en-IN" sz="2000" dirty="0">
                <a:latin typeface="+mn-lt"/>
              </a:rPr>
              <a:t>of </a:t>
            </a:r>
            <a:r>
              <a:rPr lang="en-IN" sz="2000" dirty="0" smtClean="0">
                <a:latin typeface="+mn-lt"/>
              </a:rPr>
              <a:t>Two.</a:t>
            </a:r>
            <a:endParaRPr lang="en-US" sz="2000" dirty="0">
              <a:latin typeface="+mn-lt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054565"/>
            <a:ext cx="7010400" cy="2748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12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5346"/>
            <a:ext cx="8391728" cy="944880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Table 1</a:t>
            </a:r>
            <a:r>
              <a:rPr lang="en-US" sz="2000" dirty="0" smtClean="0">
                <a:latin typeface="+mn-lt"/>
              </a:rPr>
              <a:t>.2</a:t>
            </a:r>
            <a:r>
              <a:rPr lang="en-US" sz="2000" b="1" dirty="0" smtClean="0">
                <a:latin typeface="+mn-lt"/>
              </a:rPr>
              <a:t/>
            </a:r>
            <a:br>
              <a:rPr lang="en-US" sz="2000" b="1" dirty="0" smtClean="0">
                <a:latin typeface="+mn-lt"/>
              </a:rPr>
            </a:br>
            <a:r>
              <a:rPr lang="en-IN" sz="2000" dirty="0">
                <a:latin typeface="+mn-lt"/>
              </a:rPr>
              <a:t>Numbers with Different </a:t>
            </a:r>
            <a:r>
              <a:rPr lang="en-IN" sz="2000" dirty="0" smtClean="0">
                <a:latin typeface="+mn-lt"/>
              </a:rPr>
              <a:t>Bases.</a:t>
            </a:r>
            <a:endParaRPr lang="en-US" sz="2000" baseline="-25000" dirty="0" smtClean="0">
              <a:latin typeface="+mn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014" y="1475994"/>
            <a:ext cx="5640386" cy="4162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12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944880"/>
          </a:xfrm>
        </p:spPr>
        <p:txBody>
          <a:bodyPr/>
          <a:lstStyle/>
          <a:p>
            <a:r>
              <a:rPr lang="en-US" sz="2000" dirty="0">
                <a:latin typeface="+mn-lt"/>
              </a:rPr>
              <a:t>Table 1.3</a:t>
            </a:r>
            <a:r>
              <a:rPr lang="en-US" sz="2000" b="1" dirty="0" smtClean="0">
                <a:latin typeface="+mj-lt"/>
              </a:rPr>
              <a:t/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Signed </a:t>
            </a:r>
            <a:r>
              <a:rPr lang="en-IN" sz="2000" dirty="0">
                <a:latin typeface="+mn-lt"/>
              </a:rPr>
              <a:t>Binary </a:t>
            </a:r>
            <a:r>
              <a:rPr lang="en-IN" sz="2000" dirty="0" smtClean="0">
                <a:latin typeface="+mn-lt"/>
              </a:rPr>
              <a:t>Numbers.</a:t>
            </a:r>
            <a:endParaRPr lang="en-US" sz="2000" dirty="0" smtClean="0">
              <a:latin typeface="+mn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881" y="1447800"/>
            <a:ext cx="5202238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12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2756"/>
            <a:ext cx="8391728" cy="944880"/>
          </a:xfrm>
        </p:spPr>
        <p:txBody>
          <a:bodyPr/>
          <a:lstStyle/>
          <a:p>
            <a:r>
              <a:rPr lang="en-US" sz="2000" dirty="0">
                <a:latin typeface="+mn-lt"/>
              </a:rPr>
              <a:t>Table</a:t>
            </a:r>
            <a:r>
              <a:rPr lang="en-US" sz="2000" dirty="0"/>
              <a:t> </a:t>
            </a:r>
            <a:r>
              <a:rPr lang="en-US" sz="2000" b="1" dirty="0" smtClean="0">
                <a:latin typeface="+mj-lt"/>
              </a:rPr>
              <a:t>1.4</a:t>
            </a:r>
            <a:br>
              <a:rPr lang="en-US" sz="2000" b="1" dirty="0" smtClean="0">
                <a:latin typeface="+mj-lt"/>
              </a:rPr>
            </a:br>
            <a:r>
              <a:rPr lang="en-IN" sz="2000" dirty="0" smtClean="0">
                <a:latin typeface="+mn-lt"/>
              </a:rPr>
              <a:t>Binary-Coded </a:t>
            </a:r>
            <a:r>
              <a:rPr lang="en-IN" sz="2000" dirty="0">
                <a:latin typeface="+mn-lt"/>
              </a:rPr>
              <a:t>Decimal (BCD</a:t>
            </a:r>
            <a:r>
              <a:rPr lang="en-IN" sz="2000" dirty="0" smtClean="0">
                <a:latin typeface="+mn-lt"/>
              </a:rPr>
              <a:t>).</a:t>
            </a:r>
            <a:r>
              <a:rPr lang="en-US" sz="2000" dirty="0" smtClean="0">
                <a:latin typeface="+mn-lt"/>
              </a:rPr>
              <a:t/>
            </a:r>
            <a:br>
              <a:rPr lang="en-US" sz="2000" dirty="0" smtClean="0">
                <a:latin typeface="+mn-lt"/>
              </a:rPr>
            </a:br>
            <a:endParaRPr lang="en-US" sz="2000" dirty="0" smtClean="0">
              <a:latin typeface="+mn-lt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678511"/>
            <a:ext cx="2895600" cy="3500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12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35346"/>
            <a:ext cx="8382000" cy="707654"/>
          </a:xfrm>
        </p:spPr>
        <p:txBody>
          <a:bodyPr/>
          <a:lstStyle/>
          <a:p>
            <a:r>
              <a:rPr lang="en-US" sz="2000" dirty="0">
                <a:latin typeface="+mn-lt"/>
              </a:rPr>
              <a:t>Table</a:t>
            </a:r>
            <a:r>
              <a:rPr lang="en-US" sz="2000" dirty="0"/>
              <a:t> </a:t>
            </a:r>
            <a:r>
              <a:rPr lang="en-US" sz="2000" dirty="0">
                <a:latin typeface="+mn-lt"/>
              </a:rPr>
              <a:t>1.5</a:t>
            </a:r>
            <a:r>
              <a:rPr lang="en-US" sz="2000" b="1" dirty="0" smtClean="0">
                <a:latin typeface="+mn-lt"/>
              </a:rPr>
              <a:t/>
            </a:r>
            <a:br>
              <a:rPr lang="en-US" sz="2000" b="1" dirty="0" smtClean="0">
                <a:latin typeface="+mn-lt"/>
              </a:rPr>
            </a:br>
            <a:r>
              <a:rPr lang="en-IN" sz="2000" dirty="0">
                <a:latin typeface="+mn-lt"/>
              </a:rPr>
              <a:t>Four Different Binary Codes for the Decimal </a:t>
            </a:r>
            <a:r>
              <a:rPr lang="en-IN" sz="2000" dirty="0" smtClean="0">
                <a:latin typeface="+mn-lt"/>
              </a:rPr>
              <a:t>Digits.</a:t>
            </a:r>
            <a:endParaRPr lang="en-US" sz="2000" dirty="0">
              <a:latin typeface="+mn-lt"/>
            </a:endParaRPr>
          </a:p>
        </p:txBody>
      </p:sp>
      <p:pic>
        <p:nvPicPr>
          <p:cNvPr id="5122" name="Picture 2" descr="Z:\NewMedia\Ebook-Novella\Wiley\jira\Mano_Ciletti6e\Work\Images\ch01\ciletti_6e_table_01_0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569" y="1524000"/>
            <a:ext cx="5431276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12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35346"/>
            <a:ext cx="8382000" cy="707654"/>
          </a:xfrm>
        </p:spPr>
        <p:txBody>
          <a:bodyPr/>
          <a:lstStyle/>
          <a:p>
            <a:r>
              <a:rPr lang="en-US" sz="2000" dirty="0">
                <a:latin typeface="+mn-lt"/>
              </a:rPr>
              <a:t>Table</a:t>
            </a:r>
            <a:r>
              <a:rPr lang="en-US" sz="2000" dirty="0"/>
              <a:t> </a:t>
            </a:r>
            <a:r>
              <a:rPr lang="en-US" sz="2000" dirty="0">
                <a:latin typeface="+mn-lt"/>
              </a:rPr>
              <a:t>1.6</a:t>
            </a:r>
            <a:r>
              <a:rPr lang="en-US" sz="2000" b="1" dirty="0" smtClean="0">
                <a:latin typeface="+mn-lt"/>
              </a:rPr>
              <a:t/>
            </a:r>
            <a:br>
              <a:rPr lang="en-US" sz="2000" b="1" dirty="0" smtClean="0">
                <a:latin typeface="+mn-lt"/>
              </a:rPr>
            </a:br>
            <a:r>
              <a:rPr lang="en-IN" sz="2000" dirty="0" err="1" smtClean="0">
                <a:latin typeface="+mn-lt"/>
              </a:rPr>
              <a:t>Gray</a:t>
            </a:r>
            <a:r>
              <a:rPr lang="en-IN" sz="2000" dirty="0" smtClean="0">
                <a:latin typeface="+mn-lt"/>
              </a:rPr>
              <a:t> Code.</a:t>
            </a:r>
            <a:endParaRPr lang="en-US" sz="2000" dirty="0">
              <a:latin typeface="+mn-lt"/>
            </a:endParaRPr>
          </a:p>
        </p:txBody>
      </p:sp>
      <p:pic>
        <p:nvPicPr>
          <p:cNvPr id="6146" name="Picture 2" descr="Z:\NewMedia\Ebook-Novella\Wiley\jira\Mano_Ciletti6e\Work\Images\ch01\ciletti_6e_table_01_0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2614" y="1354138"/>
            <a:ext cx="2897186" cy="4513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318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35346"/>
            <a:ext cx="8382000" cy="707654"/>
          </a:xfrm>
        </p:spPr>
        <p:txBody>
          <a:bodyPr/>
          <a:lstStyle/>
          <a:p>
            <a:r>
              <a:rPr lang="en-US" sz="2000" dirty="0">
                <a:latin typeface="+mn-lt"/>
              </a:rPr>
              <a:t>Table</a:t>
            </a:r>
            <a:r>
              <a:rPr lang="en-US" sz="2000" dirty="0"/>
              <a:t> </a:t>
            </a:r>
            <a:r>
              <a:rPr lang="en-US" sz="2000" dirty="0" smtClean="0">
                <a:latin typeface="+mn-lt"/>
              </a:rPr>
              <a:t>1.7</a:t>
            </a:r>
            <a:r>
              <a:rPr lang="en-US" sz="2000" b="1" dirty="0" smtClean="0">
                <a:latin typeface="+mn-lt"/>
              </a:rPr>
              <a:t/>
            </a:r>
            <a:br>
              <a:rPr lang="en-US" sz="2000" b="1" dirty="0" smtClean="0">
                <a:latin typeface="+mn-lt"/>
              </a:rPr>
            </a:br>
            <a:r>
              <a:rPr lang="en-IN" sz="2000" dirty="0" smtClean="0">
                <a:latin typeface="+mn-lt"/>
              </a:rPr>
              <a:t>American </a:t>
            </a:r>
            <a:r>
              <a:rPr lang="en-IN" sz="2000" dirty="0">
                <a:latin typeface="+mn-lt"/>
              </a:rPr>
              <a:t>Standard Code for Information Interchange (ASCII</a:t>
            </a:r>
            <a:r>
              <a:rPr lang="en-IN" sz="2000" dirty="0" smtClean="0">
                <a:latin typeface="+mn-lt"/>
              </a:rPr>
              <a:t>).</a:t>
            </a:r>
            <a:endParaRPr lang="en-US" sz="2000" dirty="0">
              <a:latin typeface="+mn-lt"/>
            </a:endParaRPr>
          </a:p>
        </p:txBody>
      </p:sp>
      <p:pic>
        <p:nvPicPr>
          <p:cNvPr id="7170" name="Picture 2" descr="Z:\NewMedia\Ebook-Novella\Wiley\jira\Mano_Ciletti6e\Work\Images\ch01\ciletti_6e_table_01_0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9384" y="1371600"/>
            <a:ext cx="3443646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584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5346"/>
            <a:ext cx="8391728" cy="707654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Figure 1.1</a:t>
            </a:r>
            <a:br>
              <a:rPr lang="en-US" sz="2000" b="1" dirty="0" smtClean="0">
                <a:latin typeface="+mn-lt"/>
              </a:rPr>
            </a:br>
            <a:r>
              <a:rPr lang="en-IN" sz="2000" dirty="0">
                <a:latin typeface="+mn-lt"/>
              </a:rPr>
              <a:t>Transfer of information among </a:t>
            </a:r>
            <a:r>
              <a:rPr lang="en-IN" sz="2000" dirty="0" smtClean="0">
                <a:latin typeface="+mn-lt"/>
              </a:rPr>
              <a:t>registers.</a:t>
            </a:r>
            <a:r>
              <a:rPr lang="en-US" sz="2000" dirty="0">
                <a:latin typeface="+mn-lt"/>
              </a:rPr>
              <a:t/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/>
            </a:r>
            <a:br>
              <a:rPr lang="en-US" sz="2000" dirty="0">
                <a:latin typeface="+mn-lt"/>
              </a:rPr>
            </a:br>
            <a:r>
              <a:rPr lang="en-US" sz="2000" dirty="0" smtClean="0">
                <a:latin typeface="+mn-lt"/>
              </a:rPr>
              <a:t/>
            </a:r>
            <a:br>
              <a:rPr lang="en-US" sz="2000" dirty="0" smtClean="0">
                <a:latin typeface="+mn-lt"/>
              </a:rPr>
            </a:br>
            <a:endParaRPr lang="en-US" sz="2000" dirty="0" smtClean="0">
              <a:latin typeface="+mn-lt"/>
            </a:endParaRPr>
          </a:p>
        </p:txBody>
      </p:sp>
      <p:pic>
        <p:nvPicPr>
          <p:cNvPr id="8195" name="Picture 3" descr="In the input unit, the keyboard sends J, O, H, and N to the control unit, which produces 8 cells in the input register. The 8 cells from the input register are transferred to the processor register in the processor unit, leading to a sequence of 4 8-cell blocks. J = 0 1 0 0 1 0 1 0, O = 0 1 0 0 1 1 1 1, H = 1 1 0 0 1 0 0 0, N = 1 1 0 0 1 1 1 0. These blocks are then transferred to the memory unit, where they are combined in the memory register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567" y="1371600"/>
            <a:ext cx="3882866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123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5346"/>
            <a:ext cx="8391728" cy="707654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Figure 1.2</a:t>
            </a:r>
            <a:br>
              <a:rPr lang="en-US" sz="2000" b="1" dirty="0" smtClean="0">
                <a:latin typeface="+mn-lt"/>
              </a:rPr>
            </a:br>
            <a:r>
              <a:rPr lang="en-IN" sz="2000" dirty="0" smtClean="0">
                <a:latin typeface="+mn-lt"/>
              </a:rPr>
              <a:t>Example </a:t>
            </a:r>
            <a:r>
              <a:rPr lang="en-IN" sz="2000" dirty="0">
                <a:latin typeface="+mn-lt"/>
              </a:rPr>
              <a:t>of registers in binary information </a:t>
            </a:r>
            <a:r>
              <a:rPr lang="en-IN" sz="2000" dirty="0" smtClean="0">
                <a:latin typeface="+mn-lt"/>
              </a:rPr>
              <a:t>processing.</a:t>
            </a:r>
            <a:r>
              <a:rPr lang="en-US" sz="2000" dirty="0">
                <a:latin typeface="+mn-lt"/>
              </a:rPr>
              <a:t/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/>
            </a:r>
            <a:br>
              <a:rPr lang="en-US" sz="2000" dirty="0">
                <a:latin typeface="+mn-lt"/>
              </a:rPr>
            </a:br>
            <a:r>
              <a:rPr lang="en-US" sz="2000" dirty="0" smtClean="0">
                <a:latin typeface="+mn-lt"/>
              </a:rPr>
              <a:t/>
            </a:r>
            <a:br>
              <a:rPr lang="en-US" sz="2000" dirty="0" smtClean="0">
                <a:latin typeface="+mn-lt"/>
              </a:rPr>
            </a:br>
            <a:endParaRPr lang="en-US" sz="2000" dirty="0" smtClean="0">
              <a:latin typeface="+mn-lt"/>
            </a:endParaRPr>
          </a:p>
        </p:txBody>
      </p:sp>
      <p:pic>
        <p:nvPicPr>
          <p:cNvPr id="9218" name="Picture 2" descr="The memory unit contains two operands. Operand 1: 0 0 1 1 1 0 0 0 0 1. Operand 2: 0 0 0 1 0 0 0 0 1 0. Operand 1 becomes R 2 in the processor unit, and operand 2 becomes R 1 in the processor unit. Digital logic circuit for binary addition then combine R 1 and R 2 to produce R 3, 0 1 0 0 1 0 0 0 1 1. The sum then returns to the memory unit, yielding 0 0 0 0 0 0 0 0 0 0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614" y="1371600"/>
            <a:ext cx="3659186" cy="4666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4619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35346"/>
            <a:ext cx="8382000" cy="707654"/>
          </a:xfrm>
        </p:spPr>
        <p:txBody>
          <a:bodyPr/>
          <a:lstStyle/>
          <a:p>
            <a:r>
              <a:rPr lang="en-US" sz="2000" dirty="0">
                <a:latin typeface="+mn-lt"/>
              </a:rPr>
              <a:t>Table</a:t>
            </a:r>
            <a:r>
              <a:rPr lang="en-US" sz="2000" dirty="0"/>
              <a:t> </a:t>
            </a:r>
            <a:r>
              <a:rPr lang="en-US" sz="2000" dirty="0" smtClean="0">
                <a:latin typeface="+mn-lt"/>
              </a:rPr>
              <a:t>1.8</a:t>
            </a:r>
            <a:r>
              <a:rPr lang="en-US" sz="2000" b="1" dirty="0" smtClean="0">
                <a:latin typeface="+mn-lt"/>
              </a:rPr>
              <a:t/>
            </a:r>
            <a:br>
              <a:rPr lang="en-US" sz="2000" b="1" dirty="0" smtClean="0">
                <a:latin typeface="+mn-lt"/>
              </a:rPr>
            </a:br>
            <a:r>
              <a:rPr lang="en-IN" sz="2000" dirty="0">
                <a:latin typeface="+mn-lt"/>
              </a:rPr>
              <a:t>Truth Tables of Logical </a:t>
            </a:r>
            <a:r>
              <a:rPr lang="en-IN" sz="2000" dirty="0" smtClean="0">
                <a:latin typeface="+mn-lt"/>
              </a:rPr>
              <a:t>Operations</a:t>
            </a:r>
            <a:endParaRPr lang="en-US" sz="2000" dirty="0">
              <a:latin typeface="+mn-lt"/>
            </a:endParaRPr>
          </a:p>
        </p:txBody>
      </p:sp>
      <p:pic>
        <p:nvPicPr>
          <p:cNvPr id="11266" name="Picture 2" descr="Z:\NewMedia\Ebook-Novella\Wiley\jira\Mano_Ciletti6e\Work\Images\ch01\ciletti_6e_table_01_0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382" y="2438401"/>
            <a:ext cx="5171236" cy="197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836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5346"/>
            <a:ext cx="8391728" cy="707654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Figure 1.3</a:t>
            </a:r>
            <a:br>
              <a:rPr lang="en-US" sz="2000" b="1" dirty="0" smtClean="0">
                <a:latin typeface="+mn-lt"/>
              </a:rPr>
            </a:br>
            <a:r>
              <a:rPr lang="en-IN" sz="2000" dirty="0" smtClean="0">
                <a:latin typeface="+mn-lt"/>
              </a:rPr>
              <a:t>Signal </a:t>
            </a:r>
            <a:r>
              <a:rPr lang="en-IN" sz="2000" dirty="0">
                <a:latin typeface="+mn-lt"/>
              </a:rPr>
              <a:t>levels for binary logic </a:t>
            </a:r>
            <a:r>
              <a:rPr lang="en-IN" sz="2000" dirty="0" smtClean="0">
                <a:latin typeface="+mn-lt"/>
              </a:rPr>
              <a:t>values.</a:t>
            </a:r>
            <a:r>
              <a:rPr lang="en-US" sz="2000" dirty="0">
                <a:latin typeface="+mn-lt"/>
              </a:rPr>
              <a:t/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/>
            </a:r>
            <a:br>
              <a:rPr lang="en-US" sz="2000" dirty="0">
                <a:latin typeface="+mn-lt"/>
              </a:rPr>
            </a:br>
            <a:endParaRPr lang="en-US" sz="2000" dirty="0">
              <a:latin typeface="+mn-lt"/>
            </a:endParaRPr>
          </a:p>
        </p:txBody>
      </p:sp>
      <p:pic>
        <p:nvPicPr>
          <p:cNvPr id="10242" name="Picture 2" descr="The signal range for logic 0 extends from 0 to 1 volt, and the signal range for logic 1 extends from 2 to 3 volts. A transition occurs between 1 and 2 volt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345550"/>
            <a:ext cx="3048000" cy="467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0812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5346"/>
            <a:ext cx="8391728" cy="707654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Figure 1.4</a:t>
            </a:r>
            <a:br>
              <a:rPr lang="en-US" sz="2000" b="1" dirty="0" smtClean="0">
                <a:latin typeface="+mn-lt"/>
              </a:rPr>
            </a:br>
            <a:r>
              <a:rPr lang="en-IN" sz="2000" dirty="0" smtClean="0">
                <a:latin typeface="+mn-lt"/>
              </a:rPr>
              <a:t>Symbols </a:t>
            </a:r>
            <a:r>
              <a:rPr lang="en-IN" sz="2000" dirty="0">
                <a:latin typeface="+mn-lt"/>
              </a:rPr>
              <a:t>for digital logic </a:t>
            </a:r>
            <a:r>
              <a:rPr lang="en-IN" sz="2000" dirty="0" smtClean="0">
                <a:latin typeface="+mn-lt"/>
              </a:rPr>
              <a:t>circuits.</a:t>
            </a:r>
            <a:r>
              <a:rPr lang="en-US" sz="2000" dirty="0">
                <a:latin typeface="+mn-lt"/>
              </a:rPr>
              <a:t/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/>
            </a:r>
            <a:br>
              <a:rPr lang="en-US" sz="2000" dirty="0">
                <a:latin typeface="+mn-lt"/>
              </a:rPr>
            </a:br>
            <a:endParaRPr lang="en-US" sz="2000" dirty="0">
              <a:latin typeface="+mn-lt"/>
            </a:endParaRPr>
          </a:p>
        </p:txBody>
      </p:sp>
      <p:pic>
        <p:nvPicPr>
          <p:cNvPr id="12291" name="Picture 3" descr="Part ay: two-input, and, gate. The symbol is a half oval. Two parallel line segments for inputs x and y extend from the flat side of the half oval, and one line segment for output z = x times y extends from the opposite, curved side of the half oval. Part b: two-input, or, gate. The or symbol is the and symbol with the half oval replaced by a rounded arrow head. The symbol has inputs x and y and output z = x + y. Part c: not gate or inverter. The symbol is an arrow head centered on a line from x to x prime, with an open circle at the point of the arrow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037" y="2895600"/>
            <a:ext cx="8335926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122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5346"/>
            <a:ext cx="8391728" cy="707654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Figure 1.5</a:t>
            </a:r>
            <a:br>
              <a:rPr lang="en-US" sz="2000" b="1" dirty="0" smtClean="0">
                <a:latin typeface="+mn-lt"/>
              </a:rPr>
            </a:br>
            <a:r>
              <a:rPr lang="en-IN" sz="2000" dirty="0" smtClean="0">
                <a:latin typeface="+mn-lt"/>
              </a:rPr>
              <a:t>Input–output </a:t>
            </a:r>
            <a:r>
              <a:rPr lang="en-IN" sz="2000" dirty="0">
                <a:latin typeface="+mn-lt"/>
              </a:rPr>
              <a:t>signals for </a:t>
            </a:r>
            <a:r>
              <a:rPr lang="en-IN" sz="2000" dirty="0" smtClean="0">
                <a:latin typeface="+mn-lt"/>
              </a:rPr>
              <a:t>gates.</a:t>
            </a:r>
            <a:r>
              <a:rPr lang="en-US" sz="2000" dirty="0">
                <a:latin typeface="+mn-lt"/>
              </a:rPr>
              <a:t/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/>
            </a:r>
            <a:br>
              <a:rPr lang="en-US" sz="2000" dirty="0">
                <a:latin typeface="+mn-lt"/>
              </a:rPr>
            </a:br>
            <a:endParaRPr lang="en-US" sz="2000" dirty="0">
              <a:latin typeface="+mn-lt"/>
            </a:endParaRPr>
          </a:p>
        </p:txBody>
      </p:sp>
      <p:pic>
        <p:nvPicPr>
          <p:cNvPr id="13315" name="Picture 3" descr="For each of the following inputs and outputs, the binary sequence is represented by a square wave form, with a minimum for 0 and a maximum for 1. x: 0 1 1 0 0. y: 0 0 1 1 0. And, x + y: 0 1 1 1 0. Not, x prime: 1 0 0 1 1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864" y="1906588"/>
            <a:ext cx="5508272" cy="3198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204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7472" y="435346"/>
            <a:ext cx="8391728" cy="707654"/>
          </a:xfrm>
        </p:spPr>
        <p:txBody>
          <a:bodyPr/>
          <a:lstStyle/>
          <a:p>
            <a:r>
              <a:rPr lang="en-US" sz="2000" b="1" dirty="0" smtClean="0">
                <a:latin typeface="+mn-lt"/>
              </a:rPr>
              <a:t>Figure 1.6</a:t>
            </a:r>
            <a:br>
              <a:rPr lang="en-US" sz="2000" b="1" dirty="0" smtClean="0">
                <a:latin typeface="+mn-lt"/>
              </a:rPr>
            </a:br>
            <a:r>
              <a:rPr lang="en-IN" sz="2000" dirty="0" smtClean="0">
                <a:latin typeface="+mn-lt"/>
              </a:rPr>
              <a:t>Gates </a:t>
            </a:r>
            <a:r>
              <a:rPr lang="en-IN" sz="2000" dirty="0">
                <a:latin typeface="+mn-lt"/>
              </a:rPr>
              <a:t>with multiple </a:t>
            </a:r>
            <a:r>
              <a:rPr lang="en-IN" sz="2000" dirty="0" smtClean="0">
                <a:latin typeface="+mn-lt"/>
              </a:rPr>
              <a:t>inputs.</a:t>
            </a:r>
            <a:r>
              <a:rPr lang="en-US" sz="2000" dirty="0">
                <a:latin typeface="+mn-lt"/>
              </a:rPr>
              <a:t/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/>
            </a:r>
            <a:br>
              <a:rPr lang="en-US" sz="2000" dirty="0">
                <a:latin typeface="+mn-lt"/>
              </a:rPr>
            </a:br>
            <a:endParaRPr lang="en-US" sz="2000" dirty="0">
              <a:latin typeface="+mn-lt"/>
            </a:endParaRPr>
          </a:p>
        </p:txBody>
      </p:sp>
      <p:pic>
        <p:nvPicPr>
          <p:cNvPr id="14338" name="Picture 2" descr="Part ay: The 3 input, and, gate symbol has inputs Ay, B, and C, and output F =Ay B C. Part b: The 4 input, or, gate symbol has inputs Ay, B, C, and D, and output G = Ay + B + C + D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521" y="2513014"/>
            <a:ext cx="8078958" cy="183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3276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8"/>
  <p:tag name="MMPROD_UIDATA" val="&lt;database version=&quot;6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Introduction to Robotics&amp;quot;&quot;/&gt;&lt;property id=&quot;20307&quot; value=&quot;318&quot;/&gt;&lt;/object&gt;&lt;object type=&quot;3&quot; unique_id=&quot;10005&quot;&gt;&lt;property id=&quot;20148&quot; value=&quot;5&quot;/&gt;&lt;property id=&quot;20300&quot; value=&quot;Slide 2 - &amp;quot;Figure 2.1&amp;#x0D;&amp;#x0A;Vector relative to frame (example).&amp;quot;&quot;/&gt;&lt;property id=&quot;20307&quot; value=&quot;328&quot;/&gt;&lt;/object&gt;&lt;object type=&quot;3&quot; unique_id=&quot;10718&quot;&gt;&lt;property id=&quot;20148&quot; value=&quot;5&quot;/&gt;&lt;property id=&quot;20300&quot; value=&quot;Slide 3 - &amp;quot;Figure 2.2&amp;#x0D;&amp;#x0A;Locating an object in position and orientation.&amp;#x0D;&amp;#x0A;&amp;quot;&quot;/&gt;&lt;property id=&quot;20307&quot; value=&quot;329&quot;/&gt;&lt;/object&gt;&lt;object type=&quot;3&quot; unique_id=&quot;10744&quot;&gt;&lt;property id=&quot;20148&quot; value=&quot;5&quot;/&gt;&lt;property id=&quot;20300&quot; value=&quot;Slide 4 - &amp;quot;Figure 2.3&amp;#x0D;&amp;#x0A;Example of several frames.&amp;#x0D;&amp;#x0A;&amp;quot;&quot;/&gt;&lt;property id=&quot;20307&quot; value=&quot;330&quot;/&gt;&lt;/object&gt;&lt;object type=&quot;3&quot; unique_id=&quot;10763&quot;&gt;&lt;property id=&quot;20148&quot; value=&quot;5&quot;/&gt;&lt;property id=&quot;20300&quot; value=&quot;Slide 5 - &amp;quot;Figure 2.4&amp;#x0D;&amp;#x0A;Translational mapping.&amp;quot;&quot;/&gt;&lt;property id=&quot;20307&quot; value=&quot;331&quot;/&gt;&lt;/object&gt;&lt;object type=&quot;3&quot; unique_id=&quot;10813&quot;&gt;&lt;property id=&quot;20148&quot; value=&quot;5&quot;/&gt;&lt;property id=&quot;20300&quot; value=&quot;Slide 6 - &amp;quot;Figure 2.5&amp;#x0D;&amp;#x0A;Rotating the description of a vector.&amp;quot;&quot;/&gt;&lt;property id=&quot;20307&quot; value=&quot;332&quot;/&gt;&lt;/object&gt;&lt;object type=&quot;3&quot; unique_id=&quot;10838&quot;&gt;&lt;property id=&quot;20148&quot; value=&quot;5&quot;/&gt;&lt;property id=&quot;20300&quot; value=&quot;Slide 7 - &amp;quot;Figure 2.6&amp;#x0D;&amp;#x0A;{B} rotated 30 degrees about Ẑ.&amp;quot;&quot;/&gt;&lt;property id=&quot;20307&quot; value=&quot;333&quot;/&gt;&lt;/object&gt;&lt;object type=&quot;3&quot; unique_id=&quot;10875&quot;&gt;&lt;property id=&quot;20148&quot; value=&quot;5&quot;/&gt;&lt;property id=&quot;20300&quot; value=&quot;Slide 8 - &amp;quot;Figure 2.7&amp;#x0D;&amp;#x0A;General transform of a vector.&amp;quot;&quot;/&gt;&lt;property id=&quot;20307&quot; value=&quot;334&quot;/&gt;&lt;/object&gt;&lt;object type=&quot;3&quot; unique_id=&quot;10876&quot;&gt;&lt;property id=&quot;20148&quot; value=&quot;5&quot;/&gt;&lt;property id=&quot;20300&quot; value=&quot;Slide 9 - &amp;quot;Figure 2.8&amp;#x0D;&amp;#x0A;Frame {B} rotated and translated.&amp;quot;&quot;/&gt;&lt;property id=&quot;20307&quot; value=&quot;335&quot;/&gt;&lt;/object&gt;&lt;object type=&quot;3&quot; unique_id=&quot;10910&quot;&gt;&lt;property id=&quot;20148&quot; value=&quot;5&quot;/&gt;&lt;property id=&quot;20300&quot; value=&quot;Slide 10 - &amp;quot;Figure 2.9&amp;#x0D;&amp;#x0A;Translation operator.&amp;quot;&quot;/&gt;&lt;property id=&quot;20307&quot; value=&quot;336&quot;/&gt;&lt;/object&gt;&lt;object type=&quot;3&quot; unique_id=&quot;10959&quot;&gt;&lt;property id=&quot;20148&quot; value=&quot;5&quot;/&gt;&lt;property id=&quot;20300&quot; value=&quot;Slide 11 - &amp;quot;Figure 2.10&amp;#x0D;&amp;#x0A;The vector AP1 rotated 30 degrees about Ẑ.&amp;quot;&quot;/&gt;&lt;property id=&quot;20307&quot; value=&quot;337&quot;/&gt;&lt;/object&gt;&lt;object type=&quot;3&quot; unique_id=&quot;10960&quot;&gt;&lt;property id=&quot;20148&quot; value=&quot;5&quot;/&gt;&lt;property id=&quot;20300&quot; value=&quot;Slide 12 - &amp;quot;Figure 2.11&amp;#x0D;&amp;#x0A;The vector AP1 rotated and translated to form AP2.&amp;quot;&quot;/&gt;&lt;property id=&quot;20307&quot; value=&quot;338&quot;/&gt;&lt;/object&gt;&lt;object type=&quot;3&quot; unique_id=&quot;11143&quot;&gt;&lt;property id=&quot;20148&quot; value=&quot;5&quot;/&gt;&lt;property id=&quot;20300&quot; value=&quot;Slide 13 - &amp;quot;Figure 2.12&amp;#x0D;&amp;#x0A;Compound frames: each is known relative to the previous one.&amp;quot;&quot;/&gt;&lt;property id=&quot;20307&quot; value=&quot;339&quot;/&gt;&lt;/object&gt;&lt;object type=&quot;3&quot; unique_id=&quot;11189&quot;&gt;&lt;property id=&quot;20148&quot; value=&quot;5&quot;/&gt;&lt;property id=&quot;20300&quot; value=&quot;Slide 14 - &amp;quot;Figure 2.13&amp;#x0D;&amp;#x0A;{B} relative to {A}.&amp;quot;&quot;/&gt;&lt;property id=&quot;20307&quot; value=&quot;340&quot;/&gt;&lt;/object&gt;&lt;object type=&quot;3&quot; unique_id=&quot;11238&quot;&gt;&lt;property id=&quot;20148&quot; value=&quot;5&quot;/&gt;&lt;property id=&quot;20300&quot; value=&quot;Slide 15 - &amp;quot;Figure 2.14&amp;#x0D;&amp;#x0A;Set of transforms forming a loop.&amp;quot;&quot;/&gt;&lt;property id=&quot;20307&quot; value=&quot;341&quot;/&gt;&lt;/object&gt;&lt;object type=&quot;3&quot; unique_id=&quot;11341&quot;&gt;&lt;property id=&quot;20148&quot; value=&quot;5&quot;/&gt;&lt;property id=&quot;20300&quot; value=&quot;Slide 16 - &amp;quot;Figure 2.15&amp;#x0D;&amp;#x0A;Example of a transform equation.&amp;quot;&quot;/&gt;&lt;property id=&quot;20307&quot; value=&quot;342&quot;/&gt;&lt;/object&gt;&lt;object type=&quot;3&quot; unique_id=&quot;11342&quot;&gt;&lt;property id=&quot;20148&quot; value=&quot;5&quot;/&gt;&lt;property id=&quot;20300&quot; value=&quot;Slide 17 - &amp;quot;Figure 2.16&amp;#x0D;&amp;#x0A;Manipulator reaching for a bolt.&amp;quot;&quot;/&gt;&lt;property id=&quot;20307&quot; value=&quot;343&quot;/&gt;&lt;/object&gt;&lt;object type=&quot;3&quot; unique_id=&quot;11343&quot;&gt;&lt;property id=&quot;20148&quot; value=&quot;5&quot;/&gt;&lt;property id=&quot;20300&quot; value=&quot;Slide 18 - &amp;quot;Figure 2.17&amp;#x0D;&amp;#x0A;X–Y–Z fixed angles. Rotations are performed in the order&amp;#x0D;&amp;#x0A;RX(g) RY (β), RZ(α).&amp;quot;&quot;/&gt;&lt;property id=&quot;20307&quot; value=&quot;344&quot;/&gt;&lt;/object&gt;&lt;object type=&quot;3&quot; unique_id=&quot;11444&quot;&gt;&lt;property id=&quot;20148&quot; value=&quot;5&quot;/&gt;&lt;property id=&quot;20300&quot; value=&quot;Slide 19 - &amp;quot;Figure 2.18&amp;#x0D;&amp;#x0A;Z–Y–X Euler angles.&amp;quot;&quot;/&gt;&lt;property id=&quot;20307&quot; value=&quot;345&quot;/&gt;&lt;/object&gt;&lt;object type=&quot;3&quot; unique_id=&quot;11445&quot;&gt;&lt;property id=&quot;20148&quot; value=&quot;5&quot;/&gt;&lt;property id=&quot;20300&quot; value=&quot;Slide 20 - &amp;quot;Figure 2.19&amp;#x0D;&amp;#x0A;Equivalent angle–axis representation.&amp;quot;&quot;/&gt;&lt;property id=&quot;20307&quot; value=&quot;346&quot;/&gt;&lt;/object&gt;&lt;object type=&quot;3&quot; unique_id=&quot;11446&quot;&gt;&lt;property id=&quot;20148&quot; value=&quot;5&quot;/&gt;&lt;property id=&quot;20300&quot; value=&quot;Slide 21 - &amp;quot;Figure 2.20&amp;#x0D;&amp;#x0A;Rotation about an axis that does not pass through the origin of {A}. Initially, {B} was coincident wit&quot;/&gt;&lt;property id=&quot;20307&quot; value=&quot;347&quot;/&gt;&lt;/object&gt;&lt;object type=&quot;3&quot; unique_id=&quot;11516&quot;&gt;&lt;property id=&quot;20148&quot; value=&quot;5&quot;/&gt;&lt;property id=&quot;20300&quot; value=&quot;Slide 22 - &amp;quot;Figure 2.21&amp;#x0D;&amp;#x0A;Equal velocity vectors.&amp;quot;&quot;/&gt;&lt;property id=&quot;20307&quot; value=&quot;348&quot;/&gt;&lt;/object&gt;&lt;object type=&quot;3&quot; unique_id=&quot;11589&quot;&gt;&lt;property id=&quot;20148&quot; value=&quot;5&quot;/&gt;&lt;property id=&quot;20300&quot; value=&quot;Slide 23 - &amp;quot;Figure 2.22&amp;#x0D;&amp;#x0A;Transforming velocities.&amp;quot;&quot;/&gt;&lt;property id=&quot;20307&quot; value=&quot;349&quot;/&gt;&lt;/object&gt;&lt;object type=&quot;3&quot; unique_id=&quot;11665&quot;&gt;&lt;property id=&quot;20148&quot; value=&quot;5&quot;/&gt;&lt;property id=&quot;20300&quot; value=&quot;Slide 24 - &amp;quot;Figure 2.23&amp;#x0D;&amp;#x0A;Cylindrical coordinates.&amp;quot;&quot;/&gt;&lt;property id=&quot;20307&quot; value=&quot;350&quot;/&gt;&lt;/object&gt;&lt;object type=&quot;3&quot; unique_id=&quot;11744&quot;&gt;&lt;property id=&quot;20148&quot; value=&quot;5&quot;/&gt;&lt;property id=&quot;20300&quot; value=&quot;Slide 25 - &amp;quot;Figure 2.24&amp;#x0D;&amp;#x0A;Spherical coordinates.&amp;quot;&quot;/&gt;&lt;property id=&quot;20307&quot; value=&quot;351&quot;/&gt;&lt;/object&gt;&lt;object type=&quot;3&quot; unique_id=&quot;11880&quot;&gt;&lt;property id=&quot;20148&quot; value=&quot;5&quot;/&gt;&lt;property id=&quot;20300&quot; value=&quot;Slide 26 - &amp;quot;Figure 2.25&amp;#x0D;&amp;#x0A;Frames at the corners of a wedge.&amp;quot;&quot;/&gt;&lt;property id=&quot;20307&quot; value=&quot;352&quot;/&gt;&lt;/object&gt;&lt;object type=&quot;3&quot; unique_id=&quot;11965&quot;&gt;&lt;property id=&quot;20148&quot; value=&quot;5&quot;/&gt;&lt;property id=&quot;20300&quot; value=&quot;Slide 27 - &amp;quot;Figure 2.26&amp;#x0D;&amp;#x0A;Frames at the corners of a wedge.&amp;quot;&quot;/&gt;&lt;property id=&quot;20307&quot; value=&quot;353&quot;/&gt;&lt;/object&gt;&lt;/object&gt;&lt;/object&gt;&lt;/database&gt;"/>
</p:tagLst>
</file>

<file path=ppt/theme/theme1.xml><?xml version="1.0" encoding="utf-8"?>
<a:theme xmlns:a="http://schemas.openxmlformats.org/drawingml/2006/main" name="508 Lecture">
  <a:themeElements>
    <a:clrScheme name="Custom 7">
      <a:dk1>
        <a:sysClr val="windowText" lastClr="000000"/>
      </a:dk1>
      <a:lt1>
        <a:sysClr val="window" lastClr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Pearson 508">
      <a:dk1>
        <a:sysClr val="windowText" lastClr="000000"/>
      </a:dk1>
      <a:lt1>
        <a:sysClr val="window" lastClr="FFFFFF"/>
      </a:lt1>
      <a:dk2>
        <a:srgbClr val="000000"/>
      </a:dk2>
      <a:lt2>
        <a:srgbClr val="EEEEEE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Horizon</Template>
  <TotalTime>785</TotalTime>
  <Words>65</Words>
  <Application>Microsoft Office PowerPoint</Application>
  <PresentationFormat>On-screen Show (4:3)</PresentationFormat>
  <Paragraphs>33</Paragraphs>
  <Slides>15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508 Lecture</vt:lpstr>
      <vt:lpstr>Digital Design</vt:lpstr>
      <vt:lpstr>Table 1.1 Powers of Two.</vt:lpstr>
      <vt:lpstr>Table 1.2 Numbers with Different Bases.</vt:lpstr>
      <vt:lpstr>Table 1.3 Signed Binary Numbers.</vt:lpstr>
      <vt:lpstr>Table 1.4 Binary-Coded Decimal (BCD). </vt:lpstr>
      <vt:lpstr>Table 1.5 Four Different Binary Codes for the Decimal Digits.</vt:lpstr>
      <vt:lpstr>Table 1.6 Gray Code.</vt:lpstr>
      <vt:lpstr>Table 1.7 American Standard Code for Information Interchange (ASCII).</vt:lpstr>
      <vt:lpstr>Figure 1.1 Transfer of information among registers.   </vt:lpstr>
      <vt:lpstr>Figure 1.2 Example of registers in binary information processing.   </vt:lpstr>
      <vt:lpstr>Table 1.8 Truth Tables of Logical Operations</vt:lpstr>
      <vt:lpstr>Figure 1.3 Signal levels for binary logic values.  </vt:lpstr>
      <vt:lpstr>Figure 1.4 Symbols for digital logic circuits.  </vt:lpstr>
      <vt:lpstr>Figure 1.5 Input–output signals for gates.  </vt:lpstr>
      <vt:lpstr>Figure 1.6 Gates with multiple inputs.  </vt:lpstr>
    </vt:vector>
  </TitlesOfParts>
  <Company>echosvoice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 Compliant Lecture PowerPoint</dc:title>
  <dc:subject>Introduction to Psychology</dc:subject>
  <dc:creator>Echo Swinford</dc:creator>
  <cp:lastModifiedBy>admin</cp:lastModifiedBy>
  <cp:revision>346</cp:revision>
  <dcterms:created xsi:type="dcterms:W3CDTF">2014-07-14T20:04:21Z</dcterms:created>
  <dcterms:modified xsi:type="dcterms:W3CDTF">2018-06-21T09:10:36Z</dcterms:modified>
</cp:coreProperties>
</file>