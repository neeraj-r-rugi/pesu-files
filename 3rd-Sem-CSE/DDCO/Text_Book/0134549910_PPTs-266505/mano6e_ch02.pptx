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318" r:id="rId2"/>
    <p:sldId id="328" r:id="rId3"/>
    <p:sldId id="354" r:id="rId4"/>
    <p:sldId id="355" r:id="rId5"/>
    <p:sldId id="329" r:id="rId6"/>
    <p:sldId id="330" r:id="rId7"/>
    <p:sldId id="356" r:id="rId8"/>
    <p:sldId id="357" r:id="rId9"/>
    <p:sldId id="358" r:id="rId10"/>
    <p:sldId id="359" r:id="rId11"/>
    <p:sldId id="360" r:id="rId12"/>
    <p:sldId id="362" r:id="rId13"/>
    <p:sldId id="331" r:id="rId14"/>
    <p:sldId id="363" r:id="rId15"/>
    <p:sldId id="364" r:id="rId16"/>
    <p:sldId id="365" r:id="rId17"/>
    <p:sldId id="332" r:id="rId18"/>
    <p:sldId id="333" r:id="rId19"/>
    <p:sldId id="334" r:id="rId20"/>
    <p:sldId id="335" r:id="rId21"/>
    <p:sldId id="336" r:id="rId22"/>
    <p:sldId id="337" r:id="rId23"/>
    <p:sldId id="366" r:id="rId24"/>
    <p:sldId id="367" r:id="rId25"/>
    <p:sldId id="368" r:id="rId26"/>
    <p:sldId id="369" r:id="rId27"/>
    <p:sldId id="370" r:id="rId28"/>
    <p:sldId id="371" r:id="rId29"/>
  </p:sldIdLst>
  <p:sldSz cx="9144000" cy="6858000" type="screen4x3"/>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varScale="1">
        <p:scale>
          <a:sx n="75" d="100"/>
          <a:sy n="75" d="100"/>
        </p:scale>
        <p:origin x="-1428" y="-84"/>
      </p:cViewPr>
      <p:guideLst>
        <p:guide orient="horz" pos="2160"/>
        <p:guide orient="horz" pos="432"/>
        <p:guide orient="horz" pos="864"/>
        <p:guide orient="horz" pos="4017"/>
        <p:guide pos="2880"/>
        <p:guide pos="288"/>
        <p:guide pos="5472"/>
      </p:guideLst>
    </p:cSldViewPr>
  </p:slideViewPr>
  <p:outlineViewPr>
    <p:cViewPr>
      <p:scale>
        <a:sx n="33" d="100"/>
        <a:sy n="33" d="100"/>
      </p:scale>
      <p:origin x="0" y="4725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a:t>
            </a:r>
            <a:r>
              <a:rPr lang="en-US" sz="2400" dirty="0" smtClean="0"/>
              <a:t>, VHDL</a:t>
            </a:r>
            <a:r>
              <a:rPr lang="en-US" sz="2400" dirty="0"/>
              <a:t>, and </a:t>
            </a:r>
            <a:r>
              <a:rPr lang="en-US" sz="2400" dirty="0" smtClean="0"/>
              <a:t>SystemVerilog</a:t>
            </a:r>
          </a:p>
          <a:p>
            <a:r>
              <a:rPr lang="en-US" sz="2400" dirty="0" smtClean="0">
                <a:latin typeface="+mj-lt"/>
              </a:rPr>
              <a:t>6</a:t>
            </a:r>
            <a:r>
              <a:rPr lang="en-US" sz="2400" baseline="30000" dirty="0" smtClean="0">
                <a:latin typeface="+mj-lt"/>
              </a:rPr>
              <a:t>th</a:t>
            </a:r>
            <a:r>
              <a:rPr lang="en-US" sz="2400" dirty="0" smtClean="0">
                <a:latin typeface="+mj-lt"/>
              </a:rPr>
              <a:t> </a:t>
            </a:r>
            <a:r>
              <a:rPr lang="en-US" sz="1800" dirty="0" smtClean="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smtClean="0"/>
              <a:t>Chapter 02</a:t>
            </a:r>
            <a:endParaRPr lang="en-US" sz="3000" dirty="0"/>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a:t>Boolean Algebra and Logic Gates</a:t>
            </a:r>
            <a:endParaRPr lang="en-US" sz="2200"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.1</a:t>
            </a:r>
            <a:r>
              <a:rPr lang="en-US" sz="2000" b="1" dirty="0" smtClean="0">
                <a:latin typeface="+mn-lt"/>
              </a:rPr>
              <a:t/>
            </a:r>
            <a:br>
              <a:rPr lang="en-US" sz="2000" b="1" dirty="0" smtClean="0">
                <a:latin typeface="+mn-lt"/>
              </a:rPr>
            </a:br>
            <a:r>
              <a:rPr lang="en-US" sz="2000" dirty="0" smtClean="0">
                <a:latin typeface="+mn-lt"/>
              </a:rPr>
              <a:t>Postulates and Theorems of Boolean Algebra.</a:t>
            </a:r>
          </a:p>
        </p:txBody>
      </p:sp>
      <p:pic>
        <p:nvPicPr>
          <p:cNvPr id="1026" name="Picture 2"/>
          <p:cNvPicPr>
            <a:picLocks noChangeAspect="1" noChangeArrowheads="1"/>
          </p:cNvPicPr>
          <p:nvPr/>
        </p:nvPicPr>
        <p:blipFill>
          <a:blip r:embed="rId3"/>
          <a:stretch>
            <a:fillRect/>
          </a:stretch>
        </p:blipFill>
        <p:spPr bwMode="auto">
          <a:xfrm>
            <a:off x="990600" y="2305050"/>
            <a:ext cx="7162800"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.2</a:t>
            </a:r>
            <a:r>
              <a:rPr lang="en-US" sz="2000" b="1" dirty="0" smtClean="0">
                <a:latin typeface="+mn-lt"/>
              </a:rPr>
              <a:t/>
            </a:r>
            <a:br>
              <a:rPr lang="en-US" sz="2000" b="1" dirty="0" smtClean="0">
                <a:latin typeface="+mn-lt"/>
              </a:rPr>
            </a:br>
            <a:r>
              <a:rPr lang="en-US" sz="2000" dirty="0" smtClean="0">
                <a:latin typeface="+mn-lt"/>
              </a:rPr>
              <a:t>Truth Tables for F</a:t>
            </a:r>
            <a:r>
              <a:rPr lang="en-US" sz="2000" baseline="-25000" dirty="0" smtClean="0">
                <a:latin typeface="+mn-lt"/>
              </a:rPr>
              <a:t>1</a:t>
            </a:r>
            <a:r>
              <a:rPr lang="en-US" sz="2000" dirty="0" smtClean="0">
                <a:latin typeface="+mn-lt"/>
              </a:rPr>
              <a:t> and F</a:t>
            </a:r>
            <a:r>
              <a:rPr lang="en-US" sz="2000" baseline="-25000" dirty="0" smtClean="0">
                <a:latin typeface="+mn-lt"/>
              </a:rPr>
              <a:t>2.</a:t>
            </a:r>
          </a:p>
        </p:txBody>
      </p:sp>
      <p:pic>
        <p:nvPicPr>
          <p:cNvPr id="1026" name="Picture 2"/>
          <p:cNvPicPr>
            <a:picLocks noChangeAspect="1" noChangeArrowheads="1"/>
          </p:cNvPicPr>
          <p:nvPr/>
        </p:nvPicPr>
        <p:blipFill>
          <a:blip r:embed="rId3" cstate="print"/>
          <a:stretch>
            <a:fillRect/>
          </a:stretch>
        </p:blipFill>
        <p:spPr bwMode="auto">
          <a:xfrm>
            <a:off x="2730605" y="2133600"/>
            <a:ext cx="3682789"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b="1" dirty="0" smtClean="0">
                <a:latin typeface="+mj-lt"/>
              </a:rPr>
              <a:t>Figure 2</a:t>
            </a:r>
            <a:r>
              <a:rPr lang="en-US" sz="2000" dirty="0" smtClean="0">
                <a:latin typeface="+mj-lt"/>
              </a:rPr>
              <a:t>.1</a:t>
            </a:r>
            <a:r>
              <a:rPr lang="en-US" sz="2000" b="1" dirty="0" smtClean="0">
                <a:latin typeface="+mj-lt"/>
              </a:rPr>
              <a:t/>
            </a:r>
            <a:br>
              <a:rPr lang="en-US" sz="2000" b="1" dirty="0" smtClean="0">
                <a:latin typeface="+mj-lt"/>
              </a:rPr>
            </a:br>
            <a:r>
              <a:rPr lang="en-US" sz="2000" dirty="0" smtClean="0">
                <a:latin typeface="+mn-lt"/>
              </a:rPr>
              <a:t>Logic diagram for the Boolean function F</a:t>
            </a:r>
            <a:r>
              <a:rPr lang="en-US" sz="2000" baseline="-25000" dirty="0" smtClean="0">
                <a:latin typeface="+mn-lt"/>
              </a:rPr>
              <a:t>1</a:t>
            </a:r>
            <a:r>
              <a:rPr lang="en-US" sz="2000" dirty="0" smtClean="0">
                <a:latin typeface="+mn-lt"/>
              </a:rPr>
              <a:t> = x + </a:t>
            </a:r>
            <a:r>
              <a:rPr lang="en-US" sz="2000" dirty="0" err="1" smtClean="0">
                <a:latin typeface="+mn-lt"/>
              </a:rPr>
              <a:t>y'z</a:t>
            </a:r>
            <a:r>
              <a:rPr lang="en-US" sz="2000" dirty="0" smtClean="0">
                <a:latin typeface="+mn-lt"/>
              </a:rPr>
              <a:t>. </a:t>
            </a:r>
            <a:br>
              <a:rPr lang="en-US" sz="2000" dirty="0" smtClean="0">
                <a:latin typeface="+mn-lt"/>
              </a:rPr>
            </a:br>
            <a:endParaRPr lang="en-US" sz="2000" dirty="0" smtClean="0">
              <a:latin typeface="+mn-lt"/>
            </a:endParaRPr>
          </a:p>
        </p:txBody>
      </p:sp>
      <p:pic>
        <p:nvPicPr>
          <p:cNvPr id="2050" name="Picture 2" descr="The logic diagram has the following four paths. First path: input x to an or symbol. Second path: input y, inverter, and symbol. Third path: input z, and symbol. Fourth symbol: output y prime z, or symbol. The or symbol produces output F sub 1."/>
          <p:cNvPicPr>
            <a:picLocks noChangeAspect="1" noChangeArrowheads="1"/>
          </p:cNvPicPr>
          <p:nvPr/>
        </p:nvPicPr>
        <p:blipFill>
          <a:blip r:embed="rId3"/>
          <a:stretch>
            <a:fillRect/>
          </a:stretch>
        </p:blipFill>
        <p:spPr bwMode="auto">
          <a:xfrm>
            <a:off x="1143000" y="2574472"/>
            <a:ext cx="6858000" cy="2302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b="1" dirty="0" smtClean="0">
                <a:latin typeface="+mj-lt"/>
              </a:rPr>
              <a:t>Figure 2</a:t>
            </a:r>
            <a:r>
              <a:rPr lang="en-US" sz="2000" dirty="0" smtClean="0">
                <a:latin typeface="+mj-lt"/>
              </a:rPr>
              <a:t>.2</a:t>
            </a:r>
            <a:r>
              <a:rPr lang="en-US" sz="2000" b="1" dirty="0" smtClean="0">
                <a:latin typeface="+mj-lt"/>
              </a:rPr>
              <a:t/>
            </a:r>
            <a:br>
              <a:rPr lang="en-US" sz="2000" b="1" dirty="0" smtClean="0">
                <a:latin typeface="+mj-lt"/>
              </a:rPr>
            </a:br>
            <a:r>
              <a:rPr lang="en-US" sz="2000" dirty="0" smtClean="0">
                <a:latin typeface="+mn-lt"/>
              </a:rPr>
              <a:t>Implementation of Boolean function F</a:t>
            </a:r>
            <a:r>
              <a:rPr lang="en-US" sz="2000" baseline="-25000" dirty="0" smtClean="0">
                <a:latin typeface="+mn-lt"/>
              </a:rPr>
              <a:t>2</a:t>
            </a:r>
            <a:r>
              <a:rPr lang="en-US" sz="2000" dirty="0" smtClean="0">
                <a:latin typeface="+mn-lt"/>
              </a:rPr>
              <a:t> with gates.</a:t>
            </a:r>
            <a:br>
              <a:rPr lang="en-US" sz="2000" dirty="0" smtClean="0">
                <a:latin typeface="+mn-lt"/>
              </a:rPr>
            </a:br>
            <a:endParaRPr lang="en-US" sz="2000" dirty="0" smtClean="0">
              <a:latin typeface="+mn-lt"/>
            </a:endParaRPr>
          </a:p>
        </p:txBody>
      </p:sp>
      <p:pic>
        <p:nvPicPr>
          <p:cNvPr id="2050" name="Picture 2" descr="Two logic diagrams represent Boolean functions."/>
          <p:cNvPicPr>
            <a:picLocks noChangeAspect="1" noChangeArrowheads="1"/>
          </p:cNvPicPr>
          <p:nvPr/>
        </p:nvPicPr>
        <p:blipFill>
          <a:blip r:embed="rId3"/>
          <a:stretch>
            <a:fillRect/>
          </a:stretch>
        </p:blipFill>
        <p:spPr bwMode="auto">
          <a:xfrm>
            <a:off x="1828800" y="1371600"/>
            <a:ext cx="5486400" cy="4572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Practice Exercise 2</a:t>
            </a:r>
            <a:r>
              <a:rPr lang="en-US" sz="2000" dirty="0" smtClean="0">
                <a:latin typeface="+mn-lt"/>
              </a:rPr>
              <a:t>.3</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The diagram has the following paths. First path: input x, first and gate. Second path: input y, inverter, first and gate. Third path: first and gate, output x prime y, or gate. Fourth path: x, inverter, second and gate. Fifth path: y, second and gate. Sixth path: second and gate, output x y prime, or gate. The or gate yields output F."/>
          <p:cNvPicPr>
            <a:picLocks noChangeAspect="1" noChangeArrowheads="1"/>
          </p:cNvPicPr>
          <p:nvPr/>
        </p:nvPicPr>
        <p:blipFill>
          <a:blip r:embed="rId3"/>
          <a:stretch>
            <a:fillRect/>
          </a:stretch>
        </p:blipFill>
        <p:spPr bwMode="auto">
          <a:xfrm>
            <a:off x="989439" y="1112260"/>
            <a:ext cx="7165122" cy="4831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Figure PE2</a:t>
            </a:r>
            <a:r>
              <a:rPr lang="en-US" sz="2000" dirty="0" smtClean="0">
                <a:latin typeface="+mn-lt"/>
              </a:rPr>
              <a:t>.4</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The diagram has the following paths. First path: input x, first and gate. Second path: input y, inverter, first and gate. Third path: first and gate, output x y prime, X or gate. Fourth path: x, inverter, second and gate. Fifth path: y, second and gate. Sixth path: second and gate, output x prime y, X or gate. The X or gate yields output F."/>
          <p:cNvPicPr>
            <a:picLocks noChangeAspect="1" noChangeArrowheads="1"/>
          </p:cNvPicPr>
          <p:nvPr/>
        </p:nvPicPr>
        <p:blipFill>
          <a:blip r:embed="rId3"/>
          <a:stretch>
            <a:fillRect/>
          </a:stretch>
        </p:blipFill>
        <p:spPr bwMode="auto">
          <a:xfrm>
            <a:off x="989439" y="1117378"/>
            <a:ext cx="7165122" cy="4821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.3</a:t>
            </a:r>
            <a:r>
              <a:rPr lang="en-US" sz="2000" b="1" dirty="0" smtClean="0">
                <a:latin typeface="+mn-lt"/>
              </a:rPr>
              <a:t/>
            </a:r>
            <a:br>
              <a:rPr lang="en-US" sz="2000" b="1" dirty="0" smtClean="0">
                <a:latin typeface="+mn-lt"/>
              </a:rPr>
            </a:br>
            <a:r>
              <a:rPr lang="en-US" sz="2000" dirty="0" err="1" smtClean="0">
                <a:latin typeface="+mn-lt"/>
              </a:rPr>
              <a:t>Minterms</a:t>
            </a:r>
            <a:r>
              <a:rPr lang="en-US" sz="2000" dirty="0" smtClean="0">
                <a:latin typeface="+mn-lt"/>
              </a:rPr>
              <a:t> and </a:t>
            </a:r>
            <a:r>
              <a:rPr lang="en-US" sz="2000" dirty="0" err="1" smtClean="0">
                <a:latin typeface="+mn-lt"/>
              </a:rPr>
              <a:t>Maxterms</a:t>
            </a:r>
            <a:r>
              <a:rPr lang="en-US" sz="2000" dirty="0" smtClean="0">
                <a:latin typeface="+mn-lt"/>
              </a:rPr>
              <a:t> for Three Binary Variables.</a:t>
            </a:r>
          </a:p>
        </p:txBody>
      </p:sp>
      <p:pic>
        <p:nvPicPr>
          <p:cNvPr id="1026" name="Picture 2"/>
          <p:cNvPicPr>
            <a:picLocks noChangeAspect="1" noChangeArrowheads="1"/>
          </p:cNvPicPr>
          <p:nvPr/>
        </p:nvPicPr>
        <p:blipFill>
          <a:blip r:embed="rId3"/>
          <a:stretch>
            <a:fillRect/>
          </a:stretch>
        </p:blipFill>
        <p:spPr bwMode="auto">
          <a:xfrm>
            <a:off x="548727" y="2133600"/>
            <a:ext cx="8046546"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.4</a:t>
            </a:r>
            <a:r>
              <a:rPr lang="en-US" sz="2000" b="1" dirty="0" smtClean="0">
                <a:latin typeface="+mn-lt"/>
              </a:rPr>
              <a:t/>
            </a:r>
            <a:br>
              <a:rPr lang="en-US" sz="2000" b="1" dirty="0" smtClean="0">
                <a:latin typeface="+mn-lt"/>
              </a:rPr>
            </a:br>
            <a:r>
              <a:rPr lang="en-US" sz="2000" dirty="0" smtClean="0">
                <a:latin typeface="+mn-lt"/>
              </a:rPr>
              <a:t>Functions of Three Variables.</a:t>
            </a:r>
            <a:endParaRPr lang="en-US" sz="2000" baseline="-25000" dirty="0" smtClean="0">
              <a:latin typeface="+mn-lt"/>
            </a:endParaRPr>
          </a:p>
        </p:txBody>
      </p:sp>
      <p:pic>
        <p:nvPicPr>
          <p:cNvPr id="1026" name="Picture 2"/>
          <p:cNvPicPr>
            <a:picLocks noChangeAspect="1" noChangeArrowheads="1"/>
          </p:cNvPicPr>
          <p:nvPr/>
        </p:nvPicPr>
        <p:blipFill>
          <a:blip r:embed="rId3"/>
          <a:stretch>
            <a:fillRect/>
          </a:stretch>
        </p:blipFill>
        <p:spPr bwMode="auto">
          <a:xfrm>
            <a:off x="1219199" y="1753743"/>
            <a:ext cx="6705602" cy="3788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.5</a:t>
            </a:r>
            <a:r>
              <a:rPr lang="en-US" sz="2000" b="1" dirty="0" smtClean="0">
                <a:latin typeface="+mn-lt"/>
              </a:rPr>
              <a:t/>
            </a:r>
            <a:br>
              <a:rPr lang="en-US" sz="2000" b="1" dirty="0" smtClean="0">
                <a:latin typeface="+mn-lt"/>
              </a:rPr>
            </a:br>
            <a:r>
              <a:rPr lang="en-US" sz="2000" dirty="0" smtClean="0">
                <a:latin typeface="+mn-lt"/>
              </a:rPr>
              <a:t>Truth Table for F = A + B'C.</a:t>
            </a:r>
            <a:endParaRPr lang="en-US" sz="2000" baseline="-25000" dirty="0" smtClean="0">
              <a:latin typeface="+mn-lt"/>
            </a:endParaRPr>
          </a:p>
        </p:txBody>
      </p:sp>
      <p:pic>
        <p:nvPicPr>
          <p:cNvPr id="1026" name="Picture 2"/>
          <p:cNvPicPr>
            <a:picLocks noChangeAspect="1" noChangeArrowheads="1"/>
          </p:cNvPicPr>
          <p:nvPr/>
        </p:nvPicPr>
        <p:blipFill>
          <a:blip r:embed="rId3" cstate="print"/>
          <a:stretch>
            <a:fillRect/>
          </a:stretch>
        </p:blipFill>
        <p:spPr bwMode="auto">
          <a:xfrm>
            <a:off x="2023401" y="1753743"/>
            <a:ext cx="5097198" cy="3788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.6</a:t>
            </a:r>
            <a:r>
              <a:rPr lang="en-US" sz="2000" b="1" dirty="0" smtClean="0">
                <a:latin typeface="+mn-lt"/>
              </a:rPr>
              <a:t/>
            </a:r>
            <a:br>
              <a:rPr lang="en-US" sz="2000" b="1" dirty="0" smtClean="0">
                <a:latin typeface="+mn-lt"/>
              </a:rPr>
            </a:br>
            <a:r>
              <a:rPr lang="en-US" sz="2000" dirty="0" smtClean="0">
                <a:latin typeface="+mn-lt"/>
              </a:rPr>
              <a:t>Truth Table for F = </a:t>
            </a:r>
            <a:r>
              <a:rPr lang="en-US" sz="2000" dirty="0" err="1" smtClean="0">
                <a:latin typeface="+mn-lt"/>
              </a:rPr>
              <a:t>xy</a:t>
            </a:r>
            <a:r>
              <a:rPr lang="en-US" sz="2000" dirty="0" smtClean="0">
                <a:latin typeface="+mn-lt"/>
              </a:rPr>
              <a:t> + </a:t>
            </a:r>
            <a:r>
              <a:rPr lang="en-US" sz="2000" dirty="0" err="1" smtClean="0">
                <a:latin typeface="+mn-lt"/>
              </a:rPr>
              <a:t>x'z</a:t>
            </a:r>
            <a:r>
              <a:rPr lang="en-US" sz="2000" dirty="0" smtClean="0">
                <a:latin typeface="+mn-lt"/>
              </a:rPr>
              <a:t>.</a:t>
            </a:r>
            <a:endParaRPr lang="en-US" sz="2000" baseline="-25000" dirty="0" smtClean="0">
              <a:latin typeface="+mn-lt"/>
            </a:endParaRPr>
          </a:p>
        </p:txBody>
      </p:sp>
      <p:pic>
        <p:nvPicPr>
          <p:cNvPr id="1026" name="Picture 2" descr="The table has columns for the following values from left to right: x, y, z, F. The row entries are as follows: row 1, 0 0 0 0; row 2, 0 0 1 1; row 3, 0 1 0 0; row 4, 0 1 1 1; row 5, 1 0 0 0; row 6, 1 0 1 0; row 7, 1 1 0 1; row 8, 1 1 1 1. In the F column, the ones are min terms, and the zeroes are max terms."/>
          <p:cNvPicPr>
            <a:picLocks noChangeAspect="1" noChangeArrowheads="1"/>
          </p:cNvPicPr>
          <p:nvPr/>
        </p:nvPicPr>
        <p:blipFill>
          <a:blip r:embed="rId3" cstate="print"/>
          <a:stretch>
            <a:fillRect/>
          </a:stretch>
        </p:blipFill>
        <p:spPr bwMode="auto">
          <a:xfrm>
            <a:off x="2023401" y="1915028"/>
            <a:ext cx="5097198" cy="3466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smtClean="0">
                <a:latin typeface="+mn-lt"/>
              </a:rPr>
              <a:t>Figure 2</a:t>
            </a:r>
            <a:r>
              <a:rPr lang="en-US" sz="2000" dirty="0" smtClean="0">
                <a:latin typeface="+mn-lt"/>
              </a:rPr>
              <a:t>.3</a:t>
            </a:r>
            <a:r>
              <a:rPr lang="en-US" sz="2000" b="1" dirty="0" smtClean="0">
                <a:latin typeface="+mn-lt"/>
              </a:rPr>
              <a:t/>
            </a:r>
            <a:br>
              <a:rPr lang="en-US" sz="2000" b="1" dirty="0" smtClean="0">
                <a:latin typeface="+mn-lt"/>
              </a:rPr>
            </a:br>
            <a:r>
              <a:rPr lang="en-US" sz="2000" dirty="0" smtClean="0">
                <a:latin typeface="+mn-lt"/>
              </a:rPr>
              <a:t>Two-level implementation.</a:t>
            </a:r>
          </a:p>
        </p:txBody>
      </p:sp>
      <p:pic>
        <p:nvPicPr>
          <p:cNvPr id="4098" name="Picture 2" descr="Part ay: sum of products. Input y prime or inputs x prime and y and z prime or inputs x and y yield output F sub 1. Part b: product of sums. Input x and input y prime or z and input x prime or y or z prime yield output F sub 2."/>
          <p:cNvPicPr>
            <a:picLocks noChangeAspect="1" noChangeArrowheads="1"/>
          </p:cNvPicPr>
          <p:nvPr/>
        </p:nvPicPr>
        <p:blipFill>
          <a:blip r:embed="rId3"/>
          <a:stretch>
            <a:fillRect/>
          </a:stretch>
        </p:blipFill>
        <p:spPr bwMode="auto">
          <a:xfrm>
            <a:off x="957939" y="2743200"/>
            <a:ext cx="7228122" cy="1652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smtClean="0">
                <a:latin typeface="+mn-lt"/>
              </a:rPr>
              <a:t>Figure 2</a:t>
            </a:r>
            <a:r>
              <a:rPr lang="en-US" sz="2000" dirty="0" smtClean="0">
                <a:latin typeface="+mn-lt"/>
              </a:rPr>
              <a:t>.4</a:t>
            </a:r>
            <a:r>
              <a:rPr lang="en-US" sz="2000" b="1" dirty="0" smtClean="0">
                <a:latin typeface="+mn-lt"/>
              </a:rPr>
              <a:t/>
            </a:r>
            <a:br>
              <a:rPr lang="en-US" sz="2000" b="1" dirty="0" smtClean="0">
                <a:latin typeface="+mn-lt"/>
              </a:rPr>
            </a:br>
            <a:r>
              <a:rPr lang="en-US" sz="2000" dirty="0" smtClean="0">
                <a:latin typeface="+mn-lt"/>
              </a:rPr>
              <a:t>Three- and two-level implementation.</a:t>
            </a:r>
          </a:p>
        </p:txBody>
      </p:sp>
      <p:pic>
        <p:nvPicPr>
          <p:cNvPr id="4098" name="Picture 2" descr="Part ay: A B + C times, D + E. The logic diagram shows the following paths. Inputs Ay and B or inputs C and, D or E, yield output F sub 3. Part b: Ay B + C D + C E. Inputs Ay and B or inputs C and D or inputs C and E yield output F sub 3."/>
          <p:cNvPicPr>
            <a:picLocks noChangeAspect="1" noChangeArrowheads="1"/>
          </p:cNvPicPr>
          <p:nvPr/>
        </p:nvPicPr>
        <p:blipFill>
          <a:blip r:embed="rId3"/>
          <a:stretch>
            <a:fillRect/>
          </a:stretch>
        </p:blipFill>
        <p:spPr bwMode="auto">
          <a:xfrm>
            <a:off x="957939" y="2590800"/>
            <a:ext cx="7228122" cy="1868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Practice Exercise 2</a:t>
            </a:r>
            <a:r>
              <a:rPr lang="en-US" sz="2000" dirty="0" smtClean="0">
                <a:latin typeface="+mn-lt"/>
              </a:rPr>
              <a:t>.12</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The diagram has the following paths. First path: input B, first and gate. Second path: C, inverter, first and gate. Third path: first and gate, output B C prime, or gate. Fourth path: input Ay, second and gate. Fifth path: input B, second and gate. Sixth path: second and gate, output Ay B, or gate. Seventh path: input Ay, third and gate. Eighth path: input C, third and gate. Ninth path: input D, third and gate. Tenth path: third and gate, output Ay C D, or gate. The or gate yields output F."/>
          <p:cNvPicPr>
            <a:picLocks noChangeAspect="1" noChangeArrowheads="1"/>
          </p:cNvPicPr>
          <p:nvPr/>
        </p:nvPicPr>
        <p:blipFill>
          <a:blip r:embed="rId3"/>
          <a:stretch>
            <a:fillRect/>
          </a:stretch>
        </p:blipFill>
        <p:spPr bwMode="auto">
          <a:xfrm>
            <a:off x="685800" y="1371600"/>
            <a:ext cx="7772400" cy="420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.7</a:t>
            </a:r>
            <a:r>
              <a:rPr lang="en-US" sz="2000" b="1" dirty="0" smtClean="0">
                <a:latin typeface="+mn-lt"/>
              </a:rPr>
              <a:t/>
            </a:r>
            <a:br>
              <a:rPr lang="en-US" sz="2000" b="1" dirty="0" smtClean="0">
                <a:latin typeface="+mn-lt"/>
              </a:rPr>
            </a:br>
            <a:r>
              <a:rPr lang="en-US" sz="2000" dirty="0" smtClean="0">
                <a:latin typeface="+mn-lt"/>
              </a:rPr>
              <a:t>Truth Tables for the 16 Functions of Two Binary Variables.</a:t>
            </a:r>
            <a:endParaRPr lang="en-US" sz="2000" baseline="-25000" dirty="0" smtClean="0">
              <a:latin typeface="+mn-lt"/>
            </a:endParaRPr>
          </a:p>
        </p:txBody>
      </p:sp>
      <p:pic>
        <p:nvPicPr>
          <p:cNvPr id="1026" name="Picture 2" descr="Coordinate system A is defined by three orthogonal unit vectors with a common vertex, or origin: X-hat sub Ay, Y-hat sub Ay, and Z-hat sub Ay. Position vector super Ay P extends from the origin to a point in space."/>
          <p:cNvPicPr>
            <a:picLocks noChangeAspect="1" noChangeArrowheads="1"/>
          </p:cNvPicPr>
          <p:nvPr/>
        </p:nvPicPr>
        <p:blipFill>
          <a:blip r:embed="rId3"/>
          <a:stretch>
            <a:fillRect/>
          </a:stretch>
        </p:blipFill>
        <p:spPr bwMode="auto">
          <a:xfrm>
            <a:off x="685800" y="2590800"/>
            <a:ext cx="7772400" cy="1543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2</a:t>
            </a:r>
            <a:r>
              <a:rPr lang="en-US" sz="2000" dirty="0" smtClean="0">
                <a:latin typeface="+mn-lt"/>
              </a:rPr>
              <a:t>.8</a:t>
            </a:r>
            <a:r>
              <a:rPr lang="en-US" sz="2000" b="1" dirty="0" smtClean="0">
                <a:latin typeface="+mn-lt"/>
              </a:rPr>
              <a:t/>
            </a:r>
            <a:br>
              <a:rPr lang="en-US" sz="2000" b="1" dirty="0" smtClean="0">
                <a:latin typeface="+mn-lt"/>
              </a:rPr>
            </a:br>
            <a:r>
              <a:rPr lang="en-US" sz="2000" dirty="0" smtClean="0">
                <a:latin typeface="+mn-lt"/>
              </a:rPr>
              <a:t>Boolean Expressions for the 16 Functions of Two Variables.</a:t>
            </a:r>
            <a:endParaRPr lang="en-US" sz="2000" baseline="-25000" dirty="0" smtClean="0">
              <a:latin typeface="+mn-lt"/>
            </a:endParaRPr>
          </a:p>
        </p:txBody>
      </p:sp>
      <p:pic>
        <p:nvPicPr>
          <p:cNvPr id="1026" name="Picture 2" descr="Coordinate system A is defined by three orthogonal unit vectors with a common vertex, or origin: X-hat sub Ay, Y-hat sub Ay, and Z-hat sub Ay. Position vector super Ay P extends from the origin to a point in space."/>
          <p:cNvPicPr>
            <a:picLocks noChangeAspect="1" noChangeArrowheads="1"/>
          </p:cNvPicPr>
          <p:nvPr/>
        </p:nvPicPr>
        <p:blipFill>
          <a:blip r:embed="rId3"/>
          <a:stretch>
            <a:fillRect/>
          </a:stretch>
        </p:blipFill>
        <p:spPr bwMode="auto">
          <a:xfrm>
            <a:off x="1066800" y="1449813"/>
            <a:ext cx="7010400" cy="4396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91728" cy="914400"/>
          </a:xfrm>
        </p:spPr>
        <p:txBody>
          <a:bodyPr/>
          <a:lstStyle/>
          <a:p>
            <a:r>
              <a:rPr lang="en-US" sz="2000" b="1" dirty="0" smtClean="0">
                <a:latin typeface="+mn-lt"/>
              </a:rPr>
              <a:t>Figure 2</a:t>
            </a:r>
            <a:r>
              <a:rPr lang="en-US" sz="2000" dirty="0" smtClean="0">
                <a:latin typeface="+mn-lt"/>
              </a:rPr>
              <a:t>.5</a:t>
            </a:r>
            <a:r>
              <a:rPr lang="en-US" sz="2000" b="1" dirty="0" smtClean="0">
                <a:latin typeface="+mn-lt"/>
              </a:rPr>
              <a:t/>
            </a:r>
            <a:br>
              <a:rPr lang="en-US" sz="2000" b="1" dirty="0" smtClean="0">
                <a:latin typeface="+mn-lt"/>
              </a:rPr>
            </a:br>
            <a:r>
              <a:rPr lang="en-US" sz="2000" dirty="0" smtClean="0">
                <a:latin typeface="+mn-lt"/>
              </a:rPr>
              <a:t>Digital logic gates.</a:t>
            </a:r>
          </a:p>
        </p:txBody>
      </p:sp>
      <p:pic>
        <p:nvPicPr>
          <p:cNvPr id="5122" name="Picture 2" descr="The table columns have the following headings from left to right: name, symbol, function, truth table. For each truth table, the following description includes the column headings and row entries from left to right, and top to bottom. The row entries are as follows. Name: and. Symbol: standard. Function: F = x times y. Truth table, x, y, F: 0 0 0, 0 1 0, 1 0 0, 1 1 1. Name: or. Symbol: standard. Function: F = x + y. Truth table, x, y, F: 0 0 0, 0 1 1, 1 0 1, 1 1 1. Name: inverter. Symbol: standard. Function: F = x prime. Truth table, x, F: 0 1, 1 0. Name: buffer. Symbol: inverter symbol with bubble removed. Function: F = x. Truth table, x, F: 0 0, 1 1. Name: n and. Symbol: and symbol with bubble at output. Function: F = x y, prime. Truth table, x, y, F: 0 0 1, 0 1 1, 1 0 1, 1 1 0. Name: N or. Symbol: or symbol with bubble at output. Function: F = x + y, prime. Truth table, x, y, F: 0 0 1, 0 1 0, 1 0 0, 1 1 0. Name: exclusive or, X or. Symbol: or symbol with double curved line at rear end of arrow. Function: x y prime + x prime y = x circle plus y. truth table, x, y, F: 0 0 0, 0 1 1, 1 0 1, 1 1 0. Name: exclusive nor, or equivalence. Symbol: X or with bubble at output. Function: x y + x prime y prime = x circle plus y, prime. Truth table, x, y, F: 0 0 1, 0 1 0, 1 0 0, 1 1 1."/>
          <p:cNvPicPr>
            <a:picLocks noChangeAspect="1" noChangeArrowheads="1"/>
          </p:cNvPicPr>
          <p:nvPr/>
        </p:nvPicPr>
        <p:blipFill>
          <a:blip r:embed="rId3"/>
          <a:stretch>
            <a:fillRect/>
          </a:stretch>
        </p:blipFill>
        <p:spPr bwMode="auto">
          <a:xfrm>
            <a:off x="3014156" y="1219200"/>
            <a:ext cx="3115689" cy="499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486"/>
            <a:ext cx="8467928" cy="1167714"/>
          </a:xfrm>
        </p:spPr>
        <p:txBody>
          <a:bodyPr/>
          <a:lstStyle/>
          <a:p>
            <a:r>
              <a:rPr lang="en-US" sz="2000" b="1" dirty="0" smtClean="0">
                <a:latin typeface="+mn-lt"/>
              </a:rPr>
              <a:t>Figure 2</a:t>
            </a:r>
            <a:r>
              <a:rPr lang="en-US" sz="2000" dirty="0" smtClean="0">
                <a:latin typeface="+mn-lt"/>
              </a:rPr>
              <a:t>.6</a:t>
            </a:r>
            <a:r>
              <a:rPr lang="en-US" sz="2000" b="1" dirty="0" smtClean="0">
                <a:latin typeface="+mn-lt"/>
              </a:rPr>
              <a:t/>
            </a:r>
            <a:br>
              <a:rPr lang="en-US" sz="2000" b="1" dirty="0" smtClean="0">
                <a:latin typeface="+mn-lt"/>
              </a:rPr>
            </a:br>
            <a:r>
              <a:rPr lang="en-US" sz="2000" dirty="0" smtClean="0">
                <a:latin typeface="+mn-lt"/>
              </a:rPr>
              <a:t>Demonstrating the </a:t>
            </a:r>
            <a:r>
              <a:rPr lang="en-US" sz="2000" dirty="0" err="1" smtClean="0">
                <a:latin typeface="+mn-lt"/>
              </a:rPr>
              <a:t>nonassociativity</a:t>
            </a:r>
            <a:r>
              <a:rPr lang="en-US" sz="2000" dirty="0" smtClean="0">
                <a:latin typeface="+mn-lt"/>
              </a:rPr>
              <a:t> of the NOR </a:t>
            </a:r>
            <a:br>
              <a:rPr lang="en-US" sz="2000" dirty="0" smtClean="0">
                <a:latin typeface="+mn-lt"/>
              </a:rPr>
            </a:br>
            <a:r>
              <a:rPr lang="en-US" sz="2000" dirty="0" smtClean="0">
                <a:latin typeface="+mn-lt"/>
              </a:rPr>
              <a:t>operator: (x</a:t>
            </a:r>
            <a:r>
              <a:rPr lang="en-US" sz="2000" dirty="0" smtClean="0"/>
              <a:t> ↓ </a:t>
            </a:r>
            <a:r>
              <a:rPr lang="en-US" sz="2000" dirty="0" smtClean="0">
                <a:latin typeface="+mn-lt"/>
              </a:rPr>
              <a:t>y)</a:t>
            </a:r>
            <a:r>
              <a:rPr lang="en-US" sz="2000" dirty="0" smtClean="0"/>
              <a:t> ↓ </a:t>
            </a:r>
            <a:r>
              <a:rPr lang="en-US" sz="2000" dirty="0" smtClean="0">
                <a:latin typeface="+mn-lt"/>
              </a:rPr>
              <a:t>z ≠ x</a:t>
            </a:r>
            <a:r>
              <a:rPr lang="en-US" sz="2000" dirty="0" smtClean="0"/>
              <a:t> ↓</a:t>
            </a:r>
            <a:r>
              <a:rPr lang="en-US" sz="2000" dirty="0" smtClean="0">
                <a:latin typeface="+mn-lt"/>
              </a:rPr>
              <a:t>(y</a:t>
            </a:r>
            <a:r>
              <a:rPr lang="en-US" sz="2000" dirty="0" smtClean="0"/>
              <a:t> ↓ </a:t>
            </a:r>
            <a:r>
              <a:rPr lang="en-US" sz="2000" dirty="0" smtClean="0">
                <a:latin typeface="+mn-lt"/>
              </a:rPr>
              <a:t>z).</a:t>
            </a:r>
          </a:p>
        </p:txBody>
      </p:sp>
      <p:pic>
        <p:nvPicPr>
          <p:cNvPr id="6146" name="Picture 2" descr="The first diagram has the following structure: input x nor y, nor input y. The output is represented by the following equation left parenthesis x down arrow y right parenthesis down arrow z = left parenthesis x + y right parenthesis z prime. The second diagram has the following structure: input x nor input y nor z. The output is represented by the following equation x down arrow left parenthesis y down arrow x right parenthesis = x prime left parenthesis y + z right parenthesis."/>
          <p:cNvPicPr>
            <a:picLocks noChangeAspect="1" noChangeArrowheads="1"/>
          </p:cNvPicPr>
          <p:nvPr/>
        </p:nvPicPr>
        <p:blipFill>
          <a:blip r:embed="rId3"/>
          <a:stretch>
            <a:fillRect/>
          </a:stretch>
        </p:blipFill>
        <p:spPr bwMode="auto">
          <a:xfrm>
            <a:off x="1680325" y="1828800"/>
            <a:ext cx="6168276" cy="4053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91728" cy="914400"/>
          </a:xfrm>
        </p:spPr>
        <p:txBody>
          <a:bodyPr/>
          <a:lstStyle/>
          <a:p>
            <a:r>
              <a:rPr lang="en-US" sz="2000" b="1" dirty="0" smtClean="0">
                <a:latin typeface="+mn-lt"/>
              </a:rPr>
              <a:t>Figure 2</a:t>
            </a:r>
            <a:r>
              <a:rPr lang="en-US" sz="2000" dirty="0" smtClean="0">
                <a:latin typeface="+mn-lt"/>
              </a:rPr>
              <a:t>.7</a:t>
            </a:r>
            <a:r>
              <a:rPr lang="en-US" sz="2000" b="1" dirty="0" smtClean="0">
                <a:latin typeface="+mn-lt"/>
              </a:rPr>
              <a:t/>
            </a:r>
            <a:br>
              <a:rPr lang="en-US" sz="2000" b="1" dirty="0" smtClean="0">
                <a:latin typeface="+mn-lt"/>
              </a:rPr>
            </a:br>
            <a:r>
              <a:rPr lang="en-US" sz="2000" dirty="0" smtClean="0">
                <a:latin typeface="+mn-lt"/>
              </a:rPr>
              <a:t>Multiple-input and cascaded NOR and NAND gates.</a:t>
            </a:r>
          </a:p>
        </p:txBody>
      </p:sp>
      <p:pic>
        <p:nvPicPr>
          <p:cNvPr id="7170" name="Picture 2" descr="Part ay: 3-input N or gate. The diagram has the following structure: input x nor y nor z, output left parenthesis x + y + z right parenthesis prime. Part b: 3-input N and gate. The diagram has the following structure: input x and not y and not z, output x y z, prime. Part c: cascaded N and gates. The diagram has the following structure: inputs not Ay and not B and not C, and not input not D and not E; output F. F is represented by the following equation F = left bracket left parenthesis Ay B C right parenthesis prime times left parenthesis D E right parenthesis prime right bracket prime = Ay B C + D E."/>
          <p:cNvPicPr>
            <a:picLocks noChangeAspect="1" noChangeArrowheads="1"/>
          </p:cNvPicPr>
          <p:nvPr/>
        </p:nvPicPr>
        <p:blipFill>
          <a:blip r:embed="rId3"/>
          <a:stretch>
            <a:fillRect/>
          </a:stretch>
        </p:blipFill>
        <p:spPr bwMode="auto">
          <a:xfrm>
            <a:off x="804206" y="1676400"/>
            <a:ext cx="7535589" cy="3853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4158"/>
            <a:ext cx="8391728" cy="928815"/>
          </a:xfrm>
        </p:spPr>
        <p:txBody>
          <a:bodyPr/>
          <a:lstStyle/>
          <a:p>
            <a:r>
              <a:rPr lang="en-US" sz="2000" b="1" dirty="0" smtClean="0">
                <a:latin typeface="+mn-lt"/>
              </a:rPr>
              <a:t>Figure 2</a:t>
            </a:r>
            <a:r>
              <a:rPr lang="en-US" sz="2000" dirty="0" smtClean="0">
                <a:latin typeface="+mn-lt"/>
              </a:rPr>
              <a:t>.8</a:t>
            </a:r>
            <a:r>
              <a:rPr lang="en-US" sz="2000" b="1" dirty="0" smtClean="0">
                <a:latin typeface="+mn-lt"/>
              </a:rPr>
              <a:t/>
            </a:r>
            <a:br>
              <a:rPr lang="en-US" sz="2000" b="1" dirty="0" smtClean="0">
                <a:latin typeface="+mn-lt"/>
              </a:rPr>
            </a:br>
            <a:r>
              <a:rPr lang="en-US" sz="2000" dirty="0" smtClean="0">
                <a:latin typeface="+mn-lt"/>
              </a:rPr>
              <a:t>Three-input exclusive-OR gate.</a:t>
            </a:r>
          </a:p>
        </p:txBody>
      </p:sp>
      <p:pic>
        <p:nvPicPr>
          <p:cNvPr id="8194" name="Picture 2" descr="Part ay: using 2-input gates. The diagram has the following structure: Input x exclusive or y, exclusive or input z; output F = x circle plus y circle plus z. part b: 3-input gate. The diagram has the following structure: input x exclusive or y exclusive or z, output F = x circle plus y circle plus z. Part c: A truth table has the columns for the following values from left to right: x, y, z, F. The row values are as follows: 0 0 0 0, 0 0 1 1, 0 1 0 1, 0 1 1 0, 1 0 0 1, 1 0 1 0, 1 1 0 0, 1 1 1 1."/>
          <p:cNvPicPr>
            <a:picLocks noChangeAspect="1" noChangeArrowheads="1"/>
          </p:cNvPicPr>
          <p:nvPr/>
        </p:nvPicPr>
        <p:blipFill>
          <a:blip r:embed="rId3"/>
          <a:stretch>
            <a:fillRect/>
          </a:stretch>
        </p:blipFill>
        <p:spPr bwMode="auto">
          <a:xfrm>
            <a:off x="944973" y="2090126"/>
            <a:ext cx="7360828" cy="293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91728" cy="926757"/>
          </a:xfrm>
        </p:spPr>
        <p:txBody>
          <a:bodyPr/>
          <a:lstStyle/>
          <a:p>
            <a:r>
              <a:rPr lang="en-US" sz="2000" b="1" dirty="0" smtClean="0">
                <a:latin typeface="+mn-lt"/>
              </a:rPr>
              <a:t>Figure 2</a:t>
            </a:r>
            <a:r>
              <a:rPr lang="en-US" sz="2000" dirty="0" smtClean="0">
                <a:latin typeface="+mn-lt"/>
              </a:rPr>
              <a:t>.9</a:t>
            </a:r>
            <a:r>
              <a:rPr lang="en-US" sz="2000" b="1" dirty="0" smtClean="0">
                <a:latin typeface="+mn-lt"/>
              </a:rPr>
              <a:t/>
            </a:r>
            <a:br>
              <a:rPr lang="en-US" sz="2000" b="1" dirty="0" smtClean="0">
                <a:latin typeface="+mn-lt"/>
              </a:rPr>
            </a:br>
            <a:r>
              <a:rPr lang="en-US" sz="2000" dirty="0" smtClean="0">
                <a:latin typeface="+mn-lt"/>
              </a:rPr>
              <a:t>Signal assignment and logic polarity.</a:t>
            </a:r>
          </a:p>
        </p:txBody>
      </p:sp>
      <p:pic>
        <p:nvPicPr>
          <p:cNvPr id="9218" name="Picture 2" descr="Part ay: positive logic. Logic value 1 corresponds to signal value high, H, and logic value 0 corresponds to signal value low, L. Part b: negative logic. Logic value 0 corresponds to signal value H, and logic value 1 corresponds to signal value L."/>
          <p:cNvPicPr>
            <a:picLocks noChangeAspect="1" noChangeArrowheads="1"/>
          </p:cNvPicPr>
          <p:nvPr/>
        </p:nvPicPr>
        <p:blipFill>
          <a:blip r:embed="rId3"/>
          <a:stretch>
            <a:fillRect/>
          </a:stretch>
        </p:blipFill>
        <p:spPr bwMode="auto">
          <a:xfrm>
            <a:off x="937204" y="2590800"/>
            <a:ext cx="7236038" cy="1912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0"/>
            <a:ext cx="8391728" cy="926757"/>
          </a:xfrm>
        </p:spPr>
        <p:txBody>
          <a:bodyPr/>
          <a:lstStyle/>
          <a:p>
            <a:r>
              <a:rPr lang="en-US" sz="2000" b="1" dirty="0" smtClean="0">
                <a:latin typeface="+mn-lt"/>
              </a:rPr>
              <a:t>Figure 2</a:t>
            </a:r>
            <a:r>
              <a:rPr lang="en-US" sz="2000" dirty="0" smtClean="0">
                <a:latin typeface="+mn-lt"/>
              </a:rPr>
              <a:t>.10</a:t>
            </a:r>
            <a:r>
              <a:rPr lang="en-US" sz="2000" b="1" dirty="0" smtClean="0">
                <a:latin typeface="+mn-lt"/>
              </a:rPr>
              <a:t/>
            </a:r>
            <a:br>
              <a:rPr lang="en-US" sz="2000" b="1" dirty="0" smtClean="0">
                <a:latin typeface="+mn-lt"/>
              </a:rPr>
            </a:br>
            <a:r>
              <a:rPr lang="en-US" sz="2000" dirty="0" smtClean="0">
                <a:latin typeface="+mn-lt"/>
              </a:rPr>
              <a:t>Demonstration of positive and negative logic</a:t>
            </a:r>
            <a:r>
              <a:rPr lang="en-US" sz="2000" i="1" dirty="0" smtClean="0">
                <a:latin typeface="+mn-lt"/>
              </a:rPr>
              <a:t>.</a:t>
            </a:r>
            <a:endParaRPr lang="en-US" sz="2000" dirty="0" smtClean="0">
              <a:latin typeface="+mn-lt"/>
            </a:endParaRPr>
          </a:p>
        </p:txBody>
      </p:sp>
      <p:pic>
        <p:nvPicPr>
          <p:cNvPr id="10242" name="Picture 2" descr="Part ay, truth table with H and L: L L L, L H L, H L L, H H H. Part b, gate block diagram: inputs x and y, digital gate, output z. Part c, truth table for positive logic: 0 0 0, 0 1 0, 1 0 0, 1 1 1. Part d, positive logic and gate: inputs x and y, and gate, output z. Part e, truth table for negative logic: 1 1 1, 1 0 1, 0 1 1, 0 0 0. Part f, negative logic or gate: inputs x and y with half arrow heads, or gate, output z with half arrow head."/>
          <p:cNvPicPr>
            <a:picLocks noChangeAspect="1" noChangeArrowheads="1"/>
          </p:cNvPicPr>
          <p:nvPr/>
        </p:nvPicPr>
        <p:blipFill>
          <a:blip r:embed="rId3"/>
          <a:stretch>
            <a:fillRect/>
          </a:stretch>
        </p:blipFill>
        <p:spPr bwMode="auto">
          <a:xfrm>
            <a:off x="2695302" y="1219200"/>
            <a:ext cx="3753396" cy="5004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Practice Exercise 2</a:t>
            </a:r>
            <a:r>
              <a:rPr lang="en-US" sz="2000" dirty="0" smtClean="0">
                <a:latin typeface="+mn-lt"/>
              </a:rPr>
              <a:t>.13</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The diagram has the following paths. First path: D, first or gate. Second path: C, inverter, first or gate. Third path: first or gate, output D + C prime, first and gate. Fourth path: Ay, inverter, second or gate. Fifth path: C, second or gate. Sixth path: second or gate, output Ay prime + C, first and gate. Seventh path: first and gate, third or gate. Eighth path: B, second and gate. Ninth path: C, second and gate. Tenth path: second and gate, output B C, third or gate. Eleventh path: D, third or gate. The third or gate produces output F."/>
          <p:cNvPicPr>
            <a:picLocks noChangeAspect="1" noChangeArrowheads="1"/>
          </p:cNvPicPr>
          <p:nvPr/>
        </p:nvPicPr>
        <p:blipFill>
          <a:blip r:embed="rId3"/>
          <a:stretch>
            <a:fillRect/>
          </a:stretch>
        </p:blipFill>
        <p:spPr bwMode="auto">
          <a:xfrm>
            <a:off x="685800" y="1479347"/>
            <a:ext cx="7772400" cy="409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Problem</a:t>
            </a:r>
            <a:r>
              <a:rPr lang="en-US" sz="2000" b="1" dirty="0" smtClean="0">
                <a:latin typeface="+mn-lt"/>
              </a:rPr>
              <a:t> 2</a:t>
            </a:r>
            <a:r>
              <a:rPr lang="en-US" sz="2000" dirty="0" smtClean="0">
                <a:latin typeface="+mn-lt"/>
              </a:rPr>
              <a:t>.15</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Frames U, Ay, B, and C have different orientations relative to one another. Position vectors extend from the origin of frame U to the origins of frames Ay and B. A third position vector extends from the origin of frame Ay to the origin of frame C."/>
          <p:cNvPicPr>
            <a:picLocks noChangeAspect="1" noChangeArrowheads="1"/>
          </p:cNvPicPr>
          <p:nvPr/>
        </p:nvPicPr>
        <p:blipFill>
          <a:blip r:embed="rId3"/>
          <a:stretch>
            <a:fillRect/>
          </a:stretch>
        </p:blipFill>
        <p:spPr bwMode="auto">
          <a:xfrm>
            <a:off x="1295400" y="1220451"/>
            <a:ext cx="6553200" cy="463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Table</a:t>
            </a:r>
            <a:r>
              <a:rPr lang="en-US" sz="2000" b="1" dirty="0" smtClean="0">
                <a:latin typeface="+mn-lt"/>
              </a:rPr>
              <a:t> P2</a:t>
            </a:r>
            <a:r>
              <a:rPr lang="en-US" sz="2000" dirty="0" smtClean="0">
                <a:latin typeface="+mn-lt"/>
              </a:rPr>
              <a:t>.27</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Frames U, Ay, B, and C have different orientations relative to one another. Position vectors extend from the origin of frame U to the origins of frames Ay and B. A third position vector extends from the origin of frame Ay to the origin of frame C."/>
          <p:cNvPicPr>
            <a:picLocks noChangeAspect="1" noChangeArrowheads="1"/>
          </p:cNvPicPr>
          <p:nvPr/>
        </p:nvPicPr>
        <p:blipFill>
          <a:blip r:embed="rId3"/>
          <a:stretch>
            <a:fillRect/>
          </a:stretch>
        </p:blipFill>
        <p:spPr bwMode="auto">
          <a:xfrm>
            <a:off x="1066800" y="1409319"/>
            <a:ext cx="7010400" cy="4256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a:t>
            </a:r>
            <a:r>
              <a:rPr lang="en-US" sz="2000" b="1" dirty="0" smtClean="0">
                <a:latin typeface="+mn-lt"/>
              </a:rPr>
              <a:t>P2</a:t>
            </a:r>
            <a:r>
              <a:rPr lang="en-US" sz="2000" dirty="0" smtClean="0">
                <a:latin typeface="+mn-lt"/>
              </a:rPr>
              <a:t>.28</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Part ay: The logic diagram has the following structure. Inputs b, c, and d lead to the first N and gate. Inputs ay and e lead to the second n and gate. The first n and gate leads to the second n and gate, and the second n and gate leads to and inverter that produces output y. Part b: Inputs c, d, and e lead to an or gate. Input ay and the or gate lead to the X or gate, producing output y sub 1. Input f, the or gate, and b via an inverter lead to an n and gate. The n and gate leads to an inverter, and the inverter produces output y sub 2."/>
          <p:cNvPicPr>
            <a:picLocks noChangeAspect="1" noChangeArrowheads="1"/>
          </p:cNvPicPr>
          <p:nvPr/>
        </p:nvPicPr>
        <p:blipFill>
          <a:blip r:embed="rId3"/>
          <a:stretch>
            <a:fillRect/>
          </a:stretch>
        </p:blipFill>
        <p:spPr bwMode="auto">
          <a:xfrm>
            <a:off x="838200" y="2209800"/>
            <a:ext cx="7467600" cy="2384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a:t>
            </a:r>
            <a:r>
              <a:rPr lang="en-US" sz="2000" b="1" dirty="0" smtClean="0">
                <a:latin typeface="+mn-lt"/>
              </a:rPr>
              <a:t>P2</a:t>
            </a:r>
            <a:r>
              <a:rPr lang="en-US" sz="2000" dirty="0" smtClean="0">
                <a:latin typeface="+mn-lt"/>
              </a:rPr>
              <a:t>.32</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A logic diagram. Inputs ay, b, and c lead to an n and gate, producing output f. Inputs ay, b, and c lead to an n or gate, producing output g."/>
          <p:cNvPicPr>
            <a:picLocks noChangeAspect="1" noChangeArrowheads="1"/>
          </p:cNvPicPr>
          <p:nvPr/>
        </p:nvPicPr>
        <p:blipFill>
          <a:blip r:embed="rId3" cstate="print"/>
          <a:stretch>
            <a:fillRect/>
          </a:stretch>
        </p:blipFill>
        <p:spPr bwMode="auto">
          <a:xfrm>
            <a:off x="2743199" y="1556473"/>
            <a:ext cx="3657602" cy="3690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a:t>
            </a:r>
            <a:r>
              <a:rPr lang="en-US" sz="2000" b="1" dirty="0" smtClean="0">
                <a:latin typeface="+mn-lt"/>
              </a:rPr>
              <a:t>P2</a:t>
            </a:r>
            <a:r>
              <a:rPr lang="en-US" sz="2000" dirty="0" smtClean="0">
                <a:latin typeface="+mn-lt"/>
              </a:rPr>
              <a:t>.33</a:t>
            </a:r>
            <a:r>
              <a:rPr lang="en-US" sz="2000" b="1" dirty="0" smtClean="0">
                <a:latin typeface="+mn-lt"/>
              </a:rPr>
              <a:t/>
            </a:r>
            <a:br>
              <a:rPr lang="en-US" sz="2000" b="1" dirty="0" smtClean="0">
                <a:latin typeface="+mn-lt"/>
              </a:rPr>
            </a:br>
            <a:r>
              <a:rPr lang="en-US" sz="2000" dirty="0" smtClean="0">
                <a:latin typeface="+mn-lt"/>
              </a:rPr>
              <a:t/>
            </a:r>
            <a:br>
              <a:rPr lang="en-US" sz="2000" dirty="0" smtClean="0">
                <a:latin typeface="+mn-lt"/>
              </a:rPr>
            </a:br>
            <a:endParaRPr lang="en-US" sz="2000" dirty="0" smtClean="0">
              <a:latin typeface="+mn-lt"/>
            </a:endParaRPr>
          </a:p>
        </p:txBody>
      </p:sp>
      <p:pic>
        <p:nvPicPr>
          <p:cNvPr id="3074" name="Picture 2" descr="A logic diagram. Inputs ay and b lead to an X or gate, producing output f. Inputs ay and b lead to an X n or gate, producing output g."/>
          <p:cNvPicPr>
            <a:picLocks noChangeAspect="1" noChangeArrowheads="1"/>
          </p:cNvPicPr>
          <p:nvPr/>
        </p:nvPicPr>
        <p:blipFill>
          <a:blip r:embed="rId3" cstate="print"/>
          <a:stretch>
            <a:fillRect/>
          </a:stretch>
        </p:blipFill>
        <p:spPr bwMode="auto">
          <a:xfrm>
            <a:off x="2590799" y="1447800"/>
            <a:ext cx="3962402" cy="4132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742</TotalTime>
  <Words>107</Words>
  <Application>Microsoft Office PowerPoint</Application>
  <PresentationFormat>On-screen Show (4:3)</PresentationFormat>
  <Paragraphs>59</Paragraphs>
  <Slides>28</Slides>
  <Notes>27</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508 Lecture</vt:lpstr>
      <vt:lpstr>Digital Design</vt:lpstr>
      <vt:lpstr>Table 2.1 Postulates and Theorems of Boolean Algebra.</vt:lpstr>
      <vt:lpstr>Table 2.2 Truth Tables for F1 and F2.</vt:lpstr>
      <vt:lpstr>Figure 2.1 Logic diagram for the Boolean function F1 = x + y'z.  </vt:lpstr>
      <vt:lpstr>Figure 2.2 Implementation of Boolean function F2 with gates. </vt:lpstr>
      <vt:lpstr>Practice Exercise 2.3  </vt:lpstr>
      <vt:lpstr>Figure PE2.4  </vt:lpstr>
      <vt:lpstr>Table 2.3 Minterms and Maxterms for Three Binary Variables.</vt:lpstr>
      <vt:lpstr>Table 2.4 Functions of Three Variables.</vt:lpstr>
      <vt:lpstr>Table 2.5 Truth Table for F = A + B'C.</vt:lpstr>
      <vt:lpstr>Table 2.6 Truth Table for F = xy + x'z.</vt:lpstr>
      <vt:lpstr>Figure 2.3 Two-level implementation.</vt:lpstr>
      <vt:lpstr>Figure 2.4 Three- and two-level implementation.</vt:lpstr>
      <vt:lpstr>Practice Exercise 2.12  </vt:lpstr>
      <vt:lpstr>Table 2.7 Truth Tables for the 16 Functions of Two Binary Variables.</vt:lpstr>
      <vt:lpstr>Table 2.8 Boolean Expressions for the 16 Functions of Two Variables.</vt:lpstr>
      <vt:lpstr>Figure 2.5 Digital logic gates.</vt:lpstr>
      <vt:lpstr>Figure 2.6 Demonstrating the nonassociativity of the NOR  operator: (x ↓ y) ↓ z ≠ x ↓(y ↓ z).</vt:lpstr>
      <vt:lpstr>Figure 2.7 Multiple-input and cascaded NOR and NAND gates.</vt:lpstr>
      <vt:lpstr>Figure 2.8 Three-input exclusive-OR gate.</vt:lpstr>
      <vt:lpstr>Figure 2.9 Signal assignment and logic polarity.</vt:lpstr>
      <vt:lpstr>Figure 2.10 Demonstration of positive and negative logic.</vt:lpstr>
      <vt:lpstr>Practice Exercise 2.13  </vt:lpstr>
      <vt:lpstr>Problem 2.15  </vt:lpstr>
      <vt:lpstr>Table P2.27  </vt:lpstr>
      <vt:lpstr>Figure P2.28  </vt:lpstr>
      <vt:lpstr>Figure P2.32  </vt:lpstr>
      <vt:lpstr>Figure P2.33  </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340</cp:revision>
  <dcterms:created xsi:type="dcterms:W3CDTF">2014-07-14T20:04:21Z</dcterms:created>
  <dcterms:modified xsi:type="dcterms:W3CDTF">2018-06-21T09:11:08Z</dcterms:modified>
</cp:coreProperties>
</file>