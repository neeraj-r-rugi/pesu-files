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318" r:id="rId2"/>
    <p:sldId id="371" r:id="rId3"/>
    <p:sldId id="372" r:id="rId4"/>
    <p:sldId id="373" r:id="rId5"/>
    <p:sldId id="328" r:id="rId6"/>
    <p:sldId id="375" r:id="rId7"/>
    <p:sldId id="376" r:id="rId8"/>
    <p:sldId id="378" r:id="rId9"/>
    <p:sldId id="403" r:id="rId10"/>
    <p:sldId id="404" r:id="rId11"/>
    <p:sldId id="405" r:id="rId12"/>
    <p:sldId id="406" r:id="rId13"/>
    <p:sldId id="407" r:id="rId14"/>
    <p:sldId id="408" r:id="rId15"/>
    <p:sldId id="409" r:id="rId16"/>
    <p:sldId id="410" r:id="rId17"/>
    <p:sldId id="411" r:id="rId18"/>
    <p:sldId id="412" r:id="rId19"/>
    <p:sldId id="413" r:id="rId20"/>
    <p:sldId id="414" r:id="rId21"/>
    <p:sldId id="415" r:id="rId22"/>
    <p:sldId id="416" r:id="rId23"/>
    <p:sldId id="417" r:id="rId24"/>
    <p:sldId id="418" r:id="rId25"/>
    <p:sldId id="419" r:id="rId26"/>
    <p:sldId id="420" r:id="rId27"/>
    <p:sldId id="421" r:id="rId28"/>
    <p:sldId id="422" r:id="rId29"/>
    <p:sldId id="423" r:id="rId30"/>
    <p:sldId id="424" r:id="rId31"/>
    <p:sldId id="425" r:id="rId32"/>
    <p:sldId id="426" r:id="rId33"/>
    <p:sldId id="427" r:id="rId34"/>
    <p:sldId id="428" r:id="rId35"/>
    <p:sldId id="429" r:id="rId36"/>
    <p:sldId id="430" r:id="rId37"/>
    <p:sldId id="431" r:id="rId38"/>
    <p:sldId id="432" r:id="rId39"/>
    <p:sldId id="433" r:id="rId40"/>
    <p:sldId id="434" r:id="rId41"/>
    <p:sldId id="435" r:id="rId42"/>
    <p:sldId id="374" r:id="rId43"/>
    <p:sldId id="436" r:id="rId44"/>
  </p:sldIdLst>
  <p:sldSz cx="9144000" cy="6858000" type="screen4x3"/>
  <p:notesSz cx="6858000" cy="9144000"/>
  <p:custDataLst>
    <p:tags r:id="rId4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guide id="3" orient="horz" pos="432">
          <p15:clr>
            <a:srgbClr val="A4A3A4"/>
          </p15:clr>
        </p15:guide>
        <p15:guide id="4" orient="horz" pos="864">
          <p15:clr>
            <a:srgbClr val="A4A3A4"/>
          </p15:clr>
        </p15:guide>
        <p15:guide id="5" orient="horz" pos="4017">
          <p15:clr>
            <a:srgbClr val="A4A3A4"/>
          </p15:clr>
        </p15:guide>
        <p15:guide id="6" pos="288">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831" autoAdjust="0"/>
    <p:restoredTop sz="95122" autoAdjust="0"/>
  </p:normalViewPr>
  <p:slideViewPr>
    <p:cSldViewPr>
      <p:cViewPr>
        <p:scale>
          <a:sx n="66" d="100"/>
          <a:sy n="66" d="100"/>
        </p:scale>
        <p:origin x="-1698" y="-288"/>
      </p:cViewPr>
      <p:guideLst>
        <p:guide orient="horz" pos="2160"/>
        <p:guide orient="horz" pos="432"/>
        <p:guide orient="horz" pos="864"/>
        <p:guide orient="horz" pos="4017"/>
        <p:guide pos="2880"/>
        <p:guide pos="288"/>
        <p:guide pos="5472"/>
      </p:guideLst>
    </p:cSldViewPr>
  </p:slideViewPr>
  <p:outlineViewPr>
    <p:cViewPr>
      <p:scale>
        <a:sx n="33" d="100"/>
        <a:sy n="33" d="100"/>
      </p:scale>
      <p:origin x="0" y="4725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6/21/2018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6/21/2018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19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29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33</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34</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35</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36</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37</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38</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39</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40</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41</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42</a:t>
            </a:fld>
            <a:endParaRPr lang="en-US" dirty="0"/>
          </a:p>
        </p:txBody>
      </p:sp>
    </p:spTree>
    <p:extLst>
      <p:ext uri="{BB962C8B-B14F-4D97-AF65-F5344CB8AC3E}">
        <p14:creationId xmlns:p14="http://schemas.microsoft.com/office/powerpoint/2010/main" val="38023700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CBF78A6-6942-440F-9655-1DC0E3C5C1FC}" type="slidenum">
              <a:rPr lang="en-US" smtClean="0"/>
              <a:pPr>
                <a:defRPr/>
              </a:pPr>
              <a:t>43</a:t>
            </a:fld>
            <a:endParaRPr lang="en-US" dirty="0"/>
          </a:p>
        </p:txBody>
      </p:sp>
    </p:spTree>
    <p:extLst>
      <p:ext uri="{BB962C8B-B14F-4D97-AF65-F5344CB8AC3E}">
        <p14:creationId xmlns:p14="http://schemas.microsoft.com/office/powerpoint/2010/main" val="3802370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879806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5" name="TextBox 14"/>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10628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smtClean="0"/>
              <a:t>Click to edit Master title style</a:t>
            </a:r>
            <a:endParaRPr lang="en-US" dirty="0"/>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Click to add Learning Objective(s)</a:t>
            </a:r>
            <a:endParaRPr lang="en-US" dirty="0"/>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6/21/2018</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smtClean="0"/>
              <a:t>Click to add figure number and title</a:t>
            </a:r>
            <a:endParaRPr lang="en-US" dirty="0"/>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smtClean="0"/>
              <a:t>Click to add caption</a:t>
            </a:r>
            <a:endParaRPr lang="en-US" dirty="0"/>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203796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Click to edit Master title style</a:t>
            </a:r>
            <a:endParaRPr lang="en-US" dirty="0"/>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6/21/2018</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6/21/2018</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1" name="TextBox 10"/>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7111366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smtClean="0"/>
              <a:t>Click to edit </a:t>
            </a:r>
            <a:br>
              <a:rPr lang="en-US" dirty="0" smtClean="0"/>
            </a:br>
            <a:r>
              <a:rPr lang="en-US" dirty="0" smtClean="0"/>
              <a:t>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a:t>
            </a:r>
          </a:p>
          <a:p>
            <a:pPr lvl="6"/>
            <a:r>
              <a:rPr lang="en-US" dirty="0" smtClean="0"/>
              <a:t>Seventh</a:t>
            </a:r>
          </a:p>
          <a:p>
            <a:pPr lvl="7"/>
            <a:r>
              <a:rPr lang="en-US" dirty="0" smtClean="0"/>
              <a:t>Eighth</a:t>
            </a:r>
          </a:p>
          <a:p>
            <a:pPr lvl="8"/>
            <a:r>
              <a:rPr lang="en-US" dirty="0" smtClean="0"/>
              <a:t>Ninth</a:t>
            </a:r>
            <a:endParaRPr lang="en-US" dirty="0"/>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6/21/2018</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smtClean="0">
                <a:ea typeface="Verdana" panose="020B0604030504040204" pitchFamily="34" charset="0"/>
                <a:cs typeface="Verdana" panose="020B0604030504040204" pitchFamily="34" charset="0"/>
              </a:rPr>
              <a:t>Copyright © 2018 Pearson India Education Services Pvt. Ltd</a:t>
            </a:r>
            <a:endParaRPr lang="en-US" altLang="en-US" sz="700" b="1" dirty="0" smtClean="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4828"/>
            <a:ext cx="8229600" cy="622828"/>
          </a:xfrm>
        </p:spPr>
        <p:txBody>
          <a:bodyPr/>
          <a:lstStyle/>
          <a:p>
            <a:r>
              <a:rPr lang="en-US" dirty="0">
                <a:latin typeface="+mj-lt"/>
              </a:rPr>
              <a:t>Digital Design</a:t>
            </a:r>
            <a:endParaRPr lang="en-US" b="1" dirty="0">
              <a:latin typeface="+mj-lt"/>
            </a:endParaRPr>
          </a:p>
        </p:txBody>
      </p:sp>
      <p:sp>
        <p:nvSpPr>
          <p:cNvPr id="3" name="Text Placeholder 2"/>
          <p:cNvSpPr>
            <a:spLocks noGrp="1"/>
          </p:cNvSpPr>
          <p:nvPr>
            <p:ph type="body" sz="quarter" idx="13"/>
          </p:nvPr>
        </p:nvSpPr>
        <p:spPr>
          <a:xfrm>
            <a:off x="457200" y="771294"/>
            <a:ext cx="8229600" cy="478970"/>
          </a:xfrm>
        </p:spPr>
        <p:txBody>
          <a:bodyPr/>
          <a:lstStyle/>
          <a:p>
            <a:r>
              <a:rPr lang="en-US" sz="2400" dirty="0"/>
              <a:t>With an Introduction to the Verilog HDL</a:t>
            </a:r>
            <a:r>
              <a:rPr lang="en-US" sz="2400" dirty="0" smtClean="0"/>
              <a:t>, VHDL</a:t>
            </a:r>
            <a:r>
              <a:rPr lang="en-US" sz="2400" dirty="0"/>
              <a:t>, and </a:t>
            </a:r>
            <a:r>
              <a:rPr lang="en-US" sz="2400" dirty="0" smtClean="0"/>
              <a:t>SystemVerilog</a:t>
            </a:r>
          </a:p>
          <a:p>
            <a:r>
              <a:rPr lang="en-US" sz="2400" dirty="0" smtClean="0">
                <a:latin typeface="+mj-lt"/>
              </a:rPr>
              <a:t>6</a:t>
            </a:r>
            <a:r>
              <a:rPr lang="en-US" sz="2400" baseline="30000" dirty="0" smtClean="0">
                <a:latin typeface="+mj-lt"/>
              </a:rPr>
              <a:t>th</a:t>
            </a:r>
            <a:r>
              <a:rPr lang="en-US" sz="2400" dirty="0" smtClean="0">
                <a:latin typeface="+mj-lt"/>
              </a:rPr>
              <a:t> </a:t>
            </a:r>
            <a:r>
              <a:rPr lang="en-US" sz="1800" dirty="0" smtClean="0">
                <a:latin typeface="+mj-lt"/>
              </a:rPr>
              <a:t>Edition</a:t>
            </a:r>
          </a:p>
        </p:txBody>
      </p:sp>
      <p:sp>
        <p:nvSpPr>
          <p:cNvPr id="4" name="Text Placeholder 3"/>
          <p:cNvSpPr>
            <a:spLocks noGrp="1"/>
          </p:cNvSpPr>
          <p:nvPr>
            <p:ph type="body" sz="quarter" idx="14"/>
          </p:nvPr>
        </p:nvSpPr>
        <p:spPr>
          <a:xfrm>
            <a:off x="4953000" y="3048000"/>
            <a:ext cx="3657600" cy="533399"/>
          </a:xfrm>
        </p:spPr>
        <p:txBody>
          <a:bodyPr/>
          <a:lstStyle/>
          <a:p>
            <a:pPr algn="ctr"/>
            <a:r>
              <a:rPr lang="en-US" sz="3000" smtClean="0"/>
              <a:t>Chapter 07</a:t>
            </a:r>
            <a:endParaRPr lang="en-US" sz="3000" dirty="0"/>
          </a:p>
        </p:txBody>
      </p:sp>
      <p:sp>
        <p:nvSpPr>
          <p:cNvPr id="5" name="Text Placeholder 4"/>
          <p:cNvSpPr>
            <a:spLocks noGrp="1"/>
          </p:cNvSpPr>
          <p:nvPr>
            <p:ph type="body" sz="quarter" idx="15"/>
          </p:nvPr>
        </p:nvSpPr>
        <p:spPr>
          <a:xfrm>
            <a:off x="4343400" y="3581399"/>
            <a:ext cx="4876800" cy="457201"/>
          </a:xfrm>
        </p:spPr>
        <p:txBody>
          <a:bodyPr/>
          <a:lstStyle/>
          <a:p>
            <a:pPr algn="ctr"/>
            <a:r>
              <a:rPr lang="en-US" dirty="0" smtClean="0"/>
              <a:t>Memory and Programmable Logic</a:t>
            </a:r>
            <a:endParaRPr lang="en-US" sz="2200" dirty="0"/>
          </a:p>
        </p:txBody>
      </p:sp>
      <p:pic>
        <p:nvPicPr>
          <p:cNvPr id="1026" name="Picture 2" descr="G:\08VOL4\Graphics\Powerpoint\PEARSON\CRAIG-PPT\Final files\Craig_final_CVR_HiRes.jpg"/>
          <p:cNvPicPr>
            <a:picLocks noChangeAspect="1" noChangeArrowheads="1"/>
          </p:cNvPicPr>
          <p:nvPr/>
        </p:nvPicPr>
        <p:blipFill>
          <a:blip r:embed="rId2" cstate="print"/>
          <a:stretch>
            <a:fillRect/>
          </a:stretch>
        </p:blipFill>
        <p:spPr bwMode="auto">
          <a:xfrm>
            <a:off x="685800" y="1995029"/>
            <a:ext cx="3302862" cy="4141828"/>
          </a:xfrm>
          <a:prstGeom prst="rect">
            <a:avLst/>
          </a:prstGeom>
          <a:noFill/>
        </p:spPr>
      </p:pic>
    </p:spTree>
    <p:extLst>
      <p:ext uri="{BB962C8B-B14F-4D97-AF65-F5344CB8AC3E}">
        <p14:creationId xmlns:p14="http://schemas.microsoft.com/office/powerpoint/2010/main" val="3853861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a:t>
            </a:r>
            <a:br>
              <a:rPr lang="en-US" sz="2000" dirty="0" smtClean="0">
                <a:latin typeface="+mn-lt"/>
              </a:rPr>
            </a:br>
            <a:r>
              <a:rPr lang="en-GB" sz="2000" dirty="0" smtClean="0">
                <a:latin typeface="+mn-lt"/>
              </a:rPr>
              <a:t>Conventional and array logic diagrams for OR gate</a:t>
            </a:r>
            <a:r>
              <a:rPr lang="en-US" sz="2000" dirty="0" smtClean="0">
                <a:latin typeface="+mn-lt"/>
              </a:rPr>
              <a:t>.</a:t>
            </a:r>
            <a:r>
              <a:rPr lang="en-US" sz="2000" b="1" dirty="0" smtClean="0">
                <a:latin typeface="+mn-lt"/>
              </a:rPr>
              <a:t/>
            </a:r>
            <a:br>
              <a:rPr lang="en-US" sz="2000" b="1" dirty="0" smtClean="0">
                <a:latin typeface="+mn-lt"/>
              </a:rPr>
            </a:br>
            <a:r>
              <a:rPr lang="en-US" sz="2000" b="1" dirty="0" smtClean="0">
                <a:latin typeface="+mn-lt"/>
              </a:rPr>
              <a:t>		</a:t>
            </a:r>
            <a:r>
              <a:rPr lang="en-US" sz="2000" dirty="0" smtClean="0">
                <a:latin typeface="+mn-lt"/>
              </a:rPr>
              <a:t/>
            </a:r>
            <a:br>
              <a:rPr lang="en-US" sz="2000" dirty="0" smtClean="0">
                <a:latin typeface="+mn-lt"/>
              </a:rPr>
            </a:br>
            <a:endParaRPr lang="en-US" sz="2000" dirty="0" smtClean="0">
              <a:latin typeface="+mn-lt"/>
            </a:endParaRPr>
          </a:p>
        </p:txBody>
      </p:sp>
      <p:pic>
        <p:nvPicPr>
          <p:cNvPr id="5" name="Picture 4" descr="Unlike the conventional symbol for the or gate in part ay, the array logic symbol shows one line entering the or gate, crossed by 4 perpendicular lines."/>
          <p:cNvPicPr>
            <a:picLocks noChangeAspect="1"/>
          </p:cNvPicPr>
          <p:nvPr/>
        </p:nvPicPr>
        <p:blipFill>
          <a:blip r:embed="rId3" cstate="print"/>
          <a:stretch>
            <a:fillRect/>
          </a:stretch>
        </p:blipFill>
        <p:spPr>
          <a:xfrm>
            <a:off x="554762" y="2743200"/>
            <a:ext cx="8034476" cy="13716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a:t>
            </a:r>
            <a:br>
              <a:rPr lang="en-US" sz="2000" dirty="0" smtClean="0">
                <a:latin typeface="+mn-lt"/>
              </a:rPr>
            </a:br>
            <a:r>
              <a:rPr lang="en-GB" sz="2000" dirty="0" smtClean="0">
                <a:latin typeface="+mn-lt"/>
              </a:rPr>
              <a:t>Block diagram of a memory unit.</a:t>
            </a:r>
            <a:r>
              <a:rPr lang="en-US" sz="2000" b="1" dirty="0" smtClean="0">
                <a:latin typeface="+mn-lt"/>
              </a:rPr>
              <a:t/>
            </a:r>
            <a:br>
              <a:rPr lang="en-US" sz="2000" b="1" dirty="0" smtClean="0">
                <a:latin typeface="+mn-lt"/>
              </a:rPr>
            </a:br>
            <a:r>
              <a:rPr lang="en-US" sz="2000" b="1" dirty="0" smtClean="0">
                <a:latin typeface="+mn-lt"/>
              </a:rPr>
              <a:t>		</a:t>
            </a:r>
            <a:r>
              <a:rPr lang="en-US" sz="2000" dirty="0" smtClean="0">
                <a:latin typeface="+mn-lt"/>
              </a:rPr>
              <a:t/>
            </a:r>
            <a:br>
              <a:rPr lang="en-US" sz="2000" dirty="0" smtClean="0">
                <a:latin typeface="+mn-lt"/>
              </a:rPr>
            </a:br>
            <a:endParaRPr lang="en-US" sz="2000" dirty="0" smtClean="0">
              <a:latin typeface="+mn-lt"/>
            </a:endParaRPr>
          </a:p>
        </p:txBody>
      </p:sp>
      <p:pic>
        <p:nvPicPr>
          <p:cNvPr id="4" name="Picture 3" descr="The memory unit has 2 to the k words with n bits per word. The unit receives the following inputs: n data input lines, k address lines, read, and write. The unit produces n data output lines."/>
          <p:cNvPicPr>
            <a:picLocks noChangeAspect="1"/>
          </p:cNvPicPr>
          <p:nvPr/>
        </p:nvPicPr>
        <p:blipFill>
          <a:blip r:embed="rId3" cstate="print"/>
          <a:stretch>
            <a:fillRect/>
          </a:stretch>
        </p:blipFill>
        <p:spPr>
          <a:xfrm>
            <a:off x="1524000" y="1578428"/>
            <a:ext cx="6096000" cy="383177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7.3</a:t>
            </a:r>
            <a:br>
              <a:rPr lang="en-US" sz="2000" dirty="0" smtClean="0">
                <a:latin typeface="+mn-lt"/>
              </a:rPr>
            </a:br>
            <a:r>
              <a:rPr lang="en-GB" sz="2000" dirty="0" smtClean="0">
                <a:latin typeface="+mn-lt"/>
              </a:rPr>
              <a:t>Contents of a 1024 × 16 memory.</a:t>
            </a:r>
            <a:r>
              <a:rPr lang="en-US" sz="2000" b="1" dirty="0" smtClean="0">
                <a:latin typeface="+mn-lt"/>
              </a:rPr>
              <a:t>	</a:t>
            </a:r>
            <a:r>
              <a:rPr lang="en-US" sz="2000" dirty="0" smtClean="0">
                <a:latin typeface="+mn-lt"/>
              </a:rPr>
              <a:t/>
            </a:r>
            <a:br>
              <a:rPr lang="en-US" sz="2000" dirty="0" smtClean="0">
                <a:latin typeface="+mn-lt"/>
              </a:rPr>
            </a:br>
            <a:endParaRPr lang="en-US" sz="2000" dirty="0" smtClean="0">
              <a:latin typeface="+mn-lt"/>
            </a:endParaRPr>
          </a:p>
        </p:txBody>
      </p:sp>
      <p:pic>
        <p:nvPicPr>
          <p:cNvPr id="5" name="Picture 4" descr="The memory can have binary addresses from 0 0 0 0 0 0 0 0 0 0 to 1 1 1 1 1 1 1 1 1 1, or decimal addresses from 0 to 1023. At each address, the memory content consists of 8 digits."/>
          <p:cNvPicPr>
            <a:picLocks noChangeAspect="1"/>
          </p:cNvPicPr>
          <p:nvPr/>
        </p:nvPicPr>
        <p:blipFill>
          <a:blip r:embed="rId3" cstate="print"/>
          <a:stretch>
            <a:fillRect/>
          </a:stretch>
        </p:blipFill>
        <p:spPr>
          <a:xfrm>
            <a:off x="1828800" y="1186890"/>
            <a:ext cx="5486400" cy="4992174"/>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7.1</a:t>
            </a:r>
            <a:r>
              <a:rPr lang="en-US" sz="2000" b="1" dirty="0" smtClean="0">
                <a:latin typeface="+mn-lt"/>
              </a:rPr>
              <a:t/>
            </a:r>
            <a:br>
              <a:rPr lang="en-US" sz="2000" b="1" dirty="0" smtClean="0">
                <a:latin typeface="+mn-lt"/>
              </a:rPr>
            </a:br>
            <a:r>
              <a:rPr lang="en-GB" sz="2000" dirty="0" smtClean="0">
                <a:latin typeface="+mn-lt"/>
              </a:rPr>
              <a:t>Control Inputs to Memory Chip</a:t>
            </a:r>
            <a:r>
              <a:rPr lang="en-US" sz="2000" dirty="0" smtClean="0">
                <a:latin typeface="+mn-lt"/>
              </a:rPr>
              <a:t>.</a:t>
            </a:r>
          </a:p>
        </p:txBody>
      </p:sp>
      <p:pic>
        <p:nvPicPr>
          <p:cNvPr id="5" name="Picture 4" descr="ciletti_6e_table_07_01.jpg"/>
          <p:cNvPicPr>
            <a:picLocks noChangeAspect="1"/>
          </p:cNvPicPr>
          <p:nvPr/>
        </p:nvPicPr>
        <p:blipFill>
          <a:blip r:embed="rId3" cstate="print"/>
          <a:stretch>
            <a:fillRect/>
          </a:stretch>
        </p:blipFill>
        <p:spPr>
          <a:xfrm>
            <a:off x="1062789" y="2590800"/>
            <a:ext cx="7018422" cy="15240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7.4</a:t>
            </a:r>
            <a:br>
              <a:rPr lang="en-US" sz="2000" dirty="0" smtClean="0">
                <a:latin typeface="+mn-lt"/>
              </a:rPr>
            </a:br>
            <a:r>
              <a:rPr lang="en-GB" sz="2000" dirty="0" smtClean="0">
                <a:latin typeface="+mn-lt"/>
              </a:rPr>
              <a:t>Memory cycle timing waveforms</a:t>
            </a:r>
            <a:r>
              <a:rPr lang="en-GB" sz="2000" i="1" dirty="0" smtClean="0">
                <a:latin typeface="+mn-lt"/>
              </a:rPr>
              <a:t>.</a:t>
            </a:r>
            <a:endParaRPr lang="en-US" sz="2000" i="1" dirty="0" smtClean="0">
              <a:latin typeface="+mn-lt"/>
            </a:endParaRPr>
          </a:p>
        </p:txBody>
      </p:sp>
      <p:pic>
        <p:nvPicPr>
          <p:cNvPr id="4" name="Picture 3" descr="Part ay: write cycle. On the clock graph, the interval from the start of T 1 to the start of T 2 measures 20 nanoseconds. The graph for memory address has two wave forms. The first plot rises with the clock graph at T1 and then falls as the clock graph rises at T 4. The second plot falls as the clock graph rises at T 1, before rising with the clock graph at T 4. The region between graphs indicates address valid. The memory enable graph rises with the clock graph at T 1 and falls with the clock graph at T 3. The read write graph is the memory enable graph reflected about a horizontal axis. The bottom of the graph’s falling segment indicates initiate writing, and the bottom of the graph’s rising segment indicates latched. The data input graph is the same as the memory address graph, and the region between plots indicates data valid. Part b: read cycle. The waveforms for clock, memory address, and memory enable are the same as those in part ay. The interval from the start of T 1 to the end of T 3 is 50 nanoseconds. The read command is initiated at the top end of the memory enable graph’s rising segment. the read write graph is horizontal. In the data output graph, the data valid region is centered below the falling segment of the memory enable graph."/>
          <p:cNvPicPr>
            <a:picLocks noChangeAspect="1"/>
          </p:cNvPicPr>
          <p:nvPr/>
        </p:nvPicPr>
        <p:blipFill>
          <a:blip r:embed="rId3" cstate="print"/>
          <a:stretch>
            <a:fillRect/>
          </a:stretch>
        </p:blipFill>
        <p:spPr>
          <a:xfrm>
            <a:off x="2667000" y="1235242"/>
            <a:ext cx="3810000" cy="501315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7.5</a:t>
            </a:r>
            <a:br>
              <a:rPr lang="en-US" sz="2000" dirty="0" smtClean="0">
                <a:latin typeface="+mn-lt"/>
              </a:rPr>
            </a:br>
            <a:r>
              <a:rPr lang="en-US" sz="2000" dirty="0" smtClean="0">
                <a:latin typeface="+mn-lt"/>
              </a:rPr>
              <a:t>Memory cell.</a:t>
            </a:r>
          </a:p>
        </p:txBody>
      </p:sp>
      <p:pic>
        <p:nvPicPr>
          <p:cNvPr id="5" name="Picture 4" descr="Part ay: logic diagram. Two and gates feed to S and R on the main unit. The first and gate receives select, read write complemented, and input. The second and gate receives read write complemented, select, and input complemented. The unit sends output to a third and gate, which also receives select and read write signals. The third and gate generates output. Part b: The B C receives input, select, and read write. The B C produces output."/>
          <p:cNvPicPr>
            <a:picLocks noChangeAspect="1"/>
          </p:cNvPicPr>
          <p:nvPr/>
        </p:nvPicPr>
        <p:blipFill>
          <a:blip r:embed="rId3" cstate="print"/>
          <a:stretch>
            <a:fillRect/>
          </a:stretch>
        </p:blipFill>
        <p:spPr>
          <a:xfrm>
            <a:off x="886319" y="1981200"/>
            <a:ext cx="7371362" cy="27432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7.6</a:t>
            </a:r>
            <a:br>
              <a:rPr lang="en-US" sz="2000" dirty="0" smtClean="0">
                <a:latin typeface="+mn-lt"/>
              </a:rPr>
            </a:br>
            <a:r>
              <a:rPr lang="en-GB" sz="2000" dirty="0" smtClean="0">
                <a:latin typeface="+mn-lt"/>
              </a:rPr>
              <a:t>Diagram of a 4 </a:t>
            </a:r>
            <a:r>
              <a:rPr lang="en-GB" sz="2000" dirty="0" smtClean="0">
                <a:latin typeface="Arial"/>
              </a:rPr>
              <a:t>× </a:t>
            </a:r>
            <a:r>
              <a:rPr lang="en-GB" sz="2000" dirty="0" smtClean="0">
                <a:latin typeface="+mn-lt"/>
              </a:rPr>
              <a:t>4 RAM.</a:t>
            </a:r>
            <a:endParaRPr lang="en-US" sz="2000" dirty="0" smtClean="0">
              <a:latin typeface="+mn-lt"/>
            </a:endParaRPr>
          </a:p>
        </p:txBody>
      </p:sp>
      <p:pic>
        <p:nvPicPr>
          <p:cNvPr id="5" name="Picture 4" descr="A 2 by 4 decoder receives address inputs and memory enable input at E N. The decoder has outputs for words 0, 1, 2, and 3. A 4 by 4 array of B C units is arranged with 1 row for each word. Each B C unit receives input data, the corresponding word, and read write input. Within each column of the array, the B C units output to a common or gate, and the or gates produce output data."/>
          <p:cNvPicPr>
            <a:picLocks noChangeAspect="1"/>
          </p:cNvPicPr>
          <p:nvPr/>
        </p:nvPicPr>
        <p:blipFill>
          <a:blip r:embed="rId3" cstate="print"/>
          <a:stretch>
            <a:fillRect/>
          </a:stretch>
        </p:blipFill>
        <p:spPr>
          <a:xfrm>
            <a:off x="1447800" y="1210620"/>
            <a:ext cx="6248400" cy="488538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7.7</a:t>
            </a:r>
            <a:br>
              <a:rPr lang="en-US" sz="2000" dirty="0" smtClean="0">
                <a:latin typeface="+mn-lt"/>
              </a:rPr>
            </a:br>
            <a:r>
              <a:rPr lang="en-GB" sz="2000" dirty="0" smtClean="0">
                <a:latin typeface="+mn-lt"/>
              </a:rPr>
              <a:t>Two-dimensional decoding structure for a 1K-word memory.</a:t>
            </a:r>
            <a:endParaRPr lang="en-US" sz="2000" dirty="0" smtClean="0">
              <a:latin typeface="+mn-lt"/>
            </a:endParaRPr>
          </a:p>
        </p:txBody>
      </p:sp>
      <p:pic>
        <p:nvPicPr>
          <p:cNvPr id="4" name="Picture 3" descr="The system involves 2 5 by 32 decoders. The first decoder receives input X, and it has words 0 to 31 corresponding to rows in the array. The second decoder has inputs Y, and it has words 0 to 31 corresponding to columns in the array. Each node in the array has a 10 digit binary address, with the first 5 digits for the X word and the second 5 digits for the Y word."/>
          <p:cNvPicPr>
            <a:picLocks noChangeAspect="1"/>
          </p:cNvPicPr>
          <p:nvPr/>
        </p:nvPicPr>
        <p:blipFill>
          <a:blip r:embed="rId3" cstate="print"/>
          <a:stretch>
            <a:fillRect/>
          </a:stretch>
        </p:blipFill>
        <p:spPr>
          <a:xfrm>
            <a:off x="1371600" y="1295400"/>
            <a:ext cx="6400800" cy="4783856"/>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7.8</a:t>
            </a:r>
            <a:br>
              <a:rPr lang="en-US" sz="2000" dirty="0" smtClean="0">
                <a:latin typeface="+mn-lt"/>
              </a:rPr>
            </a:br>
            <a:r>
              <a:rPr lang="en-GB" sz="2000" dirty="0" smtClean="0">
                <a:latin typeface="+mn-lt"/>
              </a:rPr>
              <a:t>Address multiplexing for a 64K DRAM.</a:t>
            </a:r>
            <a:endParaRPr lang="en-US" sz="2000" dirty="0" smtClean="0">
              <a:latin typeface="+mn-lt"/>
            </a:endParaRPr>
          </a:p>
        </p:txBody>
      </p:sp>
      <p:pic>
        <p:nvPicPr>
          <p:cNvPr id="5" name="Picture 4" descr="The system includes an 8 bit row register linked to R Ay S bar, and an 8 bit column register linked to C Ay S bar. The 8 bit address passes through the row register and an 8 by 256 decoder linked to R Ay S bar. The decoder then signals a 256 by 256 memory cell array. At the same time, the 8 bit address passes through the column register and an associated 8 by 256 decoder linked to C Ay S bar, and the decoder signals the memory cell array. In addition, the memory cell array receives read write commands and data, while also producing data output."/>
          <p:cNvPicPr>
            <a:picLocks noChangeAspect="1"/>
          </p:cNvPicPr>
          <p:nvPr/>
        </p:nvPicPr>
        <p:blipFill>
          <a:blip r:embed="rId3" cstate="print"/>
          <a:stretch>
            <a:fillRect/>
          </a:stretch>
        </p:blipFill>
        <p:spPr>
          <a:xfrm>
            <a:off x="1676400" y="1295400"/>
            <a:ext cx="5791200" cy="477821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7.2</a:t>
            </a:r>
            <a:r>
              <a:rPr lang="en-US" sz="2000" b="1" dirty="0" smtClean="0">
                <a:latin typeface="+mn-lt"/>
              </a:rPr>
              <a:t/>
            </a:r>
            <a:br>
              <a:rPr lang="en-US" sz="2000" b="1" dirty="0" smtClean="0">
                <a:latin typeface="+mn-lt"/>
              </a:rPr>
            </a:br>
            <a:r>
              <a:rPr lang="en-GB" sz="2000" dirty="0" smtClean="0">
                <a:latin typeface="+mn-lt"/>
              </a:rPr>
              <a:t>Range of Data Bits for k Check Bits</a:t>
            </a:r>
            <a:r>
              <a:rPr lang="en-US" sz="2000" dirty="0" smtClean="0">
                <a:latin typeface="+mn-lt"/>
              </a:rPr>
              <a:t>.</a:t>
            </a:r>
          </a:p>
        </p:txBody>
      </p:sp>
      <p:pic>
        <p:nvPicPr>
          <p:cNvPr id="4" name="Picture 3" descr="ciletti_6e_table_07_02.jpg"/>
          <p:cNvPicPr>
            <a:picLocks noChangeAspect="1"/>
          </p:cNvPicPr>
          <p:nvPr/>
        </p:nvPicPr>
        <p:blipFill>
          <a:blip r:embed="rId3" cstate="print"/>
          <a:stretch>
            <a:fillRect/>
          </a:stretch>
        </p:blipFill>
        <p:spPr>
          <a:xfrm>
            <a:off x="1016000" y="2286000"/>
            <a:ext cx="7112000" cy="22860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7.9</a:t>
            </a:r>
            <a:br>
              <a:rPr lang="en-US" sz="2000" dirty="0" smtClean="0">
                <a:latin typeface="+mn-lt"/>
              </a:rPr>
            </a:br>
            <a:r>
              <a:rPr lang="en-GB" sz="2000" dirty="0" smtClean="0">
                <a:latin typeface="+mn-lt"/>
              </a:rPr>
              <a:t>ROM block diagram.</a:t>
            </a:r>
            <a:endParaRPr lang="en-US" sz="2000" dirty="0" smtClean="0">
              <a:latin typeface="+mn-lt"/>
            </a:endParaRPr>
          </a:p>
        </p:txBody>
      </p:sp>
      <p:pic>
        <p:nvPicPr>
          <p:cNvPr id="4" name="Picture 3" descr="k inputs for the address enter a 2 to the k by n ROM, producing n outputs for the data."/>
          <p:cNvPicPr>
            <a:picLocks noChangeAspect="1"/>
          </p:cNvPicPr>
          <p:nvPr/>
        </p:nvPicPr>
        <p:blipFill>
          <a:blip r:embed="rId3" cstate="print"/>
          <a:stretch>
            <a:fillRect/>
          </a:stretch>
        </p:blipFill>
        <p:spPr>
          <a:xfrm>
            <a:off x="533640" y="2514600"/>
            <a:ext cx="8076720" cy="1828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7.10</a:t>
            </a:r>
            <a:br>
              <a:rPr lang="en-US" sz="2000" dirty="0" smtClean="0">
                <a:latin typeface="+mn-lt"/>
              </a:rPr>
            </a:br>
            <a:r>
              <a:rPr lang="en-GB" sz="2000" dirty="0" smtClean="0">
                <a:latin typeface="+mn-lt"/>
              </a:rPr>
              <a:t>Internal logic of a 32 </a:t>
            </a:r>
            <a:r>
              <a:rPr lang="en-GB" sz="2000" dirty="0" smtClean="0">
                <a:latin typeface="Arial"/>
              </a:rPr>
              <a:t>×</a:t>
            </a:r>
            <a:r>
              <a:rPr lang="en-GB" sz="2000" dirty="0" smtClean="0">
                <a:latin typeface="+mn-lt"/>
              </a:rPr>
              <a:t> 8 ROM.</a:t>
            </a:r>
            <a:endParaRPr lang="en-US" sz="2000" dirty="0" smtClean="0">
              <a:latin typeface="+mn-lt"/>
            </a:endParaRPr>
          </a:p>
        </p:txBody>
      </p:sp>
      <p:pic>
        <p:nvPicPr>
          <p:cNvPr id="1026" name="Picture 2" descr="The 5 by 32 decoder receives input I sub 0 to I sub 4. It is oriented with terminals for words 0 to 31 on the rows of an array. The columns of the array descend to or gates with outputs for Ay sub 0 to Ay sub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524000"/>
            <a:ext cx="7162800" cy="4359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7.3</a:t>
            </a:r>
            <a:r>
              <a:rPr lang="en-US" sz="2000" b="1" dirty="0" smtClean="0">
                <a:latin typeface="+mn-lt"/>
              </a:rPr>
              <a:t/>
            </a:r>
            <a:br>
              <a:rPr lang="en-US" sz="2000" b="1" dirty="0" smtClean="0">
                <a:latin typeface="+mn-lt"/>
              </a:rPr>
            </a:br>
            <a:r>
              <a:rPr lang="en-GB" sz="2000" dirty="0" smtClean="0">
                <a:latin typeface="+mn-lt"/>
              </a:rPr>
              <a:t> ROM Truth Table (Partial)</a:t>
            </a:r>
            <a:r>
              <a:rPr lang="en-US" sz="2000" dirty="0" smtClean="0">
                <a:latin typeface="+mn-lt"/>
              </a:rPr>
              <a:t>.</a:t>
            </a:r>
          </a:p>
        </p:txBody>
      </p:sp>
      <p:pic>
        <p:nvPicPr>
          <p:cNvPr id="5" name="Picture 4" descr="ciletti_6e_table_07_03.jpg"/>
          <p:cNvPicPr>
            <a:picLocks noChangeAspect="1"/>
          </p:cNvPicPr>
          <p:nvPr/>
        </p:nvPicPr>
        <p:blipFill>
          <a:blip r:embed="rId3" cstate="print"/>
          <a:stretch>
            <a:fillRect/>
          </a:stretch>
        </p:blipFill>
        <p:spPr>
          <a:xfrm>
            <a:off x="802389" y="1905000"/>
            <a:ext cx="7539222" cy="30480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7.11</a:t>
            </a:r>
            <a:br>
              <a:rPr lang="en-US" sz="2000" dirty="0" smtClean="0">
                <a:latin typeface="+mn-lt"/>
              </a:rPr>
            </a:br>
            <a:r>
              <a:rPr lang="en-GB" sz="2000" dirty="0" smtClean="0">
                <a:latin typeface="+mn-lt"/>
              </a:rPr>
              <a:t>Programming the ROM according to Table 7.3.</a:t>
            </a:r>
            <a:endParaRPr lang="en-US" sz="2000" dirty="0" smtClean="0">
              <a:latin typeface="+mn-lt"/>
            </a:endParaRPr>
          </a:p>
        </p:txBody>
      </p:sp>
      <p:pic>
        <p:nvPicPr>
          <p:cNvPr id="4" name="Picture 3" descr="The 5 by 32 decoder receives input I sub 0 to I sub 4. It is oriented with terminals for words 0 to 31 on the rows of an array. The columns of the array descend to or gates with outputs for Ay sub 0 to Ay sub 7. Exes mark nodes on the array. "/>
          <p:cNvPicPr>
            <a:picLocks noChangeAspect="1"/>
          </p:cNvPicPr>
          <p:nvPr/>
        </p:nvPicPr>
        <p:blipFill>
          <a:blip r:embed="rId3" cstate="print"/>
          <a:stretch>
            <a:fillRect/>
          </a:stretch>
        </p:blipFill>
        <p:spPr>
          <a:xfrm>
            <a:off x="1066800" y="1448672"/>
            <a:ext cx="7010400" cy="426632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7.4</a:t>
            </a:r>
            <a:r>
              <a:rPr lang="en-US" sz="2000" b="1" dirty="0" smtClean="0">
                <a:latin typeface="+mn-lt"/>
              </a:rPr>
              <a:t/>
            </a:r>
            <a:br>
              <a:rPr lang="en-US" sz="2000" b="1" dirty="0" smtClean="0">
                <a:latin typeface="+mn-lt"/>
              </a:rPr>
            </a:br>
            <a:r>
              <a:rPr lang="en-GB" sz="2000" dirty="0" smtClean="0">
                <a:latin typeface="+mn-lt"/>
              </a:rPr>
              <a:t>Truth Table for Circuit of Example 7.1</a:t>
            </a:r>
            <a:r>
              <a:rPr lang="en-US" sz="2000" dirty="0" smtClean="0">
                <a:latin typeface="+mn-lt"/>
              </a:rPr>
              <a:t>.</a:t>
            </a:r>
          </a:p>
        </p:txBody>
      </p:sp>
      <p:pic>
        <p:nvPicPr>
          <p:cNvPr id="4" name="Picture 3" descr="ciletti_6e_table_07_04.jpg"/>
          <p:cNvPicPr>
            <a:picLocks noChangeAspect="1"/>
          </p:cNvPicPr>
          <p:nvPr/>
        </p:nvPicPr>
        <p:blipFill>
          <a:blip r:embed="rId3" cstate="print"/>
          <a:stretch>
            <a:fillRect/>
          </a:stretch>
        </p:blipFill>
        <p:spPr>
          <a:xfrm>
            <a:off x="804491" y="1981200"/>
            <a:ext cx="7535018" cy="28956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7.12</a:t>
            </a:r>
            <a:br>
              <a:rPr lang="en-US" sz="2000" dirty="0" smtClean="0">
                <a:latin typeface="+mn-lt"/>
              </a:rPr>
            </a:br>
            <a:r>
              <a:rPr lang="en-GB" sz="2000" dirty="0" smtClean="0">
                <a:latin typeface="+mn-lt"/>
              </a:rPr>
              <a:t>ROM implementation of Example 7.1.</a:t>
            </a:r>
            <a:endParaRPr lang="en-US" sz="2000" dirty="0" smtClean="0">
              <a:latin typeface="+mn-lt"/>
            </a:endParaRPr>
          </a:p>
        </p:txBody>
      </p:sp>
      <p:pic>
        <p:nvPicPr>
          <p:cNvPr id="5" name="Picture 4" descr="Part ay: block diagram. The 8 by 4 ROM receives Ay sub 0, Ay sub 1, and Ay sub 2. Ay sub 0 leads to output B sub 0. 0 leads to B sub 1, and the ROM produces B sub 2 to B sub 5. Part b: ROM truth table. Each row of the table has three values for Ay sub 2, Ay sub 1, and Ay sub 0, followed by four values for B sub 5, B sub 4, B sub 3, and B sub 2: row 1, 0 0 0, 0 0 0 0; row 2, 0 0 1, 0 0 0 0; row 3, 0 1 0, 0 0 0 1; row 4, 0 1 1, 0 0 1 0; row 5, 1 0 0, 0 1 0 0; row 6, 1 0 1 0 1 1 0; row 7, 1 1 0, 1 0 0 1; row 8, 1 1 1, 1 1 0 0."/>
          <p:cNvPicPr>
            <a:picLocks noChangeAspect="1"/>
          </p:cNvPicPr>
          <p:nvPr/>
        </p:nvPicPr>
        <p:blipFill>
          <a:blip r:embed="rId3" cstate="print"/>
          <a:stretch>
            <a:fillRect/>
          </a:stretch>
        </p:blipFill>
        <p:spPr>
          <a:xfrm>
            <a:off x="461017" y="1905000"/>
            <a:ext cx="8221966" cy="30480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7.13</a:t>
            </a:r>
            <a:br>
              <a:rPr lang="en-US" sz="2000" dirty="0" smtClean="0">
                <a:latin typeface="+mn-lt"/>
              </a:rPr>
            </a:br>
            <a:r>
              <a:rPr lang="en-GB" sz="2000" dirty="0" smtClean="0">
                <a:latin typeface="+mn-lt"/>
              </a:rPr>
              <a:t>Basic configuration of three PLDs.</a:t>
            </a:r>
            <a:endParaRPr lang="en-US" sz="2000" dirty="0" smtClean="0">
              <a:latin typeface="+mn-lt"/>
            </a:endParaRPr>
          </a:p>
        </p:txBody>
      </p:sp>
      <p:pic>
        <p:nvPicPr>
          <p:cNvPr id="4" name="Picture 3" descr="Part ay: programmable read-only memory, P ROM. The sequence is as follows: inputs; fixed, and, array, or decoder; programmable, or, array; outputs. part b: programmable array logic, P Ay L. The sequence is as follows: inputs; programmable, and, array; fixed, or, array; outputs. Part c: programmable logic array, P L Ay. The sequence is as follows: inputs; programmable, and, array; programmable, or, array; outputs."/>
          <p:cNvPicPr>
            <a:picLocks noChangeAspect="1"/>
          </p:cNvPicPr>
          <p:nvPr/>
        </p:nvPicPr>
        <p:blipFill>
          <a:blip r:embed="rId3" cstate="print"/>
          <a:stretch>
            <a:fillRect/>
          </a:stretch>
        </p:blipFill>
        <p:spPr>
          <a:xfrm>
            <a:off x="1219200" y="1424505"/>
            <a:ext cx="6705600" cy="400899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7.14</a:t>
            </a:r>
            <a:br>
              <a:rPr lang="en-US" sz="2000" dirty="0" smtClean="0">
                <a:latin typeface="+mn-lt"/>
              </a:rPr>
            </a:br>
            <a:r>
              <a:rPr lang="en-GB" sz="2000" dirty="0" smtClean="0">
                <a:latin typeface="+mn-lt"/>
              </a:rPr>
              <a:t>PLA with three inputs, four product terms, and two outputs.</a:t>
            </a:r>
            <a:endParaRPr lang="en-US" sz="2000" dirty="0" smtClean="0">
              <a:latin typeface="+mn-lt"/>
            </a:endParaRPr>
          </a:p>
        </p:txBody>
      </p:sp>
      <p:pic>
        <p:nvPicPr>
          <p:cNvPr id="5" name="Picture 4" descr="Inputs Ay, B, and C are entered the first array directly and via inverters, so that the array has columns for Ay prime, A, B prime, B, C prime, and C from right to left. The array has four rows ending in and gates labeled 1 to 4 from top to bottom. Exes at the nodes indicate the inputs to be multiplied: 1, Ay and B prime; 2, Ay and C; 3, B and C; 4, Ay prime, B, and C prime. The and gates are also at the left ends of rows in a second array. From top to bottom, the rows of the second array represent Ay B prime, Ay C, B C, and Ay prime B C prime. The second array also has 2 columns, with each column descending to an or gate. Exes mark nodes on each row, indicating values fed into the or gates. First or gate: Ay B prime, Ay C, and Ay prime B C prime. The output of the or gate and 0 enter an x or gate, producing F sub 1. Second or gate: Ay C and B C. The output of the second or gate and 1 enter a second x or gate, producing F sub 2."/>
          <p:cNvPicPr>
            <a:picLocks noChangeAspect="1"/>
          </p:cNvPicPr>
          <p:nvPr/>
        </p:nvPicPr>
        <p:blipFill>
          <a:blip r:embed="rId3" cstate="print"/>
          <a:stretch>
            <a:fillRect/>
          </a:stretch>
        </p:blipFill>
        <p:spPr>
          <a:xfrm>
            <a:off x="1447800" y="1143000"/>
            <a:ext cx="6248400" cy="506353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7.5</a:t>
            </a:r>
            <a:r>
              <a:rPr lang="en-US" sz="2000" b="1" dirty="0" smtClean="0">
                <a:latin typeface="+mn-lt"/>
              </a:rPr>
              <a:t/>
            </a:r>
            <a:br>
              <a:rPr lang="en-US" sz="2000" b="1" dirty="0" smtClean="0">
                <a:latin typeface="+mn-lt"/>
              </a:rPr>
            </a:br>
            <a:r>
              <a:rPr lang="en-GB" sz="2000" dirty="0" smtClean="0">
                <a:latin typeface="+mn-lt"/>
              </a:rPr>
              <a:t>PLA Programming Table</a:t>
            </a:r>
            <a:r>
              <a:rPr lang="en-US" sz="2000" dirty="0" smtClean="0">
                <a:latin typeface="+mn-lt"/>
              </a:rPr>
              <a:t>.</a:t>
            </a:r>
          </a:p>
        </p:txBody>
      </p:sp>
      <p:pic>
        <p:nvPicPr>
          <p:cNvPr id="5" name="Picture 4" descr="ciletti_6e_table_07_05.jpg"/>
          <p:cNvPicPr>
            <a:picLocks noChangeAspect="1"/>
          </p:cNvPicPr>
          <p:nvPr/>
        </p:nvPicPr>
        <p:blipFill>
          <a:blip r:embed="rId3" cstate="print"/>
          <a:stretch>
            <a:fillRect/>
          </a:stretch>
        </p:blipFill>
        <p:spPr>
          <a:xfrm>
            <a:off x="958645" y="1828800"/>
            <a:ext cx="7226710" cy="32004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7.15</a:t>
            </a:r>
            <a:br>
              <a:rPr lang="en-US" sz="2000" dirty="0" smtClean="0">
                <a:latin typeface="+mn-lt"/>
              </a:rPr>
            </a:br>
            <a:r>
              <a:rPr lang="en-GB" sz="2000" dirty="0" smtClean="0">
                <a:latin typeface="+mn-lt"/>
              </a:rPr>
              <a:t>Solution to Example 7.2.</a:t>
            </a:r>
            <a:endParaRPr lang="en-US" sz="2000" dirty="0" smtClean="0">
              <a:latin typeface="+mn-lt"/>
            </a:endParaRPr>
          </a:p>
        </p:txBody>
      </p:sp>
      <p:pic>
        <p:nvPicPr>
          <p:cNvPr id="4" name="Picture 3" descr="P L Ay programming table. For each product, the table provides the product term, the input values for Ay, B, and C, and the outputs C and T for F sub 1 and f sub 2, respectively. Product Ay B: 1, 1 1 blank, 1 1. Product Ay C: 2, 1 blank 1, 1 1. Product B C: 3, blank 1 1, 1 blank. Product Ay prime B prime C prime: 4, 0 0 0, blank 1. Each K map has rows for Ay and columns for B C. For each map, the following lists provide the m entries equal to 1. First K map: m sub 0, m sub 1, m sub 2, m sub 4. Second map: m sub 5, m sub 7, m sub 6."/>
          <p:cNvPicPr>
            <a:picLocks noChangeAspect="1"/>
          </p:cNvPicPr>
          <p:nvPr/>
        </p:nvPicPr>
        <p:blipFill>
          <a:blip r:embed="rId3" cstate="print"/>
          <a:stretch>
            <a:fillRect/>
          </a:stretch>
        </p:blipFill>
        <p:spPr>
          <a:xfrm>
            <a:off x="571500" y="2514600"/>
            <a:ext cx="8001000" cy="1828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7.16</a:t>
            </a:r>
            <a:br>
              <a:rPr lang="en-US" sz="2000" dirty="0" smtClean="0">
                <a:latin typeface="+mn-lt"/>
              </a:rPr>
            </a:br>
            <a:r>
              <a:rPr lang="en-GB" sz="2000" dirty="0" smtClean="0">
                <a:latin typeface="+mn-lt"/>
              </a:rPr>
              <a:t>PAL with four inputs, four outputs, and a three-wide AND–OR structure.</a:t>
            </a:r>
            <a:endParaRPr lang="en-US" sz="2000" dirty="0" smtClean="0">
              <a:latin typeface="+mn-lt"/>
            </a:endParaRPr>
          </a:p>
        </p:txBody>
      </p:sp>
      <p:pic>
        <p:nvPicPr>
          <p:cNvPr id="5" name="Picture 4" descr="The array has columns for and gate inputs 1 to 10 from left to right. The array has rows for product terms 1 to 12, grouped as follows from top to bottom: 1 to 3, 4 to 6, 7 to 9, and 10 to 12. Between product terms 3 and 4, I sub 1 and I sub 1 prime connect to columns 1 and 2, respectively. Between product terms 6 and 7, I sub 2 and I sub 2 prime connect to columns 3 and 4. Between product terms 9 and 10, I sub 3 and I sub 3 prime connect to columns 5 and 6. Below product term 12, I sub 4 and I sub 4 prime connect to columns 7 and 8. Rows for each group of product terms enter separate and gates that send outputs to a common or gate, which then produces an F value. For product terms 1 to 3, the or gate output combines with and gate input 9 and, and gate input 10 complemented, to yield F sub 1. The F outputs for the remaining product terms are as follows: terms 4 to 6, F sub 2; terms 7 to 9, F sub 3; terms 10 to 12, F sub 4."/>
          <p:cNvPicPr>
            <a:picLocks noChangeAspect="1"/>
          </p:cNvPicPr>
          <p:nvPr/>
        </p:nvPicPr>
        <p:blipFill>
          <a:blip r:embed="rId3" cstate="print"/>
          <a:stretch>
            <a:fillRect/>
          </a:stretch>
        </p:blipFill>
        <p:spPr>
          <a:xfrm>
            <a:off x="2743200" y="1371600"/>
            <a:ext cx="3657600" cy="492938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7.6</a:t>
            </a:r>
            <a:r>
              <a:rPr lang="en-US" sz="2000" b="1" dirty="0" smtClean="0">
                <a:latin typeface="+mn-lt"/>
              </a:rPr>
              <a:t/>
            </a:r>
            <a:br>
              <a:rPr lang="en-US" sz="2000" b="1" dirty="0" smtClean="0">
                <a:latin typeface="+mn-lt"/>
              </a:rPr>
            </a:br>
            <a:r>
              <a:rPr lang="en-GB" sz="2000" dirty="0" smtClean="0">
                <a:latin typeface="+mn-lt"/>
              </a:rPr>
              <a:t>PAL Programming Table</a:t>
            </a:r>
            <a:r>
              <a:rPr lang="en-US" sz="2000" dirty="0" smtClean="0">
                <a:latin typeface="+mn-lt"/>
              </a:rPr>
              <a:t>.</a:t>
            </a:r>
          </a:p>
        </p:txBody>
      </p:sp>
      <p:pic>
        <p:nvPicPr>
          <p:cNvPr id="4" name="Picture 3" descr="ciletti_6e_table_07_06.jpg"/>
          <p:cNvPicPr>
            <a:picLocks noChangeAspect="1"/>
          </p:cNvPicPr>
          <p:nvPr/>
        </p:nvPicPr>
        <p:blipFill>
          <a:blip r:embed="rId3" cstate="print"/>
          <a:stretch>
            <a:fillRect/>
          </a:stretch>
        </p:blipFill>
        <p:spPr>
          <a:xfrm>
            <a:off x="1056756" y="1676400"/>
            <a:ext cx="7030488" cy="35052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7.17</a:t>
            </a:r>
            <a:br>
              <a:rPr lang="en-US" sz="2000" dirty="0" smtClean="0">
                <a:latin typeface="+mn-lt"/>
              </a:rPr>
            </a:br>
            <a:r>
              <a:rPr lang="en-GB" sz="2000" dirty="0" smtClean="0">
                <a:latin typeface="+mn-lt"/>
              </a:rPr>
              <a:t>Fuse map for PA L as specified in Table 7.6.</a:t>
            </a:r>
            <a:endParaRPr lang="en-US" sz="2000" dirty="0" smtClean="0">
              <a:latin typeface="+mn-lt"/>
            </a:endParaRPr>
          </a:p>
        </p:txBody>
      </p:sp>
      <p:pic>
        <p:nvPicPr>
          <p:cNvPr id="4" name="Picture 3" descr="The P Ay L has rows for product terms 1 to 12, in groups of 3. The grouped product terms alternate with pairs of direct and complemented inputs. From top to bottom, the inputs are Ay, B, C, and D. The columns of the P Ay L represent the following and gate inputs from left to right: Ay, Ay prime, B, B prime, C, C prime, D, D prime, w, and w prime. There are intact fuses at the following nodes of the array, identified by product term and and gate input. Product term 1: Ay, B, C prime. Product term 2: Ay prime, B prime, C, D prime. Product term 4: Ay. Product term 5: B, C, D. Product term 7: Ay prime, B. Product term 8: C, D. Product term 9: B prime. Product term 10: w. Product term 11: Ay, C prime, D prime. Product term 12: Ay prime, B prime, C prime, D prime. An ex in an and gate indicates all fuses intact, or always = 0."/>
          <p:cNvPicPr>
            <a:picLocks noChangeAspect="1"/>
          </p:cNvPicPr>
          <p:nvPr/>
        </p:nvPicPr>
        <p:blipFill>
          <a:blip r:embed="rId3" cstate="print"/>
          <a:stretch>
            <a:fillRect/>
          </a:stretch>
        </p:blipFill>
        <p:spPr>
          <a:xfrm>
            <a:off x="2667000" y="1147970"/>
            <a:ext cx="3810000" cy="517663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7.18</a:t>
            </a:r>
            <a:br>
              <a:rPr lang="en-US" sz="2000" dirty="0" smtClean="0">
                <a:latin typeface="+mn-lt"/>
              </a:rPr>
            </a:br>
            <a:r>
              <a:rPr lang="en-GB" sz="2000" dirty="0" smtClean="0">
                <a:latin typeface="+mn-lt"/>
              </a:rPr>
              <a:t>Sequential programmable logic device.</a:t>
            </a:r>
            <a:endParaRPr lang="en-US" sz="2000" dirty="0" smtClean="0">
              <a:latin typeface="+mn-lt"/>
            </a:endParaRPr>
          </a:p>
        </p:txBody>
      </p:sp>
      <p:pic>
        <p:nvPicPr>
          <p:cNvPr id="5" name="Picture 4" descr="Inputs enter the and or array for P L Ay or P Ay L. The array generates outputs. Some outputs pass through flip flops, producing feedback to the array."/>
          <p:cNvPicPr>
            <a:picLocks noChangeAspect="1"/>
          </p:cNvPicPr>
          <p:nvPr/>
        </p:nvPicPr>
        <p:blipFill>
          <a:blip r:embed="rId3" cstate="print"/>
          <a:stretch>
            <a:fillRect/>
          </a:stretch>
        </p:blipFill>
        <p:spPr>
          <a:xfrm>
            <a:off x="455730" y="2514600"/>
            <a:ext cx="8232540" cy="1828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7.19</a:t>
            </a:r>
            <a:br>
              <a:rPr lang="en-US" sz="2000" dirty="0" smtClean="0">
                <a:latin typeface="+mn-lt"/>
              </a:rPr>
            </a:br>
            <a:r>
              <a:rPr lang="en-GB" sz="2000" dirty="0" smtClean="0">
                <a:latin typeface="+mn-lt"/>
              </a:rPr>
              <a:t>Basic </a:t>
            </a:r>
            <a:r>
              <a:rPr lang="en-GB" sz="2000" dirty="0" err="1" smtClean="0">
                <a:latin typeface="+mn-lt"/>
              </a:rPr>
              <a:t>macrocell</a:t>
            </a:r>
            <a:r>
              <a:rPr lang="en-GB" sz="2000" dirty="0" smtClean="0">
                <a:latin typeface="+mn-lt"/>
              </a:rPr>
              <a:t> logic.</a:t>
            </a:r>
            <a:endParaRPr lang="en-US" sz="2000" dirty="0" smtClean="0">
              <a:latin typeface="+mn-lt"/>
            </a:endParaRPr>
          </a:p>
        </p:txBody>
      </p:sp>
      <p:pic>
        <p:nvPicPr>
          <p:cNvPr id="4" name="Picture 3" descr="An 8-column array has columns 7 and 8 for the clock and O E. The array has 5 rows extending rightward to separate and gates. The and gates feed into a common or gate, which sends an output to D on a D flip flop. The C L K terminal on the flip flop receives input from column 7, and the flip flop provides 2 types of output: a buffered D-side output merged with O E input; direct and complemented clock-side output to columns 6 and 7. Two pairs of direct and complemented inputs also enter columns 1 to 4."/>
          <p:cNvPicPr>
            <a:picLocks noChangeAspect="1"/>
          </p:cNvPicPr>
          <p:nvPr/>
        </p:nvPicPr>
        <p:blipFill>
          <a:blip r:embed="rId3" cstate="print"/>
          <a:stretch>
            <a:fillRect/>
          </a:stretch>
        </p:blipFill>
        <p:spPr>
          <a:xfrm>
            <a:off x="1066800" y="1472184"/>
            <a:ext cx="7010400" cy="3785616"/>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7.20</a:t>
            </a:r>
            <a:br>
              <a:rPr lang="en-US" sz="2000" dirty="0" smtClean="0">
                <a:latin typeface="+mn-lt"/>
              </a:rPr>
            </a:br>
            <a:r>
              <a:rPr lang="en-GB" sz="2000" dirty="0" smtClean="0">
                <a:latin typeface="+mn-lt"/>
              </a:rPr>
              <a:t>General CPLD configuration.</a:t>
            </a:r>
            <a:endParaRPr lang="en-US" sz="2000" dirty="0" smtClean="0">
              <a:latin typeface="+mn-lt"/>
            </a:endParaRPr>
          </a:p>
        </p:txBody>
      </p:sp>
      <p:pic>
        <p:nvPicPr>
          <p:cNvPr id="5" name="Picture 4" descr="The programmable switch matrix communicates with 8 P L D units and 2 I O blocks."/>
          <p:cNvPicPr>
            <a:picLocks noChangeAspect="1"/>
          </p:cNvPicPr>
          <p:nvPr/>
        </p:nvPicPr>
        <p:blipFill>
          <a:blip r:embed="rId3" cstate="print"/>
          <a:stretch>
            <a:fillRect/>
          </a:stretch>
        </p:blipFill>
        <p:spPr>
          <a:xfrm>
            <a:off x="749590" y="1752600"/>
            <a:ext cx="7644820" cy="3352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7.21</a:t>
            </a:r>
            <a:br>
              <a:rPr lang="en-US" sz="2000" dirty="0" smtClean="0">
                <a:latin typeface="+mn-lt"/>
              </a:rPr>
            </a:br>
            <a:r>
              <a:rPr lang="en-GB" sz="2000" dirty="0" smtClean="0">
                <a:latin typeface="+mn-lt"/>
              </a:rPr>
              <a:t>Basic architecture of Xilinx Spartan and predecessor devices.</a:t>
            </a:r>
            <a:endParaRPr lang="en-US" sz="2000" dirty="0" smtClean="0">
              <a:latin typeface="+mn-lt"/>
            </a:endParaRPr>
          </a:p>
        </p:txBody>
      </p:sp>
      <p:pic>
        <p:nvPicPr>
          <p:cNvPr id="4" name="Picture 3" descr="The system includes a 3 by 3 array for switch matrices. A 2 by 2 array of CL B units is centered in the switch array so that each C L B unit is adjacent to 4 switches. Vertical and horizontal long lines run between the switch matrices and C L B units. I O B units are positioned along the exterior of the switch matrix array, so that there is an I O B unit for each row and column in which a switch matrix or C L B unit occurs."/>
          <p:cNvPicPr>
            <a:picLocks noChangeAspect="1"/>
          </p:cNvPicPr>
          <p:nvPr/>
        </p:nvPicPr>
        <p:blipFill>
          <a:blip r:embed="rId3" cstate="print"/>
          <a:stretch>
            <a:fillRect/>
          </a:stretch>
        </p:blipFill>
        <p:spPr>
          <a:xfrm>
            <a:off x="2122780" y="1219200"/>
            <a:ext cx="4898440" cy="50292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7.22</a:t>
            </a:r>
            <a:br>
              <a:rPr lang="en-US" sz="2000" dirty="0" smtClean="0">
                <a:latin typeface="+mn-lt"/>
              </a:rPr>
            </a:br>
            <a:r>
              <a:rPr lang="en-GB" sz="2000" dirty="0" smtClean="0">
                <a:latin typeface="+mn-lt"/>
              </a:rPr>
              <a:t>CLB architecture.</a:t>
            </a:r>
            <a:endParaRPr lang="en-US" sz="2000" dirty="0" smtClean="0">
              <a:latin typeface="+mn-lt"/>
            </a:endParaRPr>
          </a:p>
        </p:txBody>
      </p:sp>
      <p:pic>
        <p:nvPicPr>
          <p:cNvPr id="5" name="Picture 4" descr="In the C L B system, inputs F 1 to F 4 enter a logic function that generates F prime. Inputs G 1 to G 4 enter a logic function that generates G prime, and inputs C 1 to C 4 enter multiplexers H 1, D sub in slash H 2, S R slash H sub 0, and E C. F prime, G prime, D sub in slash H 2, and S R slash H sub 0 flow into another logic function via multiplexers. Downstream of the logic function, a multiplexer for F prime and H prime yields output X. A multiplexer for G prime and H prime yields output Y, and multiplexers for D in, F prime, G prime, and H prime send signals to the D terminals in separate D flip flops. Signals travel from the S R slash H sub 0 multiplexer to the S D and R D terminals of each flip flop via S R controls. The E C signal combine with 1 at multiplexers, before being fed into the E C terminal of each flip flop, and the clock terminal of each flip flop receives a signal from a multiplexer fed K and its complement. the first flip flop produces Q, which combines with D sub in slash H 2 at a multiplexer to yield X Q. The second flip flop also produces Q, which combines with E C at a different multiplexer to yield Y Q."/>
          <p:cNvPicPr>
            <a:picLocks noChangeAspect="1"/>
          </p:cNvPicPr>
          <p:nvPr/>
        </p:nvPicPr>
        <p:blipFill>
          <a:blip r:embed="rId3" cstate="print"/>
          <a:stretch>
            <a:fillRect/>
          </a:stretch>
        </p:blipFill>
        <p:spPr>
          <a:xfrm>
            <a:off x="1267752" y="1295400"/>
            <a:ext cx="6608496" cy="42672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7.23</a:t>
            </a:r>
            <a:br>
              <a:rPr lang="en-US" sz="2000" dirty="0" smtClean="0">
                <a:latin typeface="+mn-lt"/>
              </a:rPr>
            </a:br>
            <a:r>
              <a:rPr lang="en-GB" sz="2000" dirty="0" smtClean="0">
                <a:latin typeface="+mn-lt"/>
              </a:rPr>
              <a:t>RAM cell controlling a PIP transmission gate.</a:t>
            </a:r>
            <a:endParaRPr lang="en-US" sz="2000" dirty="0" smtClean="0">
              <a:latin typeface="+mn-lt"/>
            </a:endParaRPr>
          </a:p>
        </p:txBody>
      </p:sp>
      <p:pic>
        <p:nvPicPr>
          <p:cNvPr id="4" name="Picture 3" descr="In the RAM cell, the configuration control and static RAM cell exchange read write signals. The RAM cell sends direct and complemented output to the interconnect path."/>
          <p:cNvPicPr>
            <a:picLocks noChangeAspect="1"/>
          </p:cNvPicPr>
          <p:nvPr/>
        </p:nvPicPr>
        <p:blipFill>
          <a:blip r:embed="rId3" cstate="print"/>
          <a:stretch>
            <a:fillRect/>
          </a:stretch>
        </p:blipFill>
        <p:spPr>
          <a:xfrm>
            <a:off x="1676400" y="1219200"/>
            <a:ext cx="5791200" cy="4834056"/>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7.24</a:t>
            </a:r>
            <a:br>
              <a:rPr lang="en-US" sz="2000" dirty="0" smtClean="0">
                <a:latin typeface="+mn-lt"/>
              </a:rPr>
            </a:br>
            <a:r>
              <a:rPr lang="en-GB" sz="2000" dirty="0" smtClean="0">
                <a:latin typeface="+mn-lt"/>
              </a:rPr>
              <a:t>Circuit for a programmable PIP.</a:t>
            </a:r>
            <a:endParaRPr lang="en-US" sz="2000" dirty="0" smtClean="0">
              <a:latin typeface="+mn-lt"/>
            </a:endParaRPr>
          </a:p>
        </p:txBody>
      </p:sp>
      <p:pic>
        <p:nvPicPr>
          <p:cNvPr id="5" name="Picture 4" descr="The circuit includes three C M O S transmission gates in an L-shaped configuration. The left terminals of the left gates connect to a vertical line to the left of the gate. The right terminals of the left gates connect to a vertical line to the right of the gates. A horizontal line runs between the two left gates, and the left and right terminals of the right gate connect to the horizontal line. Flow occurs from left to right and from right to left across each gate, and in both directions along the lines."/>
          <p:cNvPicPr>
            <a:picLocks noChangeAspect="1"/>
          </p:cNvPicPr>
          <p:nvPr/>
        </p:nvPicPr>
        <p:blipFill>
          <a:blip r:embed="rId3" cstate="print"/>
          <a:stretch>
            <a:fillRect/>
          </a:stretch>
        </p:blipFill>
        <p:spPr>
          <a:xfrm>
            <a:off x="1979981" y="1219200"/>
            <a:ext cx="5184038" cy="4876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7.25</a:t>
            </a:r>
            <a:br>
              <a:rPr lang="en-US" sz="2000" dirty="0" smtClean="0">
                <a:latin typeface="+mn-lt"/>
              </a:rPr>
            </a:br>
            <a:r>
              <a:rPr lang="en-GB" sz="2000" dirty="0" smtClean="0">
                <a:latin typeface="+mn-lt"/>
              </a:rPr>
              <a:t>XC4000 series IOB.</a:t>
            </a:r>
            <a:endParaRPr lang="en-US" sz="2000" dirty="0" smtClean="0">
              <a:latin typeface="+mn-lt"/>
            </a:endParaRPr>
          </a:p>
        </p:txBody>
      </p:sp>
      <p:pic>
        <p:nvPicPr>
          <p:cNvPr id="4" name="Picture 3" descr="In the I O B, three multiplexers receive direct and complemented inputs for O E bar, O, and output clock. The signal from the O multiplexer enters D of the first D flip flop, and the signal from the output clock multiplexer enters the clock terminal of the flip flop. The flip flop output at Q combines with the signal from the O multiplexer, producing a signal that combines with the O E bar multiplexer signal and the slew rate control signal at the output buffer. The signal from the output buffer then follows two paths. The first path leads to a node connected to the I O, P Ay D. The node is part of the following series, with v sub c c: resistor, passive pull up or push down transformer, node, passive pull up or push down transformer, resistor. The second path for the output buffer signal runs through an input buffer, before branching. The first branch passes through a multiplexer to the D terminal of a second D flip flop. The second branch continues to a pair of multiplexers, where the signal combines with Q from the flip flop to yield I sub 1 and I sub 2. The second flip flop receives input clock signals via an inverter."/>
          <p:cNvPicPr>
            <a:picLocks noChangeAspect="1"/>
          </p:cNvPicPr>
          <p:nvPr/>
        </p:nvPicPr>
        <p:blipFill>
          <a:blip r:embed="rId3" cstate="print"/>
          <a:stretch>
            <a:fillRect/>
          </a:stretch>
        </p:blipFill>
        <p:spPr>
          <a:xfrm>
            <a:off x="1524000" y="1325418"/>
            <a:ext cx="6096000" cy="461818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7.26</a:t>
            </a:r>
            <a:br>
              <a:rPr lang="en-US" sz="2000" dirty="0" smtClean="0">
                <a:latin typeface="+mn-lt"/>
              </a:rPr>
            </a:br>
            <a:r>
              <a:rPr lang="en-GB" sz="2000" dirty="0" smtClean="0">
                <a:latin typeface="+mn-lt"/>
              </a:rPr>
              <a:t>Distributed RAM cell formed from a lookup table.</a:t>
            </a:r>
            <a:endParaRPr lang="en-US" sz="2000" dirty="0" smtClean="0">
              <a:latin typeface="+mn-lt"/>
            </a:endParaRPr>
          </a:p>
        </p:txBody>
      </p:sp>
      <p:pic>
        <p:nvPicPr>
          <p:cNvPr id="5" name="Picture 4" descr="In the RAM cell, the input register receives the following inputs: Ay for n dash 1 : 0, at n bits; W E, D 0 or D 1, W C L K via a multiplexer. Input Ay initiates a register output to the write row select module, which then signals a RAM array. The remaining inputs triggers outputs to the write control unit, which also sends output to the RAM array. In addition, the RAM array receives input from the read row select module, related to input Ay. In turn, the RAM array signals the read out module, which generates output S P O."/>
          <p:cNvPicPr>
            <a:picLocks noChangeAspect="1"/>
          </p:cNvPicPr>
          <p:nvPr/>
        </p:nvPicPr>
        <p:blipFill>
          <a:blip r:embed="rId3" cstate="print"/>
          <a:stretch>
            <a:fillRect/>
          </a:stretch>
        </p:blipFill>
        <p:spPr>
          <a:xfrm>
            <a:off x="1295400" y="1458359"/>
            <a:ext cx="6553200" cy="394128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7.27</a:t>
            </a:r>
            <a:br>
              <a:rPr lang="en-US" sz="2000" dirty="0" smtClean="0">
                <a:latin typeface="+mn-lt"/>
              </a:rPr>
            </a:br>
            <a:r>
              <a:rPr lang="en-GB" sz="2000" dirty="0" smtClean="0">
                <a:latin typeface="+mn-lt"/>
              </a:rPr>
              <a:t>Spartan dual-port RAM.</a:t>
            </a:r>
            <a:endParaRPr lang="en-US" sz="2000" dirty="0" smtClean="0">
              <a:latin typeface="+mn-lt"/>
            </a:endParaRPr>
          </a:p>
        </p:txBody>
      </p:sp>
      <p:pic>
        <p:nvPicPr>
          <p:cNvPr id="4" name="Picture 3" descr="The system consists of a single input register feeding two identical RAM configurations, with all standard inputs identified. In the second RAM configuration, the read row select module also receives input D P R Ay, 3 : 0, at 4 bits."/>
          <p:cNvPicPr>
            <a:picLocks noChangeAspect="1"/>
          </p:cNvPicPr>
          <p:nvPr/>
        </p:nvPicPr>
        <p:blipFill>
          <a:blip r:embed="rId3" cstate="print"/>
          <a:stretch>
            <a:fillRect/>
          </a:stretch>
        </p:blipFill>
        <p:spPr>
          <a:xfrm>
            <a:off x="2133600" y="1184226"/>
            <a:ext cx="4876800" cy="5064174"/>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7.28</a:t>
            </a:r>
            <a:br>
              <a:rPr lang="en-US" sz="2000" dirty="0" smtClean="0">
                <a:latin typeface="+mn-lt"/>
              </a:rPr>
            </a:br>
            <a:r>
              <a:rPr lang="en-GB" sz="2000" dirty="0" smtClean="0">
                <a:latin typeface="+mn-lt"/>
              </a:rPr>
              <a:t>Spartan II architecture.</a:t>
            </a:r>
            <a:endParaRPr lang="en-US" sz="2000" dirty="0" smtClean="0">
              <a:latin typeface="+mn-lt"/>
            </a:endParaRPr>
          </a:p>
        </p:txBody>
      </p:sp>
      <p:pic>
        <p:nvPicPr>
          <p:cNvPr id="5" name="Picture 4" descr="The Spartan 2 architecture consists of arrays of C L B units, surrounded by block select RAM units, I O units, and D L L units."/>
          <p:cNvPicPr>
            <a:picLocks noChangeAspect="1"/>
          </p:cNvPicPr>
          <p:nvPr/>
        </p:nvPicPr>
        <p:blipFill>
          <a:blip r:embed="rId3" cstate="print"/>
          <a:stretch>
            <a:fillRect/>
          </a:stretch>
        </p:blipFill>
        <p:spPr>
          <a:xfrm>
            <a:off x="1524000" y="1283202"/>
            <a:ext cx="6096000" cy="473659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7.29</a:t>
            </a:r>
            <a:br>
              <a:rPr lang="en-US" sz="2000" dirty="0" smtClean="0">
                <a:latin typeface="+mn-lt"/>
              </a:rPr>
            </a:br>
            <a:r>
              <a:rPr lang="en-GB" sz="2000" dirty="0" smtClean="0">
                <a:latin typeface="+mn-lt"/>
              </a:rPr>
              <a:t>Spartan II CLB slice.</a:t>
            </a:r>
            <a:endParaRPr lang="en-US" sz="2000" dirty="0" smtClean="0">
              <a:latin typeface="+mn-lt"/>
            </a:endParaRPr>
          </a:p>
        </p:txBody>
      </p:sp>
      <p:pic>
        <p:nvPicPr>
          <p:cNvPr id="4" name="Picture 3" descr="The system consists of two logic cells. Each cell consists of a lookup table, carry and control logic, and D flip flop. The lookup table in the first unit receives inputs F 1 to F 4 at terminals I 1 to I 4. The carry and control logic receives a signal from O on the lookup table, as well as additional inputs F 1, F 2, B X, and C I N. The carry and control logic generates outputs X and X B, and it signals the D terminal of the D flip flop. The remaining flip flop terminals receive additional inputs, as follows: input C L K at C K, input C E at E C, input S R at S, and input B Y at R. The flip flop then sends X Q from the Q terminal. The second logic cell has the same basic configuration as the first logic cell, with the following exceptions. The lookup table receives inputs G 1 to G 4. The carry and control logic generates C O U T, Y B, and Y, and the D flip flop sends Y Q from the Q terminal."/>
          <p:cNvPicPr>
            <a:picLocks noChangeAspect="1"/>
          </p:cNvPicPr>
          <p:nvPr/>
        </p:nvPicPr>
        <p:blipFill>
          <a:blip r:embed="rId3" cstate="print"/>
          <a:stretch>
            <a:fillRect/>
          </a:stretch>
        </p:blipFill>
        <p:spPr>
          <a:xfrm>
            <a:off x="2667000" y="1161616"/>
            <a:ext cx="3810000" cy="5086784"/>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7.30</a:t>
            </a:r>
            <a:br>
              <a:rPr lang="en-US" sz="2000" dirty="0" smtClean="0">
                <a:latin typeface="+mn-lt"/>
              </a:rPr>
            </a:br>
            <a:r>
              <a:rPr lang="en-GB" sz="2000" dirty="0" smtClean="0">
                <a:latin typeface="+mn-lt"/>
              </a:rPr>
              <a:t>Spartan II IOB.</a:t>
            </a:r>
            <a:endParaRPr lang="en-US" sz="2000" dirty="0" smtClean="0">
              <a:latin typeface="+mn-lt"/>
            </a:endParaRPr>
          </a:p>
        </p:txBody>
      </p:sp>
      <p:pic>
        <p:nvPicPr>
          <p:cNvPr id="5" name="Picture 4" descr="The system includes three D flip flops for T F F, O F F, and I F F, respectively, with the standard inputs for C K, E C, and S R. The T F F output combines with T at a multiplexer, and the O F F output combines with O at a second multiplexer. The outputs of the two multiplexers then enter the programmable output buffer, along with V C C and O E from the package pin. The signal from the programmable output buffer branches along two paths. The first path passes through the programmable bias and E S D network to the I O package pin. The second path proceeds to the programmable input buffer, which also receives external V ref inputs of banks. These inputs additionally combine with the to next I O signal at a separate multiplexer, which then signals an I O package pin. At the same time, the programmable input buffer signals the programmable delay, producing input I at the D terminal of the third D flip flop. The third flip flop in turn generates I Q."/>
          <p:cNvPicPr>
            <a:picLocks noChangeAspect="1"/>
          </p:cNvPicPr>
          <p:nvPr/>
        </p:nvPicPr>
        <p:blipFill>
          <a:blip r:embed="rId3" cstate="print"/>
          <a:stretch>
            <a:fillRect/>
          </a:stretch>
        </p:blipFill>
        <p:spPr>
          <a:xfrm>
            <a:off x="1371600" y="1367028"/>
            <a:ext cx="6400800" cy="4123944"/>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7.7</a:t>
            </a:r>
            <a:r>
              <a:rPr lang="en-US" sz="2000" b="1" dirty="0" smtClean="0">
                <a:latin typeface="+mn-lt"/>
              </a:rPr>
              <a:t/>
            </a:r>
            <a:br>
              <a:rPr lang="en-US" sz="2000" b="1" dirty="0" smtClean="0">
                <a:latin typeface="+mn-lt"/>
              </a:rPr>
            </a:br>
            <a:r>
              <a:rPr lang="en-GB" sz="2000" dirty="0" smtClean="0">
                <a:latin typeface="+mn-lt"/>
              </a:rPr>
              <a:t>Features of the Spartan-6 device family</a:t>
            </a:r>
            <a:r>
              <a:rPr lang="en-US" sz="2000" dirty="0" smtClean="0">
                <a:latin typeface="+mn-lt"/>
              </a:rPr>
              <a:t>.</a:t>
            </a:r>
          </a:p>
        </p:txBody>
      </p:sp>
      <p:pic>
        <p:nvPicPr>
          <p:cNvPr id="5" name="Picture 4" descr="ciletti_6e_table_07_07.jpg"/>
          <p:cNvPicPr>
            <a:picLocks noChangeAspect="1"/>
          </p:cNvPicPr>
          <p:nvPr/>
        </p:nvPicPr>
        <p:blipFill>
          <a:blip r:embed="rId3" cstate="print"/>
          <a:stretch>
            <a:fillRect/>
          </a:stretch>
        </p:blipFill>
        <p:spPr>
          <a:xfrm>
            <a:off x="914400" y="1357231"/>
            <a:ext cx="7315200" cy="414353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7.31</a:t>
            </a:r>
            <a:br>
              <a:rPr lang="en-US" sz="2000" dirty="0" smtClean="0">
                <a:latin typeface="+mn-lt"/>
              </a:rPr>
            </a:br>
            <a:r>
              <a:rPr lang="en-GB" sz="2000" dirty="0" err="1" smtClean="0">
                <a:latin typeface="+mn-lt"/>
              </a:rPr>
              <a:t>Virtex</a:t>
            </a:r>
            <a:r>
              <a:rPr lang="en-GB" sz="2000" dirty="0" smtClean="0">
                <a:latin typeface="+mn-lt"/>
              </a:rPr>
              <a:t> overall architecture.</a:t>
            </a:r>
            <a:endParaRPr lang="en-US" sz="2000" dirty="0" smtClean="0">
              <a:latin typeface="+mn-lt"/>
            </a:endParaRPr>
          </a:p>
        </p:txBody>
      </p:sp>
      <p:pic>
        <p:nvPicPr>
          <p:cNvPr id="4" name="Picture 3" descr="The Virtex architecture includes C L B arrays separated by block select RAM units and multipliers. The C L B arrays are edged by I O B units, and the RAM and multiplier complexes are edged by clock manager, or D C M, units, with a global clock multiplexer at the end of the I O B row."/>
          <p:cNvPicPr>
            <a:picLocks noChangeAspect="1"/>
          </p:cNvPicPr>
          <p:nvPr/>
        </p:nvPicPr>
        <p:blipFill>
          <a:blip r:embed="rId3" cstate="print"/>
          <a:stretch>
            <a:fillRect/>
          </a:stretch>
        </p:blipFill>
        <p:spPr>
          <a:xfrm>
            <a:off x="1524000" y="1232168"/>
            <a:ext cx="6096000" cy="4940032"/>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mn-lt"/>
              </a:rPr>
              <a:t>Figure 7.32</a:t>
            </a:r>
            <a:br>
              <a:rPr lang="en-US" sz="2000" dirty="0" smtClean="0">
                <a:latin typeface="+mn-lt"/>
              </a:rPr>
            </a:br>
            <a:r>
              <a:rPr lang="en-GB" sz="2000" dirty="0" err="1" smtClean="0">
                <a:latin typeface="+mn-lt"/>
              </a:rPr>
              <a:t>Virtex</a:t>
            </a:r>
            <a:r>
              <a:rPr lang="en-GB" sz="2000" dirty="0" smtClean="0">
                <a:latin typeface="+mn-lt"/>
              </a:rPr>
              <a:t> IOB block.</a:t>
            </a:r>
            <a:endParaRPr lang="en-US" sz="2000" dirty="0" smtClean="0">
              <a:latin typeface="+mn-lt"/>
            </a:endParaRPr>
          </a:p>
        </p:txBody>
      </p:sp>
      <p:pic>
        <p:nvPicPr>
          <p:cNvPr id="5" name="Picture 4" descr="The I O B includes 2 3-state cells, an input cell, and a P Ay D. Each 3-state cell includes reg O C K 1 and reg O C K 2 units feeding a single D D R multiplexer. The multiplexers send inputs to a buffer, which in turn singles the reg I C K 1 and reg I C K 2 units in the input cell, as well as the P Ay D."/>
          <p:cNvPicPr>
            <a:picLocks noChangeAspect="1"/>
          </p:cNvPicPr>
          <p:nvPr/>
        </p:nvPicPr>
        <p:blipFill>
          <a:blip r:embed="rId3" cstate="print"/>
          <a:stretch>
            <a:fillRect/>
          </a:stretch>
        </p:blipFill>
        <p:spPr>
          <a:xfrm>
            <a:off x="2514600" y="1219200"/>
            <a:ext cx="4114800" cy="491612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Table </a:t>
            </a:r>
            <a:r>
              <a:rPr lang="en-US" sz="2000" dirty="0" smtClean="0">
                <a:latin typeface="+mn-lt"/>
              </a:rPr>
              <a:t>7.8</a:t>
            </a:r>
            <a:r>
              <a:rPr lang="en-US" sz="2000" b="1" dirty="0" smtClean="0">
                <a:latin typeface="+mn-lt"/>
              </a:rPr>
              <a:t/>
            </a:r>
            <a:br>
              <a:rPr lang="en-US" sz="2000" b="1" dirty="0" smtClean="0">
                <a:latin typeface="+mn-lt"/>
              </a:rPr>
            </a:br>
            <a:r>
              <a:rPr lang="en-GB" sz="2000" dirty="0" smtClean="0">
                <a:latin typeface="+mn-lt"/>
              </a:rPr>
              <a:t>Features of the </a:t>
            </a:r>
            <a:r>
              <a:rPr lang="en-GB" sz="2000" dirty="0" err="1" smtClean="0">
                <a:latin typeface="+mn-lt"/>
              </a:rPr>
              <a:t>Virtex</a:t>
            </a:r>
            <a:r>
              <a:rPr lang="en-GB" sz="2000" dirty="0" smtClean="0">
                <a:latin typeface="+mn-lt"/>
              </a:rPr>
              <a:t> </a:t>
            </a:r>
            <a:r>
              <a:rPr lang="en-GB" sz="2000" dirty="0" err="1" smtClean="0">
                <a:latin typeface="+mn-lt"/>
              </a:rPr>
              <a:t>Ultrascale</a:t>
            </a:r>
            <a:r>
              <a:rPr lang="en-GB" sz="2000" dirty="0" smtClean="0">
                <a:latin typeface="+mn-lt"/>
              </a:rPr>
              <a:t> device family</a:t>
            </a:r>
            <a:r>
              <a:rPr lang="en-US" sz="2000" dirty="0" smtClean="0">
                <a:latin typeface="+mn-lt"/>
              </a:rPr>
              <a:t>.</a:t>
            </a:r>
          </a:p>
        </p:txBody>
      </p:sp>
      <p:pic>
        <p:nvPicPr>
          <p:cNvPr id="4" name="Picture 3" descr="ciletti_6e_table_07_08.jpg"/>
          <p:cNvPicPr>
            <a:picLocks noChangeAspect="1"/>
          </p:cNvPicPr>
          <p:nvPr/>
        </p:nvPicPr>
        <p:blipFill>
          <a:blip r:embed="rId3" cstate="print"/>
          <a:stretch>
            <a:fillRect/>
          </a:stretch>
        </p:blipFill>
        <p:spPr>
          <a:xfrm>
            <a:off x="692727" y="2362200"/>
            <a:ext cx="7758546" cy="21336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dirty="0" smtClean="0">
                <a:latin typeface="Arial"/>
              </a:rPr>
              <a:t>Figure P7.17</a:t>
            </a:r>
            <a:endParaRPr lang="en-US" sz="2000" dirty="0" smtClean="0">
              <a:latin typeface="+mn-lt"/>
            </a:endParaRPr>
          </a:p>
        </p:txBody>
      </p:sp>
      <p:pic>
        <p:nvPicPr>
          <p:cNvPr id="4" name="Picture 3" descr="The 32 by 6 ROM receives inputs 2 to the first to 2 to the fifth at terminals slash 1 to slash 5. The ROM produces outputs D sub 1 to D sub 6. 2 to the 0 and D sub 1 to D sub 3 produce 10 to the 0. D sub 4 to D sub 6 produce 10 to the first."/>
          <p:cNvPicPr>
            <a:picLocks noChangeAspect="1"/>
          </p:cNvPicPr>
          <p:nvPr/>
        </p:nvPicPr>
        <p:blipFill>
          <a:blip r:embed="rId3" cstate="print"/>
          <a:stretch>
            <a:fillRect/>
          </a:stretch>
        </p:blipFill>
        <p:spPr>
          <a:xfrm>
            <a:off x="1487424" y="990600"/>
            <a:ext cx="6169152" cy="4876800"/>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47472" y="435346"/>
            <a:ext cx="8391728" cy="944880"/>
          </a:xfrm>
        </p:spPr>
        <p:txBody>
          <a:bodyPr/>
          <a:lstStyle/>
          <a:p>
            <a:r>
              <a:rPr lang="en-US" sz="2000" b="1" dirty="0" smtClean="0">
                <a:latin typeface="+mn-lt"/>
              </a:rPr>
              <a:t>Problem 7.25</a:t>
            </a:r>
            <a:endParaRPr lang="en-US" sz="2000" dirty="0" smtClean="0">
              <a:latin typeface="+mn-lt"/>
            </a:endParaRPr>
          </a:p>
        </p:txBody>
      </p:sp>
      <p:pic>
        <p:nvPicPr>
          <p:cNvPr id="4" name="Picture 3" descr="ciletti_6e_tableun_07_p427.jpg"/>
          <p:cNvPicPr>
            <a:picLocks noChangeAspect="1"/>
          </p:cNvPicPr>
          <p:nvPr/>
        </p:nvPicPr>
        <p:blipFill>
          <a:blip r:embed="rId3" cstate="print"/>
          <a:stretch>
            <a:fillRect/>
          </a:stretch>
        </p:blipFill>
        <p:spPr>
          <a:xfrm>
            <a:off x="1219200" y="1069581"/>
            <a:ext cx="6705600" cy="4894598"/>
          </a:xfrm>
          <a:prstGeom prst="rect">
            <a:avLst/>
          </a:prstGeom>
        </p:spPr>
      </p:pic>
    </p:spTree>
    <p:extLst>
      <p:ext uri="{BB962C8B-B14F-4D97-AF65-F5344CB8AC3E}">
        <p14:creationId xmlns:p14="http://schemas.microsoft.com/office/powerpoint/2010/main" val="36041239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Introduction to Robotics&amp;quot;&quot;/&gt;&lt;property id=&quot;20307&quot; value=&quot;318&quot;/&gt;&lt;/object&gt;&lt;object type=&quot;3&quot; unique_id=&quot;10005&quot;&gt;&lt;property id=&quot;20148&quot; value=&quot;5&quot;/&gt;&lt;property id=&quot;20300&quot; value=&quot;Slide 2 - &amp;quot;Figure 2.1&amp;#x0D;&amp;#x0A;Vector relative to frame (example).&amp;quot;&quot;/&gt;&lt;property id=&quot;20307&quot; value=&quot;328&quot;/&gt;&lt;/object&gt;&lt;object type=&quot;3&quot; unique_id=&quot;10718&quot;&gt;&lt;property id=&quot;20148&quot; value=&quot;5&quot;/&gt;&lt;property id=&quot;20300&quot; value=&quot;Slide 3 - &amp;quot;Figure 2.2&amp;#x0D;&amp;#x0A;Locating an object in position and orientation.&amp;#x0D;&amp;#x0A;&amp;quot;&quot;/&gt;&lt;property id=&quot;20307&quot; value=&quot;329&quot;/&gt;&lt;/object&gt;&lt;object type=&quot;3&quot; unique_id=&quot;10744&quot;&gt;&lt;property id=&quot;20148&quot; value=&quot;5&quot;/&gt;&lt;property id=&quot;20300&quot; value=&quot;Slide 4 - &amp;quot;Figure 2.3&amp;#x0D;&amp;#x0A;Example of several frames.&amp;#x0D;&amp;#x0A;&amp;quot;&quot;/&gt;&lt;property id=&quot;20307&quot; value=&quot;330&quot;/&gt;&lt;/object&gt;&lt;object type=&quot;3&quot; unique_id=&quot;10763&quot;&gt;&lt;property id=&quot;20148&quot; value=&quot;5&quot;/&gt;&lt;property id=&quot;20300&quot; value=&quot;Slide 5 - &amp;quot;Figure 2.4&amp;#x0D;&amp;#x0A;Translational mapping.&amp;quot;&quot;/&gt;&lt;property id=&quot;20307&quot; value=&quot;331&quot;/&gt;&lt;/object&gt;&lt;object type=&quot;3&quot; unique_id=&quot;10813&quot;&gt;&lt;property id=&quot;20148&quot; value=&quot;5&quot;/&gt;&lt;property id=&quot;20300&quot; value=&quot;Slide 6 - &amp;quot;Figure 2.5&amp;#x0D;&amp;#x0A;Rotating the description of a vector.&amp;quot;&quot;/&gt;&lt;property id=&quot;20307&quot; value=&quot;332&quot;/&gt;&lt;/object&gt;&lt;object type=&quot;3&quot; unique_id=&quot;10838&quot;&gt;&lt;property id=&quot;20148&quot; value=&quot;5&quot;/&gt;&lt;property id=&quot;20300&quot; value=&quot;Slide 7 - &amp;quot;Figure 2.6&amp;#x0D;&amp;#x0A;{B} rotated 30 degrees about Ẑ.&amp;quot;&quot;/&gt;&lt;property id=&quot;20307&quot; value=&quot;333&quot;/&gt;&lt;/object&gt;&lt;object type=&quot;3&quot; unique_id=&quot;10875&quot;&gt;&lt;property id=&quot;20148&quot; value=&quot;5&quot;/&gt;&lt;property id=&quot;20300&quot; value=&quot;Slide 8 - &amp;quot;Figure 2.7&amp;#x0D;&amp;#x0A;General transform of a vector.&amp;quot;&quot;/&gt;&lt;property id=&quot;20307&quot; value=&quot;334&quot;/&gt;&lt;/object&gt;&lt;object type=&quot;3&quot; unique_id=&quot;10876&quot;&gt;&lt;property id=&quot;20148&quot; value=&quot;5&quot;/&gt;&lt;property id=&quot;20300&quot; value=&quot;Slide 9 - &amp;quot;Figure 2.8&amp;#x0D;&amp;#x0A;Frame {B} rotated and translated.&amp;quot;&quot;/&gt;&lt;property id=&quot;20307&quot; value=&quot;335&quot;/&gt;&lt;/object&gt;&lt;object type=&quot;3&quot; unique_id=&quot;10910&quot;&gt;&lt;property id=&quot;20148&quot; value=&quot;5&quot;/&gt;&lt;property id=&quot;20300&quot; value=&quot;Slide 10 - &amp;quot;Figure 2.9&amp;#x0D;&amp;#x0A;Translation operator.&amp;quot;&quot;/&gt;&lt;property id=&quot;20307&quot; value=&quot;336&quot;/&gt;&lt;/object&gt;&lt;object type=&quot;3&quot; unique_id=&quot;10959&quot;&gt;&lt;property id=&quot;20148&quot; value=&quot;5&quot;/&gt;&lt;property id=&quot;20300&quot; value=&quot;Slide 11 - &amp;quot;Figure 2.10&amp;#x0D;&amp;#x0A;The vector AP1 rotated 30 degrees about Ẑ.&amp;quot;&quot;/&gt;&lt;property id=&quot;20307&quot; value=&quot;337&quot;/&gt;&lt;/object&gt;&lt;object type=&quot;3&quot; unique_id=&quot;10960&quot;&gt;&lt;property id=&quot;20148&quot; value=&quot;5&quot;/&gt;&lt;property id=&quot;20300&quot; value=&quot;Slide 12 - &amp;quot;Figure 2.11&amp;#x0D;&amp;#x0A;The vector AP1 rotated and translated to form AP2.&amp;quot;&quot;/&gt;&lt;property id=&quot;20307&quot; value=&quot;338&quot;/&gt;&lt;/object&gt;&lt;object type=&quot;3&quot; unique_id=&quot;11143&quot;&gt;&lt;property id=&quot;20148&quot; value=&quot;5&quot;/&gt;&lt;property id=&quot;20300&quot; value=&quot;Slide 13 - &amp;quot;Figure 2.12&amp;#x0D;&amp;#x0A;Compound frames: each is known relative to the previous one.&amp;quot;&quot;/&gt;&lt;property id=&quot;20307&quot; value=&quot;339&quot;/&gt;&lt;/object&gt;&lt;object type=&quot;3&quot; unique_id=&quot;11189&quot;&gt;&lt;property id=&quot;20148&quot; value=&quot;5&quot;/&gt;&lt;property id=&quot;20300&quot; value=&quot;Slide 14 - &amp;quot;Figure 2.13&amp;#x0D;&amp;#x0A;{B} relative to {A}.&amp;quot;&quot;/&gt;&lt;property id=&quot;20307&quot; value=&quot;340&quot;/&gt;&lt;/object&gt;&lt;object type=&quot;3&quot; unique_id=&quot;11238&quot;&gt;&lt;property id=&quot;20148&quot; value=&quot;5&quot;/&gt;&lt;property id=&quot;20300&quot; value=&quot;Slide 15 - &amp;quot;Figure 2.14&amp;#x0D;&amp;#x0A;Set of transforms forming a loop.&amp;quot;&quot;/&gt;&lt;property id=&quot;20307&quot; value=&quot;341&quot;/&gt;&lt;/object&gt;&lt;object type=&quot;3&quot; unique_id=&quot;11341&quot;&gt;&lt;property id=&quot;20148&quot; value=&quot;5&quot;/&gt;&lt;property id=&quot;20300&quot; value=&quot;Slide 16 - &amp;quot;Figure 2.15&amp;#x0D;&amp;#x0A;Example of a transform equation.&amp;quot;&quot;/&gt;&lt;property id=&quot;20307&quot; value=&quot;342&quot;/&gt;&lt;/object&gt;&lt;object type=&quot;3&quot; unique_id=&quot;11342&quot;&gt;&lt;property id=&quot;20148&quot; value=&quot;5&quot;/&gt;&lt;property id=&quot;20300&quot; value=&quot;Slide 17 - &amp;quot;Figure 2.16&amp;#x0D;&amp;#x0A;Manipulator reaching for a bolt.&amp;quot;&quot;/&gt;&lt;property id=&quot;20307&quot; value=&quot;343&quot;/&gt;&lt;/object&gt;&lt;object type=&quot;3&quot; unique_id=&quot;11343&quot;&gt;&lt;property id=&quot;20148&quot; value=&quot;5&quot;/&gt;&lt;property id=&quot;20300&quot; value=&quot;Slide 18 - &amp;quot;Figure 2.17&amp;#x0D;&amp;#x0A;X–Y–Z fixed angles. Rotations are performed in the order&amp;#x0D;&amp;#x0A;RX(g) RY (β), RZ(α).&amp;quot;&quot;/&gt;&lt;property id=&quot;20307&quot; value=&quot;344&quot;/&gt;&lt;/object&gt;&lt;object type=&quot;3&quot; unique_id=&quot;11444&quot;&gt;&lt;property id=&quot;20148&quot; value=&quot;5&quot;/&gt;&lt;property id=&quot;20300&quot; value=&quot;Slide 19 - &amp;quot;Figure 2.18&amp;#x0D;&amp;#x0A;Z–Y–X Euler angles.&amp;quot;&quot;/&gt;&lt;property id=&quot;20307&quot; value=&quot;345&quot;/&gt;&lt;/object&gt;&lt;object type=&quot;3&quot; unique_id=&quot;11445&quot;&gt;&lt;property id=&quot;20148&quot; value=&quot;5&quot;/&gt;&lt;property id=&quot;20300&quot; value=&quot;Slide 20 - &amp;quot;Figure 2.19&amp;#x0D;&amp;#x0A;Equivalent angle–axis representation.&amp;quot;&quot;/&gt;&lt;property id=&quot;20307&quot; value=&quot;346&quot;/&gt;&lt;/object&gt;&lt;object type=&quot;3&quot; unique_id=&quot;11446&quot;&gt;&lt;property id=&quot;20148&quot; value=&quot;5&quot;/&gt;&lt;property id=&quot;20300&quot; value=&quot;Slide 21 - &amp;quot;Figure 2.20&amp;#x0D;&amp;#x0A;Rotation about an axis that does not pass through the origin of {A}. Initially, {B} was coincident wit&quot;/&gt;&lt;property id=&quot;20307&quot; value=&quot;347&quot;/&gt;&lt;/object&gt;&lt;object type=&quot;3&quot; unique_id=&quot;11516&quot;&gt;&lt;property id=&quot;20148&quot; value=&quot;5&quot;/&gt;&lt;property id=&quot;20300&quot; value=&quot;Slide 22 - &amp;quot;Figure 2.21&amp;#x0D;&amp;#x0A;Equal velocity vectors.&amp;quot;&quot;/&gt;&lt;property id=&quot;20307&quot; value=&quot;348&quot;/&gt;&lt;/object&gt;&lt;object type=&quot;3&quot; unique_id=&quot;11589&quot;&gt;&lt;property id=&quot;20148&quot; value=&quot;5&quot;/&gt;&lt;property id=&quot;20300&quot; value=&quot;Slide 23 - &amp;quot;Figure 2.22&amp;#x0D;&amp;#x0A;Transforming velocities.&amp;quot;&quot;/&gt;&lt;property id=&quot;20307&quot; value=&quot;349&quot;/&gt;&lt;/object&gt;&lt;object type=&quot;3&quot; unique_id=&quot;11665&quot;&gt;&lt;property id=&quot;20148&quot; value=&quot;5&quot;/&gt;&lt;property id=&quot;20300&quot; value=&quot;Slide 24 - &amp;quot;Figure 2.23&amp;#x0D;&amp;#x0A;Cylindrical coordinates.&amp;quot;&quot;/&gt;&lt;property id=&quot;20307&quot; value=&quot;350&quot;/&gt;&lt;/object&gt;&lt;object type=&quot;3&quot; unique_id=&quot;11744&quot;&gt;&lt;property id=&quot;20148&quot; value=&quot;5&quot;/&gt;&lt;property id=&quot;20300&quot; value=&quot;Slide 25 - &amp;quot;Figure 2.24&amp;#x0D;&amp;#x0A;Spherical coordinates.&amp;quot;&quot;/&gt;&lt;property id=&quot;20307&quot; value=&quot;351&quot;/&gt;&lt;/object&gt;&lt;object type=&quot;3&quot; unique_id=&quot;11880&quot;&gt;&lt;property id=&quot;20148&quot; value=&quot;5&quot;/&gt;&lt;property id=&quot;20300&quot; value=&quot;Slide 26 - &amp;quot;Figure 2.25&amp;#x0D;&amp;#x0A;Frames at the corners of a wedge.&amp;quot;&quot;/&gt;&lt;property id=&quot;20307&quot; value=&quot;352&quot;/&gt;&lt;/object&gt;&lt;object type=&quot;3&quot; unique_id=&quot;11965&quot;&gt;&lt;property id=&quot;20148&quot; value=&quot;5&quot;/&gt;&lt;property id=&quot;20300&quot; value=&quot;Slide 27 - &amp;quot;Figure 2.26&amp;#x0D;&amp;#x0A;Frames at the corners of a wedge.&amp;quot;&quot;/&gt;&lt;property id=&quot;20307&quot; value=&quot;353&quot;/&gt;&lt;/object&gt;&lt;/object&gt;&lt;/object&gt;&lt;/database&gt;"/>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953</TotalTime>
  <Words>148</Words>
  <Application>Microsoft Office PowerPoint</Application>
  <PresentationFormat>On-screen Show (4:3)</PresentationFormat>
  <Paragraphs>89</Paragraphs>
  <Slides>43</Slides>
  <Notes>42</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508 Lecture</vt:lpstr>
      <vt:lpstr>Digital Design</vt:lpstr>
      <vt:lpstr>Figure 7.1 Conventional and array logic diagrams for OR gate.    </vt:lpstr>
      <vt:lpstr>Figure 7.2 Block diagram of a memory unit.    </vt:lpstr>
      <vt:lpstr>Figure 7.3 Contents of a 1024 × 16 memory.  </vt:lpstr>
      <vt:lpstr>Table 7.1 Control Inputs to Memory Chip.</vt:lpstr>
      <vt:lpstr>Figure 7.4 Memory cycle timing waveforms.</vt:lpstr>
      <vt:lpstr>Figure 7.5 Memory cell.</vt:lpstr>
      <vt:lpstr>Figure 7.6 Diagram of a 4 × 4 RAM.</vt:lpstr>
      <vt:lpstr>Figure 7.7 Two-dimensional decoding structure for a 1K-word memory.</vt:lpstr>
      <vt:lpstr>Figure 7.8 Address multiplexing for a 64K DRAM.</vt:lpstr>
      <vt:lpstr>Table 7.2 Range of Data Bits for k Check Bits.</vt:lpstr>
      <vt:lpstr>Figure 7.9 ROM block diagram.</vt:lpstr>
      <vt:lpstr>Figure 7.10 Internal logic of a 32 × 8 ROM.</vt:lpstr>
      <vt:lpstr>Table 7.3  ROM Truth Table (Partial).</vt:lpstr>
      <vt:lpstr>Figure 7.11 Programming the ROM according to Table 7.3.</vt:lpstr>
      <vt:lpstr>Table 7.4 Truth Table for Circuit of Example 7.1.</vt:lpstr>
      <vt:lpstr>Figure 7.12 ROM implementation of Example 7.1.</vt:lpstr>
      <vt:lpstr>Figure 7.13 Basic configuration of three PLDs.</vt:lpstr>
      <vt:lpstr>Figure 7.14 PLA with three inputs, four product terms, and two outputs.</vt:lpstr>
      <vt:lpstr>Table 7.5 PLA Programming Table.</vt:lpstr>
      <vt:lpstr>Figure 7.15 Solution to Example 7.2.</vt:lpstr>
      <vt:lpstr>Figure 7.16 PAL with four inputs, four outputs, and a three-wide AND–OR structure.</vt:lpstr>
      <vt:lpstr>Table 7.6 PAL Programming Table.</vt:lpstr>
      <vt:lpstr>Figure 7.17 Fuse map for PA L as specified in Table 7.6.</vt:lpstr>
      <vt:lpstr>Figure 7.18 Sequential programmable logic device.</vt:lpstr>
      <vt:lpstr>Figure 7.19 Basic macrocell logic.</vt:lpstr>
      <vt:lpstr>Figure 7.20 General CPLD configuration.</vt:lpstr>
      <vt:lpstr>Figure 7.21 Basic architecture of Xilinx Spartan and predecessor devices.</vt:lpstr>
      <vt:lpstr>Figure 7.22 CLB architecture.</vt:lpstr>
      <vt:lpstr>Figure 7.23 RAM cell controlling a PIP transmission gate.</vt:lpstr>
      <vt:lpstr>Figure 7.24 Circuit for a programmable PIP.</vt:lpstr>
      <vt:lpstr>Figure 7.25 XC4000 series IOB.</vt:lpstr>
      <vt:lpstr>Figure 7.26 Distributed RAM cell formed from a lookup table.</vt:lpstr>
      <vt:lpstr>Figure 7.27 Spartan dual-port RAM.</vt:lpstr>
      <vt:lpstr>Figure 7.28 Spartan II architecture.</vt:lpstr>
      <vt:lpstr>Figure 7.29 Spartan II CLB slice.</vt:lpstr>
      <vt:lpstr>Figure 7.30 Spartan II IOB.</vt:lpstr>
      <vt:lpstr>Table 7.7 Features of the Spartan-6 device family.</vt:lpstr>
      <vt:lpstr>Figure 7.31 Virtex overall architecture.</vt:lpstr>
      <vt:lpstr>Figure 7.32 Virtex IOB block.</vt:lpstr>
      <vt:lpstr>Table 7.8 Features of the Virtex Ultrascale device family.</vt:lpstr>
      <vt:lpstr>Figure P7.17</vt:lpstr>
      <vt:lpstr>Problem 7.25</vt:lpstr>
    </vt:vector>
  </TitlesOfParts>
  <Company>echosvoice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admin</cp:lastModifiedBy>
  <cp:revision>542</cp:revision>
  <dcterms:created xsi:type="dcterms:W3CDTF">2014-07-14T20:04:21Z</dcterms:created>
  <dcterms:modified xsi:type="dcterms:W3CDTF">2018-06-21T09:14:25Z</dcterms:modified>
</cp:coreProperties>
</file>