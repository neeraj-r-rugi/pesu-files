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318" r:id="rId2"/>
    <p:sldId id="355" r:id="rId3"/>
    <p:sldId id="425" r:id="rId4"/>
    <p:sldId id="426" r:id="rId5"/>
    <p:sldId id="427" r:id="rId6"/>
    <p:sldId id="428" r:id="rId7"/>
    <p:sldId id="429" r:id="rId8"/>
    <p:sldId id="430" r:id="rId9"/>
    <p:sldId id="431" r:id="rId10"/>
    <p:sldId id="432" r:id="rId11"/>
    <p:sldId id="433" r:id="rId12"/>
    <p:sldId id="434" r:id="rId13"/>
    <p:sldId id="435" r:id="rId14"/>
    <p:sldId id="436" r:id="rId15"/>
    <p:sldId id="437" r:id="rId16"/>
    <p:sldId id="438" r:id="rId17"/>
    <p:sldId id="439" r:id="rId18"/>
    <p:sldId id="440" r:id="rId19"/>
    <p:sldId id="441" r:id="rId20"/>
    <p:sldId id="442" r:id="rId21"/>
    <p:sldId id="443" r:id="rId22"/>
    <p:sldId id="444" r:id="rId23"/>
    <p:sldId id="445" r:id="rId24"/>
    <p:sldId id="446" r:id="rId25"/>
    <p:sldId id="447" r:id="rId26"/>
    <p:sldId id="448" r:id="rId27"/>
    <p:sldId id="449" r:id="rId28"/>
    <p:sldId id="450" r:id="rId29"/>
    <p:sldId id="451" r:id="rId30"/>
    <p:sldId id="452" r:id="rId31"/>
    <p:sldId id="453" r:id="rId32"/>
    <p:sldId id="454" r:id="rId33"/>
    <p:sldId id="455" r:id="rId34"/>
    <p:sldId id="456" r:id="rId35"/>
    <p:sldId id="457" r:id="rId36"/>
    <p:sldId id="458" r:id="rId37"/>
    <p:sldId id="459" r:id="rId38"/>
    <p:sldId id="460" r:id="rId39"/>
    <p:sldId id="461" r:id="rId40"/>
    <p:sldId id="462" r:id="rId41"/>
    <p:sldId id="463" r:id="rId42"/>
    <p:sldId id="464" r:id="rId43"/>
    <p:sldId id="465" r:id="rId44"/>
    <p:sldId id="466" r:id="rId45"/>
    <p:sldId id="467" r:id="rId46"/>
  </p:sldIdLst>
  <p:sldSz cx="9144000" cy="6858000" type="screen4x3"/>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guide id="7" pos="5472">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varScale="1">
        <p:scale>
          <a:sx n="75" d="100"/>
          <a:sy n="75" d="100"/>
        </p:scale>
        <p:origin x="-1428" y="-84"/>
      </p:cViewPr>
      <p:guideLst>
        <p:guide orient="horz" pos="2160"/>
        <p:guide orient="horz" pos="432"/>
        <p:guide orient="horz" pos="864"/>
        <p:guide orient="horz" pos="4017"/>
        <p:guide pos="2880"/>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1807441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4253969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1791826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38075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1665195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1133786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526572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3917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417632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2210279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423799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4062385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49752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1311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2009036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503303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2302726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1624898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986644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2188219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1187301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1177019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223132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736280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691392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2102597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29</a:t>
            </a:fld>
            <a:endParaRPr lang="en-US" dirty="0"/>
          </a:p>
        </p:txBody>
      </p:sp>
    </p:spTree>
    <p:extLst>
      <p:ext uri="{BB962C8B-B14F-4D97-AF65-F5344CB8AC3E}">
        <p14:creationId xmlns:p14="http://schemas.microsoft.com/office/powerpoint/2010/main" val="18336504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30</a:t>
            </a:fld>
            <a:endParaRPr lang="en-US" dirty="0"/>
          </a:p>
        </p:txBody>
      </p:sp>
    </p:spTree>
    <p:extLst>
      <p:ext uri="{BB962C8B-B14F-4D97-AF65-F5344CB8AC3E}">
        <p14:creationId xmlns:p14="http://schemas.microsoft.com/office/powerpoint/2010/main" val="3076013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31</a:t>
            </a:fld>
            <a:endParaRPr lang="en-US" dirty="0"/>
          </a:p>
        </p:txBody>
      </p:sp>
    </p:spTree>
    <p:extLst>
      <p:ext uri="{BB962C8B-B14F-4D97-AF65-F5344CB8AC3E}">
        <p14:creationId xmlns:p14="http://schemas.microsoft.com/office/powerpoint/2010/main" val="3348658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32</a:t>
            </a:fld>
            <a:endParaRPr lang="en-US" dirty="0"/>
          </a:p>
        </p:txBody>
      </p:sp>
    </p:spTree>
    <p:extLst>
      <p:ext uri="{BB962C8B-B14F-4D97-AF65-F5344CB8AC3E}">
        <p14:creationId xmlns:p14="http://schemas.microsoft.com/office/powerpoint/2010/main" val="1788144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33</a:t>
            </a:fld>
            <a:endParaRPr lang="en-US" dirty="0"/>
          </a:p>
        </p:txBody>
      </p:sp>
    </p:spTree>
    <p:extLst>
      <p:ext uri="{BB962C8B-B14F-4D97-AF65-F5344CB8AC3E}">
        <p14:creationId xmlns:p14="http://schemas.microsoft.com/office/powerpoint/2010/main" val="41370396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34</a:t>
            </a:fld>
            <a:endParaRPr lang="en-US" dirty="0"/>
          </a:p>
        </p:txBody>
      </p:sp>
    </p:spTree>
    <p:extLst>
      <p:ext uri="{BB962C8B-B14F-4D97-AF65-F5344CB8AC3E}">
        <p14:creationId xmlns:p14="http://schemas.microsoft.com/office/powerpoint/2010/main" val="42027461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35</a:t>
            </a:fld>
            <a:endParaRPr lang="en-US" dirty="0"/>
          </a:p>
        </p:txBody>
      </p:sp>
    </p:spTree>
    <p:extLst>
      <p:ext uri="{BB962C8B-B14F-4D97-AF65-F5344CB8AC3E}">
        <p14:creationId xmlns:p14="http://schemas.microsoft.com/office/powerpoint/2010/main" val="11580524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36</a:t>
            </a:fld>
            <a:endParaRPr lang="en-US" dirty="0"/>
          </a:p>
        </p:txBody>
      </p:sp>
    </p:spTree>
    <p:extLst>
      <p:ext uri="{BB962C8B-B14F-4D97-AF65-F5344CB8AC3E}">
        <p14:creationId xmlns:p14="http://schemas.microsoft.com/office/powerpoint/2010/main" val="22710499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37</a:t>
            </a:fld>
            <a:endParaRPr lang="en-US" dirty="0"/>
          </a:p>
        </p:txBody>
      </p:sp>
    </p:spTree>
    <p:extLst>
      <p:ext uri="{BB962C8B-B14F-4D97-AF65-F5344CB8AC3E}">
        <p14:creationId xmlns:p14="http://schemas.microsoft.com/office/powerpoint/2010/main" val="4273079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38</a:t>
            </a:fld>
            <a:endParaRPr lang="en-US" dirty="0"/>
          </a:p>
        </p:txBody>
      </p:sp>
    </p:spTree>
    <p:extLst>
      <p:ext uri="{BB962C8B-B14F-4D97-AF65-F5344CB8AC3E}">
        <p14:creationId xmlns:p14="http://schemas.microsoft.com/office/powerpoint/2010/main" val="29851923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39</a:t>
            </a:fld>
            <a:endParaRPr lang="en-US" dirty="0"/>
          </a:p>
        </p:txBody>
      </p:sp>
    </p:spTree>
    <p:extLst>
      <p:ext uri="{BB962C8B-B14F-4D97-AF65-F5344CB8AC3E}">
        <p14:creationId xmlns:p14="http://schemas.microsoft.com/office/powerpoint/2010/main" val="2874674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40</a:t>
            </a:fld>
            <a:endParaRPr lang="en-US" dirty="0"/>
          </a:p>
        </p:txBody>
      </p:sp>
    </p:spTree>
    <p:extLst>
      <p:ext uri="{BB962C8B-B14F-4D97-AF65-F5344CB8AC3E}">
        <p14:creationId xmlns:p14="http://schemas.microsoft.com/office/powerpoint/2010/main" val="41433676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41</a:t>
            </a:fld>
            <a:endParaRPr lang="en-US" dirty="0"/>
          </a:p>
        </p:txBody>
      </p:sp>
    </p:spTree>
    <p:extLst>
      <p:ext uri="{BB962C8B-B14F-4D97-AF65-F5344CB8AC3E}">
        <p14:creationId xmlns:p14="http://schemas.microsoft.com/office/powerpoint/2010/main" val="27281760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42</a:t>
            </a:fld>
            <a:endParaRPr lang="en-US" dirty="0"/>
          </a:p>
        </p:txBody>
      </p:sp>
    </p:spTree>
    <p:extLst>
      <p:ext uri="{BB962C8B-B14F-4D97-AF65-F5344CB8AC3E}">
        <p14:creationId xmlns:p14="http://schemas.microsoft.com/office/powerpoint/2010/main" val="42423749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43</a:t>
            </a:fld>
            <a:endParaRPr lang="en-US" dirty="0"/>
          </a:p>
        </p:txBody>
      </p:sp>
    </p:spTree>
    <p:extLst>
      <p:ext uri="{BB962C8B-B14F-4D97-AF65-F5344CB8AC3E}">
        <p14:creationId xmlns:p14="http://schemas.microsoft.com/office/powerpoint/2010/main" val="19419042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44</a:t>
            </a:fld>
            <a:endParaRPr lang="en-US" dirty="0"/>
          </a:p>
        </p:txBody>
      </p:sp>
    </p:spTree>
    <p:extLst>
      <p:ext uri="{BB962C8B-B14F-4D97-AF65-F5344CB8AC3E}">
        <p14:creationId xmlns:p14="http://schemas.microsoft.com/office/powerpoint/2010/main" val="4121170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45</a:t>
            </a:fld>
            <a:endParaRPr lang="en-US" dirty="0"/>
          </a:p>
        </p:txBody>
      </p:sp>
    </p:spTree>
    <p:extLst>
      <p:ext uri="{BB962C8B-B14F-4D97-AF65-F5344CB8AC3E}">
        <p14:creationId xmlns:p14="http://schemas.microsoft.com/office/powerpoint/2010/main" val="3476646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a:t>
            </a:r>
            <a:r>
              <a:rPr lang="en-US" sz="2400" dirty="0" smtClean="0"/>
              <a:t>, VHDL</a:t>
            </a:r>
            <a:r>
              <a:rPr lang="en-US" sz="2400" dirty="0"/>
              <a:t>, and </a:t>
            </a:r>
            <a:r>
              <a:rPr lang="en-US" sz="2400" dirty="0" smtClean="0"/>
              <a:t>SystemVerilog</a:t>
            </a:r>
          </a:p>
          <a:p>
            <a:r>
              <a:rPr lang="en-US" sz="2400" dirty="0" smtClean="0">
                <a:latin typeface="+mj-lt"/>
              </a:rPr>
              <a:t>6</a:t>
            </a:r>
            <a:r>
              <a:rPr lang="en-US" sz="2400" baseline="30000" dirty="0" smtClean="0">
                <a:latin typeface="+mj-lt"/>
              </a:rPr>
              <a:t>th</a:t>
            </a:r>
            <a:r>
              <a:rPr lang="en-US" sz="2400" dirty="0" smtClean="0">
                <a:latin typeface="+mj-lt"/>
              </a:rPr>
              <a:t> </a:t>
            </a:r>
            <a:r>
              <a:rPr lang="en-US" sz="1800" dirty="0" smtClean="0">
                <a:latin typeface="+mj-lt"/>
              </a:rPr>
              <a:t>Edition</a:t>
            </a:r>
          </a:p>
        </p:txBody>
      </p:sp>
      <p:sp>
        <p:nvSpPr>
          <p:cNvPr id="4" name="Text Placeholder 3"/>
          <p:cNvSpPr>
            <a:spLocks noGrp="1"/>
          </p:cNvSpPr>
          <p:nvPr>
            <p:ph type="body" sz="quarter" idx="14"/>
          </p:nvPr>
        </p:nvSpPr>
        <p:spPr>
          <a:xfrm>
            <a:off x="4876800" y="3048000"/>
            <a:ext cx="3657600" cy="533399"/>
          </a:xfrm>
        </p:spPr>
        <p:txBody>
          <a:bodyPr/>
          <a:lstStyle/>
          <a:p>
            <a:pPr algn="ctr"/>
            <a:r>
              <a:rPr lang="en-US" sz="3000" dirty="0" smtClean="0"/>
              <a:t>Chapter 08</a:t>
            </a:r>
            <a:endParaRPr lang="en-US" sz="3000" dirty="0"/>
          </a:p>
        </p:txBody>
      </p:sp>
      <p:sp>
        <p:nvSpPr>
          <p:cNvPr id="5" name="Text Placeholder 4"/>
          <p:cNvSpPr>
            <a:spLocks noGrp="1"/>
          </p:cNvSpPr>
          <p:nvPr>
            <p:ph type="body" sz="quarter" idx="15"/>
          </p:nvPr>
        </p:nvSpPr>
        <p:spPr>
          <a:xfrm>
            <a:off x="4267200" y="3581399"/>
            <a:ext cx="4876800" cy="457201"/>
          </a:xfrm>
        </p:spPr>
        <p:txBody>
          <a:bodyPr/>
          <a:lstStyle/>
          <a:p>
            <a:pPr algn="ctr"/>
            <a:r>
              <a:rPr lang="en-IN" dirty="0"/>
              <a:t>Design at the Register Transfer Level</a:t>
            </a:r>
            <a:endParaRPr lang="en-US"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smtClean="0">
                <a:latin typeface="+mj-lt"/>
              </a:rPr>
              <a:t>Table </a:t>
            </a:r>
            <a:r>
              <a:rPr lang="en-US" sz="2000" dirty="0">
                <a:latin typeface="+mj-lt"/>
              </a:rPr>
              <a:t>8.1</a:t>
            </a:r>
            <a:br>
              <a:rPr lang="en-US" sz="2000" dirty="0">
                <a:latin typeface="+mj-lt"/>
              </a:rPr>
            </a:br>
            <a:r>
              <a:rPr lang="en-US" sz="2000" dirty="0">
                <a:latin typeface="+mj-lt"/>
              </a:rPr>
              <a:t>Verilog 2001, 2005 HDL </a:t>
            </a:r>
            <a:r>
              <a:rPr lang="en-US" sz="2000" dirty="0" smtClean="0">
                <a:latin typeface="+mj-lt"/>
              </a:rPr>
              <a:t>Operators.</a:t>
            </a:r>
            <a:endParaRPr lang="en-US" sz="2000" dirty="0">
              <a:latin typeface="+mn-l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1438400"/>
            <a:ext cx="4419600" cy="4505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8.2</a:t>
            </a:r>
            <a:br>
              <a:rPr lang="en-IN" sz="2000" dirty="0">
                <a:latin typeface="+mj-lt"/>
              </a:rPr>
            </a:br>
            <a:r>
              <a:rPr lang="en-IN" sz="2000" dirty="0">
                <a:latin typeface="+mj-lt"/>
              </a:rPr>
              <a:t>Verilog Operator </a:t>
            </a:r>
            <a:r>
              <a:rPr lang="en-IN" sz="2000" dirty="0" smtClean="0">
                <a:latin typeface="+mj-lt"/>
              </a:rPr>
              <a:t>Precedence.</a:t>
            </a:r>
            <a:endParaRPr lang="en-US" sz="2000" dirty="0">
              <a:latin typeface="+mn-lt"/>
            </a:endParaRPr>
          </a:p>
        </p:txBody>
      </p:sp>
      <p:pic>
        <p:nvPicPr>
          <p:cNvPr id="2" name="Picture 1" descr="The following Operators are listed in order of decreasing precedence. Operator 1, unary: plus minus exclamation point, tilde, ampersand, tilde, ampersand, vertical bar, tilde, vertical bar, caret, tilde, caret, caret, tilde. Operator 2: asterisk, asterisk. Operator 3: asterisk slash percent. Operator 4, binary: plus minus. Operator 5: less than, less than, greater than, greater than, greater than, less than, less than, less than, greater than, greater than, greater than. Operator 6: equals, equals, exclamation point, equals, equals, equals, equals, exclamation point, equals, equals. Operator 7, binary, bitwise, or reduction and: ampersand. Operator 8, binary, bitwise, and reduction or: caret, caret, tilde, tilde, caret. Operator 9, binary: vertical bar. Operator 10, logic and: ampersand ampersand. Operator 11, logic or: vertical bar vertical bar. Operator 12, conditional operator: question mark. Operator 13, concatenation: left brace right brace left brace left brace right brace right bra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1447800"/>
            <a:ext cx="5638800" cy="4518270"/>
          </a:xfrm>
          <a:prstGeom prst="rect">
            <a:avLst/>
          </a:prstGeom>
        </p:spPr>
      </p:pic>
    </p:spTree>
    <p:extLst>
      <p:ext uri="{BB962C8B-B14F-4D97-AF65-F5344CB8AC3E}">
        <p14:creationId xmlns:p14="http://schemas.microsoft.com/office/powerpoint/2010/main" val="2593976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fr-FR" sz="2000" dirty="0" smtClean="0">
                <a:latin typeface="+mj-lt"/>
              </a:rPr>
              <a:t>Table</a:t>
            </a:r>
            <a:br>
              <a:rPr lang="fr-FR" sz="2000" dirty="0" smtClean="0">
                <a:latin typeface="+mj-lt"/>
              </a:rPr>
            </a:br>
            <a:r>
              <a:rPr lang="fr-FR" sz="2000" dirty="0" smtClean="0">
                <a:latin typeface="+mj-lt"/>
              </a:rPr>
              <a:t>Operations</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7882" y="1981200"/>
            <a:ext cx="8068236" cy="2743200"/>
          </a:xfrm>
          <a:prstGeom prst="rect">
            <a:avLst/>
          </a:prstGeom>
        </p:spPr>
      </p:pic>
    </p:spTree>
    <p:extLst>
      <p:ext uri="{BB962C8B-B14F-4D97-AF65-F5344CB8AC3E}">
        <p14:creationId xmlns:p14="http://schemas.microsoft.com/office/powerpoint/2010/main" val="1549912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n-lt"/>
              </a:rPr>
              <a:t>Figure PE 8.8</a:t>
            </a:r>
            <a:r>
              <a:rPr lang="en-US" sz="2000" b="1" dirty="0" smtClean="0">
                <a:latin typeface="+mj-lt"/>
              </a:rPr>
              <a:t/>
            </a:r>
            <a:br>
              <a:rPr lang="en-US" sz="2000" b="1" dirty="0" smtClean="0">
                <a:latin typeface="+mj-lt"/>
              </a:rPr>
            </a:br>
            <a:endParaRPr lang="en-US" sz="2000" dirty="0">
              <a:latin typeface="+mn-lt"/>
            </a:endParaRPr>
          </a:p>
        </p:txBody>
      </p:sp>
      <p:pic>
        <p:nvPicPr>
          <p:cNvPr id="2" name="Picture 1" descr="The graph plots the clock signal versus t. The graph is a square waveform of amplitude 1 and period 20, starting at (0, 1). All values estim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2264228"/>
            <a:ext cx="7620000" cy="2155372"/>
          </a:xfrm>
          <a:prstGeom prst="rect">
            <a:avLst/>
          </a:prstGeom>
        </p:spPr>
      </p:pic>
    </p:spTree>
    <p:extLst>
      <p:ext uri="{BB962C8B-B14F-4D97-AF65-F5344CB8AC3E}">
        <p14:creationId xmlns:p14="http://schemas.microsoft.com/office/powerpoint/2010/main" val="1956405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a:latin typeface="+mj-lt"/>
              </a:rPr>
              <a:t>Figure PE 8.9</a:t>
            </a:r>
            <a:endParaRPr lang="en-US" sz="2000" dirty="0">
              <a:latin typeface="+mn-lt"/>
            </a:endParaRPr>
          </a:p>
        </p:txBody>
      </p:sp>
      <p:pic>
        <p:nvPicPr>
          <p:cNvPr id="2" name="Picture 1" descr="The graph plots the clock signal versus t. The graph is a square waveform of amplitude 1 and period 20. The graph initially rises from (3, 0). All values estim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1821" y="1670958"/>
            <a:ext cx="6145158" cy="3129642"/>
          </a:xfrm>
          <a:prstGeom prst="rect">
            <a:avLst/>
          </a:prstGeom>
        </p:spPr>
      </p:pic>
    </p:spTree>
    <p:extLst>
      <p:ext uri="{BB962C8B-B14F-4D97-AF65-F5344CB8AC3E}">
        <p14:creationId xmlns:p14="http://schemas.microsoft.com/office/powerpoint/2010/main" val="3311061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8872" y="280356"/>
            <a:ext cx="8848928" cy="1015044"/>
          </a:xfrm>
        </p:spPr>
        <p:txBody>
          <a:bodyPr/>
          <a:lstStyle/>
          <a:p>
            <a:r>
              <a:rPr lang="en-IN" sz="2000" dirty="0" smtClean="0">
                <a:latin typeface="+mj-lt"/>
              </a:rPr>
              <a:t>Figure </a:t>
            </a:r>
            <a:r>
              <a:rPr lang="en-IN" sz="2000" dirty="0">
                <a:latin typeface="+mj-lt"/>
              </a:rPr>
              <a:t>8.1</a:t>
            </a:r>
            <a:br>
              <a:rPr lang="en-IN" sz="2000" dirty="0">
                <a:latin typeface="+mj-lt"/>
              </a:rPr>
            </a:br>
            <a:r>
              <a:rPr lang="en-IN" sz="2000" dirty="0">
                <a:latin typeface="+mj-lt"/>
              </a:rPr>
              <a:t>A simplified flowchart for HDL-based </a:t>
            </a:r>
            <a:r>
              <a:rPr lang="en-IN" sz="2000" dirty="0" err="1" smtClean="0">
                <a:latin typeface="+mj-lt"/>
              </a:rPr>
              <a:t>modeling</a:t>
            </a:r>
            <a:r>
              <a:rPr lang="en-IN" sz="2000" dirty="0" smtClean="0">
                <a:latin typeface="+mj-lt"/>
              </a:rPr>
              <a:t>, </a:t>
            </a:r>
            <a:r>
              <a:rPr lang="en-IN" sz="2000" dirty="0">
                <a:latin typeface="+mj-lt"/>
              </a:rPr>
              <a:t>verification, and </a:t>
            </a:r>
            <a:r>
              <a:rPr lang="en-IN" sz="2000" dirty="0" smtClean="0">
                <a:latin typeface="+mj-lt"/>
              </a:rPr>
              <a:t>synthesis.</a:t>
            </a:r>
            <a:endParaRPr lang="en-US" sz="2000" dirty="0">
              <a:latin typeface="+mn-lt"/>
            </a:endParaRPr>
          </a:p>
        </p:txBody>
      </p:sp>
      <p:pic>
        <p:nvPicPr>
          <p:cNvPr id="2" name="Picture 1" descr="First, develop the specification. Then develop, edit, simulate, and verify the H D L description. Is the description correct? If no, return to the development stage. If yes, are synthesis tools present? If yes, then synthesize the net list. If no, then manually develop a gate-level model. Once these steps are complete, simulate the net list or model. Compare the simulation results to the simulation of the net list or model. Do they match? If no, is it H D L? If no, then return to the manual development stage. If yes, then return to the original development stage. If the simulation results do match, then verify the timing. Is the timing met? If yes, then create production masks for the I C units. If no, then return to the original development st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672" y="1351720"/>
            <a:ext cx="3667328" cy="4744280"/>
          </a:xfrm>
          <a:prstGeom prst="rect">
            <a:avLst/>
          </a:prstGeom>
        </p:spPr>
      </p:pic>
    </p:spTree>
    <p:extLst>
      <p:ext uri="{BB962C8B-B14F-4D97-AF65-F5344CB8AC3E}">
        <p14:creationId xmlns:p14="http://schemas.microsoft.com/office/powerpoint/2010/main" val="91112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8</a:t>
            </a:r>
            <a:r>
              <a:rPr lang="en-US" sz="2000" dirty="0" smtClean="0">
                <a:latin typeface="+mj-lt"/>
              </a:rPr>
              <a:t>.2</a:t>
            </a:r>
            <a:r>
              <a:rPr lang="en-US" sz="2000" b="1" dirty="0" smtClean="0">
                <a:latin typeface="+mj-lt"/>
              </a:rPr>
              <a:t/>
            </a:r>
            <a:br>
              <a:rPr lang="en-US" sz="2000" b="1" dirty="0" smtClean="0">
                <a:latin typeface="+mj-lt"/>
              </a:rPr>
            </a:br>
            <a:r>
              <a:rPr lang="en-IN" sz="2000" dirty="0">
                <a:latin typeface="+mn-lt"/>
              </a:rPr>
              <a:t>Control and </a:t>
            </a:r>
            <a:r>
              <a:rPr lang="en-IN" sz="2000" dirty="0" err="1">
                <a:latin typeface="+mn-lt"/>
              </a:rPr>
              <a:t>datapath</a:t>
            </a:r>
            <a:r>
              <a:rPr lang="en-IN" sz="2000" dirty="0">
                <a:latin typeface="+mn-lt"/>
              </a:rPr>
              <a:t> </a:t>
            </a:r>
            <a:r>
              <a:rPr lang="en-IN" sz="2000" dirty="0" smtClean="0">
                <a:latin typeface="+mn-lt"/>
              </a:rPr>
              <a:t>interaction.</a:t>
            </a:r>
            <a:endParaRPr lang="en-US" sz="2000" dirty="0">
              <a:latin typeface="+mn-lt"/>
            </a:endParaRPr>
          </a:p>
        </p:txBody>
      </p:sp>
      <p:pic>
        <p:nvPicPr>
          <p:cNvPr id="2" name="Picture 1" descr="External input signals enter the F S M control unit, which sends control signals to the data path unit. The F S M receives status signals from the data path unit. The data path unit receives input data and produces output dat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9200" y="1807028"/>
            <a:ext cx="6705600" cy="3831772"/>
          </a:xfrm>
          <a:prstGeom prst="rect">
            <a:avLst/>
          </a:prstGeom>
        </p:spPr>
      </p:pic>
    </p:spTree>
    <p:extLst>
      <p:ext uri="{BB962C8B-B14F-4D97-AF65-F5344CB8AC3E}">
        <p14:creationId xmlns:p14="http://schemas.microsoft.com/office/powerpoint/2010/main" val="3535896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b="1" dirty="0" smtClean="0">
                <a:latin typeface="+mj-lt"/>
              </a:rPr>
              <a:t>Figure 8</a:t>
            </a:r>
            <a:r>
              <a:rPr lang="en-US" sz="2000" dirty="0" smtClean="0">
                <a:latin typeface="+mj-lt"/>
              </a:rPr>
              <a:t>.3</a:t>
            </a:r>
            <a:r>
              <a:rPr lang="en-US" sz="2000" b="1" dirty="0" smtClean="0">
                <a:latin typeface="+mj-lt"/>
              </a:rPr>
              <a:t/>
            </a:r>
            <a:br>
              <a:rPr lang="en-US" sz="2000" b="1" dirty="0" smtClean="0">
                <a:latin typeface="+mj-lt"/>
              </a:rPr>
            </a:br>
            <a:r>
              <a:rPr lang="en-IN" sz="2000" dirty="0">
                <a:latin typeface="+mn-lt"/>
              </a:rPr>
              <a:t>ASM chart state </a:t>
            </a:r>
            <a:r>
              <a:rPr lang="en-IN" sz="2000" dirty="0" smtClean="0">
                <a:latin typeface="+mn-lt"/>
              </a:rPr>
              <a:t>box.</a:t>
            </a:r>
            <a:endParaRPr lang="en-US" sz="2000" dirty="0">
              <a:latin typeface="+mn-lt"/>
            </a:endParaRPr>
          </a:p>
        </p:txBody>
      </p:sp>
      <p:pic>
        <p:nvPicPr>
          <p:cNvPr id="2" name="Picture 1" descr="Part ay: The box receives binary code for state name, Moore type output signals, and register operations. Part b: The box receives 0 1 0 1, with S pause, 0 to R, and start O P, Ay. The box generates outpu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0936" y="2133600"/>
            <a:ext cx="7924800" cy="2977460"/>
          </a:xfrm>
          <a:prstGeom prst="rect">
            <a:avLst/>
          </a:prstGeom>
        </p:spPr>
      </p:pic>
    </p:spTree>
    <p:extLst>
      <p:ext uri="{BB962C8B-B14F-4D97-AF65-F5344CB8AC3E}">
        <p14:creationId xmlns:p14="http://schemas.microsoft.com/office/powerpoint/2010/main" val="3627951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8.4</a:t>
            </a:r>
            <a:br>
              <a:rPr lang="en-IN" sz="2000" dirty="0">
                <a:latin typeface="+mj-lt"/>
              </a:rPr>
            </a:br>
            <a:r>
              <a:rPr lang="en-IN" sz="2000" dirty="0">
                <a:latin typeface="+mj-lt"/>
              </a:rPr>
              <a:t>ASM chart decision </a:t>
            </a:r>
            <a:r>
              <a:rPr lang="en-IN" sz="2000" dirty="0" smtClean="0">
                <a:latin typeface="+mj-lt"/>
              </a:rPr>
              <a:t>box.</a:t>
            </a:r>
            <a:endParaRPr lang="en-US" sz="2000" dirty="0">
              <a:latin typeface="+mn-lt"/>
            </a:endParaRPr>
          </a:p>
        </p:txBody>
      </p:sp>
      <p:pic>
        <p:nvPicPr>
          <p:cNvPr id="2" name="Picture 1" descr="The decision box is a diamond with input at the top vertex and outward exit paths 1 to 3 from the side and bottom vertic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08022" y="1828800"/>
            <a:ext cx="4301338" cy="3657600"/>
          </a:xfrm>
          <a:prstGeom prst="rect">
            <a:avLst/>
          </a:prstGeom>
        </p:spPr>
      </p:pic>
    </p:spTree>
    <p:extLst>
      <p:ext uri="{BB962C8B-B14F-4D97-AF65-F5344CB8AC3E}">
        <p14:creationId xmlns:p14="http://schemas.microsoft.com/office/powerpoint/2010/main" val="1840863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8.5</a:t>
            </a:r>
            <a:br>
              <a:rPr lang="en-IN" sz="2000" dirty="0">
                <a:latin typeface="+mj-lt"/>
              </a:rPr>
            </a:br>
            <a:r>
              <a:rPr lang="en-IN" sz="2000" dirty="0">
                <a:latin typeface="+mj-lt"/>
              </a:rPr>
              <a:t>ASM chart conditional box and </a:t>
            </a:r>
            <a:r>
              <a:rPr lang="en-IN" sz="2000" dirty="0" smtClean="0">
                <a:latin typeface="+mj-lt"/>
              </a:rPr>
              <a:t>examples.</a:t>
            </a:r>
            <a:endParaRPr lang="en-US" sz="2000" dirty="0">
              <a:latin typeface="+mn-lt"/>
            </a:endParaRPr>
          </a:p>
        </p:txBody>
      </p:sp>
      <p:pic>
        <p:nvPicPr>
          <p:cNvPr id="2" name="Picture 1" descr="Part ay: Binary code enters a box for state name, Moore-type output signals, and unconditional register operations. The flow proceeds from the box to a decision, with one exit path leading to the conditional, Mealy, outputs and register operations. Part b: The sequence is as follows: input reset b; box, S 1, start, 0 0 1; decision, flag; exit path 0 and exit path 1, via 0 to R, converging on box S 2, G to F, 1 0 0; box S 3. Part c: The chart is the same as the chart in part b, with the following exceptions: 0 to R is replaced by flush R, and G to R is replaced by load F 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136" y="1691204"/>
            <a:ext cx="7010400" cy="4176196"/>
          </a:xfrm>
          <a:prstGeom prst="rect">
            <a:avLst/>
          </a:prstGeom>
        </p:spPr>
      </p:pic>
    </p:spTree>
    <p:extLst>
      <p:ext uri="{BB962C8B-B14F-4D97-AF65-F5344CB8AC3E}">
        <p14:creationId xmlns:p14="http://schemas.microsoft.com/office/powerpoint/2010/main" val="2782740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a:latin typeface="+mj-lt"/>
              </a:rPr>
              <a:t>Figure 8.6</a:t>
            </a:r>
            <a:br>
              <a:rPr lang="en-US" sz="2000" dirty="0">
                <a:latin typeface="+mj-lt"/>
              </a:rPr>
            </a:br>
            <a:r>
              <a:rPr lang="en-US" sz="2000" dirty="0">
                <a:latin typeface="+mj-lt"/>
              </a:rPr>
              <a:t>ASM </a:t>
            </a:r>
            <a:r>
              <a:rPr lang="en-US" sz="2000" dirty="0" smtClean="0">
                <a:latin typeface="+mj-lt"/>
              </a:rPr>
              <a:t>blocks.</a:t>
            </a:r>
            <a:endParaRPr lang="en-US" sz="2000" dirty="0">
              <a:latin typeface="+mn-lt"/>
            </a:endParaRPr>
          </a:p>
        </p:txBody>
      </p:sp>
      <p:pic>
        <p:nvPicPr>
          <p:cNvPr id="2" name="Picture 1" descr="Part ay: Reset b flows to box S 0 for Ay + 1 to Ay, at 0 0 1. The flow proceeds to decision E. The first exit path extends to decision F, which branches to S 1 at 0 1 0, and via 1 to S 2 at 0 1 1. The second exit path from E, with value 1, extends through 0 to R to S 3 at 1 0 0. Part b: The second chart has the same structure as the first chart, with the following exceptions. S 0 is for i n c r, Ay, and 0 to R is replaced by clear B."/>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 y="1739102"/>
            <a:ext cx="7924800" cy="3747298"/>
          </a:xfrm>
          <a:prstGeom prst="rect">
            <a:avLst/>
          </a:prstGeom>
        </p:spPr>
      </p:pic>
    </p:spTree>
    <p:extLst>
      <p:ext uri="{BB962C8B-B14F-4D97-AF65-F5344CB8AC3E}">
        <p14:creationId xmlns:p14="http://schemas.microsoft.com/office/powerpoint/2010/main" val="12173354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8.7</a:t>
            </a:r>
            <a:br>
              <a:rPr lang="en-IN" sz="2000" dirty="0">
                <a:latin typeface="+mj-lt"/>
              </a:rPr>
            </a:br>
            <a:r>
              <a:rPr lang="en-IN" sz="2000" dirty="0">
                <a:latin typeface="+mj-lt"/>
              </a:rPr>
              <a:t>State diagram equivalent to the ASM chart of Fig. </a:t>
            </a:r>
            <a:r>
              <a:rPr lang="en-IN" sz="2000" dirty="0" smtClean="0">
                <a:latin typeface="+mj-lt"/>
              </a:rPr>
              <a:t>8.6.</a:t>
            </a:r>
            <a:endParaRPr lang="en-US" sz="2000" dirty="0">
              <a:latin typeface="+mn-lt"/>
            </a:endParaRPr>
          </a:p>
        </p:txBody>
      </p:sp>
      <p:pic>
        <p:nvPicPr>
          <p:cNvPr id="2" name="Picture 1" descr="A state diagram has three paths: 0 0 1 to 0 1 0, E F = 0 0; 0 0 1 to 0 1 1, E F = 0 1; 0 0 1 to 1 0 0, E =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16416" y="1676400"/>
            <a:ext cx="4653840" cy="4114800"/>
          </a:xfrm>
          <a:prstGeom prst="rect">
            <a:avLst/>
          </a:prstGeom>
        </p:spPr>
      </p:pic>
    </p:spTree>
    <p:extLst>
      <p:ext uri="{BB962C8B-B14F-4D97-AF65-F5344CB8AC3E}">
        <p14:creationId xmlns:p14="http://schemas.microsoft.com/office/powerpoint/2010/main" val="3648373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8.8</a:t>
            </a:r>
            <a:br>
              <a:rPr lang="en-IN" sz="2000" dirty="0">
                <a:latin typeface="+mj-lt"/>
              </a:rPr>
            </a:br>
            <a:r>
              <a:rPr lang="en-IN" sz="2000" dirty="0">
                <a:latin typeface="+mj-lt"/>
              </a:rPr>
              <a:t>Transition between </a:t>
            </a:r>
            <a:r>
              <a:rPr lang="en-IN" sz="2000" dirty="0" smtClean="0">
                <a:latin typeface="+mj-lt"/>
              </a:rPr>
              <a:t>states.</a:t>
            </a:r>
            <a:endParaRPr lang="en-US" sz="2000" dirty="0">
              <a:latin typeface="+mn-lt"/>
            </a:endParaRPr>
          </a:p>
        </p:txBody>
      </p:sp>
      <p:pic>
        <p:nvPicPr>
          <p:cNvPr id="2" name="Picture 1" descr="A clock signal graph. The positive edge of the graph rises vertically. The interval for the present state, S 0, extends between consecutive positive edges. The next state is for S 1 or S 2 or S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1981200"/>
            <a:ext cx="7620000" cy="2683328"/>
          </a:xfrm>
          <a:prstGeom prst="rect">
            <a:avLst/>
          </a:prstGeom>
        </p:spPr>
      </p:pic>
    </p:spTree>
    <p:extLst>
      <p:ext uri="{BB962C8B-B14F-4D97-AF65-F5344CB8AC3E}">
        <p14:creationId xmlns:p14="http://schemas.microsoft.com/office/powerpoint/2010/main" val="3358697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smtClean="0">
                <a:latin typeface="+mj-lt"/>
              </a:rPr>
              <a:t>Figure PE </a:t>
            </a:r>
            <a:r>
              <a:rPr lang="en-US" sz="2000" dirty="0">
                <a:latin typeface="+mj-lt"/>
              </a:rPr>
              <a:t>8.10</a:t>
            </a:r>
            <a:endParaRPr lang="en-US" sz="2000" dirty="0">
              <a:latin typeface="+mn-lt"/>
            </a:endParaRPr>
          </a:p>
        </p:txBody>
      </p:sp>
      <p:pic>
        <p:nvPicPr>
          <p:cNvPr id="2" name="Picture 1" descr="The sequence is as follows: state s 0, decision x in, exit 0 to s 0, exit 1 to state s 1, decision x in, exit 0 to s 0, exit 1 to state s 2, decision x in, exit 0 to s 0, exit 1 to state s 3 slash y out, decision x in, exit 0 to s 0, exit 1 to s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4095" y="1066800"/>
            <a:ext cx="1502358" cy="4724400"/>
          </a:xfrm>
          <a:prstGeom prst="rect">
            <a:avLst/>
          </a:prstGeom>
        </p:spPr>
      </p:pic>
    </p:spTree>
    <p:extLst>
      <p:ext uri="{BB962C8B-B14F-4D97-AF65-F5344CB8AC3E}">
        <p14:creationId xmlns:p14="http://schemas.microsoft.com/office/powerpoint/2010/main" val="10135337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71728" y="405444"/>
            <a:ext cx="7305472" cy="813756"/>
          </a:xfrm>
        </p:spPr>
        <p:txBody>
          <a:bodyPr/>
          <a:lstStyle/>
          <a:p>
            <a:r>
              <a:rPr lang="en-US" sz="1050" b="1" dirty="0" smtClean="0">
                <a:latin typeface="+mj-lt"/>
              </a:rPr>
              <a:t>Figure 8</a:t>
            </a:r>
            <a:r>
              <a:rPr lang="en-US" sz="1050" dirty="0" smtClean="0">
                <a:latin typeface="+mj-lt"/>
              </a:rPr>
              <a:t>.9</a:t>
            </a:r>
            <a:br>
              <a:rPr lang="en-US" sz="1050" dirty="0" smtClean="0">
                <a:latin typeface="+mj-lt"/>
              </a:rPr>
            </a:br>
            <a:r>
              <a:rPr lang="en-US" sz="1050" dirty="0" smtClean="0">
                <a:latin typeface="+mj-lt"/>
              </a:rPr>
              <a:t>(</a:t>
            </a:r>
            <a:r>
              <a:rPr lang="en-US" sz="1050" dirty="0">
                <a:latin typeface="+mj-lt"/>
              </a:rPr>
              <a:t>a) Block diagram for design example; (b) ASM chart for controller state transitions, </a:t>
            </a:r>
            <a:r>
              <a:rPr lang="en-US" sz="1050" dirty="0" smtClean="0">
                <a:latin typeface="+mj-lt"/>
              </a:rPr>
              <a:t>annotated with </a:t>
            </a:r>
            <a:r>
              <a:rPr lang="en-US" sz="1050" dirty="0" err="1">
                <a:latin typeface="+mj-lt"/>
              </a:rPr>
              <a:t>datapath</a:t>
            </a:r>
            <a:r>
              <a:rPr lang="en-US" sz="1050" dirty="0">
                <a:latin typeface="+mj-lt"/>
              </a:rPr>
              <a:t> register operations, asynchronous reset; (c) ASM chart for controller </a:t>
            </a:r>
            <a:r>
              <a:rPr lang="en-US" sz="1050" dirty="0" smtClean="0">
                <a:latin typeface="+mj-lt"/>
              </a:rPr>
              <a:t>state transitions</a:t>
            </a:r>
            <a:r>
              <a:rPr lang="en-US" sz="1050" dirty="0">
                <a:latin typeface="+mj-lt"/>
              </a:rPr>
              <a:t>, annotated with </a:t>
            </a:r>
            <a:r>
              <a:rPr lang="en-US" sz="1050" dirty="0" err="1">
                <a:latin typeface="+mj-lt"/>
              </a:rPr>
              <a:t>datapath</a:t>
            </a:r>
            <a:r>
              <a:rPr lang="en-US" sz="1050" dirty="0">
                <a:latin typeface="+mj-lt"/>
              </a:rPr>
              <a:t> register operations, synchronous reset; (d) ASMD chart </a:t>
            </a:r>
            <a:r>
              <a:rPr lang="en-US" sz="1050" dirty="0" smtClean="0">
                <a:latin typeface="+mj-lt"/>
              </a:rPr>
              <a:t>fora </a:t>
            </a:r>
            <a:r>
              <a:rPr lang="en-US" sz="1050" dirty="0">
                <a:latin typeface="+mj-lt"/>
              </a:rPr>
              <a:t>completely specified controller, identifying </a:t>
            </a:r>
            <a:r>
              <a:rPr lang="en-US" sz="1050" dirty="0" err="1">
                <a:latin typeface="+mj-lt"/>
              </a:rPr>
              <a:t>datapath</a:t>
            </a:r>
            <a:r>
              <a:rPr lang="en-US" sz="1050" dirty="0">
                <a:latin typeface="+mj-lt"/>
              </a:rPr>
              <a:t> operations and associated control </a:t>
            </a:r>
            <a:r>
              <a:rPr lang="en-US" sz="1050" dirty="0" err="1" smtClean="0">
                <a:latin typeface="+mj-lt"/>
              </a:rPr>
              <a:t>signals,and</a:t>
            </a:r>
            <a:r>
              <a:rPr lang="en-US" sz="1050" dirty="0" smtClean="0">
                <a:latin typeface="+mj-lt"/>
              </a:rPr>
              <a:t> </a:t>
            </a:r>
            <a:r>
              <a:rPr lang="en-US" sz="1050" dirty="0">
                <a:latin typeface="+mj-lt"/>
              </a:rPr>
              <a:t>asynchronous </a:t>
            </a:r>
            <a:r>
              <a:rPr lang="en-US" sz="1050" dirty="0" smtClean="0">
                <a:latin typeface="+mj-lt"/>
              </a:rPr>
              <a:t>reset.</a:t>
            </a:r>
            <a:r>
              <a:rPr lang="en-US" sz="1050" b="1" dirty="0" smtClean="0">
                <a:latin typeface="+mj-lt"/>
              </a:rPr>
              <a:t/>
            </a:r>
            <a:br>
              <a:rPr lang="en-US" sz="1050" b="1" dirty="0" smtClean="0">
                <a:latin typeface="+mj-lt"/>
              </a:rPr>
            </a:br>
            <a:endParaRPr lang="en-US" sz="1050" dirty="0">
              <a:latin typeface="+mn-lt"/>
            </a:endParaRPr>
          </a:p>
        </p:txBody>
      </p:sp>
      <p:pic>
        <p:nvPicPr>
          <p:cNvPr id="2" name="Picture 1" descr="In the following diagram and charts, Ay 3 denotes Ay left bracket 3 right bracket, Ay 2 denotes Ay left bracket 2 right bracket, less than equals denotes nonblocking assignment, and reset b denotes active low reset condition. Part ay: block diagram. The controller receives the start command, reset b, and the clock. The controller sends the following signals to the data path: clear E, set E, set F, clear Ay F, and increment Ay. The data path has entries for Ay, E, and E, and it receives clock. The data path sends status signals for Ay 2 and Ay 3 to the controller. Part b: Ay S M chart. The process is as follows: input reset b, state S idle, decision start, return to S idle, signal 1 for Ay less than equals 0 and F less than equals 0 to state S 1, signal Ay less than equals Ay + 1, decision Ay 2, signal 1 for E less than equals 1, decision Ay 3, return to S 1, or signal 1, state S 2, return to F less than equals 1. Part c: Ay S M chart. The process is as follows: state S idle, decision reset b, signal 1, decision state, return to S idle, or signal 1 for Ay less than equals 0 and F less than equals 0, state S 1, signal Ay less than equals Ay + 1, decision Ay 2, return for E less than equals 0 to S 1, or signal 1 for E less than equals 1, decision Ay 3 return to S 1, or signal 1, state S 2, return to  S idle. Part d: Ay S M chart. The process is as follows: input reset b, state S idle, decision start, return to S idle, or signal 1, clear Ay F for Ay less than equals 0 and F less than equals 0, state S 1 increment Ay for Ay less than equals Ay + 1, decision Ay 2, return via clear E for E less than equals 0 to S 1, or signal 1, set E for E less than equals 1, decision Ay 3, return to S 1, or signal 1, state S 2 set F for F less than equals 1, return to S id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295400"/>
            <a:ext cx="3957980" cy="5029200"/>
          </a:xfrm>
          <a:prstGeom prst="rect">
            <a:avLst/>
          </a:prstGeom>
        </p:spPr>
      </p:pic>
    </p:spTree>
    <p:extLst>
      <p:ext uri="{BB962C8B-B14F-4D97-AF65-F5344CB8AC3E}">
        <p14:creationId xmlns:p14="http://schemas.microsoft.com/office/powerpoint/2010/main" val="4259801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8.3</a:t>
            </a:r>
            <a:br>
              <a:rPr lang="en-IN" sz="2000" dirty="0">
                <a:latin typeface="+mj-lt"/>
              </a:rPr>
            </a:br>
            <a:r>
              <a:rPr lang="en-IN" sz="2000" dirty="0">
                <a:latin typeface="+mj-lt"/>
              </a:rPr>
              <a:t>Sequence of Operations for Design </a:t>
            </a:r>
            <a:r>
              <a:rPr lang="en-IN" sz="2000" dirty="0" smtClean="0">
                <a:latin typeface="+mj-lt"/>
              </a:rPr>
              <a:t>Example.</a:t>
            </a:r>
            <a:endParaRPr lang="en-US" sz="2000" dirty="0">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9260" y="1447800"/>
            <a:ext cx="5768340" cy="4403314"/>
          </a:xfrm>
          <a:prstGeom prst="rect">
            <a:avLst/>
          </a:prstGeom>
        </p:spPr>
      </p:pic>
    </p:spTree>
    <p:extLst>
      <p:ext uri="{BB962C8B-B14F-4D97-AF65-F5344CB8AC3E}">
        <p14:creationId xmlns:p14="http://schemas.microsoft.com/office/powerpoint/2010/main" val="24424102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8.10</a:t>
            </a:r>
            <a:br>
              <a:rPr lang="en-IN" sz="2000" dirty="0">
                <a:latin typeface="+mj-lt"/>
              </a:rPr>
            </a:br>
            <a:r>
              <a:rPr lang="en-IN" sz="2000" dirty="0" err="1" smtClean="0">
                <a:latin typeface="+mj-lt"/>
              </a:rPr>
              <a:t>Datapath</a:t>
            </a:r>
            <a:r>
              <a:rPr lang="en-IN" sz="2000" dirty="0" smtClean="0">
                <a:latin typeface="+mj-lt"/>
              </a:rPr>
              <a:t> </a:t>
            </a:r>
            <a:r>
              <a:rPr lang="en-IN" sz="2000" dirty="0">
                <a:latin typeface="+mj-lt"/>
              </a:rPr>
              <a:t>and controller for design </a:t>
            </a:r>
            <a:r>
              <a:rPr lang="en-IN" sz="2000" dirty="0" smtClean="0">
                <a:latin typeface="+mj-lt"/>
              </a:rPr>
              <a:t>example.</a:t>
            </a:r>
            <a:endParaRPr lang="en-US" sz="2000" dirty="0">
              <a:latin typeface="+mn-lt"/>
            </a:endParaRPr>
          </a:p>
        </p:txBody>
      </p:sp>
      <p:pic>
        <p:nvPicPr>
          <p:cNvPr id="2" name="Picture 1" descr="In design example, the controller receives the following inputs: start, clock, reset b, Ay 2, and Ay 3. The controller produces outputs: set E, clear E, set F, clear Ay F, and increment Ay. Outputs cock, clear Ay F, and increment Ay flow to a 4-bit counter with synchronous clear in the data path, producing outputs Ay sub 0 to Ay sub 4. The data path includes two J K flip flops. The first flip flop receives set E and clear E at J and K, and it outputs E from Q. The second flip flop receives set f and clear Ay F at J and K, and it outputs F from Q."/>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0072" y="1508715"/>
            <a:ext cx="4886528" cy="4541384"/>
          </a:xfrm>
          <a:prstGeom prst="rect">
            <a:avLst/>
          </a:prstGeom>
        </p:spPr>
      </p:pic>
    </p:spTree>
    <p:extLst>
      <p:ext uri="{BB962C8B-B14F-4D97-AF65-F5344CB8AC3E}">
        <p14:creationId xmlns:p14="http://schemas.microsoft.com/office/powerpoint/2010/main" val="2392107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8.11</a:t>
            </a:r>
            <a:br>
              <a:rPr lang="en-IN" sz="2000" dirty="0">
                <a:latin typeface="+mj-lt"/>
              </a:rPr>
            </a:br>
            <a:r>
              <a:rPr lang="en-IN" sz="2000" dirty="0">
                <a:latin typeface="+mj-lt"/>
              </a:rPr>
              <a:t>Register transfer-level description of design </a:t>
            </a:r>
            <a:r>
              <a:rPr lang="en-IN" sz="2000" dirty="0" smtClean="0">
                <a:latin typeface="+mj-lt"/>
              </a:rPr>
              <a:t>example.</a:t>
            </a:r>
            <a:endParaRPr lang="en-US" sz="2000" dirty="0">
              <a:latin typeface="+mn-lt"/>
            </a:endParaRPr>
          </a:p>
        </p:txBody>
      </p:sp>
      <p:pic>
        <p:nvPicPr>
          <p:cNvPr id="2" name="Picture 1" descr="Part ay: state diagram for states S idle, S 1, and S 2. The paths and their values are as follows: S idle to S 1, start = 1; S 1 to S 1, Ay sub 2 = 0 and Ay sub 2 Ay sub 3 = 0; S 1 to S 2, Ay sub 2 Ay sub 3 = 1 1; S 2 to S idle; S idle to S idle, start = 0. Part b. The related processes are as follows. If S idle, then S 1, clear Ay F, for 0 to Ay and 0 to F. If S 1, then S 1, increment Ay, for Ay + 1 to Ay; if Ay sub 2 =1, then set E, for 1 to E, and if Ay sub 2 = 1, then clear E, for 0 to E. If S 1, then S 2, increment Ay, for 1 to F. If S 2, then S idle, for Ay + 1 to A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36" y="1676400"/>
            <a:ext cx="5334000" cy="4382908"/>
          </a:xfrm>
          <a:prstGeom prst="rect">
            <a:avLst/>
          </a:prstGeom>
        </p:spPr>
      </p:pic>
    </p:spTree>
    <p:extLst>
      <p:ext uri="{BB962C8B-B14F-4D97-AF65-F5344CB8AC3E}">
        <p14:creationId xmlns:p14="http://schemas.microsoft.com/office/powerpoint/2010/main" val="3676046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Table </a:t>
            </a:r>
            <a:r>
              <a:rPr lang="en-IN" sz="2000" dirty="0">
                <a:latin typeface="+mj-lt"/>
              </a:rPr>
              <a:t>8.4</a:t>
            </a:r>
            <a:br>
              <a:rPr lang="en-IN" sz="2000" dirty="0">
                <a:latin typeface="+mj-lt"/>
              </a:rPr>
            </a:br>
            <a:r>
              <a:rPr lang="en-IN" sz="2000" dirty="0">
                <a:latin typeface="+mj-lt"/>
              </a:rPr>
              <a:t>State Table for the Controller of Fig. </a:t>
            </a:r>
            <a:r>
              <a:rPr lang="en-IN" sz="2000" dirty="0" smtClean="0">
                <a:latin typeface="+mj-lt"/>
              </a:rPr>
              <a:t>8.10.</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653" y="1828800"/>
            <a:ext cx="7945366" cy="3280302"/>
          </a:xfrm>
          <a:prstGeom prst="rect">
            <a:avLst/>
          </a:prstGeom>
        </p:spPr>
      </p:pic>
    </p:spTree>
    <p:extLst>
      <p:ext uri="{BB962C8B-B14F-4D97-AF65-F5344CB8AC3E}">
        <p14:creationId xmlns:p14="http://schemas.microsoft.com/office/powerpoint/2010/main" val="576109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8.12</a:t>
            </a:r>
            <a:br>
              <a:rPr lang="en-IN" sz="2000" dirty="0">
                <a:latin typeface="+mj-lt"/>
              </a:rPr>
            </a:br>
            <a:r>
              <a:rPr lang="en-IN" sz="2000" dirty="0">
                <a:latin typeface="+mj-lt"/>
              </a:rPr>
              <a:t>Logic diagram of the control unit for Fig. </a:t>
            </a:r>
            <a:r>
              <a:rPr lang="en-IN" sz="2000" dirty="0" smtClean="0">
                <a:latin typeface="+mj-lt"/>
              </a:rPr>
              <a:t>8.10.</a:t>
            </a:r>
            <a:endParaRPr lang="en-US" sz="2000" dirty="0">
              <a:latin typeface="+mn-lt"/>
            </a:endParaRPr>
          </a:p>
        </p:txBody>
      </p:sp>
      <p:pic>
        <p:nvPicPr>
          <p:cNvPr id="4" name="Picture 3" descr="The system includes two D flip flops. Each flip flop receives clock and reset b signals. The first flip flop receives D G sub 0. D G sub 0 = w sub 1 or w sub 2. w sub 1 = start and G sub 0 b. w sub 2 = G sub 0 and G sub 0 b. The first flip flop produces G sub 0. G sub 0 is complemented to G sub 0 b, which combines with start at an and gate to produce clear Ay F. The second flip flop receives D G sub 1. D G sub 1 = w sub 2 and w sub 3, with w sub 3 = Ay sub 2 and Ay sub 3. The second flip flop produces G sub 1, which is complemented to G sub 0 b. G sub 0 b and G sub 0 merge at an and gate, producing w 2, leading to increment Ay. G sub 1 and G sub 0 yield set F. Ay sub 2 and w 2 yield set E, and Ay sub 2 prime and w 2 yield clear 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800" y="1447800"/>
            <a:ext cx="6882150" cy="4497976"/>
          </a:xfrm>
          <a:prstGeom prst="rect">
            <a:avLst/>
          </a:prstGeom>
        </p:spPr>
      </p:pic>
    </p:spTree>
    <p:extLst>
      <p:ext uri="{BB962C8B-B14F-4D97-AF65-F5344CB8AC3E}">
        <p14:creationId xmlns:p14="http://schemas.microsoft.com/office/powerpoint/2010/main" val="9949699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8.13</a:t>
            </a:r>
            <a:br>
              <a:rPr lang="en-IN" sz="2000" dirty="0">
                <a:latin typeface="+mj-lt"/>
              </a:rPr>
            </a:br>
            <a:r>
              <a:rPr lang="en-IN" sz="2000" dirty="0">
                <a:latin typeface="+mj-lt"/>
              </a:rPr>
              <a:t>Simulation results for </a:t>
            </a:r>
            <a:r>
              <a:rPr lang="en-IN" sz="2000" i="1" dirty="0" err="1" smtClean="0">
                <a:latin typeface="+mj-lt"/>
              </a:rPr>
              <a:t>Design_Example_RTL</a:t>
            </a:r>
            <a:r>
              <a:rPr lang="en-IN" sz="2000" dirty="0" smtClean="0">
                <a:latin typeface="+mj-lt"/>
              </a:rPr>
              <a:t>.</a:t>
            </a:r>
            <a:endParaRPr lang="en-US" sz="2000" dirty="0">
              <a:latin typeface="+mn-lt"/>
            </a:endParaRPr>
          </a:p>
        </p:txBody>
      </p:sp>
      <p:pic>
        <p:nvPicPr>
          <p:cNvPr id="2" name="Picture 1" descr=" At t = 60, set E = 1 corresponds to the positive edge of E. At t = 150, the negative edge of set F corresponds to the positive edge of F. At t = 160, the negative edge of clear Ay F corresponds to the transition between d and 0 for Ay 3 : 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536" y="1524000"/>
            <a:ext cx="7467600" cy="4053840"/>
          </a:xfrm>
          <a:prstGeom prst="rect">
            <a:avLst/>
          </a:prstGeom>
        </p:spPr>
      </p:pic>
    </p:spTree>
    <p:extLst>
      <p:ext uri="{BB962C8B-B14F-4D97-AF65-F5344CB8AC3E}">
        <p14:creationId xmlns:p14="http://schemas.microsoft.com/office/powerpoint/2010/main" val="1595697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8.14</a:t>
            </a:r>
            <a:br>
              <a:rPr lang="en-IN" sz="2000" dirty="0">
                <a:latin typeface="+mj-lt"/>
              </a:rPr>
            </a:br>
            <a:r>
              <a:rPr lang="en-IN" sz="2000" dirty="0">
                <a:latin typeface="+mj-lt"/>
              </a:rPr>
              <a:t>(a) Block diagram and (b) </a:t>
            </a:r>
            <a:r>
              <a:rPr lang="en-IN" sz="2000" dirty="0" err="1">
                <a:latin typeface="+mj-lt"/>
              </a:rPr>
              <a:t>datapath</a:t>
            </a:r>
            <a:r>
              <a:rPr lang="en-IN" sz="2000" dirty="0">
                <a:latin typeface="+mj-lt"/>
              </a:rPr>
              <a:t> of a binary </a:t>
            </a:r>
            <a:r>
              <a:rPr lang="en-IN" sz="2000" dirty="0" smtClean="0">
                <a:latin typeface="+mj-lt"/>
              </a:rPr>
              <a:t>multiplier.</a:t>
            </a:r>
            <a:endParaRPr lang="en-US" sz="2000" dirty="0">
              <a:latin typeface="+mn-lt"/>
            </a:endParaRPr>
          </a:p>
        </p:txBody>
      </p:sp>
      <p:pic>
        <p:nvPicPr>
          <p:cNvPr id="2" name="Picture 1" descr="Part ay: block diagram. The controller sends the following signals to the multiplicand side of the data path: load regs, sift regs, add regs, decrement P. The data path sends the following signals from its multiplier side to the controller: Ay, Q of 0, P = zero. The data path produces the product. Part b. Register P for the counter is 1 0 0 0. Register B for the multiplicand is 1 1 0 1 0 1 1 1, with 7 and 0 at the left and right ends. A word consists of 17 bits identified as 16 to 0 from left to right. The word is divided into the following segments. C at 16: blank. Register Ay, sum, from 15 to 8: 0 0 0 0 0 0 0 0. Register Q, multiplier, from 7 to 0: 0 0 0 1 0 1 1 1. 8 bits from register Ay and 8 bits from register B combine, with an output of 9 bits to register A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447800"/>
            <a:ext cx="3962400" cy="4779734"/>
          </a:xfrm>
          <a:prstGeom prst="rect">
            <a:avLst/>
          </a:prstGeom>
        </p:spPr>
      </p:pic>
    </p:spTree>
    <p:extLst>
      <p:ext uri="{BB962C8B-B14F-4D97-AF65-F5344CB8AC3E}">
        <p14:creationId xmlns:p14="http://schemas.microsoft.com/office/powerpoint/2010/main" val="23453980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8.15</a:t>
            </a:r>
            <a:br>
              <a:rPr lang="en-IN" sz="2000" dirty="0">
                <a:latin typeface="+mj-lt"/>
              </a:rPr>
            </a:br>
            <a:r>
              <a:rPr lang="en-IN" sz="2000" dirty="0">
                <a:latin typeface="+mj-lt"/>
              </a:rPr>
              <a:t>ASMD chart for binary </a:t>
            </a:r>
            <a:r>
              <a:rPr lang="en-IN" sz="2000" dirty="0" smtClean="0">
                <a:latin typeface="+mj-lt"/>
              </a:rPr>
              <a:t>multiplier.</a:t>
            </a:r>
            <a:endParaRPr lang="en-US" sz="2000" dirty="0">
              <a:latin typeface="+mn-lt"/>
            </a:endParaRPr>
          </a:p>
        </p:txBody>
      </p:sp>
      <p:pic>
        <p:nvPicPr>
          <p:cNvPr id="2" name="Picture 1" descr="Part ay. The process is as follows: input reset b; state S idle; decision start; return to S idle; or signal 1 for Ay less than equals 0, C less than equals 0, B less than equals multiplicand, Q less than equals multiplier, P less than equals n; state S add; signal for P less than equals P minus 1 for decrement counter; decision Q of 0; direct signal and signal 1 for C Ay less than equals Ay + B for adding multiplicand to shifted sum; state S shift; signal for C Ay Q less than equals C Ay Q greater than greater than 1, where the 17-bit register shifts to the right by one bit; decision 0; return to S add; signal 1 to S idle. Part b. The process is as follows: input reset b; state S idle ready; decision start; return to S idle ready; or signal 1 to load regs for Ay less than equals 0, C less than equals 0, B less than equals multiplicand, Q less than equals multiplier, P less than equals n; state S add decrement P for P less than equals P minus 1; decision Q of 0; direct signal and signal 1 for C Ay less than equals Ay + B via add regs; state S shift, shift regs for C Ay Q less than equals C Ay Q greater than greater than 1; decision 0; return to S add; or signal 1 to S id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1371600"/>
            <a:ext cx="5167580" cy="4597492"/>
          </a:xfrm>
          <a:prstGeom prst="rect">
            <a:avLst/>
          </a:prstGeom>
        </p:spPr>
      </p:pic>
    </p:spTree>
    <p:extLst>
      <p:ext uri="{BB962C8B-B14F-4D97-AF65-F5344CB8AC3E}">
        <p14:creationId xmlns:p14="http://schemas.microsoft.com/office/powerpoint/2010/main" val="27890215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8.5</a:t>
            </a:r>
            <a:br>
              <a:rPr lang="en-IN" sz="2000" dirty="0">
                <a:latin typeface="+mj-lt"/>
              </a:rPr>
            </a:br>
            <a:r>
              <a:rPr lang="en-IN" sz="2000" dirty="0">
                <a:latin typeface="+mj-lt"/>
              </a:rPr>
              <a:t>Numerical Example For Binary </a:t>
            </a:r>
            <a:r>
              <a:rPr lang="en-IN" sz="2000" dirty="0" smtClean="0">
                <a:latin typeface="+mj-lt"/>
              </a:rPr>
              <a:t>Multiplier.</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234" y="1773065"/>
            <a:ext cx="6861766" cy="3769070"/>
          </a:xfrm>
          <a:prstGeom prst="rect">
            <a:avLst/>
          </a:prstGeom>
        </p:spPr>
      </p:pic>
    </p:spTree>
    <p:extLst>
      <p:ext uri="{BB962C8B-B14F-4D97-AF65-F5344CB8AC3E}">
        <p14:creationId xmlns:p14="http://schemas.microsoft.com/office/powerpoint/2010/main" val="36511379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8.16</a:t>
            </a:r>
            <a:br>
              <a:rPr lang="en-IN" sz="2000" dirty="0">
                <a:latin typeface="+mj-lt"/>
              </a:rPr>
            </a:br>
            <a:r>
              <a:rPr lang="en-IN" sz="2000" dirty="0">
                <a:latin typeface="+mj-lt"/>
              </a:rPr>
              <a:t>Control specifications for binary </a:t>
            </a:r>
            <a:r>
              <a:rPr lang="en-IN" sz="2000" dirty="0" smtClean="0">
                <a:latin typeface="+mj-lt"/>
              </a:rPr>
              <a:t>multiplier.</a:t>
            </a:r>
            <a:endParaRPr lang="en-US" sz="2000" dirty="0">
              <a:latin typeface="+mn-lt"/>
            </a:endParaRPr>
          </a:p>
        </p:txBody>
      </p:sp>
      <p:pic>
        <p:nvPicPr>
          <p:cNvPr id="2" name="Picture 1" descr="Part ay: state diagram. The paths and their values are as follows: S idle to S idle, start = 0; S idle to S add, start = 1; S add to S shift; S shift to S idle, zero = 1; S shift to S add, zero = 0. Part b. For each state transition, the table provides the relevant register operations. S idle: initial state. S idle to S add: Ay less than equals 0, C less than equals 0, P less than = d p width, Ay less than equals multiplicand, Q less than equals multiplier. S add to S shift: P less than equals P minus 1; if Q of 0 then Ay less than equals Ay + B, C less than equals C out. S shift: shift right C Ay Q, C less than equals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1136" y="1447800"/>
            <a:ext cx="4724400" cy="4591254"/>
          </a:xfrm>
          <a:prstGeom prst="rect">
            <a:avLst/>
          </a:prstGeom>
        </p:spPr>
      </p:pic>
    </p:spTree>
    <p:extLst>
      <p:ext uri="{BB962C8B-B14F-4D97-AF65-F5344CB8AC3E}">
        <p14:creationId xmlns:p14="http://schemas.microsoft.com/office/powerpoint/2010/main" val="3006210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8.6</a:t>
            </a:r>
            <a:br>
              <a:rPr lang="en-IN" sz="2000" dirty="0">
                <a:latin typeface="+mj-lt"/>
              </a:rPr>
            </a:br>
            <a:r>
              <a:rPr lang="en-IN" sz="2000" dirty="0">
                <a:latin typeface="+mj-lt"/>
              </a:rPr>
              <a:t>State Assignment for </a:t>
            </a:r>
            <a:r>
              <a:rPr lang="en-IN" sz="2000" dirty="0" smtClean="0">
                <a:latin typeface="+mj-lt"/>
              </a:rPr>
              <a:t>Control.</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2132" y="2362200"/>
            <a:ext cx="6702408" cy="1828800"/>
          </a:xfrm>
          <a:prstGeom prst="rect">
            <a:avLst/>
          </a:prstGeom>
        </p:spPr>
      </p:pic>
    </p:spTree>
    <p:extLst>
      <p:ext uri="{BB962C8B-B14F-4D97-AF65-F5344CB8AC3E}">
        <p14:creationId xmlns:p14="http://schemas.microsoft.com/office/powerpoint/2010/main" val="13594038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8.7</a:t>
            </a:r>
            <a:br>
              <a:rPr lang="en-IN" sz="2000" dirty="0">
                <a:latin typeface="+mj-lt"/>
              </a:rPr>
            </a:br>
            <a:r>
              <a:rPr lang="en-IN" sz="2000" dirty="0">
                <a:latin typeface="+mj-lt"/>
              </a:rPr>
              <a:t>State Table for Control </a:t>
            </a:r>
            <a:r>
              <a:rPr lang="en-IN" sz="2000" dirty="0" smtClean="0">
                <a:latin typeface="+mj-lt"/>
              </a:rPr>
              <a:t>Circuit.</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776" y="1981200"/>
            <a:ext cx="7447120" cy="3048000"/>
          </a:xfrm>
          <a:prstGeom prst="rect">
            <a:avLst/>
          </a:prstGeom>
        </p:spPr>
      </p:pic>
    </p:spTree>
    <p:extLst>
      <p:ext uri="{BB962C8B-B14F-4D97-AF65-F5344CB8AC3E}">
        <p14:creationId xmlns:p14="http://schemas.microsoft.com/office/powerpoint/2010/main" val="1362851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1400" dirty="0">
                <a:latin typeface="+mj-lt"/>
              </a:rPr>
              <a:t>Figure 8.17</a:t>
            </a:r>
            <a:br>
              <a:rPr lang="en-IN" sz="1400" dirty="0">
                <a:latin typeface="+mj-lt"/>
              </a:rPr>
            </a:br>
            <a:r>
              <a:rPr lang="en-IN" sz="1400" dirty="0">
                <a:latin typeface="+mj-lt"/>
              </a:rPr>
              <a:t>Logic diagram derived from Table 8.7 for controlling a binary multiplier using </a:t>
            </a:r>
            <a:r>
              <a:rPr lang="en-IN" sz="1400" dirty="0" smtClean="0">
                <a:latin typeface="+mj-lt"/>
              </a:rPr>
              <a:t>a sequence </a:t>
            </a:r>
            <a:r>
              <a:rPr lang="en-IN" sz="1400" dirty="0">
                <a:latin typeface="+mj-lt"/>
              </a:rPr>
              <a:t>register and </a:t>
            </a:r>
            <a:r>
              <a:rPr lang="en-IN" sz="1400" dirty="0" smtClean="0">
                <a:latin typeface="+mj-lt"/>
              </a:rPr>
              <a:t>decoder.</a:t>
            </a:r>
            <a:endParaRPr lang="en-US" sz="1400" dirty="0">
              <a:latin typeface="+mn-lt"/>
            </a:endParaRPr>
          </a:p>
        </p:txBody>
      </p:sp>
      <p:pic>
        <p:nvPicPr>
          <p:cNvPr id="2" name="Picture 1" descr="Part ay: The system consists of next state logic, 2 D flip flops, and a 2 by 4 decoder. The next state logic receives start, Q of 0, and zero. The logic sends input to the D terminals of the flip flops, which also receive clock and reset b signals. The first flip flop sends G sub 0 to 0 on the decoder, and the second flip flop sends G sub 1 to 1 on the decoder. The decoder has the following output terminals: T sub 0 for S idle, t sub 1 for S add, T sub 2 for S shift, and T sub 3.T sub 0 leads to a ready output. T sub 0 and start produces load regs. T sub 1 leads to decrement P, and T sub 1 and Q of 0 produces add regs. t sub 2 leads to shift regs. Part b: The structure has the same basic architecture as the first system, with the following exceptions. The input to the D terminal of the first flip flop is incomplete. The input consists T sub 0 and start, or 0 complemented and T sub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2195" y="1260850"/>
            <a:ext cx="3899610" cy="4911350"/>
          </a:xfrm>
          <a:prstGeom prst="rect">
            <a:avLst/>
          </a:prstGeom>
        </p:spPr>
      </p:pic>
    </p:spTree>
    <p:extLst>
      <p:ext uri="{BB962C8B-B14F-4D97-AF65-F5344CB8AC3E}">
        <p14:creationId xmlns:p14="http://schemas.microsoft.com/office/powerpoint/2010/main" val="1382790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8.18</a:t>
            </a:r>
            <a:br>
              <a:rPr lang="en-IN" sz="2000" dirty="0">
                <a:latin typeface="+mj-lt"/>
              </a:rPr>
            </a:br>
            <a:r>
              <a:rPr lang="en-IN" sz="2000" dirty="0">
                <a:latin typeface="+mj-lt"/>
              </a:rPr>
              <a:t>Logic diagram for one-hot state </a:t>
            </a:r>
            <a:r>
              <a:rPr lang="en-IN" sz="2000" dirty="0" smtClean="0">
                <a:latin typeface="+mj-lt"/>
              </a:rPr>
              <a:t>controller.</a:t>
            </a:r>
            <a:endParaRPr lang="en-US" sz="2000" dirty="0">
              <a:latin typeface="+mn-lt"/>
            </a:endParaRPr>
          </a:p>
        </p:txBody>
      </p:sp>
      <p:pic>
        <p:nvPicPr>
          <p:cNvPr id="2" name="Picture 1" descr="The system has three D flip flops for S idle, S add, and S shift, with clock and reset inputs.  The flip flop for S idle receives the following input: start complemented and G sub 0, or Q of 0 and G sub 2. The flip flop produces G sub 0, which leads to a ready output, and G sub 0 and start produce load regs. The flip flop for S add receives the following input: start and G sub 0, or zero complemented and G sub 2. The flip flop produces G sub 1, leading to decrement P, and G sub 1 and Q of 0 produces add regs. the flip flop for S shift receives G sub 1 and produces G sub 2, leading to shift reg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518" y="1524000"/>
            <a:ext cx="5346802" cy="4274022"/>
          </a:xfrm>
          <a:prstGeom prst="rect">
            <a:avLst/>
          </a:prstGeom>
        </p:spPr>
      </p:pic>
    </p:spTree>
    <p:extLst>
      <p:ext uri="{BB962C8B-B14F-4D97-AF65-F5344CB8AC3E}">
        <p14:creationId xmlns:p14="http://schemas.microsoft.com/office/powerpoint/2010/main" val="3075044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8.19</a:t>
            </a:r>
            <a:br>
              <a:rPr lang="en-IN" sz="2000" dirty="0">
                <a:latin typeface="+mj-lt"/>
              </a:rPr>
            </a:br>
            <a:r>
              <a:rPr lang="en-IN" sz="2000" dirty="0">
                <a:latin typeface="+mj-lt"/>
              </a:rPr>
              <a:t>Simulation waveforms for one-hot state </a:t>
            </a:r>
            <a:r>
              <a:rPr lang="en-IN" sz="2000" dirty="0" smtClean="0">
                <a:latin typeface="+mj-lt"/>
              </a:rPr>
              <a:t>controller.</a:t>
            </a:r>
            <a:endParaRPr lang="en-US" sz="2000" dirty="0">
              <a:latin typeface="+mn-lt"/>
            </a:endParaRPr>
          </a:p>
        </p:txBody>
      </p:sp>
      <p:pic>
        <p:nvPicPr>
          <p:cNvPr id="2" name="Picture 1" descr="A test bench output shows simulation waveforms. State 17 in B 4 : 0 and state 0 b in Ay 4 : 0  relate to state 0 2 in Ay 4 : 0. State 2 3 in multiplicand 4 : 0 and state 19 in multiplier 4 : 0 correspond to state 4 3 7 in product 9 :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295400"/>
            <a:ext cx="3928110" cy="4761346"/>
          </a:xfrm>
          <a:prstGeom prst="rect">
            <a:avLst/>
          </a:prstGeom>
        </p:spPr>
      </p:pic>
    </p:spTree>
    <p:extLst>
      <p:ext uri="{BB962C8B-B14F-4D97-AF65-F5344CB8AC3E}">
        <p14:creationId xmlns:p14="http://schemas.microsoft.com/office/powerpoint/2010/main" val="35402256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8.20</a:t>
            </a:r>
            <a:br>
              <a:rPr lang="en-IN" sz="2000" dirty="0">
                <a:latin typeface="+mj-lt"/>
              </a:rPr>
            </a:br>
            <a:r>
              <a:rPr lang="en-IN" sz="2000" dirty="0">
                <a:latin typeface="+mj-lt"/>
              </a:rPr>
              <a:t>Example of ASM chart with four control </a:t>
            </a:r>
            <a:r>
              <a:rPr lang="en-IN" sz="2000" dirty="0" smtClean="0">
                <a:latin typeface="+mj-lt"/>
              </a:rPr>
              <a:t>inputs.</a:t>
            </a:r>
            <a:endParaRPr lang="en-US" sz="2000" dirty="0">
              <a:latin typeface="+mn-lt"/>
            </a:endParaRPr>
          </a:p>
        </p:txBody>
      </p:sp>
      <p:pic>
        <p:nvPicPr>
          <p:cNvPr id="2" name="Picture 1" descr="The first part of the process is as follows: state S 0, 0 0; decision w; return 0 to S 0; or signal 1 to S 1, 0 1; decision x; signal 1 to S 2, 1 0; signal 0 to S 3, 1 1. The process from S 2 is as follows: S 2;decision y; return 0 to S 0; or signal 1 to decision z; return 0 to S 2; or signal 1 to S 3. The process for S 3 is as follows: S 3; decision y; signal 1 to S 2; signal 0 to decision z; return 1 to S 1; return 0 to S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7364" y="1403740"/>
            <a:ext cx="3723436" cy="4660120"/>
          </a:xfrm>
          <a:prstGeom prst="rect">
            <a:avLst/>
          </a:prstGeom>
        </p:spPr>
      </p:pic>
    </p:spTree>
    <p:extLst>
      <p:ext uri="{BB962C8B-B14F-4D97-AF65-F5344CB8AC3E}">
        <p14:creationId xmlns:p14="http://schemas.microsoft.com/office/powerpoint/2010/main" val="2554368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US" sz="2000" dirty="0">
                <a:latin typeface="+mj-lt"/>
              </a:rPr>
              <a:t>Figure 8.21</a:t>
            </a:r>
            <a:br>
              <a:rPr lang="en-US" sz="2000" dirty="0">
                <a:latin typeface="+mj-lt"/>
              </a:rPr>
            </a:br>
            <a:r>
              <a:rPr lang="en-US" sz="2000" dirty="0">
                <a:latin typeface="+mj-lt"/>
              </a:rPr>
              <a:t>Control implementation with </a:t>
            </a:r>
            <a:r>
              <a:rPr lang="en-US" sz="2000" dirty="0" smtClean="0">
                <a:latin typeface="+mj-lt"/>
              </a:rPr>
              <a:t>multiplexers.</a:t>
            </a:r>
            <a:endParaRPr lang="en-US" sz="2000" dirty="0">
              <a:latin typeface="+mn-lt"/>
            </a:endParaRPr>
          </a:p>
        </p:txBody>
      </p:sp>
      <p:pic>
        <p:nvPicPr>
          <p:cNvPr id="2" name="Picture 1" descr="The architecture includes next state logic, a state register, and a state decoder. The next state logic includes M U X 1 and M U X 2. M U X 1 receives the following inputs: 0 at 0, 1 at 1, y at 2, y or z prime at 3, s sub 1 at s sub 1. M U X 2 receives the following inputs: w at 0, x prime at 1, y and z at 2, and y prime at 3. M U X 1 sends a signal from s sub 0 to s sub 0 on M U X 2, and each M U X signals the D terminal of a D flip flop with a common clock signal. s sub 1 and G sub 1, and s sub 0 and G sub 0 input to the 2 by 4 decoder, which produces d sub 0, d sub 1, d sub 2, and d sub 3.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374" y="1447800"/>
            <a:ext cx="5033924" cy="4419600"/>
          </a:xfrm>
          <a:prstGeom prst="rect">
            <a:avLst/>
          </a:prstGeom>
        </p:spPr>
      </p:pic>
    </p:spTree>
    <p:extLst>
      <p:ext uri="{BB962C8B-B14F-4D97-AF65-F5344CB8AC3E}">
        <p14:creationId xmlns:p14="http://schemas.microsoft.com/office/powerpoint/2010/main" val="5688404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fr-FR" sz="2000" dirty="0">
                <a:latin typeface="+mj-lt"/>
              </a:rPr>
              <a:t>Table 8.8</a:t>
            </a:r>
            <a:br>
              <a:rPr lang="fr-FR" sz="2000" dirty="0">
                <a:latin typeface="+mj-lt"/>
              </a:rPr>
            </a:br>
            <a:r>
              <a:rPr lang="fr-FR" sz="2000" dirty="0">
                <a:latin typeface="+mj-lt"/>
              </a:rPr>
              <a:t>Multiplexer Input </a:t>
            </a:r>
            <a:r>
              <a:rPr lang="fr-FR" sz="2000" dirty="0" smtClean="0">
                <a:latin typeface="+mj-lt"/>
              </a:rPr>
              <a:t>Conditions.</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1681843"/>
            <a:ext cx="7620000" cy="3494314"/>
          </a:xfrm>
          <a:prstGeom prst="rect">
            <a:avLst/>
          </a:prstGeom>
        </p:spPr>
      </p:pic>
    </p:spTree>
    <p:extLst>
      <p:ext uri="{BB962C8B-B14F-4D97-AF65-F5344CB8AC3E}">
        <p14:creationId xmlns:p14="http://schemas.microsoft.com/office/powerpoint/2010/main" val="3005264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8.22</a:t>
            </a:r>
            <a:br>
              <a:rPr lang="en-IN" sz="2000" dirty="0">
                <a:latin typeface="+mj-lt"/>
              </a:rPr>
            </a:br>
            <a:r>
              <a:rPr lang="en-IN" sz="2000" dirty="0">
                <a:latin typeface="+mj-lt"/>
              </a:rPr>
              <a:t>Block diagram and ASMD chart for count-of-ones </a:t>
            </a:r>
            <a:r>
              <a:rPr lang="en-IN" sz="2000" dirty="0" smtClean="0">
                <a:latin typeface="+mj-lt"/>
              </a:rPr>
              <a:t>circuit.</a:t>
            </a:r>
            <a:endParaRPr lang="en-US" sz="2000" dirty="0">
              <a:latin typeface="+mn-lt"/>
            </a:endParaRPr>
          </a:p>
        </p:txBody>
      </p:sp>
      <p:pic>
        <p:nvPicPr>
          <p:cNvPr id="2" name="Picture 1" descr="Part ay: The controller receives initial input start, reset b, and clock. The controller sends the following signals to the data path: load regs, shift left, and increment R 2. The data path also receives the clock signal and data. The data path includes shift register R 1 and counter R 2. R 1 receives 0, and R 1 and shift left yield E. The data path returns status signals E and zero to the controller, and it produces a count. Part b: Ay S M D chart. The process is as follows: input reset b; state S idle ready; decision start; return to S idle; signal 1 for R 1 less than equals data and R 2 less than equals all ones;  state S 1; signal for R 2 less than equals R 2 + 1; decision zero; return 1 to S idle; state S 2’ signal for E and R 1 less than equals E and R 1 less than less than 1; state S 3; decision E; return to S 2; return  1 to S 1. Part c: Ay S M D chart. The process is as follows: input reset b; state S idle ready; decision start; return to S idle; signal 1; load regs; signal for R 1 less than equals data and R 2 less than equals all ones; state S 1 increment R 2; signal for R 2 less than equals R 2 + 1; decision zero;  return 1 to S idle; state S 2 shift left; signal for E and R 1 less than equals E and R 1 less than less than 1; state S 3; decision E; return to S 2; return 1  to S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1330353"/>
            <a:ext cx="3810000" cy="4841170"/>
          </a:xfrm>
          <a:prstGeom prst="rect">
            <a:avLst/>
          </a:prstGeom>
        </p:spPr>
      </p:pic>
    </p:spTree>
    <p:extLst>
      <p:ext uri="{BB962C8B-B14F-4D97-AF65-F5344CB8AC3E}">
        <p14:creationId xmlns:p14="http://schemas.microsoft.com/office/powerpoint/2010/main" val="790889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8.23</a:t>
            </a:r>
            <a:br>
              <a:rPr lang="en-IN" sz="2000" dirty="0">
                <a:latin typeface="+mj-lt"/>
              </a:rPr>
            </a:br>
            <a:r>
              <a:rPr lang="en-IN" sz="2000" dirty="0">
                <a:latin typeface="+mj-lt"/>
              </a:rPr>
              <a:t>Control implementation for count-of-ones </a:t>
            </a:r>
            <a:r>
              <a:rPr lang="en-IN" sz="2000" dirty="0" smtClean="0">
                <a:latin typeface="+mj-lt"/>
              </a:rPr>
              <a:t>circuit.</a:t>
            </a:r>
            <a:endParaRPr lang="en-US" sz="2000" dirty="0">
              <a:latin typeface="+mn-lt"/>
            </a:endParaRPr>
          </a:p>
        </p:txBody>
      </p:sp>
      <p:pic>
        <p:nvPicPr>
          <p:cNvPr id="2" name="Picture 1" descr="The system includes two multiplexers, M u x 1 and M u x 2. Each M u x has terminals 0, 1, 2, 3, s sub 0, and sub 1. M u x 1 receives the following signals at 0 to 3: 0, 0 prime, 1, and E prime. M u x 2 receives the following signals at terminals 0 to 3: start, 0, 1, and E. The multiplexers communicate via their s sub 0 terminals and their s sub 1 terminals. Each M u x signals the D terminal of a D flip flop, which also receives clock and reset b signals, with M u x1 producing G sub 1, and M u x 2 producing G sub 0. the system also includes a 2 by 4 decoder. The decoder receives inputs s sub 1 and G sub 1, and inputs s sub 0 and G sub 0. The decoder has output terminals 0 to 3. The decoder produces the following outputs at terminals 0 to 2: ready, increment R 2, shift left. Start and ready produce load reg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1600200"/>
            <a:ext cx="5891326" cy="4419600"/>
          </a:xfrm>
          <a:prstGeom prst="rect">
            <a:avLst/>
          </a:prstGeom>
        </p:spPr>
      </p:pic>
    </p:spTree>
    <p:extLst>
      <p:ext uri="{BB962C8B-B14F-4D97-AF65-F5344CB8AC3E}">
        <p14:creationId xmlns:p14="http://schemas.microsoft.com/office/powerpoint/2010/main" val="853766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Table 8.9</a:t>
            </a:r>
            <a:br>
              <a:rPr lang="en-IN" sz="2000" dirty="0">
                <a:latin typeface="+mj-lt"/>
              </a:rPr>
            </a:br>
            <a:r>
              <a:rPr lang="en-IN" sz="2000" dirty="0">
                <a:latin typeface="+mj-lt"/>
              </a:rPr>
              <a:t>Multiplexer Input Conditions for Design </a:t>
            </a:r>
            <a:r>
              <a:rPr lang="en-IN" sz="2000" dirty="0" smtClean="0">
                <a:latin typeface="+mj-lt"/>
              </a:rPr>
              <a:t>Example.</a:t>
            </a:r>
            <a:endParaRPr lang="en-US" sz="2000" dirty="0">
              <a:latin typeface="+mn-lt"/>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5847" y="1905000"/>
            <a:ext cx="7514978" cy="3505200"/>
          </a:xfrm>
          <a:prstGeom prst="rect">
            <a:avLst/>
          </a:prstGeom>
        </p:spPr>
      </p:pic>
    </p:spTree>
    <p:extLst>
      <p:ext uri="{BB962C8B-B14F-4D97-AF65-F5344CB8AC3E}">
        <p14:creationId xmlns:p14="http://schemas.microsoft.com/office/powerpoint/2010/main" val="21510222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8.24</a:t>
            </a:r>
            <a:br>
              <a:rPr lang="en-IN" sz="2000" dirty="0">
                <a:latin typeface="+mj-lt"/>
              </a:rPr>
            </a:br>
            <a:r>
              <a:rPr lang="en-IN" sz="2000" dirty="0">
                <a:latin typeface="+mj-lt"/>
              </a:rPr>
              <a:t>Simulation waveforms for count-of-ones </a:t>
            </a:r>
            <a:r>
              <a:rPr lang="en-IN" sz="2000" dirty="0" smtClean="0">
                <a:latin typeface="+mj-lt"/>
              </a:rPr>
              <a:t>circuit.</a:t>
            </a:r>
            <a:endParaRPr lang="en-US" sz="2000" dirty="0">
              <a:latin typeface="+mn-lt"/>
            </a:endParaRPr>
          </a:p>
        </p:txBody>
      </p:sp>
      <p:pic>
        <p:nvPicPr>
          <p:cNvPr id="2" name="Picture 1" descr="On the clock graph, the positive edge at t = 30 indicates that the machine begins counting. At t = 5, the positive edge of the reset b graph indicates reset b asserted low, but start unknown. In the data 7 : 0 output, the f f segment from t = 30 to 51 represents R 1 loaded with data. In the count 3 : 0 output, the segment from t = 30 to 39 represents R 2 filled with ones. All values estim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8157" y="1574722"/>
            <a:ext cx="5402886" cy="4399744"/>
          </a:xfrm>
          <a:prstGeom prst="rect">
            <a:avLst/>
          </a:prstGeom>
        </p:spPr>
      </p:pic>
    </p:spTree>
    <p:extLst>
      <p:ext uri="{BB962C8B-B14F-4D97-AF65-F5344CB8AC3E}">
        <p14:creationId xmlns:p14="http://schemas.microsoft.com/office/powerpoint/2010/main" val="1880499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8.24</a:t>
            </a:r>
            <a:br>
              <a:rPr lang="en-IN" sz="2000" dirty="0">
                <a:latin typeface="+mj-lt"/>
              </a:rPr>
            </a:br>
            <a:r>
              <a:rPr lang="en-IN" sz="2000" dirty="0">
                <a:latin typeface="+mj-lt"/>
              </a:rPr>
              <a:t>Simulation waveforms for count-of-ones </a:t>
            </a:r>
            <a:r>
              <a:rPr lang="en-IN" sz="2000" dirty="0" smtClean="0">
                <a:latin typeface="+mj-lt"/>
              </a:rPr>
              <a:t>circuit.</a:t>
            </a:r>
            <a:endParaRPr lang="en-US" sz="2000" dirty="0">
              <a:latin typeface="+mn-lt"/>
            </a:endParaRPr>
          </a:p>
        </p:txBody>
      </p:sp>
      <p:pic>
        <p:nvPicPr>
          <p:cNvPr id="2" name="Picture 1" descr="At t = 258, the positive edge of the zero graph indicates that R 1 is empty of ones. At t = 282, the transition from 1 to 0 indicates that the machine returns to S idle. At t = 282, the positive edge of the ready graph indicates that computations are done. In the R 2, 3 : 0, output, the final segment 8, from t = 282 onward, indicates at R 2 holds number of on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1441098"/>
            <a:ext cx="4876800" cy="4662332"/>
          </a:xfrm>
          <a:prstGeom prst="rect">
            <a:avLst/>
          </a:prstGeom>
        </p:spPr>
      </p:pic>
    </p:spTree>
    <p:extLst>
      <p:ext uri="{BB962C8B-B14F-4D97-AF65-F5344CB8AC3E}">
        <p14:creationId xmlns:p14="http://schemas.microsoft.com/office/powerpoint/2010/main" val="2434149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P8.10</a:t>
            </a:r>
            <a:br>
              <a:rPr lang="en-IN" sz="2000" dirty="0">
                <a:latin typeface="+mj-lt"/>
              </a:rPr>
            </a:br>
            <a:r>
              <a:rPr lang="en-IN" sz="2000" dirty="0">
                <a:latin typeface="+mj-lt"/>
              </a:rPr>
              <a:t>Control state diagram for Problems 8.10 and </a:t>
            </a:r>
            <a:r>
              <a:rPr lang="en-IN" sz="2000" dirty="0" smtClean="0">
                <a:latin typeface="+mj-lt"/>
              </a:rPr>
              <a:t>8.11.</a:t>
            </a:r>
            <a:endParaRPr lang="en-US" sz="2000" dirty="0">
              <a:latin typeface="+mn-lt"/>
            </a:endParaRPr>
          </a:p>
        </p:txBody>
      </p:sp>
      <p:pic>
        <p:nvPicPr>
          <p:cNvPr id="2" name="Picture 1" descr="The diagram is for states 0 0, 0 1, 1 0, and 1 1. The paths and their values are as follows: 0 0 to 0 1, x =1; 0 1 to 1 0, y = 0; 1 0 to 1 0, x = 1 and y = 0; 1 0 to 0 0, x = 0; 1 0 to 1 1, x = 1 and y = 1; 1 1 to 1 0, x = 0 and y = 0; 0 1 to 1 1, y = 1; 1 1 to 1 1, x = 0 and y = 1; 1 1 to 0 0, x =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1676400"/>
            <a:ext cx="5334000" cy="3787140"/>
          </a:xfrm>
          <a:prstGeom prst="rect">
            <a:avLst/>
          </a:prstGeom>
        </p:spPr>
      </p:pic>
    </p:spTree>
    <p:extLst>
      <p:ext uri="{BB962C8B-B14F-4D97-AF65-F5344CB8AC3E}">
        <p14:creationId xmlns:p14="http://schemas.microsoft.com/office/powerpoint/2010/main" val="1925018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P8.22</a:t>
            </a:r>
            <a:br>
              <a:rPr lang="en-IN" sz="2000" dirty="0">
                <a:latin typeface="+mj-lt"/>
              </a:rPr>
            </a:br>
            <a:r>
              <a:rPr lang="en-IN" sz="2000" dirty="0">
                <a:latin typeface="+mj-lt"/>
              </a:rPr>
              <a:t>ASMD chart for Problem </a:t>
            </a:r>
            <a:r>
              <a:rPr lang="en-IN" sz="2000" dirty="0" smtClean="0">
                <a:latin typeface="+mj-lt"/>
              </a:rPr>
              <a:t>8.22.</a:t>
            </a:r>
            <a:endParaRPr lang="en-US" sz="2000" dirty="0">
              <a:latin typeface="+mn-lt"/>
            </a:endParaRPr>
          </a:p>
        </p:txBody>
      </p:sp>
      <p:pic>
        <p:nvPicPr>
          <p:cNvPr id="2" name="Picture 1" descr="The first sequence of the process is as follows: reset; state S idle ready; decision start; return to S idle; or signal 1; load regs for Ay less than equals 0, C less than equals 0, B less than equals multiplicand, Q less than equals multiplier, P less than equals m size; state S loaded, decrement P for P less than equals P minus 1, decrement counter; decision Q of 0. The process then branches along two paths. The first path flows through shift regs. The second path is as follows: signal for C and Ay less than equals Ay + B for add multiplicand to shifted sum; add regs; state S sum; shift regs; signal for C, Ay, and Q less than C, Ay, and Q greater than greater than 1, with a 17-bit register shifting to the right by 1 bit. Both paths end at state S shifted, leading to decision zero. Decision zero returns to S loaded, or it returns 1 to S id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219200"/>
            <a:ext cx="2743200" cy="4855222"/>
          </a:xfrm>
          <a:prstGeom prst="rect">
            <a:avLst/>
          </a:prstGeom>
        </p:spPr>
      </p:pic>
    </p:spTree>
    <p:extLst>
      <p:ext uri="{BB962C8B-B14F-4D97-AF65-F5344CB8AC3E}">
        <p14:creationId xmlns:p14="http://schemas.microsoft.com/office/powerpoint/2010/main" val="866369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smtClean="0">
                <a:latin typeface="+mj-lt"/>
              </a:rPr>
              <a:t>Figure </a:t>
            </a:r>
            <a:r>
              <a:rPr lang="en-IN" sz="2000" dirty="0">
                <a:latin typeface="+mj-lt"/>
              </a:rPr>
              <a:t>P8.23</a:t>
            </a:r>
            <a:br>
              <a:rPr lang="en-IN" sz="2000" dirty="0">
                <a:latin typeface="+mj-lt"/>
              </a:rPr>
            </a:br>
            <a:r>
              <a:rPr lang="en-IN" sz="2000" dirty="0">
                <a:latin typeface="+mj-lt"/>
              </a:rPr>
              <a:t>ASMD chart for Problem </a:t>
            </a:r>
            <a:r>
              <a:rPr lang="en-IN" sz="2000" dirty="0" smtClean="0">
                <a:latin typeface="+mj-lt"/>
              </a:rPr>
              <a:t>8.23.</a:t>
            </a:r>
            <a:endParaRPr lang="en-US" sz="2000" dirty="0">
              <a:latin typeface="+mn-lt"/>
            </a:endParaRPr>
          </a:p>
        </p:txBody>
      </p:sp>
      <p:pic>
        <p:nvPicPr>
          <p:cNvPr id="2" name="Picture 1" descr="The first sequence of the process is as follows: reset; state S idle ready; decision start; return to S idle; or signal 1; load regs for Ay less than equals 0, C less than equals 0, B less than equals multiplicand, Q less than equals multiplier, and P less than equals m size; state S load for load regs; state S decrement, for decrement P with the decrement counter for P less than equals P minus 1; decision Q of 0. The process then branches. The first path proceeds directly to state S shift for shift regs, with C, Ay, and Q less than equals C, Ay, and Q greater then greater than 1, and a 17-bit register shifting to the right by 1 bit. The final sequence of the process is as follows: S shift, decision 0; return 1 to S idle; or return to S loa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1295400"/>
            <a:ext cx="3735628" cy="4876800"/>
          </a:xfrm>
          <a:prstGeom prst="rect">
            <a:avLst/>
          </a:prstGeom>
        </p:spPr>
      </p:pic>
    </p:spTree>
    <p:extLst>
      <p:ext uri="{BB962C8B-B14F-4D97-AF65-F5344CB8AC3E}">
        <p14:creationId xmlns:p14="http://schemas.microsoft.com/office/powerpoint/2010/main" val="3634732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P8.29</a:t>
            </a:r>
            <a:br>
              <a:rPr lang="en-IN" sz="2000" dirty="0">
                <a:latin typeface="+mj-lt"/>
              </a:rPr>
            </a:br>
            <a:r>
              <a:rPr lang="en-IN" sz="2000" dirty="0">
                <a:latin typeface="+mj-lt"/>
              </a:rPr>
              <a:t>ASMD chart for Problem </a:t>
            </a:r>
            <a:r>
              <a:rPr lang="en-IN" sz="2000" dirty="0" smtClean="0">
                <a:latin typeface="+mj-lt"/>
              </a:rPr>
              <a:t>8.29.</a:t>
            </a:r>
            <a:endParaRPr lang="en-US" sz="2000" dirty="0">
              <a:latin typeface="+mn-lt"/>
            </a:endParaRPr>
          </a:p>
        </p:txBody>
      </p:sp>
      <p:pic>
        <p:nvPicPr>
          <p:cNvPr id="2" name="Picture 1" descr="The process flows from state S 0, 0 0 0, to decision x, which produces exit paths 0 and 1. Exit path 1 proceeds through state S 1, 0 0 1, to state S 2, 0 1 0. Exit path 0 proceeds to decision y, with 0 returned to S 0, and 1 carried forward to S 2. State S 2 flows to decision F. Exit path 1 from F flows through a command and state S 3, 0 1 1, before returning to S 0. Exit path 0 flows from F to S 4, 1 0 0, which then leads to decision E. Exit path 1 from E flows through a command and S 5, 1 0 1, before returning to S 0. Exit path 0 from E flows through S 6, 1 1 0, and S 7, 1 1 1, before returning to S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295400"/>
            <a:ext cx="3859986" cy="4753678"/>
          </a:xfrm>
          <a:prstGeom prst="rect">
            <a:avLst/>
          </a:prstGeom>
        </p:spPr>
      </p:pic>
    </p:spTree>
    <p:extLst>
      <p:ext uri="{BB962C8B-B14F-4D97-AF65-F5344CB8AC3E}">
        <p14:creationId xmlns:p14="http://schemas.microsoft.com/office/powerpoint/2010/main" val="17652501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53044"/>
            <a:ext cx="8391728" cy="1118556"/>
          </a:xfrm>
        </p:spPr>
        <p:txBody>
          <a:bodyPr/>
          <a:lstStyle/>
          <a:p>
            <a:r>
              <a:rPr lang="en-IN" sz="2000" dirty="0">
                <a:latin typeface="+mj-lt"/>
              </a:rPr>
              <a:t>Figure P8.37</a:t>
            </a:r>
            <a:br>
              <a:rPr lang="en-IN" sz="2000" dirty="0">
                <a:latin typeface="+mj-lt"/>
              </a:rPr>
            </a:br>
            <a:r>
              <a:rPr lang="en-IN" sz="2000" dirty="0">
                <a:latin typeface="+mj-lt"/>
              </a:rPr>
              <a:t>(a) Alternative circuit for a ones counter.</a:t>
            </a:r>
            <a:br>
              <a:rPr lang="en-IN" sz="2000" dirty="0">
                <a:latin typeface="+mj-lt"/>
              </a:rPr>
            </a:br>
            <a:r>
              <a:rPr lang="en-IN" sz="2000" dirty="0">
                <a:latin typeface="+mj-lt"/>
              </a:rPr>
              <a:t>(b) ASMD Chart for Problem 8.37.</a:t>
            </a:r>
            <a:endParaRPr lang="en-US" sz="2000" dirty="0">
              <a:latin typeface="+mn-lt"/>
            </a:endParaRPr>
          </a:p>
        </p:txBody>
      </p:sp>
      <p:pic>
        <p:nvPicPr>
          <p:cNvPr id="2" name="Picture 1" descr="Part ay: block diagram. The counter receives initial input start, reset b, and clock. The controller sends the add shift signal to the data path. The data path receives data, combines entries from R 1 and R 2, and produces a count. The data path returns status signals R 1 of 0 and 0 to the controller. Part b: Ay S M D chart. The process is as follows: reset b; S idle ready; decision start; return to S idle; signal 1 for R 1 less than equals data and R 2 less than equals 0; state S running; decision zero; return 1 to S idle; or return to S running for R 2 less than equals R 2 + R 1 of 0 and R 1 less than equals R 1 greater than greater tha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195" y="1828800"/>
            <a:ext cx="7643738" cy="3505200"/>
          </a:xfrm>
          <a:prstGeom prst="rect">
            <a:avLst/>
          </a:prstGeom>
        </p:spPr>
      </p:pic>
    </p:spTree>
    <p:extLst>
      <p:ext uri="{BB962C8B-B14F-4D97-AF65-F5344CB8AC3E}">
        <p14:creationId xmlns:p14="http://schemas.microsoft.com/office/powerpoint/2010/main" val="2395901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710244"/>
          </a:xfrm>
        </p:spPr>
        <p:txBody>
          <a:bodyPr/>
          <a:lstStyle/>
          <a:p>
            <a:r>
              <a:rPr lang="en-IN" sz="2000" dirty="0">
                <a:latin typeface="+mj-lt"/>
              </a:rPr>
              <a:t>Figure P8.41</a:t>
            </a:r>
            <a:br>
              <a:rPr lang="en-IN" sz="2000" dirty="0">
                <a:latin typeface="+mj-lt"/>
              </a:rPr>
            </a:br>
            <a:r>
              <a:rPr lang="en-IN" sz="2000" dirty="0">
                <a:latin typeface="+mj-lt"/>
              </a:rPr>
              <a:t>Two-stage pipeline register: </a:t>
            </a:r>
            <a:r>
              <a:rPr lang="en-IN" sz="2000" dirty="0" err="1">
                <a:latin typeface="+mj-lt"/>
              </a:rPr>
              <a:t>Datapath</a:t>
            </a:r>
            <a:r>
              <a:rPr lang="en-IN" sz="2000" dirty="0">
                <a:latin typeface="+mj-lt"/>
              </a:rPr>
              <a:t> unit and ASMD </a:t>
            </a:r>
            <a:r>
              <a:rPr lang="en-IN" sz="2000" dirty="0" smtClean="0">
                <a:latin typeface="+mj-lt"/>
              </a:rPr>
              <a:t>chart.</a:t>
            </a:r>
            <a:endParaRPr lang="en-US" sz="2000" dirty="0">
              <a:latin typeface="+mn-lt"/>
            </a:endParaRPr>
          </a:p>
        </p:txBody>
      </p:sp>
      <p:pic>
        <p:nvPicPr>
          <p:cNvPr id="2" name="Picture 1" descr="Part ay: P 1, 7 : 0, receives 8-bit data. P 1 forms the first segment of R 0, 15 : 0, and it sends 8 bits to P 0, 7 : 0, which becomes the second segment of R 0. part b: Ay S M D chart. The process is as follows: state S idle; decision r s t; return 1 to S idle; or decision E n; return to S idle; or signal 1 for P 1 less than equals data and P 0 less than equals P 1; state S 1; signal for P 1 less than equals data and P 0 less than equals P 1; state S full; decision L d; state S wait;  decision L d with return to S wait; signal 1 for R 0 less than equals P 1 and P 0; decision E n; return 1 to S 1 for P 1 less than data and P 0 less than equals P 1; or return to S idle for P 1 and P 0 less than equals 0 and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1447800"/>
            <a:ext cx="6248400" cy="4584300"/>
          </a:xfrm>
          <a:prstGeom prst="rect">
            <a:avLst/>
          </a:prstGeom>
        </p:spPr>
      </p:pic>
    </p:spTree>
    <p:extLst>
      <p:ext uri="{BB962C8B-B14F-4D97-AF65-F5344CB8AC3E}">
        <p14:creationId xmlns:p14="http://schemas.microsoft.com/office/powerpoint/2010/main" val="7803719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1190</TotalTime>
  <Words>158</Words>
  <Application>Microsoft Office PowerPoint</Application>
  <PresentationFormat>On-screen Show (4:3)</PresentationFormat>
  <Paragraphs>93</Paragraphs>
  <Slides>45</Slides>
  <Notes>44</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508 Lecture</vt:lpstr>
      <vt:lpstr>Digital Design</vt:lpstr>
      <vt:lpstr>Table 8.1 Verilog 2001, 2005 HDL Operators.</vt:lpstr>
      <vt:lpstr>Table 8.2 Verilog Operator Precedence.</vt:lpstr>
      <vt:lpstr>Table Operations</vt:lpstr>
      <vt:lpstr>Figure PE 8.8 </vt:lpstr>
      <vt:lpstr>Figure PE 8.9</vt:lpstr>
      <vt:lpstr>Figure 8.1 A simplified flowchart for HDL-based modeling, verification, and synthesis.</vt:lpstr>
      <vt:lpstr>Figure 8.2 Control and datapath interaction.</vt:lpstr>
      <vt:lpstr>Figure 8.3 ASM chart state box.</vt:lpstr>
      <vt:lpstr>Figure 8.4 ASM chart decision box.</vt:lpstr>
      <vt:lpstr>Figure 8.5 ASM chart conditional box and examples.</vt:lpstr>
      <vt:lpstr>Figure 8.6 ASM blocks.</vt:lpstr>
      <vt:lpstr>Figure 8.7 State diagram equivalent to the ASM chart of Fig. 8.6.</vt:lpstr>
      <vt:lpstr>Figure 8.8 Transition between states.</vt:lpstr>
      <vt:lpstr>Figure PE 8.10</vt:lpstr>
      <vt:lpstr>Figure 8.9 (a) Block diagram for design example; (b) ASM chart for controller state transitions, annotated with datapath register operations, asynchronous reset; (c) ASM chart for controller state transitions, annotated with datapath register operations, synchronous reset; (d) ASMD chart fora completely specified controller, identifying datapath operations and associated control signals,and asynchronous reset. </vt:lpstr>
      <vt:lpstr>Table 8.3 Sequence of Operations for Design Example.</vt:lpstr>
      <vt:lpstr>Figure 8.10 Datapath and controller for design example.</vt:lpstr>
      <vt:lpstr>Figure 8.11 Register transfer-level description of design example.</vt:lpstr>
      <vt:lpstr>Table 8.4 State Table for the Controller of Fig. 8.10.</vt:lpstr>
      <vt:lpstr>Figure 8.12 Logic diagram of the control unit for Fig. 8.10.</vt:lpstr>
      <vt:lpstr>Figure 8.13 Simulation results for Design_Example_RTL.</vt:lpstr>
      <vt:lpstr>Figure 8.14 (a) Block diagram and (b) datapath of a binary multiplier.</vt:lpstr>
      <vt:lpstr>Figure 8.15 ASMD chart for binary multiplier.</vt:lpstr>
      <vt:lpstr>Table 8.5 Numerical Example For Binary Multiplier.</vt:lpstr>
      <vt:lpstr>Figure 8.16 Control specifications for binary multiplier.</vt:lpstr>
      <vt:lpstr>Table 8.6 State Assignment for Control.</vt:lpstr>
      <vt:lpstr>Table 8.7 State Table for Control Circuit.</vt:lpstr>
      <vt:lpstr>Figure 8.17 Logic diagram derived from Table 8.7 for controlling a binary multiplier using a sequence register and decoder.</vt:lpstr>
      <vt:lpstr>Figure 8.18 Logic diagram for one-hot state controller.</vt:lpstr>
      <vt:lpstr>Figure 8.19 Simulation waveforms for one-hot state controller.</vt:lpstr>
      <vt:lpstr>Figure 8.20 Example of ASM chart with four control inputs.</vt:lpstr>
      <vt:lpstr>Figure 8.21 Control implementation with multiplexers.</vt:lpstr>
      <vt:lpstr>Table 8.8 Multiplexer Input Conditions.</vt:lpstr>
      <vt:lpstr>Figure 8.22 Block diagram and ASMD chart for count-of-ones circuit.</vt:lpstr>
      <vt:lpstr>Figure 8.23 Control implementation for count-of-ones circuit.</vt:lpstr>
      <vt:lpstr>Table 8.9 Multiplexer Input Conditions for Design Example.</vt:lpstr>
      <vt:lpstr>Figure 8.24 Simulation waveforms for count-of-ones circuit.</vt:lpstr>
      <vt:lpstr>Figure 8.24 Simulation waveforms for count-of-ones circuit.</vt:lpstr>
      <vt:lpstr>Figure P8.10 Control state diagram for Problems 8.10 and 8.11.</vt:lpstr>
      <vt:lpstr>Figure P8.22 ASMD chart for Problem 8.22.</vt:lpstr>
      <vt:lpstr>Figure P8.23 ASMD chart for Problem 8.23.</vt:lpstr>
      <vt:lpstr>Figure P8.29 ASMD chart for Problem 8.29.</vt:lpstr>
      <vt:lpstr>Figure P8.37 (a) Alternative circuit for a ones counter. (b) ASMD Chart for Problem 8.37.</vt:lpstr>
      <vt:lpstr>Figure P8.41 Two-stage pipeline register: Datapath unit and ASMD chart.</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424</cp:revision>
  <dcterms:created xsi:type="dcterms:W3CDTF">2014-07-14T20:04:21Z</dcterms:created>
  <dcterms:modified xsi:type="dcterms:W3CDTF">2018-06-21T09:15:15Z</dcterms:modified>
</cp:coreProperties>
</file>