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318" r:id="rId2"/>
    <p:sldId id="355" r:id="rId3"/>
    <p:sldId id="421" r:id="rId4"/>
    <p:sldId id="328" r:id="rId5"/>
    <p:sldId id="422" r:id="rId6"/>
    <p:sldId id="423" r:id="rId7"/>
    <p:sldId id="424" r:id="rId8"/>
    <p:sldId id="425" r:id="rId9"/>
    <p:sldId id="426" r:id="rId10"/>
    <p:sldId id="428" r:id="rId11"/>
    <p:sldId id="427" r:id="rId12"/>
    <p:sldId id="429" r:id="rId13"/>
    <p:sldId id="431" r:id="rId14"/>
    <p:sldId id="430" r:id="rId15"/>
    <p:sldId id="432" r:id="rId16"/>
    <p:sldId id="433" r:id="rId17"/>
    <p:sldId id="434" r:id="rId18"/>
    <p:sldId id="435" r:id="rId19"/>
    <p:sldId id="436" r:id="rId20"/>
    <p:sldId id="437" r:id="rId21"/>
    <p:sldId id="438" r:id="rId22"/>
    <p:sldId id="445" r:id="rId23"/>
    <p:sldId id="439" r:id="rId24"/>
    <p:sldId id="440" r:id="rId25"/>
    <p:sldId id="446" r:id="rId26"/>
    <p:sldId id="441" r:id="rId27"/>
    <p:sldId id="443" r:id="rId28"/>
    <p:sldId id="444" r:id="rId29"/>
  </p:sldIdLst>
  <p:sldSz cx="9144000" cy="6858000" type="screen4x3"/>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p:scale>
          <a:sx n="66" d="100"/>
          <a:sy n="66" d="100"/>
        </p:scale>
        <p:origin x="-1698" y="-288"/>
      </p:cViewPr>
      <p:guideLst>
        <p:guide orient="horz" pos="2160"/>
        <p:guide orient="horz" pos="432"/>
        <p:guide orient="horz" pos="864"/>
        <p:guide orient="horz" pos="4017"/>
        <p:guide pos="2880"/>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a:t>
            </a:r>
            <a:r>
              <a:rPr lang="en-US" sz="2400" dirty="0" smtClean="0"/>
              <a:t>, VHDL</a:t>
            </a:r>
            <a:r>
              <a:rPr lang="en-US" sz="2400" dirty="0"/>
              <a:t>, and </a:t>
            </a:r>
            <a:r>
              <a:rPr lang="en-US" sz="2400" dirty="0" smtClean="0"/>
              <a:t>SystemVerilog</a:t>
            </a:r>
          </a:p>
          <a:p>
            <a:r>
              <a:rPr lang="en-US" sz="2400" dirty="0" smtClean="0">
                <a:latin typeface="+mj-lt"/>
              </a:rPr>
              <a:t>6</a:t>
            </a:r>
            <a:r>
              <a:rPr lang="en-US" sz="2400" baseline="30000" dirty="0" smtClean="0">
                <a:latin typeface="+mj-lt"/>
              </a:rPr>
              <a:t>th</a:t>
            </a:r>
            <a:r>
              <a:rPr lang="en-US" sz="2400" dirty="0" smtClean="0">
                <a:latin typeface="+mj-lt"/>
              </a:rPr>
              <a:t> </a:t>
            </a:r>
            <a:r>
              <a:rPr lang="en-US" sz="1800" dirty="0" smtClean="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smtClean="0"/>
              <a:t>Chapter 09</a:t>
            </a:r>
            <a:endParaRPr lang="en-US" sz="3000" dirty="0"/>
          </a:p>
        </p:txBody>
      </p:sp>
      <p:sp>
        <p:nvSpPr>
          <p:cNvPr id="5" name="Text Placeholder 4"/>
          <p:cNvSpPr>
            <a:spLocks noGrp="1"/>
          </p:cNvSpPr>
          <p:nvPr>
            <p:ph type="body" sz="quarter" idx="15"/>
          </p:nvPr>
        </p:nvSpPr>
        <p:spPr>
          <a:xfrm>
            <a:off x="4267200" y="3581399"/>
            <a:ext cx="4876800" cy="762001"/>
          </a:xfrm>
        </p:spPr>
        <p:txBody>
          <a:bodyPr/>
          <a:lstStyle/>
          <a:p>
            <a:pPr algn="ctr"/>
            <a:r>
              <a:rPr lang="en-US" dirty="0"/>
              <a:t>Laboratory Experiments with Standard ICs and </a:t>
            </a:r>
            <a:r>
              <a:rPr lang="en-US" dirty="0" smtClean="0"/>
              <a:t>FPGAs</a:t>
            </a:r>
            <a:endParaRPr lang="en-US"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38844"/>
          </a:xfrm>
        </p:spPr>
        <p:txBody>
          <a:bodyPr/>
          <a:lstStyle/>
          <a:p>
            <a:r>
              <a:rPr lang="en-US" sz="2000" b="1" dirty="0" smtClean="0">
                <a:latin typeface="+mj-lt"/>
              </a:rPr>
              <a:t>Figure 9</a:t>
            </a:r>
            <a:r>
              <a:rPr lang="en-US" sz="2000" dirty="0" smtClean="0">
                <a:latin typeface="+mj-lt"/>
              </a:rPr>
              <a:t>.1</a:t>
            </a:r>
            <a:r>
              <a:rPr lang="en-US" sz="2000" b="1" dirty="0" smtClean="0">
                <a:latin typeface="+mj-lt"/>
              </a:rPr>
              <a:t/>
            </a:r>
            <a:br>
              <a:rPr lang="en-US" sz="2000" b="1" dirty="0" smtClean="0">
                <a:latin typeface="+mj-lt"/>
              </a:rPr>
            </a:br>
            <a:r>
              <a:rPr lang="en-US" sz="2000" dirty="0" smtClean="0">
                <a:latin typeface="+mn-lt"/>
              </a:rPr>
              <a:t>Digital </a:t>
            </a:r>
            <a:r>
              <a:rPr lang="en-US" sz="2000" dirty="0">
                <a:latin typeface="+mn-lt"/>
              </a:rPr>
              <a:t>gates in IC packages with identification numbers and pin assignments</a:t>
            </a:r>
            <a:r>
              <a:rPr lang="en-IN" sz="2000" dirty="0">
                <a:latin typeface="+mn-lt"/>
              </a:rPr>
              <a:t>.</a:t>
            </a:r>
            <a:endParaRPr lang="en-US" sz="2000" dirty="0">
              <a:latin typeface="+mn-lt"/>
            </a:endParaRPr>
          </a:p>
        </p:txBody>
      </p:sp>
      <p:pic>
        <p:nvPicPr>
          <p:cNvPr id="5" name="Picture 2" descr="For each package, pins 1 to 7 form a row along the bottom of the package from left to right, with 7 for G N D. Pins 8 to 14 form a row along the top of the package from right to left, with 14 for v sub C C. Each package includes digital gates wires to different pin locations. For the first two packages, the following list provides the number and type of the gates, followed by the pin locations of the inputs and outputs for each gate. Package: 2 input n and, 7 4 0 0, with 4 n and gates. Gate 1: input 12, output, 3. Gate 2: input 4, 5; output 6. Gate 3: input 9, 10; output 8. Gate 4: input 12,13; output 11. Package: 2 input n or, 7 4 0 2. Gate 1: input 2, 3, output 1. Gate 2: input 5, 6, output 4. Gate 3: input 8, 9, output 10. Gate 4: input 11, 12, output 13.  The remaining packages are as follows: inverters, 7 4 0 4; 2 input and, 7 4 0 8; 3 input n and, 7 4 1 0; 4 input n and, 7 4 2 0; 2 input or, 7 4 3 2; 2 input x or, 7 4 8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7136" y="1371600"/>
            <a:ext cx="2929730" cy="478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.2</a:t>
            </a:r>
            <a:r>
              <a:rPr lang="en-US" sz="2000" b="1" dirty="0" smtClean="0">
                <a:latin typeface="+mj-lt"/>
              </a:rPr>
              <a:t/>
            </a:r>
            <a:br>
              <a:rPr lang="en-US" sz="2000" b="1" dirty="0" smtClean="0">
                <a:latin typeface="+mj-lt"/>
              </a:rPr>
            </a:br>
            <a:r>
              <a:rPr lang="en-US" sz="2000" dirty="0" smtClean="0">
                <a:latin typeface="+mn-lt"/>
              </a:rPr>
              <a:t>IC </a:t>
            </a:r>
            <a:r>
              <a:rPr lang="en-US" sz="2000" dirty="0">
                <a:latin typeface="+mn-lt"/>
              </a:rPr>
              <a:t>type 7493 ripple counter</a:t>
            </a:r>
            <a:r>
              <a:rPr lang="en-IN" sz="2000" dirty="0" smtClean="0">
                <a:latin typeface="+mn-lt"/>
              </a:rPr>
              <a:t>.</a:t>
            </a:r>
            <a:endParaRPr lang="en-US" sz="2000" dirty="0">
              <a:latin typeface="+mn-lt"/>
            </a:endParaRPr>
          </a:p>
        </p:txBody>
      </p:sp>
      <p:pic>
        <p:nvPicPr>
          <p:cNvPr id="2050" name="Picture 2" descr="Part ay: internal circuit diagram. The system includes 4 J K flip flops. R 1 at pin 2 and R 2 at pin 3 pass through an n and gate, providing clear inputs to all flip flops. Input Ay from pin 14 enters the C terminal of the first flip flop, and input B from pin 1 enters the C terminal of the second flip flop. The first flip flop sends output Q Ay from the Q terminal at pin 12. The second flip flop sends Q B from the Q terminal at pin 9 to the C terminal of the second flip flop. The third flip flop sends Q C from the Q terminal at pin 8 to the C terminal of the fourth flip flop, and the fourth flip flop produces Q D at pin 11. Part b: physical layout, with N C for no connection. The pin assignments are as follows: 1, B; 2, R 1; 3, R 2; 4, N C; 5, v sub c c; 6, N C; 7, N C; 8, Q C; 9, Q B; 10, G N D; 11, Q D; 12, Q Ay; 13, N C; 14, Ay. Part c: schematic diagram. Package 7 4 9 3 has the following terminals listed with pin locations: Ay, 14; B, 1; R 1, 2; R 2, 3; Q Ay, 12; Q B, 9; Q C, 8; Q D, 11; G N D,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613" y="1270888"/>
            <a:ext cx="4421188" cy="474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110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smtClean="0">
                <a:latin typeface="+mn-lt"/>
              </a:rPr>
              <a:t>Table 9</a:t>
            </a:r>
            <a:r>
              <a:rPr lang="en-US" sz="2000" dirty="0" smtClean="0">
                <a:latin typeface="+mn-lt"/>
              </a:rPr>
              <a:t>.1</a:t>
            </a:r>
            <a:r>
              <a:rPr lang="en-US" sz="2000" b="1" dirty="0" smtClean="0">
                <a:latin typeface="+mn-lt"/>
              </a:rPr>
              <a:t/>
            </a:r>
            <a:br>
              <a:rPr lang="en-US" sz="2000" b="1" dirty="0" smtClean="0">
                <a:latin typeface="+mn-lt"/>
              </a:rPr>
            </a:br>
            <a:r>
              <a:rPr lang="en-US" sz="2000" dirty="0">
                <a:latin typeface="+mn-lt"/>
              </a:rPr>
              <a:t>Integrated Circuits Required for the </a:t>
            </a:r>
            <a:r>
              <a:rPr lang="en-US" sz="2000" dirty="0" smtClean="0">
                <a:latin typeface="+mn-lt"/>
              </a:rPr>
              <a:t>Experiments</a:t>
            </a:r>
            <a:r>
              <a:rPr lang="en-IN" sz="2000" dirty="0" smtClean="0">
                <a:latin typeface="+mn-lt"/>
              </a:rPr>
              <a:t>.</a:t>
            </a:r>
            <a:endParaRPr lang="en-US" sz="2000" dirty="0">
              <a:latin typeface="+mn-lt"/>
            </a:endParaRPr>
          </a:p>
        </p:txBody>
      </p:sp>
      <p:pic>
        <p:nvPicPr>
          <p:cNvPr id="3074" name="Picture 2" descr="Z:\newmedia\Ebook-Novella\Wiley\jira\Mano_Ciletti6e\Work\Images\ch09\ciletti_6e_table_09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075" y="1524000"/>
            <a:ext cx="672785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.3</a:t>
            </a:r>
            <a:r>
              <a:rPr lang="en-US" sz="2000" b="1" dirty="0" smtClean="0">
                <a:latin typeface="+mj-lt"/>
              </a:rPr>
              <a:t/>
            </a:r>
            <a:br>
              <a:rPr lang="en-US" sz="2000" b="1" dirty="0" smtClean="0">
                <a:latin typeface="+mj-lt"/>
              </a:rPr>
            </a:br>
            <a:r>
              <a:rPr lang="en-US" sz="2000" dirty="0" smtClean="0">
                <a:latin typeface="+mn-lt"/>
              </a:rPr>
              <a:t>Binary </a:t>
            </a:r>
            <a:r>
              <a:rPr lang="en-US" sz="2000" dirty="0">
                <a:latin typeface="+mn-lt"/>
              </a:rPr>
              <a:t>counter</a:t>
            </a:r>
            <a:r>
              <a:rPr lang="en-IN" sz="2000" dirty="0" smtClean="0">
                <a:latin typeface="+mn-lt"/>
              </a:rPr>
              <a:t>.</a:t>
            </a:r>
            <a:endParaRPr lang="en-US" sz="2000" dirty="0">
              <a:latin typeface="+mn-lt"/>
            </a:endParaRPr>
          </a:p>
        </p:txBody>
      </p:sp>
      <p:pic>
        <p:nvPicPr>
          <p:cNvPr id="4098" name="Picture 2" descr="Package 7 4 9 3 is used for a binary counter. R 1, R 2, and G N D are wired to a common ground. Ay is wired to a push button pulse or clock, and Q Ay to Q D are wired to separate indicator lamps. The lamp for Q Ay is also wired to 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5320" y="1447800"/>
            <a:ext cx="565336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790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38844"/>
          </a:xfrm>
        </p:spPr>
        <p:txBody>
          <a:bodyPr/>
          <a:lstStyle/>
          <a:p>
            <a:r>
              <a:rPr lang="en-US" sz="2000" b="1" dirty="0" smtClean="0">
                <a:latin typeface="+mj-lt"/>
              </a:rPr>
              <a:t>Figure 9</a:t>
            </a:r>
            <a:r>
              <a:rPr lang="en-US" sz="2000" dirty="0" smtClean="0">
                <a:latin typeface="+mj-lt"/>
              </a:rPr>
              <a:t>.4</a:t>
            </a:r>
            <a:r>
              <a:rPr lang="en-US" sz="2000" b="1" dirty="0" smtClean="0">
                <a:latin typeface="+mj-lt"/>
              </a:rPr>
              <a:t/>
            </a:r>
            <a:br>
              <a:rPr lang="en-US" sz="2000" b="1" dirty="0" smtClean="0">
                <a:latin typeface="+mj-lt"/>
              </a:rPr>
            </a:br>
            <a:r>
              <a:rPr lang="en-US" sz="2000" dirty="0">
                <a:latin typeface="+mn-lt"/>
              </a:rPr>
              <a:t>BCD</a:t>
            </a:r>
            <a:r>
              <a:rPr lang="en-US" sz="2000" dirty="0"/>
              <a:t> </a:t>
            </a:r>
            <a:r>
              <a:rPr lang="en-US" sz="2000" dirty="0" smtClean="0">
                <a:latin typeface="+mn-lt"/>
              </a:rPr>
              <a:t>counter</a:t>
            </a:r>
            <a:r>
              <a:rPr lang="en-IN" sz="2000" dirty="0" smtClean="0">
                <a:latin typeface="+mn-lt"/>
              </a:rPr>
              <a:t>.</a:t>
            </a:r>
            <a:endParaRPr lang="en-US" sz="2000" dirty="0">
              <a:latin typeface="+mn-lt"/>
            </a:endParaRPr>
          </a:p>
        </p:txBody>
      </p:sp>
      <p:pic>
        <p:nvPicPr>
          <p:cNvPr id="5122" name="Picture 2" descr="B C D counter, 7 4 9 3. The connections are as follows: input pulses and Ay at 14, B at 1 and Q Ay at 12, R 1 at 2 and Q B at 9, R 2 at 3 and Q D at 11, G N d at 10, Q C at 8, and v sub C C at 5 have external connec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1341608"/>
            <a:ext cx="4725986" cy="4174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77096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.5</a:t>
            </a:r>
            <a:r>
              <a:rPr lang="en-US" sz="2000" b="1" dirty="0" smtClean="0">
                <a:latin typeface="+mj-lt"/>
              </a:rPr>
              <a:t/>
            </a:r>
            <a:br>
              <a:rPr lang="en-US" sz="2000" b="1" dirty="0" smtClean="0">
                <a:latin typeface="+mj-lt"/>
              </a:rPr>
            </a:br>
            <a:r>
              <a:rPr lang="en-US" sz="2000" dirty="0" smtClean="0">
                <a:latin typeface="+mn-lt"/>
              </a:rPr>
              <a:t>Waveforms </a:t>
            </a:r>
            <a:r>
              <a:rPr lang="en-US" sz="2000" dirty="0">
                <a:latin typeface="+mn-lt"/>
              </a:rPr>
              <a:t>for NAND gate</a:t>
            </a:r>
            <a:r>
              <a:rPr lang="en-IN" sz="2000" dirty="0">
                <a:latin typeface="+mn-lt"/>
              </a:rPr>
              <a:t>.</a:t>
            </a:r>
            <a:endParaRPr lang="en-US" sz="2000" dirty="0">
              <a:latin typeface="+mn-lt"/>
            </a:endParaRPr>
          </a:p>
        </p:txBody>
      </p:sp>
      <p:pic>
        <p:nvPicPr>
          <p:cNvPr id="6146" name="Picture 2" descr="In the schematic diagram, the counter from figure 9.3 receives input pulses at Ay, and it sends outputs from Q Ay and Q B to an n and gate, which produces F. The waveforms for Q Ay, Q B, and F represent the following binary sequences: Q Ay, 0 1 0 1; Q B, 0 0 1 1; F, 1 1 1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106" y="2284413"/>
            <a:ext cx="8187788" cy="2287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45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.6</a:t>
            </a:r>
            <a:r>
              <a:rPr lang="en-US" sz="2000" b="1" dirty="0" smtClean="0">
                <a:latin typeface="+mj-lt"/>
              </a:rPr>
              <a:t/>
            </a:r>
            <a:br>
              <a:rPr lang="en-US" sz="2000" b="1" dirty="0" smtClean="0">
                <a:latin typeface="+mj-lt"/>
              </a:rPr>
            </a:br>
            <a:r>
              <a:rPr lang="pt-BR" sz="2000" dirty="0">
                <a:latin typeface="+mn-lt"/>
              </a:rPr>
              <a:t>Logic diagram for Experiment </a:t>
            </a:r>
            <a:r>
              <a:rPr lang="pt-BR" sz="2000" dirty="0" smtClean="0">
                <a:latin typeface="+mn-lt"/>
              </a:rPr>
              <a:t>3</a:t>
            </a:r>
            <a:r>
              <a:rPr lang="en-IN" sz="2000" dirty="0" smtClean="0">
                <a:latin typeface="+mn-lt"/>
              </a:rPr>
              <a:t>.</a:t>
            </a:r>
            <a:endParaRPr lang="en-US" sz="2000" dirty="0">
              <a:latin typeface="+mn-lt"/>
            </a:endParaRPr>
          </a:p>
        </p:txBody>
      </p:sp>
      <p:pic>
        <p:nvPicPr>
          <p:cNvPr id="7170" name="Picture 2" descr="The circuit has the following structure with 3 levels. For each level, the following list provides the inputs at each gate. Level 1. First n and gate: x and x. Second n and gate: y and y. Third n and gate: z and z. Level 2. First n and gate: x, signal from second level 1 n and gate, signal from third level 1 n and gate. Second n and gate: signal from first level 1 n and gate, y, z. Third n and gate: x, z. Level 3. N and gate: signals from all level 2 n and gates. The level 3 n and gate produces 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4971" y="1371600"/>
            <a:ext cx="5472472"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9011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.7</a:t>
            </a:r>
            <a:r>
              <a:rPr lang="en-US" sz="2000" b="1" dirty="0" smtClean="0">
                <a:latin typeface="+mj-lt"/>
              </a:rPr>
              <a:t/>
            </a:r>
            <a:br>
              <a:rPr lang="en-US" sz="2000" b="1" dirty="0" smtClean="0">
                <a:latin typeface="+mj-lt"/>
              </a:rPr>
            </a:br>
            <a:r>
              <a:rPr lang="en-US" sz="2000" dirty="0">
                <a:latin typeface="+mn-lt"/>
              </a:rPr>
              <a:t>IC type 74155 connected as a 3 </a:t>
            </a:r>
            <a:r>
              <a:rPr lang="en-US" sz="2000" dirty="0" smtClean="0">
                <a:latin typeface="+mn-lt"/>
              </a:rPr>
              <a:t>× </a:t>
            </a:r>
            <a:r>
              <a:rPr lang="en-US" sz="2000" dirty="0">
                <a:latin typeface="+mn-lt"/>
              </a:rPr>
              <a:t>8 </a:t>
            </a:r>
            <a:r>
              <a:rPr lang="en-US" sz="2000" dirty="0" smtClean="0">
                <a:latin typeface="+mn-lt"/>
              </a:rPr>
              <a:t>decoder</a:t>
            </a:r>
            <a:r>
              <a:rPr lang="en-IN" sz="2000" dirty="0" smtClean="0">
                <a:latin typeface="+mn-lt"/>
              </a:rPr>
              <a:t>.</a:t>
            </a:r>
            <a:endParaRPr lang="en-US" sz="2000" dirty="0">
              <a:latin typeface="+mn-lt"/>
            </a:endParaRPr>
          </a:p>
        </p:txBody>
      </p:sp>
      <p:pic>
        <p:nvPicPr>
          <p:cNvPr id="8194" name="Picture 2" descr="The package has the following terminals listed with pin location: C 1, 1; C 2, 15; B, 3; Ay, 13; G 1, 2; G 2, 14; 1 Y 3, 4; 1 Y 2, 5; 1 Y 1, 6; 1 Y 0, 7; 2 Y 3, 12; 2 Y 2, 11; 2 Y 1, 10; 2 Y 0, 9; G N D, 8; v sub C C, 16. The truth table has columns for the following values from left to right: inputs G, C, B, and Ay; and outputs 2 Y 0, 2 Y 1, 2 Y 2, 2 Y 3, 1 Y 0, 1 Y 1, 1 Y 2, and 1 Y 3. The row entries are as follows. Row 1: 1 x x x, 1 1 1 1 1 1 1 1. Row 2: 0 0 0 0, 0 1 1 1 1 1 1 1. Row 3: 0 0 0 1, 1 0 1 1 1 1 1 1. Row 4: 0 0 1 0, 1 1 0 1 1 1 1 1. Row 5: 0 0 1 1, 1 1 1 0 1 1 1 1. Row 6: 0 1 0 0, 1 1 1 1 0 1 1 1. Row 7: 0 1 0 1, 1 1 1 1 1 0 1 1. Row 8: 0 1 1 0, 1 1 1 1 1 1 0 1. Row 9: 0 1 1 1, 1 1 1 1 1 1 1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614" y="1323912"/>
            <a:ext cx="4421186" cy="4619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8651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891156"/>
          </a:xfrm>
        </p:spPr>
        <p:txBody>
          <a:bodyPr/>
          <a:lstStyle/>
          <a:p>
            <a:r>
              <a:rPr lang="en-US" sz="2000" b="1" dirty="0" smtClean="0">
                <a:latin typeface="+mj-lt"/>
              </a:rPr>
              <a:t>Figure 9</a:t>
            </a:r>
            <a:r>
              <a:rPr lang="en-US" sz="2000" dirty="0" smtClean="0">
                <a:latin typeface="+mj-lt"/>
              </a:rPr>
              <a:t>.8</a:t>
            </a:r>
            <a:r>
              <a:rPr lang="en-US" sz="2000" b="1" dirty="0" smtClean="0">
                <a:latin typeface="+mj-lt"/>
              </a:rPr>
              <a:t/>
            </a:r>
            <a:br>
              <a:rPr lang="en-US" sz="2000" b="1" dirty="0" smtClean="0">
                <a:latin typeface="+mj-lt"/>
              </a:rPr>
            </a:br>
            <a:r>
              <a:rPr lang="en-US" sz="2000" dirty="0">
                <a:latin typeface="+mn-lt"/>
              </a:rPr>
              <a:t>BCD-to-seven-segment decoder (7447) and seven-segment display (7730</a:t>
            </a:r>
            <a:r>
              <a:rPr lang="en-US" sz="2000" dirty="0" smtClean="0">
                <a:latin typeface="+mn-lt"/>
              </a:rPr>
              <a:t>)</a:t>
            </a:r>
            <a:r>
              <a:rPr lang="en-IN" sz="2000" dirty="0" smtClean="0">
                <a:latin typeface="+mn-lt"/>
              </a:rPr>
              <a:t>.</a:t>
            </a:r>
            <a:endParaRPr lang="en-US" sz="2000" dirty="0">
              <a:latin typeface="+mn-lt"/>
            </a:endParaRPr>
          </a:p>
        </p:txBody>
      </p:sp>
      <p:pic>
        <p:nvPicPr>
          <p:cNvPr id="9218" name="Picture 2" descr="Package 7 4 4 7 receives the following inputs: Ay at 7, B at 1, C and 2, and D at 6. v sub C C at 16 is wired to v sub C C = 5 volts, and G N D is at 8. Terminals ay to g of 7 4 4 7 are wired to corresponding terminals ay to g of 7 7 3 0. In 7 4 4 7, terminals ay to g are at the following pin locations: 13, 12, 11, 10, 9, 15, and 14. In 7 7 3 0, terminals ay to g are at the following pin locations: 1, 13, 10, 8, 7, 2, and 11. C Ay on 7 7 30 is wired to v sub C C = 5 volts via a 47-ohms resist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4656" y="1674812"/>
            <a:ext cx="5634688" cy="396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5791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891156"/>
          </a:xfrm>
        </p:spPr>
        <p:txBody>
          <a:bodyPr/>
          <a:lstStyle/>
          <a:p>
            <a:r>
              <a:rPr lang="en-US" sz="2000" b="1" dirty="0" smtClean="0">
                <a:latin typeface="+mj-lt"/>
              </a:rPr>
              <a:t>Figure 9</a:t>
            </a:r>
            <a:r>
              <a:rPr lang="en-US" sz="2000" dirty="0" smtClean="0">
                <a:latin typeface="+mj-lt"/>
              </a:rPr>
              <a:t>.9</a:t>
            </a:r>
            <a:r>
              <a:rPr lang="en-US" sz="2000" b="1" dirty="0" smtClean="0">
                <a:latin typeface="+mj-lt"/>
              </a:rPr>
              <a:t/>
            </a:r>
            <a:br>
              <a:rPr lang="en-US" sz="2000" b="1" dirty="0" smtClean="0">
                <a:latin typeface="+mj-lt"/>
              </a:rPr>
            </a:br>
            <a:r>
              <a:rPr lang="fr-FR" sz="2000" dirty="0">
                <a:latin typeface="+mn-lt"/>
              </a:rPr>
              <a:t>IC type 74151 8 × 1 </a:t>
            </a:r>
            <a:r>
              <a:rPr lang="fr-FR" sz="2000" dirty="0" smtClean="0">
                <a:latin typeface="+mn-lt"/>
              </a:rPr>
              <a:t>multiplexer</a:t>
            </a:r>
            <a:r>
              <a:rPr lang="en-IN" sz="2000" dirty="0" smtClean="0">
                <a:latin typeface="+mn-lt"/>
              </a:rPr>
              <a:t>.</a:t>
            </a:r>
            <a:endParaRPr lang="en-US" sz="2000" dirty="0">
              <a:latin typeface="+mn-lt"/>
            </a:endParaRPr>
          </a:p>
        </p:txBody>
      </p:sp>
      <p:pic>
        <p:nvPicPr>
          <p:cNvPr id="9219" name="Picture 3" descr="Package 7 4 1 5 1 receives the strobe at 7. It receives data inputs D 0 to D 7 at the following pin locations: 4, 3, 2, 1, 15, 14, 13, and 12. It receives select inputs Ay, B, and C at 11, 10, and 9, and it sends outputs Y and W = Y prime from pin locations 5 and 6. The function table has columns for the following values from left to right: strobe S; select inputs Ay, B, and C; and output Y. The row entries are as follows. Row 1: 1, x x x, 0. row 2: 0, 0 0 0, D 0. Row 3: 0, 0 0 1, D 1. Row 4: 0, 0 1 0, D 2. Row 5: 0, 0 1 1, D 3. Row 6: 0, 1 0 0, D 4. Row 7: 0, 1 0 1, D 5. Row 8: 0, 1 1 0, D 6. Row 9: 0, 1 1 1, D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295006"/>
            <a:ext cx="2895600" cy="4800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074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.10</a:t>
            </a:r>
            <a:r>
              <a:rPr lang="en-US" sz="2000" b="1" dirty="0" smtClean="0">
                <a:latin typeface="+mj-lt"/>
              </a:rPr>
              <a:t/>
            </a:r>
            <a:br>
              <a:rPr lang="en-US" sz="2000" b="1" dirty="0" smtClean="0">
                <a:latin typeface="+mj-lt"/>
              </a:rPr>
            </a:br>
            <a:r>
              <a:rPr lang="fr-FR" sz="2000" dirty="0" smtClean="0">
                <a:latin typeface="+mn-lt"/>
              </a:rPr>
              <a:t>IC </a:t>
            </a:r>
            <a:r>
              <a:rPr lang="en-US" sz="2000" dirty="0">
                <a:latin typeface="+mn-lt"/>
              </a:rPr>
              <a:t>type 7483 four-bit binary adder</a:t>
            </a:r>
            <a:r>
              <a:rPr lang="en-IN" sz="2000" dirty="0" smtClean="0">
                <a:latin typeface="+mn-lt"/>
              </a:rPr>
              <a:t>.</a:t>
            </a:r>
            <a:endParaRPr lang="en-US" sz="2000" dirty="0">
              <a:latin typeface="+mn-lt"/>
            </a:endParaRPr>
          </a:p>
        </p:txBody>
      </p:sp>
      <p:pic>
        <p:nvPicPr>
          <p:cNvPr id="10242" name="Picture 2" descr="Package 7 4 8  3 has the following terminals by pin location: B 4, 16; Ay 4, 1; B 3, 4; Ay 3, 3; B 2, 7; Ay 2, 8; B 1, 11; Ay 1, 10; C 0, 13; C 4, 14; S 4, 15; S 3, 2; S 2, 6; S 1, 9; G N D, 12; v sub C C,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1" y="1463304"/>
            <a:ext cx="3200400" cy="3931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974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.11</a:t>
            </a:r>
            <a:r>
              <a:rPr lang="en-US" sz="2000" b="1" dirty="0" smtClean="0">
                <a:latin typeface="+mj-lt"/>
              </a:rPr>
              <a:t/>
            </a:r>
            <a:br>
              <a:rPr lang="en-US" sz="2000" b="1" dirty="0" smtClean="0">
                <a:latin typeface="+mj-lt"/>
              </a:rPr>
            </a:br>
            <a:r>
              <a:rPr lang="en-US" sz="2000" dirty="0">
                <a:latin typeface="+mn-lt"/>
              </a:rPr>
              <a:t>Four-bit </a:t>
            </a:r>
            <a:r>
              <a:rPr lang="en-US" sz="2000" dirty="0" smtClean="0">
                <a:latin typeface="+mn-lt"/>
              </a:rPr>
              <a:t>adder–</a:t>
            </a:r>
            <a:r>
              <a:rPr lang="en-US" sz="2000" dirty="0" err="1" smtClean="0">
                <a:latin typeface="+mn-lt"/>
              </a:rPr>
              <a:t>subtractor</a:t>
            </a:r>
            <a:r>
              <a:rPr lang="en-IN" sz="2000" dirty="0" smtClean="0">
                <a:latin typeface="+mn-lt"/>
              </a:rPr>
              <a:t>.</a:t>
            </a:r>
            <a:endParaRPr lang="en-US" sz="2000" dirty="0">
              <a:latin typeface="+mn-lt"/>
            </a:endParaRPr>
          </a:p>
        </p:txBody>
      </p:sp>
      <p:pic>
        <p:nvPicPr>
          <p:cNvPr id="12290" name="Picture 2" descr="The package receives the following signals or data input Ay: Ay 1 at 10, Ay 2 at 8, Ay 3 at 3, and Ay 4 at 1. Data input B and mode select M, for M = 0 for add and M = 1 for subtraction, pass through 4 x or gates, yielding B 1 at 11, B 2 at 7 B 3 at 4, and B 4 at 16. In addition, the package receives M at C 0 on pin 13, with v sub C C wired to pin 5 and G N D wired to pin 12. The output carry signal C 4 is at 14, and the signals for the data output are as follows: S 1 at 9, S 2 at 6, S 3 at 2, and S 4 a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1470814"/>
            <a:ext cx="5029200" cy="432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348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.12</a:t>
            </a:r>
            <a:r>
              <a:rPr lang="en-US" sz="2000" b="1" dirty="0" smtClean="0">
                <a:latin typeface="+mj-lt"/>
              </a:rPr>
              <a:t/>
            </a:r>
            <a:br>
              <a:rPr lang="en-US" sz="2000" b="1" dirty="0" smtClean="0">
                <a:latin typeface="+mj-lt"/>
              </a:rPr>
            </a:br>
            <a:r>
              <a:rPr lang="en-US" sz="2000" dirty="0" smtClean="0">
                <a:latin typeface="+mn-lt"/>
              </a:rPr>
              <a:t>IC </a:t>
            </a:r>
            <a:r>
              <a:rPr lang="en-US" sz="2000" dirty="0">
                <a:latin typeface="+mn-lt"/>
              </a:rPr>
              <a:t>type 7476 dual </a:t>
            </a:r>
            <a:r>
              <a:rPr lang="en-US" sz="2000" i="1" dirty="0">
                <a:latin typeface="+mn-lt"/>
              </a:rPr>
              <a:t>JK</a:t>
            </a:r>
            <a:r>
              <a:rPr lang="en-US" sz="2000" dirty="0">
                <a:latin typeface="+mn-lt"/>
              </a:rPr>
              <a:t> master–slave flip-flops</a:t>
            </a:r>
            <a:r>
              <a:rPr lang="en-IN" sz="2000" dirty="0" smtClean="0">
                <a:latin typeface="+mn-lt"/>
              </a:rPr>
              <a:t>.</a:t>
            </a:r>
            <a:endParaRPr lang="en-US" sz="2000" dirty="0">
              <a:latin typeface="+mn-lt"/>
            </a:endParaRPr>
          </a:p>
        </p:txBody>
      </p:sp>
      <p:pic>
        <p:nvPicPr>
          <p:cNvPr id="11267" name="Picture 3" descr="The system includes two master slave J K flip flops, with v sub CC at pin 5 and G N D at pin 13. The pin locations for the first flip flop are as follows: J, 4; K, 16; P R, 2; C L R, 3; Q, 15; Q prime, 14. The pin locations for the second flip flop are as follows: J, 9; K, 12; P R, 7; C L R, 8; Q, 11; Q prime, 10. The function table has columns for the following values from left to right. Inputs: preset, clear, clock, J, K. Outputs: Q, Q prime. The row entries are as follows. Row 1: 0 1 x x x, 1 0. Row 2: 1 0 x x x, 0 1. Row 3: 0 0 x x x, 1 1. Row 4: 1 1 positive 0 0, no change. Row 5: 1 1 positive 0 1, 0 1. Row 6: 1 1 positive 1 0, 1 0. Row 7: 1 1 positive 1 1, tog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676" y="1371600"/>
            <a:ext cx="5047062"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852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.13</a:t>
            </a:r>
            <a:r>
              <a:rPr lang="en-US" sz="2000" b="1" dirty="0" smtClean="0">
                <a:latin typeface="+mj-lt"/>
              </a:rPr>
              <a:t/>
            </a:r>
            <a:br>
              <a:rPr lang="en-US" sz="2000" b="1" dirty="0" smtClean="0">
                <a:latin typeface="+mj-lt"/>
              </a:rPr>
            </a:br>
            <a:r>
              <a:rPr lang="en-US" sz="2000" dirty="0">
                <a:latin typeface="+mn-lt"/>
              </a:rPr>
              <a:t>IC type 7474 dual </a:t>
            </a:r>
            <a:r>
              <a:rPr lang="en-US" sz="2000" i="1" dirty="0">
                <a:latin typeface="+mn-lt"/>
              </a:rPr>
              <a:t>D</a:t>
            </a:r>
            <a:r>
              <a:rPr lang="en-US" sz="2000" dirty="0">
                <a:latin typeface="+mn-lt"/>
              </a:rPr>
              <a:t> positive-edge-triggered </a:t>
            </a:r>
            <a:r>
              <a:rPr lang="en-US" sz="2000" dirty="0" smtClean="0">
                <a:latin typeface="+mn-lt"/>
              </a:rPr>
              <a:t>flip-flops</a:t>
            </a:r>
            <a:r>
              <a:rPr lang="en-IN" sz="2000" dirty="0" smtClean="0">
                <a:latin typeface="+mn-lt"/>
              </a:rPr>
              <a:t>.</a:t>
            </a:r>
            <a:endParaRPr lang="en-US" sz="2000" dirty="0">
              <a:latin typeface="+mn-lt"/>
            </a:endParaRPr>
          </a:p>
        </p:txBody>
      </p:sp>
      <p:pic>
        <p:nvPicPr>
          <p:cNvPr id="13314" name="Picture 2" descr="The system includes two D flip flops, with v sub C C at pin 14 and G N D at pin 7. The pin locations for the first flip flop are as follows: D, 2; C K, 3; P R, 4; C L R, 1; Q, 5; Q prime, 6. The pin locations for the second flip flop are as follows: D, 12; C K, 11; P R, 10; C L R, 13; Q, 9; Q prime, 8. The function table has columns for the following values from left to right. Inputs: preset, clear, clock, D. Outputs: Q, Q prime. The row entries are as follows. Row 1: 0 1 x x, 1 0. Row 2: 1 0 x x, 0 1. Row 3: 0 0 x x, 1 1. Row 4: 1 1 increase 0, 0 1. Row 5: 1 1 increase 1, 1 0. Row 6: 1 1 0 x, no ch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7928" y="1447800"/>
            <a:ext cx="5166558"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180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.14</a:t>
            </a:r>
            <a:r>
              <a:rPr lang="en-US" sz="2000" b="1" dirty="0" smtClean="0">
                <a:latin typeface="+mj-lt"/>
              </a:rPr>
              <a:t/>
            </a:r>
            <a:br>
              <a:rPr lang="en-US" sz="2000" b="1" dirty="0" smtClean="0">
                <a:latin typeface="+mj-lt"/>
              </a:rPr>
            </a:br>
            <a:r>
              <a:rPr lang="en-US" sz="2000" dirty="0" smtClean="0">
                <a:latin typeface="+mn-lt"/>
              </a:rPr>
              <a:t>State </a:t>
            </a:r>
            <a:r>
              <a:rPr lang="en-US" sz="2000" dirty="0">
                <a:latin typeface="+mn-lt"/>
              </a:rPr>
              <a:t>diagram for Experiment 9.</a:t>
            </a:r>
          </a:p>
        </p:txBody>
      </p:sp>
      <p:pic>
        <p:nvPicPr>
          <p:cNvPr id="14338" name="Picture 2" descr="A state diagram has the following paths, listed with values: 0 0 to 0 0, 1 slash 1; 0 0 to 0 1, 0 slash 0; 0 1 to 1 0, 0 slash 1; 1 0 to 0 1, 1 slash 0; 0 1 to 1 1, 1 slash 0; 1 1 to 1 1, 0 slash 0; 1 1 to 1 0, 1 slash 1; 1 0 to 0 0, 0 slash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9318" y="1600200"/>
            <a:ext cx="2925366"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474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.15</a:t>
            </a:r>
            <a:r>
              <a:rPr lang="en-US" sz="2000" b="1" dirty="0" smtClean="0">
                <a:latin typeface="+mj-lt"/>
              </a:rPr>
              <a:t/>
            </a:r>
            <a:br>
              <a:rPr lang="en-US" sz="2000" b="1" dirty="0" smtClean="0">
                <a:latin typeface="+mj-lt"/>
              </a:rPr>
            </a:br>
            <a:r>
              <a:rPr lang="en-US" sz="2000" dirty="0" smtClean="0">
                <a:latin typeface="+mn-lt"/>
              </a:rPr>
              <a:t>IC </a:t>
            </a:r>
            <a:r>
              <a:rPr lang="en-US" sz="2000" dirty="0">
                <a:latin typeface="+mn-lt"/>
              </a:rPr>
              <a:t>type 74161 binary counter with parallel load</a:t>
            </a:r>
            <a:r>
              <a:rPr lang="en-US" sz="2000" dirty="0" smtClean="0">
                <a:latin typeface="+mn-lt"/>
              </a:rPr>
              <a:t>.</a:t>
            </a:r>
            <a:endParaRPr lang="en-US" sz="2000" dirty="0">
              <a:latin typeface="+mn-lt"/>
            </a:endParaRPr>
          </a:p>
        </p:txBody>
      </p:sp>
      <p:pic>
        <p:nvPicPr>
          <p:cNvPr id="15362" name="Picture 2" descr="The package receives the following data inputs, listed by pin location: Ay, 3; B, 4; C, 5; D, 6; L, 9. The count goes to P at 7 and T at 10. The clock and clear signals are input at 2 and 1, and v sub C C and G N D enter at 16 and 8 respectively. The package produces the carry out signal at C out, pin 15, and it also produces the following data outputs: Q Ay, 14; Q B 13; Q C, 12; Q D, 11. The function table has columns for the following values from left to right: clear, clock, load, count, function. The row entries are as follows. Row 1: 0 x x x, clear outputs to 0. Row 2: 1 increase 0 x, load input data. Row 3: 1 increase 1 1, count to next binary value. Row 4: 1 increase 1 0, no change in outp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2" y="1375232"/>
            <a:ext cx="4114798" cy="4644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302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.16</a:t>
            </a:r>
            <a:r>
              <a:rPr lang="en-US" sz="2000" b="1" dirty="0" smtClean="0">
                <a:latin typeface="+mj-lt"/>
              </a:rPr>
              <a:t/>
            </a:r>
            <a:br>
              <a:rPr lang="en-US" sz="2000" b="1" dirty="0" smtClean="0">
                <a:latin typeface="+mj-lt"/>
              </a:rPr>
            </a:br>
            <a:r>
              <a:rPr lang="en-US" sz="2000" dirty="0">
                <a:latin typeface="+mn-lt"/>
              </a:rPr>
              <a:t>IC type 74195 shift register with parallel load.</a:t>
            </a:r>
          </a:p>
        </p:txBody>
      </p:sp>
      <p:pic>
        <p:nvPicPr>
          <p:cNvPr id="16386" name="Picture 2" descr="The package is wired to v sub C C at 16 and G N D at 8. The package receives the following inputs: clear, C L R bar, 1; clock, C K, 10; shift slash load, S H slash L D, 9; serial input, J, 2; serial input, K bar, 3; and data inputs Ay, 4; B, 5; C, 6; D, 7. The package produces the following data outputs: Q Ay, 15; Q B, 14; Q C, 13; Q D, 12. The package also produces Q D bar at 11as the compliment of Q D. The function table has columns for the following values from left to right: clear, shift slash load, clock, J, K bar, serial input, function. Row 1: 0 x x x x x, asynchronous clear. Row 2: 1 x 0 x x x, no change in output. Row 3: 1 0 increase x x x, load input data. Row 4: 1 1 increase 0 0 0, shift from Q Ay toward Q D with Q Ay = 0. Row 5: 1 1 increase 1 1 1, shift from Q Ay toward Q D with Q Ay =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3913" y="1371600"/>
            <a:ext cx="4634588"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6471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.17</a:t>
            </a:r>
            <a:r>
              <a:rPr lang="en-US" sz="2000" b="1" dirty="0" smtClean="0">
                <a:latin typeface="+mj-lt"/>
              </a:rPr>
              <a:t/>
            </a:r>
            <a:br>
              <a:rPr lang="en-US" sz="2000" b="1" dirty="0" smtClean="0">
                <a:latin typeface="+mj-lt"/>
              </a:rPr>
            </a:br>
            <a:r>
              <a:rPr lang="en-US" sz="2000" dirty="0">
                <a:latin typeface="+mn-lt"/>
              </a:rPr>
              <a:t>IC </a:t>
            </a:r>
            <a:r>
              <a:rPr lang="fr-FR" sz="2000" dirty="0">
                <a:latin typeface="+mn-lt"/>
              </a:rPr>
              <a:t>type 74157 quadruple 2 </a:t>
            </a:r>
            <a:r>
              <a:rPr lang="fr-FR" sz="2000" dirty="0" smtClean="0">
                <a:latin typeface="+mn-lt"/>
              </a:rPr>
              <a:t>× </a:t>
            </a:r>
            <a:r>
              <a:rPr lang="fr-FR" sz="2000" dirty="0">
                <a:latin typeface="+mn-lt"/>
              </a:rPr>
              <a:t>1 </a:t>
            </a:r>
            <a:r>
              <a:rPr lang="fr-FR" sz="2000" dirty="0" err="1">
                <a:latin typeface="+mn-lt"/>
              </a:rPr>
              <a:t>multiplexers</a:t>
            </a:r>
            <a:r>
              <a:rPr lang="en-US" sz="2000" dirty="0">
                <a:latin typeface="+mn-lt"/>
              </a:rPr>
              <a:t>.</a:t>
            </a:r>
          </a:p>
        </p:txBody>
      </p:sp>
      <p:pic>
        <p:nvPicPr>
          <p:cNvPr id="17410" name="Picture 2" descr="The connections for the package are as follows, with v sub C C at 16 and GND at 8. Data inputs Ay: Ay 1, 2; Ay 2, 5; Ay 3, 11; Ay 4, 14. Data inputs B: B 1, 3; B 2, 6; B 3, 10; B 4, 13. Select: S E L, 1. Strobe: S T B, 15. Data outputs: Y 1 4; Y 2, 7; Y 3, 9; Y 4, 12. The function table has columns for the following values from left to right: strobe, select, data outputs Y. The row entries are as follows. Row 1: 1 x, all zeroes. Row 2: 0 0, select data inputs Ay. Row 3: 0 1, select data inputs 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6414" y="1347146"/>
            <a:ext cx="3049586" cy="4825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134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.18</a:t>
            </a:r>
            <a:r>
              <a:rPr lang="en-US" sz="2000" b="1" dirty="0" smtClean="0">
                <a:latin typeface="+mj-lt"/>
              </a:rPr>
              <a:t/>
            </a:r>
            <a:br>
              <a:rPr lang="en-US" sz="2000" b="1" dirty="0" smtClean="0">
                <a:latin typeface="+mj-lt"/>
              </a:rPr>
            </a:br>
            <a:r>
              <a:rPr lang="en-US" sz="2000" dirty="0">
                <a:latin typeface="+mn-lt"/>
              </a:rPr>
              <a:t>IC type 74189 16 </a:t>
            </a:r>
            <a:r>
              <a:rPr lang="fr-FR" sz="2000" dirty="0">
                <a:latin typeface="+mn-lt"/>
              </a:rPr>
              <a:t>×</a:t>
            </a:r>
            <a:r>
              <a:rPr lang="en-US" sz="2000" dirty="0">
                <a:latin typeface="+mn-lt"/>
              </a:rPr>
              <a:t> 4 </a:t>
            </a:r>
            <a:r>
              <a:rPr lang="en-US" sz="2000" dirty="0" smtClean="0">
                <a:latin typeface="+mn-lt"/>
              </a:rPr>
              <a:t>RAM.</a:t>
            </a:r>
            <a:endParaRPr lang="en-US" sz="2000" dirty="0">
              <a:latin typeface="+mn-lt"/>
            </a:endParaRPr>
          </a:p>
        </p:txBody>
      </p:sp>
      <p:pic>
        <p:nvPicPr>
          <p:cNvPr id="18434" name="Picture 2" descr="The package has the following connections, v sub C C at 16 and G N D at 8. Data inputs: D 1, 4; D 2, 6; D 3, 10; D 4, 12. Address inputs: Ay sub 0, 1; Ay sub 1, 15; Ay sub 2, 14; Ay sub 3, 13. Chip select: C S, 2. Write enable: W E, 3. Data outputs: S 1, 5; S 2, 7; S 3, 9; S 4, 11. The function table has columns for the following values from left to right: C S, W E, operation, and data outputs. Row 1: 0 0, write, high impedance. Row 2: 0 1, read, complement of selected word. Row 3: 1 x, disable, high imped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2" y="1295400"/>
            <a:ext cx="3352798" cy="4880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400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.19</a:t>
            </a:r>
            <a:r>
              <a:rPr lang="en-US" sz="2000" b="1" dirty="0" smtClean="0">
                <a:latin typeface="+mj-lt"/>
              </a:rPr>
              <a:t/>
            </a:r>
            <a:br>
              <a:rPr lang="en-US" sz="2000" b="1" dirty="0" smtClean="0">
                <a:latin typeface="+mj-lt"/>
              </a:rPr>
            </a:br>
            <a:r>
              <a:rPr lang="en-US" sz="2000" dirty="0">
                <a:latin typeface="+mn-lt"/>
              </a:rPr>
              <a:t>IC type 74194 bidirectional shift register with parallel load.</a:t>
            </a:r>
          </a:p>
        </p:txBody>
      </p:sp>
      <p:pic>
        <p:nvPicPr>
          <p:cNvPr id="19458" name="Picture 2" descr="The package has the following connections with v sub C C at 16 and G N D at 8. Parallel data inputs: Ay, 3; B, 4; C, 5; D, 6. Mode control inputs: S 1, 10; S 0, 9. Clock: C K, 11. Clear: C L R, 1. Serial input for shift left: S I L, 7. Data outputs: Q Ay, 15; Q B, 14; Q C, 13; Q D, 12. The function table has columns for the following values from left to right: clear, clock, mode S 1, mode S 0, function. Row 1: 0 x x x, clear outputs to 0. Row 2: 1 increase 0 0, no change in output. Row 3: 1 increase 0 1, shift right in the direction from Q Ay to Q D. S I R to Q Ay. Row 4: 1 increase 1 0, shift left in the direction from Q D to Q Ay. S I L to Q D. Row 5: 1 increase 1 1, parallel load input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5335" y="1219200"/>
            <a:ext cx="3813330" cy="4900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156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.20</a:t>
            </a:r>
            <a:r>
              <a:rPr lang="en-US" sz="2000" b="1" dirty="0" smtClean="0">
                <a:latin typeface="+mj-lt"/>
              </a:rPr>
              <a:t/>
            </a:r>
            <a:br>
              <a:rPr lang="en-US" sz="2000" b="1" dirty="0" smtClean="0">
                <a:latin typeface="+mj-lt"/>
              </a:rPr>
            </a:br>
            <a:r>
              <a:rPr lang="en-US" sz="2000" dirty="0">
                <a:latin typeface="+mn-lt"/>
              </a:rPr>
              <a:t>Lamp handball logic </a:t>
            </a:r>
            <a:r>
              <a:rPr lang="en-US" sz="2000" dirty="0" smtClean="0">
                <a:latin typeface="+mn-lt"/>
              </a:rPr>
              <a:t>diagram.</a:t>
            </a:r>
            <a:endParaRPr lang="en-US" sz="2000" dirty="0">
              <a:latin typeface="+mn-lt"/>
            </a:endParaRPr>
          </a:p>
        </p:txBody>
      </p:sp>
      <p:pic>
        <p:nvPicPr>
          <p:cNvPr id="25602" name="Picture 2" descr="The system includes two 7 4 1 9 4 packages and two D flip flops. Each package has the following terminals: S I R, S I L, C L R, C K, Ay, B, C, D, S 1, S 0, Q Ay, Q B, Q C, and Q D. For each package, terminals Q Ay to Q D are wired to separate indicator lamps. Both packages receive common clock and reset signals, and the packages are linked as follows: Q D of first package and S I R of second package, S I L of first package and Q Ay of second package. The terminals of the first D flip flop are connected as follows: D receives signals from S I R, Ay, B, C, and D of the first package, via ground. P R receives Q Ay complemented. C l R receives reset and Q D complemented from the second package. C K receives a pulser signal. Q prime outputs to S 1 of each package. The terminals of the second D flip flops are connected as follows: D receives Q D from the second package. P R receives the complements of S I L, Ay, B, and C via a ground. C L R receives rest and Q Ay complemented. Q prime outputs to S 0 of each package. The grounded reset switch is connected to the C L R of each package, and too an and gate, which also receives Q C complemented. The and gate signals the first of two n and gates, which also receives the output of the second n and gate. The inputs of the second n and gate are connected to the output of the first n and gate and to a grounded start switch. The second n and gate outputs to the D terminal of the second pack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2" y="1384430"/>
            <a:ext cx="3657598" cy="4635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833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.21</a:t>
            </a:r>
            <a:r>
              <a:rPr lang="en-US" sz="2000" b="1" dirty="0" smtClean="0">
                <a:latin typeface="+mj-lt"/>
              </a:rPr>
              <a:t/>
            </a:r>
            <a:br>
              <a:rPr lang="en-US" sz="2000" b="1" dirty="0" smtClean="0">
                <a:latin typeface="+mj-lt"/>
              </a:rPr>
            </a:br>
            <a:r>
              <a:rPr lang="en-US" sz="2000" dirty="0">
                <a:latin typeface="+mn-lt"/>
              </a:rPr>
              <a:t>IC type 72555 timer connected as a clock-pulse </a:t>
            </a:r>
            <a:r>
              <a:rPr lang="en-US" sz="2000" dirty="0" smtClean="0">
                <a:latin typeface="+mn-lt"/>
              </a:rPr>
              <a:t>generator.</a:t>
            </a:r>
            <a:endParaRPr lang="en-US" sz="2000" dirty="0">
              <a:latin typeface="+mn-lt"/>
            </a:endParaRPr>
          </a:p>
        </p:txBody>
      </p:sp>
      <p:pic>
        <p:nvPicPr>
          <p:cNvPr id="20483" name="Picture 3" descr="The system includes two compare gates and an R S flip flop, and it is wired to a grounded loop with a 5-volt source. Clockwise from the ground, the loop contains the following components: G N D at 1, node to output of transistor, resistor, node to terminal of first compare gate, resistor, node to complemented terminal of second compare gate, resistor, v sub C C at pin 8, node to 5-volt source, node to reset at pin 4, resistor R sub Ay, discharge at pin 7 connected to the transistor, resistor R sub B, node to G N D at 1, capacitor C. The trigger at pin 2 feeds the complemented terminal of the first compare gate, which feeds the S terminal. the threshold at pin 6 feeds the non-complemented terminal of the second compare gate, which feeds the R terminal. The complemented terminal of the second compare gate is wired to a grounded capacitor at 0.01 microfarads via pin 5. The reset at 4 is linked to the flip flop. Q generates output, and Q prime feeds to the transis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050" y="1371600"/>
            <a:ext cx="4430314"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592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.22</a:t>
            </a:r>
            <a:r>
              <a:rPr lang="en-US" sz="2000" b="1" dirty="0" smtClean="0">
                <a:latin typeface="+mj-lt"/>
              </a:rPr>
              <a:t/>
            </a:r>
            <a:br>
              <a:rPr lang="en-US" sz="2000" b="1" dirty="0" smtClean="0">
                <a:latin typeface="+mj-lt"/>
              </a:rPr>
            </a:br>
            <a:r>
              <a:rPr lang="en-US" sz="2000" dirty="0">
                <a:latin typeface="+mn-lt"/>
              </a:rPr>
              <a:t>Output waveform for clock </a:t>
            </a:r>
            <a:r>
              <a:rPr lang="en-US" sz="2000" dirty="0" smtClean="0">
                <a:latin typeface="+mn-lt"/>
              </a:rPr>
              <a:t>generator.</a:t>
            </a:r>
            <a:endParaRPr lang="en-US" sz="2000" dirty="0">
              <a:latin typeface="+mn-lt"/>
            </a:endParaRPr>
          </a:p>
        </p:txBody>
      </p:sp>
      <p:pic>
        <p:nvPicPr>
          <p:cNvPr id="21506" name="Picture 2" descr="The square waveform has intervals of length 1 microsecond at 0, and the distance between consecutive negative edges is 10 microseco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078" y="2513013"/>
            <a:ext cx="6235844" cy="1830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163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9</a:t>
            </a:r>
            <a:r>
              <a:rPr lang="en-US" sz="2000" dirty="0" smtClean="0">
                <a:latin typeface="+mj-lt"/>
              </a:rPr>
              <a:t>.23</a:t>
            </a:r>
            <a:r>
              <a:rPr lang="en-US" sz="2000" b="1" dirty="0" smtClean="0">
                <a:latin typeface="+mj-lt"/>
              </a:rPr>
              <a:t/>
            </a:r>
            <a:br>
              <a:rPr lang="en-US" sz="2000" b="1" dirty="0" smtClean="0">
                <a:latin typeface="+mj-lt"/>
              </a:rPr>
            </a:br>
            <a:r>
              <a:rPr lang="en-US" sz="2000" dirty="0" smtClean="0">
                <a:latin typeface="+mn-lt"/>
              </a:rPr>
              <a:t>Block </a:t>
            </a:r>
            <a:r>
              <a:rPr lang="en-US" sz="2000" dirty="0">
                <a:latin typeface="+mn-lt"/>
              </a:rPr>
              <a:t>diagram of a parallel adder for </a:t>
            </a:r>
            <a:r>
              <a:rPr lang="en-US" sz="2000" dirty="0" smtClean="0">
                <a:latin typeface="+mn-lt"/>
              </a:rPr>
              <a:t>Experiment 16.</a:t>
            </a:r>
            <a:endParaRPr lang="en-US" sz="2000" dirty="0">
              <a:latin typeface="+mn-lt"/>
            </a:endParaRPr>
          </a:p>
        </p:txBody>
      </p:sp>
      <p:pic>
        <p:nvPicPr>
          <p:cNvPr id="26626" name="Picture 2" descr="The M U X 7 4 1 5 7 receives signals from the select switch and 4 additional switches. The M U X signals the RAM 7 4 1 8 9, which also receives input from address counter 7 4 9 3 fed by a count pulser. The RAM signals inverters 7 4 0 4, and the inverters signal a 4-bit adder 7 4 8 3. The adder in turn sends output carry to carry 7 4 7 6., and the register 7 4 1 9 4 receives input from the carry, as well as the sum from the 4-bit adder. The register then returns feedback to the adder and M U 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4" y="1386342"/>
            <a:ext cx="5030786" cy="455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473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38844"/>
          </a:xfrm>
        </p:spPr>
        <p:txBody>
          <a:bodyPr/>
          <a:lstStyle/>
          <a:p>
            <a:r>
              <a:rPr lang="en-US" sz="2000" b="1" dirty="0" smtClean="0">
                <a:latin typeface="+mj-lt"/>
              </a:rPr>
              <a:t>Figure 9</a:t>
            </a:r>
            <a:r>
              <a:rPr lang="en-US" sz="2000" dirty="0" smtClean="0">
                <a:latin typeface="+mj-lt"/>
              </a:rPr>
              <a:t>.24</a:t>
            </a:r>
            <a:r>
              <a:rPr lang="en-US" sz="2000" b="1" dirty="0" smtClean="0">
                <a:latin typeface="+mj-lt"/>
              </a:rPr>
              <a:t/>
            </a:r>
            <a:br>
              <a:rPr lang="en-US" sz="2000" b="1" dirty="0" smtClean="0">
                <a:latin typeface="+mj-lt"/>
              </a:rPr>
            </a:br>
            <a:r>
              <a:rPr lang="en-US" sz="2000" dirty="0">
                <a:latin typeface="+mn-lt"/>
              </a:rPr>
              <a:t>ASMD chart, block diagram of the </a:t>
            </a:r>
            <a:r>
              <a:rPr lang="en-US" sz="2000" dirty="0" err="1">
                <a:latin typeface="+mn-lt"/>
              </a:rPr>
              <a:t>datapath</a:t>
            </a:r>
            <a:r>
              <a:rPr lang="en-US" sz="2000" dirty="0">
                <a:latin typeface="+mn-lt"/>
              </a:rPr>
              <a:t>, control state diagram, and register operations of the binary multiplier </a:t>
            </a:r>
            <a:r>
              <a:rPr lang="en-US" sz="2000" dirty="0" smtClean="0">
                <a:latin typeface="+mn-lt"/>
              </a:rPr>
              <a:t>circuit.</a:t>
            </a:r>
            <a:endParaRPr lang="en-US" sz="2000" dirty="0">
              <a:latin typeface="+mn-lt"/>
            </a:endParaRPr>
          </a:p>
        </p:txBody>
      </p:sp>
      <p:pic>
        <p:nvPicPr>
          <p:cNvPr id="22532" name="Picture 4" descr="The process is as follows: input reset; state S idle ready; decision start; return to S idle; or signal 1; load regs for Ay less than equals 0, C less than equals 0, B less than equals multiplicand, Q less than equals multiplier, and P less than equals 0; state S add for increment P; signal for P less than equals P + 1; decision Q of 0. The process then branches. The first exit path goes directly to S shift, shift regs. The second path for 1 at C and Ay less than equals Ay + B passes through add regs to S shift. The process then concludes as follows: S shift; signal for C, Ay, and Q less than equals C, Ay, and Q greater than greater than 1; decision done; return 1 to S idle; or return to S ad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2" y="1591514"/>
            <a:ext cx="2743198" cy="4656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488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38844"/>
          </a:xfrm>
        </p:spPr>
        <p:txBody>
          <a:bodyPr/>
          <a:lstStyle/>
          <a:p>
            <a:r>
              <a:rPr lang="en-US" sz="2000" b="1" dirty="0" smtClean="0">
                <a:latin typeface="+mj-lt"/>
              </a:rPr>
              <a:t>Figure 9</a:t>
            </a:r>
            <a:r>
              <a:rPr lang="en-US" sz="2000" dirty="0" smtClean="0">
                <a:latin typeface="+mj-lt"/>
              </a:rPr>
              <a:t>.24</a:t>
            </a:r>
            <a:r>
              <a:rPr lang="en-US" sz="2000" b="1" dirty="0" smtClean="0">
                <a:latin typeface="+mj-lt"/>
              </a:rPr>
              <a:t/>
            </a:r>
            <a:br>
              <a:rPr lang="en-US" sz="2000" b="1" dirty="0" smtClean="0">
                <a:latin typeface="+mj-lt"/>
              </a:rPr>
            </a:br>
            <a:r>
              <a:rPr lang="en-US" sz="2000" dirty="0">
                <a:latin typeface="+mn-lt"/>
              </a:rPr>
              <a:t>ASMD chart, block diagram of the </a:t>
            </a:r>
            <a:r>
              <a:rPr lang="en-US" sz="2000" dirty="0" err="1">
                <a:latin typeface="+mn-lt"/>
              </a:rPr>
              <a:t>datapath</a:t>
            </a:r>
            <a:r>
              <a:rPr lang="en-US" sz="2000" dirty="0">
                <a:latin typeface="+mn-lt"/>
              </a:rPr>
              <a:t>, control state diagram, and register operations of the binary multiplier </a:t>
            </a:r>
            <a:r>
              <a:rPr lang="en-US" sz="2000" dirty="0" smtClean="0">
                <a:latin typeface="+mn-lt"/>
              </a:rPr>
              <a:t>circuit.</a:t>
            </a:r>
            <a:endParaRPr lang="en-US" sz="2000" dirty="0">
              <a:latin typeface="+mn-lt"/>
            </a:endParaRPr>
          </a:p>
        </p:txBody>
      </p:sp>
      <p:pic>
        <p:nvPicPr>
          <p:cNvPr id="23554" name="Picture 2" descr="Part b: data path block diagram. The system includes the following components: counter P, 7 4 1 6 1; register Q, 7 4 1 9 4; parallel adder, 7 4 8 3; register Ay, 7 4 1 9 4; C, 7 4 7 4. The parallel adder receives input from 4 switches for multiplicand B, as well as signals from register Ay. The adder signals register Ay, and it sends C out to C, which in turn signals Ay. Register Q receives input from Ay, as well as 4 switch signals from multiplier Q, and register Q produces Q sub 0. At the same time, counter P produces output with done = 1 on count of 4. Part c: control state diagram for states S idle, S add, and S shift. The paths and their values are as follows: S idle to S idle, start = 0; S idle to S add, start = 1; S add to S shift, blank; S shift to S add, done = 0; S shift to S idle, done = 1. Part d: register operations. For each state transition, the table provides the register operations and control signal. Transition: S idle. Operation: initial state reached by reset action. Signal: none. Transition: S idle to S add. Operation: A less than equals 0, C less than equals 0, P less than equals 0, B less than equals multiplicand, Q less than equals multiplier. Signal: load regs. Transition: S add to S shift. Operation: P less than equals P + 1. Signal: increment P. Transition: S add to S shift. Operation: if Q of 0 then Ay less than equals Ay + B, C less than equals C out. Signal: add regs. Transition: S shift. Operation: shift right, C, Ay, and, with C less than equals 0. Signal: shift reg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2" y="1568356"/>
            <a:ext cx="3352798" cy="4695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4985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smtClean="0">
                <a:latin typeface="+mj-lt"/>
              </a:rPr>
              <a:t>Figure 9</a:t>
            </a:r>
            <a:r>
              <a:rPr lang="en-US" sz="2000" dirty="0" smtClean="0">
                <a:latin typeface="+mj-lt"/>
              </a:rPr>
              <a:t>.25</a:t>
            </a:r>
            <a:r>
              <a:rPr lang="en-US" sz="2000" b="1" dirty="0" smtClean="0">
                <a:latin typeface="+mj-lt"/>
              </a:rPr>
              <a:t/>
            </a:r>
            <a:br>
              <a:rPr lang="en-US" sz="2000" b="1" dirty="0" smtClean="0">
                <a:latin typeface="+mj-lt"/>
              </a:rPr>
            </a:br>
            <a:r>
              <a:rPr lang="en-US" sz="2000" dirty="0" err="1">
                <a:latin typeface="+mn-lt"/>
              </a:rPr>
              <a:t>Pulser</a:t>
            </a:r>
            <a:r>
              <a:rPr lang="en-US" sz="2000" dirty="0">
                <a:latin typeface="+mn-lt"/>
              </a:rPr>
              <a:t> circuit for FPGA implementation of Experiment </a:t>
            </a:r>
            <a:r>
              <a:rPr lang="en-US" sz="2000" dirty="0" smtClean="0">
                <a:latin typeface="+mn-lt"/>
              </a:rPr>
              <a:t>1.</a:t>
            </a:r>
            <a:endParaRPr lang="en-US" sz="2000" dirty="0">
              <a:latin typeface="+mn-lt"/>
            </a:endParaRPr>
          </a:p>
        </p:txBody>
      </p:sp>
      <p:pic>
        <p:nvPicPr>
          <p:cNvPr id="24578" name="Picture 2" descr="An Ay S M D chart: reset b; state S idle; decision pushed; return to S idle; or signal 1; state S pulse start; state S wait; decision pushed; return 1 to S wait; or return to S id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0814" y="1371600"/>
            <a:ext cx="1220786" cy="4711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984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1015</TotalTime>
  <Words>106</Words>
  <Application>Microsoft Office PowerPoint</Application>
  <PresentationFormat>On-screen Show (4:3)</PresentationFormat>
  <Paragraphs>59</Paragraphs>
  <Slides>28</Slides>
  <Notes>27</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508 Lecture</vt:lpstr>
      <vt:lpstr>Digital Design</vt:lpstr>
      <vt:lpstr>Figure 9.1 Digital gates in IC packages with identification numbers and pin assignments.</vt:lpstr>
      <vt:lpstr>Figure 9.2 IC type 7493 ripple counter.</vt:lpstr>
      <vt:lpstr>Table 9.1 Integrated Circuits Required for the Experiments.</vt:lpstr>
      <vt:lpstr>Figure 9.3 Binary counter.</vt:lpstr>
      <vt:lpstr>Figure 9.4 BCD counter.</vt:lpstr>
      <vt:lpstr>Figure 9.5 Waveforms for NAND gate.</vt:lpstr>
      <vt:lpstr>Figure 9.6 Logic diagram for Experiment 3.</vt:lpstr>
      <vt:lpstr>Figure 9.7 IC type 74155 connected as a 3 × 8 decoder.</vt:lpstr>
      <vt:lpstr>Figure 9.8 BCD-to-seven-segment decoder (7447) and seven-segment display (7730).</vt:lpstr>
      <vt:lpstr>Figure 9.9 IC type 74151 8 × 1 multiplexer.</vt:lpstr>
      <vt:lpstr>Figure 9.10 IC type 7483 four-bit binary adder.</vt:lpstr>
      <vt:lpstr>Figure 9.11 Four-bit adder–subtractor.</vt:lpstr>
      <vt:lpstr>Figure 9.12 IC type 7476 dual JK master–slave flip-flops.</vt:lpstr>
      <vt:lpstr>Figure 9.13 IC type 7474 dual D positive-edge-triggered flip-flops.</vt:lpstr>
      <vt:lpstr>Figure 9.14 State diagram for Experiment 9.</vt:lpstr>
      <vt:lpstr>Figure 9.15 IC type 74161 binary counter with parallel load.</vt:lpstr>
      <vt:lpstr>Figure 9.16 IC type 74195 shift register with parallel load.</vt:lpstr>
      <vt:lpstr>Figure 9.17 IC type 74157 quadruple 2 × 1 multiplexers.</vt:lpstr>
      <vt:lpstr>Figure 9.18 IC type 74189 16 × 4 RAM.</vt:lpstr>
      <vt:lpstr>Figure 9.19 IC type 74194 bidirectional shift register with parallel load.</vt:lpstr>
      <vt:lpstr>Figure 9.20 Lamp handball logic diagram.</vt:lpstr>
      <vt:lpstr>Figure 9.21 IC type 72555 timer connected as a clock-pulse generator.</vt:lpstr>
      <vt:lpstr>Figure 9.22 Output waveform for clock generator.</vt:lpstr>
      <vt:lpstr>Figure 9.23 Block diagram of a parallel adder for Experiment 16.</vt:lpstr>
      <vt:lpstr>Figure 9.24 ASMD chart, block diagram of the datapath, control state diagram, and register operations of the binary multiplier circuit.</vt:lpstr>
      <vt:lpstr>Figure 9.24 ASMD chart, block diagram of the datapath, control state diagram, and register operations of the binary multiplier circuit.</vt:lpstr>
      <vt:lpstr>Figure 9.25 Pulser circuit for FPGA implementation of Experiment 1.</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396</cp:revision>
  <dcterms:created xsi:type="dcterms:W3CDTF">2014-07-14T20:04:21Z</dcterms:created>
  <dcterms:modified xsi:type="dcterms:W3CDTF">2018-06-21T09:16:37Z</dcterms:modified>
</cp:coreProperties>
</file>