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3" r:id="rId2"/>
    <p:sldId id="257" r:id="rId3"/>
    <p:sldId id="258" r:id="rId4"/>
    <p:sldId id="259" r:id="rId5"/>
    <p:sldId id="272"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6858000" type="screen4x3"/>
  <p:notesSz cx="6858000" cy="9144000"/>
  <p:photoAlbum layout="1pic"/>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4664" autoAdjust="0"/>
  </p:normalViewPr>
  <p:slideViewPr>
    <p:cSldViewPr>
      <p:cViewPr varScale="1">
        <p:scale>
          <a:sx n="75" d="100"/>
          <a:sy n="75" d="100"/>
        </p:scale>
        <p:origin x="-1428" y="-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FDE18E-0421-4E45-B30F-5D9748B3CBA9}" type="datetimeFigureOut">
              <a:rPr lang="en-IN" smtClean="0"/>
              <a:t>6/21/2018</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3D6304-CB62-40A7-A12E-1EB2DEC1BC51}" type="slidenum">
              <a:rPr lang="en-IN" smtClean="0"/>
              <a:t>‹#›</a:t>
            </a:fld>
            <a:endParaRPr lang="en-IN"/>
          </a:p>
        </p:txBody>
      </p:sp>
    </p:spTree>
    <p:extLst>
      <p:ext uri="{BB962C8B-B14F-4D97-AF65-F5344CB8AC3E}">
        <p14:creationId xmlns:p14="http://schemas.microsoft.com/office/powerpoint/2010/main" val="1368489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2" name="Title 7"/>
          <p:cNvSpPr>
            <a:spLocks noGrp="1"/>
          </p:cNvSpPr>
          <p:nvPr>
            <p:ph type="title" hasCustomPrompt="1"/>
          </p:nvPr>
        </p:nvSpPr>
        <p:spPr>
          <a:xfrm>
            <a:off x="457200" y="228600"/>
            <a:ext cx="8229600" cy="1066800"/>
          </a:xfrm>
          <a:prstGeom prst="rect">
            <a:avLst/>
          </a:prstGeom>
        </p:spPr>
        <p:txBody>
          <a:bodyPr anchor="t"/>
          <a:lstStyle>
            <a:lvl1pPr algn="l">
              <a:defRPr sz="2000">
                <a:solidFill>
                  <a:srgbClr val="007FA3"/>
                </a:solidFill>
                <a:latin typeface="Arial" pitchFamily="34" charset="0"/>
                <a:cs typeface="Arial" pitchFamily="34" charset="0"/>
              </a:defRPr>
            </a:lvl1pPr>
          </a:lstStyle>
          <a:p>
            <a:r>
              <a:rPr lang="en-US" dirty="0" smtClean="0"/>
              <a:t>Click to add figure number and title</a:t>
            </a:r>
            <a:endParaRPr lang="en-US" dirty="0"/>
          </a:p>
        </p:txBody>
      </p:sp>
      <p:sp>
        <p:nvSpPr>
          <p:cNvPr id="13" name="Text Placeholder 9"/>
          <p:cNvSpPr>
            <a:spLocks noGrp="1"/>
          </p:cNvSpPr>
          <p:nvPr>
            <p:ph type="body" sz="quarter" idx="13" hasCustomPrompt="1"/>
          </p:nvPr>
        </p:nvSpPr>
        <p:spPr>
          <a:xfrm>
            <a:off x="457200" y="5368160"/>
            <a:ext cx="8229600" cy="916856"/>
          </a:xfrm>
          <a:prstGeom prst="rect">
            <a:avLst/>
          </a:prstGeo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4"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15" name="Date Placeholder 1"/>
          <p:cNvSpPr>
            <a:spLocks noGrp="1"/>
          </p:cNvSpPr>
          <p:nvPr>
            <p:ph type="dt" sz="half" idx="10"/>
          </p:nvPr>
        </p:nvSpPr>
        <p:spPr>
          <a:xfrm>
            <a:off x="6335713" y="113072"/>
            <a:ext cx="2133600" cy="182880"/>
          </a:xfrm>
          <a:prstGeom prst="rect">
            <a:avLst/>
          </a:prstGeom>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16" name="Slide Number Placeholder 3"/>
          <p:cNvSpPr>
            <a:spLocks noGrp="1"/>
          </p:cNvSpPr>
          <p:nvPr>
            <p:ph type="sldNum" sz="quarter" idx="12"/>
          </p:nvPr>
        </p:nvSpPr>
        <p:spPr>
          <a:xfrm>
            <a:off x="8469312" y="113072"/>
            <a:ext cx="551783" cy="182880"/>
          </a:xfrm>
          <a:prstGeom prst="rect">
            <a:avLst/>
          </a:prstGeom>
        </p:spPr>
        <p:txBody>
          <a:bodyPr/>
          <a:lstStyle>
            <a:lvl1pPr>
              <a:defRPr>
                <a:solidFill>
                  <a:schemeClr val="tx1"/>
                </a:solidFill>
              </a:defRPr>
            </a:lvl1pPr>
          </a:lstStyle>
          <a:p>
            <a:fld id="{200B2350-5261-4F5C-9DF5-EF0D264FC8D2}" type="slidenum">
              <a:rPr lang="en-US" smtClean="0"/>
              <a:pPr/>
              <a:t>‹#›</a:t>
            </a:fld>
            <a:endParaRPr lang="en-US" dirty="0"/>
          </a:p>
        </p:txBody>
      </p:sp>
      <p:pic>
        <p:nvPicPr>
          <p:cNvPr id="17" name="Picture 1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8" name="TextBox 1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615824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a:prstGeom prst="rect">
            <a:avLst/>
          </a:prstGeo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a:prstGeom prst="rect">
            <a:avLst/>
          </a:prstGeo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a:prstGeom prst="rect">
            <a:avLst/>
          </a:prstGeo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a:prstGeom prst="rect">
            <a:avLst/>
          </a:prstGeo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a:xfrm>
            <a:off x="6335713" y="113072"/>
            <a:ext cx="2133600" cy="182880"/>
          </a:xfrm>
          <a:prstGeom prst="rect">
            <a:avLst/>
          </a:prstGeom>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a:xfrm>
            <a:off x="8469312" y="113072"/>
            <a:ext cx="551783" cy="182880"/>
          </a:xfrm>
          <a:prstGeom prst="rect">
            <a:avLst/>
          </a:prstGeom>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430446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856578"/>
      </p:ext>
    </p:extLst>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pPr algn="l"/>
            <a:r>
              <a:rPr lang="en-US" sz="3400" b="1" dirty="0">
                <a:solidFill>
                  <a:srgbClr val="007FA3"/>
                </a:solidFill>
                <a:latin typeface="Arial (Headings)"/>
              </a:rPr>
              <a:t>Digital Design</a:t>
            </a:r>
          </a:p>
        </p:txBody>
      </p:sp>
      <p:sp>
        <p:nvSpPr>
          <p:cNvPr id="3" name="Text Placeholder 2"/>
          <p:cNvSpPr>
            <a:spLocks noGrp="1"/>
          </p:cNvSpPr>
          <p:nvPr>
            <p:ph type="body" sz="quarter" idx="13"/>
          </p:nvPr>
        </p:nvSpPr>
        <p:spPr>
          <a:xfrm>
            <a:off x="457200" y="771294"/>
            <a:ext cx="8229600" cy="478970"/>
          </a:xfrm>
        </p:spPr>
        <p:txBody>
          <a:bodyPr/>
          <a:lstStyle/>
          <a:p>
            <a:r>
              <a:rPr lang="en-US" sz="2400" dirty="0">
                <a:latin typeface="Arial (body)"/>
              </a:rPr>
              <a:t>With an Introduction to the Verilog HDL</a:t>
            </a:r>
            <a:r>
              <a:rPr lang="en-US" sz="2400" dirty="0" smtClean="0">
                <a:latin typeface="Arial (body)"/>
              </a:rPr>
              <a:t>, VHDL</a:t>
            </a:r>
            <a:r>
              <a:rPr lang="en-US" sz="2400" dirty="0">
                <a:latin typeface="Arial (body)"/>
              </a:rPr>
              <a:t>, and </a:t>
            </a:r>
            <a:r>
              <a:rPr lang="en-US" sz="2400" dirty="0" smtClean="0">
                <a:latin typeface="Arial (body)"/>
              </a:rPr>
              <a:t>SystemVerilog</a:t>
            </a:r>
          </a:p>
          <a:p>
            <a:r>
              <a:rPr lang="en-US" sz="2400" dirty="0" smtClean="0">
                <a:latin typeface="Arial (body)"/>
              </a:rPr>
              <a:t>6</a:t>
            </a:r>
            <a:r>
              <a:rPr lang="en-US" sz="2400" baseline="30000" dirty="0" smtClean="0">
                <a:latin typeface="Arial (body)"/>
              </a:rPr>
              <a:t>th</a:t>
            </a:r>
            <a:r>
              <a:rPr lang="en-US" sz="2400" dirty="0" smtClean="0">
                <a:latin typeface="+mj-lt"/>
              </a:rPr>
              <a:t> </a:t>
            </a:r>
            <a:r>
              <a:rPr lang="en-US" sz="1800" dirty="0" smtClean="0">
                <a:latin typeface="Arial (body)"/>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dirty="0" smtClean="0">
                <a:latin typeface="Arial (body)"/>
              </a:rPr>
              <a:t>Chapter 10</a:t>
            </a:r>
            <a:endParaRPr lang="en-US" sz="3000" dirty="0">
              <a:latin typeface="Arial (body)"/>
            </a:endParaRPr>
          </a:p>
        </p:txBody>
      </p:sp>
      <p:sp>
        <p:nvSpPr>
          <p:cNvPr id="5" name="Text Placeholder 4"/>
          <p:cNvSpPr>
            <a:spLocks noGrp="1"/>
          </p:cNvSpPr>
          <p:nvPr>
            <p:ph type="body" sz="quarter" idx="15"/>
          </p:nvPr>
        </p:nvSpPr>
        <p:spPr>
          <a:xfrm>
            <a:off x="4343400" y="3581399"/>
            <a:ext cx="4876800" cy="457201"/>
          </a:xfrm>
        </p:spPr>
        <p:txBody>
          <a:bodyPr/>
          <a:lstStyle/>
          <a:p>
            <a:pPr algn="ctr"/>
            <a:r>
              <a:rPr lang="en-US" dirty="0">
                <a:latin typeface="Arial (body)"/>
              </a:rPr>
              <a:t>Standard Graphic Symbols</a:t>
            </a:r>
            <a:endParaRPr lang="en-US" sz="2200" dirty="0">
              <a:latin typeface="Arial (body)"/>
            </a:endParaRPr>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7043236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ach symbol is a vertical rectangle. Each rectangle has an interior label centered at its top end, with input and output lines connected to the left and right sides of the rectangle, respectively. The following list provides the label and input output lines for the symbol, according to operation. And: label ampersand, 2 inputs and 1 output. Or: label greater than or equal to 1, 2 inputs and 1 output. Buffer: label 1, 1 input. X or: label equals 1, 2 inputs, 1 output. N and: label ampersand, 2 inputs and 1 output from a bubble. N or: label greater than or equal to 1, 2 inputs and 1 output from bubble. Inverter: label 1, 1 input and 1 output from bubble. X n or: label equals 1, 2 inputs and 1 output from bubble."/>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85800" y="1643063"/>
            <a:ext cx="7772400" cy="3570287"/>
          </a:xfrm>
          <a:prstGeom prst="rect">
            <a:avLst/>
          </a:prstGeom>
          <a:noFill/>
          <a:ln>
            <a:noFill/>
          </a:ln>
        </p:spPr>
      </p:pic>
      <p:sp>
        <p:nvSpPr>
          <p:cNvPr id="5" name="Title 4"/>
          <p:cNvSpPr>
            <a:spLocks noGrp="1"/>
          </p:cNvSpPr>
          <p:nvPr>
            <p:ph type="title"/>
          </p:nvPr>
        </p:nvSpPr>
        <p:spPr/>
        <p:txBody>
          <a:bodyPr/>
          <a:lstStyle/>
          <a:p>
            <a:r>
              <a:rPr lang="en-IN" b="1" dirty="0" smtClean="0">
                <a:latin typeface="Arial (body)"/>
              </a:rPr>
              <a:t>FIGURE 10.1</a:t>
            </a:r>
          </a:p>
          <a:p>
            <a:r>
              <a:rPr lang="en-IN" b="1" dirty="0" smtClean="0">
                <a:latin typeface="Arial (body)"/>
              </a:rPr>
              <a:t>Rectangular-shape graphic symbols for gates.</a:t>
            </a:r>
          </a:p>
        </p:txBody>
      </p:sp>
    </p:spTree>
    <p:extLst>
      <p:ext uri="{BB962C8B-B14F-4D97-AF65-F5344CB8AC3E}">
        <p14:creationId xmlns:p14="http://schemas.microsoft.com/office/powerpoint/2010/main" val="10312683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rectangular symbol is labeled sigma, with 9 inputs and 5 outputs. The top 4 inputs are P 0 to P 3. The bottom 4 inputs are Q 0 to Q 3. Terminals P 0 to P 3 receive the following inputs listed with pin location: Ay 1, 10; Ay 2, 8; Ay 3, 3; Ay 4, 1. Terminals Q 0 to Q 3 receive the following inputs listed by pin location: B 1, 11; B 2, 7; B 3, 4; B 4, 16. C I receives C I at 13. The 4 output terminals are labeled sigma 0 to 3 from top to bottom, and they produce the following outputs, listed by pin location: S 1, 9; S 2, 6; S 3, 2; S 4, 15. C O outputs to C O at 1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763689" y="1484784"/>
            <a:ext cx="5616624" cy="4258678"/>
          </a:xfrm>
          <a:prstGeom prst="rect">
            <a:avLst/>
          </a:prstGeom>
          <a:noFill/>
          <a:ln>
            <a:noFill/>
          </a:ln>
        </p:spPr>
      </p:pic>
      <p:sp>
        <p:nvSpPr>
          <p:cNvPr id="3" name="Title 2"/>
          <p:cNvSpPr>
            <a:spLocks noGrp="1"/>
          </p:cNvSpPr>
          <p:nvPr>
            <p:ph type="title"/>
          </p:nvPr>
        </p:nvSpPr>
        <p:spPr/>
        <p:txBody>
          <a:bodyPr/>
          <a:lstStyle/>
          <a:p>
            <a:r>
              <a:rPr lang="en-IN" b="1" dirty="0" smtClean="0">
                <a:latin typeface="Arial (body)"/>
              </a:rPr>
              <a:t>FIGURE 10.2</a:t>
            </a:r>
          </a:p>
          <a:p>
            <a:r>
              <a:rPr lang="en-IN" b="1" dirty="0" smtClean="0">
                <a:latin typeface="Arial (body)"/>
              </a:rPr>
              <a:t>Standard graphic symbol for a four-bit parallel adder, IC type 7483.</a:t>
            </a:r>
            <a:endParaRPr lang="en-IN" b="1" dirty="0">
              <a:latin typeface="Arial (body)"/>
            </a:endParaRPr>
          </a:p>
        </p:txBody>
      </p:sp>
    </p:spTree>
    <p:extLst>
      <p:ext uri="{BB962C8B-B14F-4D97-AF65-F5344CB8AC3E}">
        <p14:creationId xmlns:p14="http://schemas.microsoft.com/office/powerpoint/2010/main" val="9077350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rectangular symbol is labeled X slash Y, with 4 inputs and 4 outputs. The top two inputs 1 and 2 receive Ay at 13 and B at 3. The bottom two inputs are on an and  gate represented by a smaller rectangle labeled ampersand, collectively forming E N. The first of the inputs E 1 enters the and gate at 2, with a triangle on the input line. The second of the inputs E 2 enters the and gate at 1. The outputs are labeled 0 to 3 from top to bottom, with a triangle on each output line. Output terminals 0 to 3 correspond to the following outputs listed by pin location: D 0, 7; D 1, 6; D 2, 5; D 3, 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547664" y="2325407"/>
            <a:ext cx="6048672" cy="2695712"/>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10.3</a:t>
            </a:r>
          </a:p>
          <a:p>
            <a:r>
              <a:rPr lang="en-IN" b="1" dirty="0">
                <a:latin typeface="Arial (body)"/>
              </a:rPr>
              <a:t>Standard graphic symbol for a 2-to-4-line decoder (one-half of IC type 74155</a:t>
            </a:r>
            <a:r>
              <a:rPr lang="en-IN" b="1" dirty="0" smtClean="0">
                <a:latin typeface="Arial (body)"/>
              </a:rPr>
              <a:t>).</a:t>
            </a:r>
            <a:endParaRPr lang="en-IN" b="1" dirty="0">
              <a:latin typeface="Arial (body)"/>
            </a:endParaRPr>
          </a:p>
        </p:txBody>
      </p:sp>
    </p:spTree>
    <p:extLst>
      <p:ext uri="{BB962C8B-B14F-4D97-AF65-F5344CB8AC3E}">
        <p14:creationId xmlns:p14="http://schemas.microsoft.com/office/powerpoint/2010/main" val="20605109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iletti_6e_table_10_0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411760" y="1340768"/>
            <a:ext cx="4320480" cy="4557870"/>
          </a:xfrm>
          <a:prstGeom prst="rect">
            <a:avLst/>
          </a:prstGeom>
          <a:noFill/>
          <a:ln>
            <a:noFill/>
          </a:ln>
        </p:spPr>
      </p:pic>
      <p:sp>
        <p:nvSpPr>
          <p:cNvPr id="4" name="Title 3"/>
          <p:cNvSpPr>
            <a:spLocks noGrp="1"/>
          </p:cNvSpPr>
          <p:nvPr>
            <p:ph type="title"/>
          </p:nvPr>
        </p:nvSpPr>
        <p:spPr/>
        <p:txBody>
          <a:bodyPr/>
          <a:lstStyle/>
          <a:p>
            <a:r>
              <a:rPr lang="en-IN" b="1" dirty="0">
                <a:latin typeface="Arial (body)"/>
              </a:rPr>
              <a:t>Table 10.1</a:t>
            </a:r>
          </a:p>
          <a:p>
            <a:r>
              <a:rPr lang="en-IN" b="1" dirty="0">
                <a:latin typeface="Arial (body)"/>
              </a:rPr>
              <a:t>General Qualifying Symbols.</a:t>
            </a:r>
          </a:p>
        </p:txBody>
      </p:sp>
    </p:spTree>
    <p:extLst>
      <p:ext uri="{BB962C8B-B14F-4D97-AF65-F5344CB8AC3E}">
        <p14:creationId xmlns:p14="http://schemas.microsoft.com/office/powerpoint/2010/main" val="37509191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or each diagram element, the table provides the symbol and description. Each symbol is a half rectangle opening away from a perpendicular connecting line. For each symbol, the following list provides the added identifier and description. Identifier: right triangle on connecting line. Description: active low input or output. Identifier: bubble at junction of connecting line and half rectangle. Description: logic negative input or output. Identifier: triangle inside the half rectangle, pointing away from the junction. Description: dynamic indicator input. Identifier: inverted triangle inside half rectangle. Description: three-state output. Identifier: diamond on a horizontal bar inside the half rectangle. Description: open-collector output. Indicator: triangle inside half rectangle, pointing toward junction. Description: output with special amplification. Indicator: E N inside half rectangle. Description: enable point. Indicator: D inside half rectangle. Description: data input to a storage element. Indicator: J, K, R, S, or T inside half rectangle. Description: flip flop elements. Indicator: arrow inside half rectangle, pointing away from junction. Description: shift right. Indicator: arrow inside half rectangle, pointing toward junction. Description: shift left. Indicator: plus sign inside half rectangle. Description: count up. Indicator: minus sign inside half rectangle. Description: countdown. Indicator: C T = 15 inside half rectangle. Description: contents of register equals binary 15."/>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123390" y="1196752"/>
            <a:ext cx="2880320" cy="4776576"/>
          </a:xfrm>
          <a:prstGeom prst="rect">
            <a:avLst/>
          </a:prstGeom>
          <a:noFill/>
          <a:ln>
            <a:noFill/>
          </a:ln>
        </p:spPr>
      </p:pic>
      <p:sp>
        <p:nvSpPr>
          <p:cNvPr id="4" name="Title 3"/>
          <p:cNvSpPr>
            <a:spLocks noGrp="1"/>
          </p:cNvSpPr>
          <p:nvPr>
            <p:ph type="title"/>
          </p:nvPr>
        </p:nvSpPr>
        <p:spPr/>
        <p:txBody>
          <a:bodyPr/>
          <a:lstStyle/>
          <a:p>
            <a:r>
              <a:rPr lang="en-IN" b="1" dirty="0">
                <a:latin typeface="Arial (body)"/>
              </a:rPr>
              <a:t>FIGURE 10.4</a:t>
            </a:r>
          </a:p>
          <a:p>
            <a:r>
              <a:rPr lang="en-IN" b="1" dirty="0">
                <a:latin typeface="Arial (body)"/>
              </a:rPr>
              <a:t>Qualifying symbols associated with inputs and outputs.</a:t>
            </a:r>
          </a:p>
        </p:txBody>
      </p:sp>
    </p:spTree>
    <p:extLst>
      <p:ext uri="{BB962C8B-B14F-4D97-AF65-F5344CB8AC3E}">
        <p14:creationId xmlns:p14="http://schemas.microsoft.com/office/powerpoint/2010/main" val="29613811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rt ay: block with G 1 and G 2. The block has 5 input terminals on the left side. The following list provides the name of each terminal, followed by its input, from top to bottom: G 1, X; G 2, Y; 1, Ay; 1, B; 2, C. part b: equivalent interpretation. the block contains three and gates, represented by rectangles with ampersand labels. From top to bottom, the and gates receive the following paired inputs: X and Ay, X and B, Y and C."/>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492163" y="1484784"/>
            <a:ext cx="6192688" cy="4423714"/>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10.5</a:t>
            </a:r>
          </a:p>
          <a:p>
            <a:r>
              <a:rPr lang="en-IN" b="1" dirty="0">
                <a:latin typeface="Arial (body)"/>
              </a:rPr>
              <a:t>Example of G (AND) dependency.</a:t>
            </a:r>
          </a:p>
        </p:txBody>
      </p:sp>
    </p:spTree>
    <p:extLst>
      <p:ext uri="{BB962C8B-B14F-4D97-AF65-F5344CB8AC3E}">
        <p14:creationId xmlns:p14="http://schemas.microsoft.com/office/powerpoint/2010/main" val="2203050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rectangle is labeled X slash Y, with 6 inputs and 8 outputs. For each input terminal, the following list provides the input and pin location: 1, Ay at 13; 2, B at 3; 4, C at 1 and 15; E N, G at 2 and 14 active low. For outputs 0 to 7, the following list provides the output and pin location D 0, 9; D 1, 10; D 2, 11; D 3, 12; D 4, 7; D 5, 6; D 6, 5; D 7, 4."/>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762101" y="1412776"/>
            <a:ext cx="5618212" cy="4348610"/>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10.6</a:t>
            </a:r>
          </a:p>
          <a:p>
            <a:r>
              <a:rPr lang="en-IN" b="1" dirty="0">
                <a:latin typeface="Arial (body)"/>
              </a:rPr>
              <a:t>IC type 74155 connected as a 3 </a:t>
            </a:r>
            <a:r>
              <a:rPr lang="en-IN" b="1" dirty="0" smtClean="0">
                <a:latin typeface="Arial (body)"/>
              </a:rPr>
              <a:t>× </a:t>
            </a:r>
            <a:r>
              <a:rPr lang="en-IN" b="1" dirty="0">
                <a:latin typeface="Arial (body)"/>
              </a:rPr>
              <a:t>8 decoder.</a:t>
            </a:r>
          </a:p>
        </p:txBody>
      </p:sp>
    </p:spTree>
    <p:extLst>
      <p:ext uri="{BB962C8B-B14F-4D97-AF65-F5344CB8AC3E}">
        <p14:creationId xmlns:p14="http://schemas.microsoft.com/office/powerpoint/2010/main" val="16835339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rt ay: I C type 7 4 1 5 1 8 by 1 M U X. For each input terminal, the following list provides the input and pin location: E N, S, 7; G 0 over 7 0, Ay, 11; G 0 over 7 1, B, 10; G 0 over 7 2, C, 9; 0, D 0 , 4; 1, D 1, 3; 2, D 2, 2; 3, D 3, 1; 4, D 4, 15; 5, D 5, 14; 6, D 6, 13; 7, D 7, 12. The M U X outputs Y at 5, and W in active low state at 6. part b: I C type 7 4 1 5 7 quadruple 2 by 1 M U X. The system is divided into two parts. The E N terminal of the top part receives strobe at 15, and the G 1 terminal of the top part receives select at 1. The bottom part is the M U X, which is divided into four segments from top to bottom. The following list provides the inputs and output for each segment from top to bottom. First segment: inputs Ay 1 at 2 and B 1 at 3, output Y 1 at 4. Second segment: inputs Ay 2 at 5 and B 2 at 6, output Y 2 at 7. Third segment: inputs Ay 3 at 11 and B 3 at 10, output Y 3 at 9. Fourth segment: inputs Ay 4 at 14 and B 4 at 13, output Y 4 at 1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403648" y="1484784"/>
            <a:ext cx="6336704" cy="4181760"/>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10.7</a:t>
            </a:r>
          </a:p>
          <a:p>
            <a:r>
              <a:rPr lang="en-IN" b="1" dirty="0">
                <a:latin typeface="Arial (body)"/>
              </a:rPr>
              <a:t>Graphic symbols for multiplexers.</a:t>
            </a:r>
          </a:p>
        </p:txBody>
      </p:sp>
    </p:spTree>
    <p:extLst>
      <p:ext uri="{BB962C8B-B14F-4D97-AF65-F5344CB8AC3E}">
        <p14:creationId xmlns:p14="http://schemas.microsoft.com/office/powerpoint/2010/main" val="3989032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symbols use the standard rectangular format. Each symbol has two outputs with a bubble on the bottom input. D latch: inputs 1 D and C 1. Positive-edge-triggered D flip flop: inputs 1 D and C 1 with a triangle at the terminal. Positive-edge-triggered J K flip flop: inputs 1 J, C 1 with a triangle, and 1 K. Negative-edge-triggered J K flip flop: inputs 1 J, C 1 with triangle and bubble, 1 K. master slave J K flip flop: inputs 1 J, C 1, and I K; outputs with an inverted L at each terminal. Master slave D flip flop: inputs 1 D and C 1; outputs with an inverted L at each terminal."/>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770213" y="1268760"/>
            <a:ext cx="3601988" cy="4605426"/>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10.8</a:t>
            </a:r>
          </a:p>
          <a:p>
            <a:r>
              <a:rPr lang="en-IN" b="1" dirty="0">
                <a:latin typeface="Arial (body)"/>
              </a:rPr>
              <a:t>Standard graphic symbols for flip-flops.</a:t>
            </a:r>
          </a:p>
        </p:txBody>
      </p:sp>
    </p:spTree>
    <p:extLst>
      <p:ext uri="{BB962C8B-B14F-4D97-AF65-F5344CB8AC3E}">
        <p14:creationId xmlns:p14="http://schemas.microsoft.com/office/powerpoint/2010/main" val="1155765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rt ay: One-half 7 4 7 6 J K flip flop. Inputs with pin locations: S with bubble, 2; 1 J, 4; C 1, 1; 1 K, 16; R with bubble, 3. Outputs with inverted L symbols at 15 and 14. part b: one-half 7 4 7 4 D flip flop. Inputs: S with bubble, 4; C1 with triangle, 3; 1 D, 2; R with bubble, 1; Outputs at 5 and 6."/>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899592" y="2077307"/>
            <a:ext cx="7344816" cy="2701800"/>
          </a:xfrm>
          <a:prstGeom prst="rect">
            <a:avLst/>
          </a:prstGeom>
          <a:noFill/>
          <a:ln>
            <a:noFill/>
          </a:ln>
        </p:spPr>
      </p:pic>
      <p:sp>
        <p:nvSpPr>
          <p:cNvPr id="4" name="Title 3"/>
          <p:cNvSpPr>
            <a:spLocks noGrp="1"/>
          </p:cNvSpPr>
          <p:nvPr>
            <p:ph type="title"/>
          </p:nvPr>
        </p:nvSpPr>
        <p:spPr/>
        <p:txBody>
          <a:bodyPr/>
          <a:lstStyle/>
          <a:p>
            <a:r>
              <a:rPr lang="en-IN" b="1" dirty="0">
                <a:latin typeface="Arial (body)"/>
              </a:rPr>
              <a:t>FIGURE 10.9</a:t>
            </a:r>
          </a:p>
          <a:p>
            <a:r>
              <a:rPr lang="en-IN" b="1" dirty="0">
                <a:latin typeface="Arial (body)"/>
              </a:rPr>
              <a:t>IC flip-flops with direct set and reset.</a:t>
            </a:r>
          </a:p>
        </p:txBody>
      </p:sp>
    </p:spTree>
    <p:extLst>
      <p:ext uri="{BB962C8B-B14F-4D97-AF65-F5344CB8AC3E}">
        <p14:creationId xmlns:p14="http://schemas.microsoft.com/office/powerpoint/2010/main" val="1280074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p part. R receives the clear signal at 1, active low. C 1 receives the clock signal at 9. Bottom part. First segment: input 1 D, 4; outputs Q, 2; Q prime, 3 active low. Second segment: input at 5; outputs at 7 and 6, with output at 6 active low. Third segment: input at 12; outputs at 10 and 11, with output at 11 active low. Fourth segment: input at 13; outputs at 15 and 14, with output at 14 active low."/>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843808" y="1484784"/>
            <a:ext cx="3456384" cy="4517876"/>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10.10</a:t>
            </a:r>
          </a:p>
          <a:p>
            <a:r>
              <a:rPr lang="en-IN" b="1" dirty="0">
                <a:latin typeface="Arial (body)"/>
              </a:rPr>
              <a:t>Graphic symbol for IC type 74175 quad flip-flop.</a:t>
            </a:r>
          </a:p>
        </p:txBody>
      </p:sp>
    </p:spTree>
    <p:extLst>
      <p:ext uri="{BB962C8B-B14F-4D97-AF65-F5344CB8AC3E}">
        <p14:creationId xmlns:p14="http://schemas.microsoft.com/office/powerpoint/2010/main" val="347218988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p part, S R G 4. Inputs, listed as terminal, signal, pin: R, clear, 1 active low; M 1 shift, S H slash L D, 9; M 2 load, S H slash L D, 9 active low; C 3 slash 1 with triangle and right arrow, clock, 10. Bottom part. First segment. Inputs: 1 3 J, J, 2; 1 3 K, K, 3 active low; 2 3 D, Ay, 4. Output: Q Ay, 15. Second segment: input 2 3 D, B, 5; output Q B, 14. Third segment: input C, 6; output, Q C, 13. Fourth segment: input D, 7; outputs Q D, 12; Q D bar, 11 active low. "/>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555777" y="1340768"/>
            <a:ext cx="4032448" cy="4587274"/>
          </a:xfrm>
          <a:prstGeom prst="rect">
            <a:avLst/>
          </a:prstGeom>
          <a:noFill/>
          <a:ln>
            <a:noFill/>
          </a:ln>
        </p:spPr>
      </p:pic>
      <p:sp>
        <p:nvSpPr>
          <p:cNvPr id="3" name="Title 2"/>
          <p:cNvSpPr>
            <a:spLocks noGrp="1"/>
          </p:cNvSpPr>
          <p:nvPr>
            <p:ph type="title"/>
          </p:nvPr>
        </p:nvSpPr>
        <p:spPr>
          <a:xfrm>
            <a:off x="457200" y="228600"/>
            <a:ext cx="8435280" cy="1066800"/>
          </a:xfrm>
        </p:spPr>
        <p:txBody>
          <a:bodyPr/>
          <a:lstStyle/>
          <a:p>
            <a:r>
              <a:rPr lang="en-IN" b="1" dirty="0">
                <a:latin typeface="Arial (body)"/>
              </a:rPr>
              <a:t>FIGURE 10.11</a:t>
            </a:r>
          </a:p>
          <a:p>
            <a:r>
              <a:rPr lang="en-IN" b="1" dirty="0">
                <a:latin typeface="Arial (body)"/>
              </a:rPr>
              <a:t>Graphic symbol for a shift register with parallel load, IC type 74195.</a:t>
            </a:r>
          </a:p>
        </p:txBody>
      </p:sp>
    </p:spTree>
    <p:extLst>
      <p:ext uri="{BB962C8B-B14F-4D97-AF65-F5344CB8AC3E}">
        <p14:creationId xmlns:p14="http://schemas.microsoft.com/office/powerpoint/2010/main" val="22765293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p part, S R G 4. Inputs, listed by terminal, signal, and pin: R, clear, 1 active low; M 0 over 3 0, S sub 0, 9; M 0 over 3 1, S sub 1, 10; C 4 slash 1 with triangle and left and right arrows to slash 2, clock, 11. Bottom part. First segment: inputs 1 4 D, serial input, 2; 3 4D, Ay, 3; output Q Ay, 15. Second segment: input 3 4 D, B, 4; output Q B, 14. Third segment: 3 4 D, C, 5; output Q C, 13. Fourth segment: inputs 3 4 D, D, 6; serial input, 2 4 D, serial input, 7; output Q D, 12."/>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338165" y="1484784"/>
            <a:ext cx="4466084" cy="4421306"/>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10.12</a:t>
            </a:r>
          </a:p>
          <a:p>
            <a:r>
              <a:rPr lang="en-IN" b="1" dirty="0">
                <a:latin typeface="Arial (body)"/>
              </a:rPr>
              <a:t>Graphic symbol for a bidirectional shift register with parallel load, IC type 74194.</a:t>
            </a:r>
          </a:p>
        </p:txBody>
      </p:sp>
    </p:spTree>
    <p:extLst>
      <p:ext uri="{BB962C8B-B14F-4D97-AF65-F5344CB8AC3E}">
        <p14:creationId xmlns:p14="http://schemas.microsoft.com/office/powerpoint/2010/main" val="40979066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p part, R C T R. Inputs R 1 at 2 and R 2 at 3 for and gate with C T = 0. The bottom part has top and bottom segments. Top segment, D I V 2: input triangle plus, Ay, 14 active low; output Q Ay, 12. Bottom segment, D I V 8: input triangle plus, B, 1; outputs C T 0, Q B, 9; C T 1, Q C, 8; C T 2, Q D, 1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50133" y="1268760"/>
            <a:ext cx="5042148" cy="4739098"/>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10.13</a:t>
            </a:r>
          </a:p>
          <a:p>
            <a:r>
              <a:rPr lang="en-IN" b="1" dirty="0">
                <a:latin typeface="Arial (body)"/>
              </a:rPr>
              <a:t>Graphic symbol for ripple counter, IC type 7493.</a:t>
            </a:r>
          </a:p>
        </p:txBody>
      </p:sp>
    </p:spTree>
    <p:extLst>
      <p:ext uri="{BB962C8B-B14F-4D97-AF65-F5344CB8AC3E}">
        <p14:creationId xmlns:p14="http://schemas.microsoft.com/office/powerpoint/2010/main" val="8956085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p part, C T r, D I V 16. Inputs, listed by terminal, signal, and pin: C T = 0, clear, 1 active low; M 1, load, 9 active low; M 2, load, 9; g 3, E N T, 10; G 4, E N P, 7; C 5 slash 2 3 4 plus, clock, 2 active low. Output: 3 C T = 15, output carry, 15. The bottom part has four segments. First segment, 1: input 1 5 D, Ay, 3; output inverted L, QQ Ay, 14. Second segment, 2: input B, 4; output Q B, 13. Third segment, 4: input C, 5; output Q C, 12. Fourth segment, 8: input D, 6; output Q D, 1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835696" y="1340768"/>
            <a:ext cx="5472608" cy="4564028"/>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10.14</a:t>
            </a:r>
          </a:p>
          <a:p>
            <a:r>
              <a:rPr lang="en-IN" b="1" dirty="0">
                <a:latin typeface="Arial (body)"/>
              </a:rPr>
              <a:t>Graphic Symbol for 4-Bit Binary Counter with Parallel Load, IC Type 74161.</a:t>
            </a:r>
          </a:p>
        </p:txBody>
      </p:sp>
    </p:spTree>
    <p:extLst>
      <p:ext uri="{BB962C8B-B14F-4D97-AF65-F5344CB8AC3E}">
        <p14:creationId xmlns:p14="http://schemas.microsoft.com/office/powerpoint/2010/main" val="6848302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op part, RAM 16 by 4. Inputs, listed by terminal, signal, and pin: Ay 0 over 15 0, Ay 0, 1; Ay 0 over 15 1, Ay 1, 15; Ay 0 over 15 2, Ay 2, 14; Ay 0 over 15 3, Ay 3, 13; G 1, C S, 2 active low; 1 E N read, W E, 3; 1 C 2 write, W E, 3. The bottom part has four segments, with all segment outputs at active low. First segment: input Ay 2 D, D 1, 4; output S 1, 5. Second segment: input D 2, 6; output S 2, 7. Third segment: input D 3, 10; output S 3, 9. Fourth segment: input D 4, 12; output S 4, 11."/>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535511" y="1435621"/>
            <a:ext cx="4034036" cy="4447090"/>
          </a:xfrm>
          <a:prstGeom prst="rect">
            <a:avLst/>
          </a:prstGeom>
          <a:noFill/>
          <a:ln>
            <a:noFill/>
          </a:ln>
        </p:spPr>
      </p:pic>
      <p:sp>
        <p:nvSpPr>
          <p:cNvPr id="3" name="Title 2"/>
          <p:cNvSpPr>
            <a:spLocks noGrp="1"/>
          </p:cNvSpPr>
          <p:nvPr>
            <p:ph type="title"/>
          </p:nvPr>
        </p:nvSpPr>
        <p:spPr/>
        <p:txBody>
          <a:bodyPr/>
          <a:lstStyle/>
          <a:p>
            <a:r>
              <a:rPr lang="en-IN" b="1" dirty="0">
                <a:latin typeface="Arial (body)"/>
              </a:rPr>
              <a:t>FIGURE 10.15</a:t>
            </a:r>
          </a:p>
          <a:p>
            <a:r>
              <a:rPr lang="en-IN" b="1" dirty="0">
                <a:latin typeface="Arial (body)"/>
              </a:rPr>
              <a:t>Graphic symbol for 16 </a:t>
            </a:r>
            <a:r>
              <a:rPr lang="en-IN" b="1" dirty="0" smtClean="0">
                <a:latin typeface="Arial (body)"/>
              </a:rPr>
              <a:t>× </a:t>
            </a:r>
            <a:r>
              <a:rPr lang="en-IN" b="1" dirty="0">
                <a:latin typeface="Arial (body)"/>
              </a:rPr>
              <a:t>4 RAM, IC type 74189.</a:t>
            </a:r>
          </a:p>
        </p:txBody>
      </p:sp>
    </p:spTree>
    <p:extLst>
      <p:ext uri="{BB962C8B-B14F-4D97-AF65-F5344CB8AC3E}">
        <p14:creationId xmlns:p14="http://schemas.microsoft.com/office/powerpoint/2010/main" val="10731401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TotalTime>
  <Words>210</Words>
  <Application>Microsoft Office PowerPoint</Application>
  <PresentationFormat>On-screen Show (4:3)</PresentationFormat>
  <Paragraphs>37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Digital Design</vt:lpstr>
      <vt:lpstr>FIGURE 10.1 Rectangular-shape graphic symbols for gates.</vt:lpstr>
      <vt:lpstr>FIGURE 10.2 Standard graphic symbol for a four-bit parallel adder, IC type 7483.</vt:lpstr>
      <vt:lpstr>FIGURE 10.3 Standard graphic symbol for a 2-to-4-line decoder (one-half of IC type 74155).</vt:lpstr>
      <vt:lpstr>Table 10.1 General Qualifying Symbols.</vt:lpstr>
      <vt:lpstr>FIGURE 10.4 Qualifying symbols associated with inputs and outputs.</vt:lpstr>
      <vt:lpstr>FIGURE 10.5 Example of G (AND) dependency.</vt:lpstr>
      <vt:lpstr>FIGURE 10.6 IC type 74155 connected as a 3 × 8 decoder.</vt:lpstr>
      <vt:lpstr>FIGURE 10.7 Graphic symbols for multiplexers.</vt:lpstr>
      <vt:lpstr>FIGURE 10.8 Standard graphic symbols for flip-flops.</vt:lpstr>
      <vt:lpstr>FIGURE 10.9 IC flip-flops with direct set and reset.</vt:lpstr>
      <vt:lpstr>FIGURE 10.10 Graphic symbol for IC type 74175 quad flip-flop.</vt:lpstr>
      <vt:lpstr>FIGURE 10.11 Graphic symbol for a shift register with parallel load, IC type 74195.</vt:lpstr>
      <vt:lpstr>FIGURE 10.12 Graphic symbol for a bidirectional shift register with parallel load, IC type 74194.</vt:lpstr>
      <vt:lpstr>FIGURE 10.13 Graphic symbol for ripple counter, IC type 7493.</vt:lpstr>
      <vt:lpstr>FIGURE 10.14 Graphic Symbol for 4-Bit Binary Counter with Parallel Load, IC Type 74161.</vt:lpstr>
      <vt:lpstr>FIGURE 10.15 Graphic symbol for 16 × 4 RAM, IC type 74189.</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Design</dc:title>
  <dc:creator>Janakiraman.S</dc:creator>
  <cp:lastModifiedBy>admin</cp:lastModifiedBy>
  <cp:revision>9</cp:revision>
  <dcterms:created xsi:type="dcterms:W3CDTF">2017-03-24T09:36:13Z</dcterms:created>
  <dcterms:modified xsi:type="dcterms:W3CDTF">2018-06-21T09:17:23Z</dcterms:modified>
</cp:coreProperties>
</file>