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handoutMasterIdLst>
    <p:handoutMasterId r:id="rId59"/>
  </p:handoutMasterIdLst>
  <p:sldIdLst>
    <p:sldId id="318" r:id="rId2"/>
    <p:sldId id="355" r:id="rId3"/>
    <p:sldId id="421" r:id="rId4"/>
    <p:sldId id="422" r:id="rId5"/>
    <p:sldId id="423" r:id="rId6"/>
    <p:sldId id="424" r:id="rId7"/>
    <p:sldId id="425" r:id="rId8"/>
    <p:sldId id="426" r:id="rId9"/>
    <p:sldId id="427" r:id="rId10"/>
    <p:sldId id="428" r:id="rId11"/>
    <p:sldId id="429" r:id="rId12"/>
    <p:sldId id="430" r:id="rId13"/>
    <p:sldId id="431" r:id="rId14"/>
    <p:sldId id="432" r:id="rId15"/>
    <p:sldId id="383" r:id="rId16"/>
    <p:sldId id="433" r:id="rId17"/>
    <p:sldId id="434" r:id="rId18"/>
    <p:sldId id="435" r:id="rId19"/>
    <p:sldId id="436" r:id="rId20"/>
    <p:sldId id="437" r:id="rId21"/>
    <p:sldId id="438" r:id="rId22"/>
    <p:sldId id="439" r:id="rId23"/>
    <p:sldId id="440" r:id="rId24"/>
    <p:sldId id="441" r:id="rId25"/>
    <p:sldId id="442" r:id="rId26"/>
    <p:sldId id="443" r:id="rId27"/>
    <p:sldId id="444" r:id="rId28"/>
    <p:sldId id="445" r:id="rId29"/>
    <p:sldId id="446" r:id="rId30"/>
    <p:sldId id="447" r:id="rId31"/>
    <p:sldId id="448" r:id="rId32"/>
    <p:sldId id="449" r:id="rId33"/>
    <p:sldId id="450" r:id="rId34"/>
    <p:sldId id="451" r:id="rId35"/>
    <p:sldId id="452" r:id="rId36"/>
    <p:sldId id="453" r:id="rId37"/>
    <p:sldId id="454" r:id="rId38"/>
    <p:sldId id="455" r:id="rId39"/>
    <p:sldId id="456" r:id="rId40"/>
    <p:sldId id="457" r:id="rId41"/>
    <p:sldId id="458" r:id="rId42"/>
    <p:sldId id="460" r:id="rId43"/>
    <p:sldId id="461" r:id="rId44"/>
    <p:sldId id="459" r:id="rId45"/>
    <p:sldId id="462" r:id="rId46"/>
    <p:sldId id="463" r:id="rId47"/>
    <p:sldId id="464" r:id="rId48"/>
    <p:sldId id="465" r:id="rId49"/>
    <p:sldId id="466" r:id="rId50"/>
    <p:sldId id="420" r:id="rId51"/>
    <p:sldId id="467" r:id="rId52"/>
    <p:sldId id="469" r:id="rId53"/>
    <p:sldId id="468" r:id="rId54"/>
    <p:sldId id="470" r:id="rId55"/>
    <p:sldId id="471" r:id="rId56"/>
    <p:sldId id="472" r:id="rId57"/>
  </p:sldIdLst>
  <p:sldSz cx="9144000" cy="6858000" type="screen4x3"/>
  <p:notesSz cx="6858000" cy="9144000"/>
  <p:custDataLst>
    <p:tags r:id="rId6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432">
          <p15:clr>
            <a:srgbClr val="A4A3A4"/>
          </p15:clr>
        </p15:guide>
        <p15:guide id="4" orient="horz" pos="864">
          <p15:clr>
            <a:srgbClr val="A4A3A4"/>
          </p15:clr>
        </p15:guide>
        <p15:guide id="5" orient="horz" pos="4017">
          <p15:clr>
            <a:srgbClr val="A4A3A4"/>
          </p15:clr>
        </p15:guide>
        <p15:guide id="6" pos="288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FA3"/>
    <a:srgbClr val="D4EAE4"/>
    <a:srgbClr val="0015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31" autoAdjust="0"/>
    <p:restoredTop sz="95122" autoAdjust="0"/>
  </p:normalViewPr>
  <p:slideViewPr>
    <p:cSldViewPr>
      <p:cViewPr varScale="1">
        <p:scale>
          <a:sx n="75" d="100"/>
          <a:sy n="75" d="100"/>
        </p:scale>
        <p:origin x="-1428" y="-84"/>
      </p:cViewPr>
      <p:guideLst>
        <p:guide orient="horz" pos="2160"/>
        <p:guide orient="horz" pos="432"/>
        <p:guide orient="horz" pos="864"/>
        <p:guide orient="horz" pos="4017"/>
        <p:guide pos="2880"/>
        <p:guide pos="288"/>
        <p:guide pos="54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1794" y="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8D874E-E9D5-433B-A149-BDF6BFDD40A8}" type="datetimeFigureOut">
              <a:rPr lang="en-US" smtClean="0"/>
              <a:pPr/>
              <a:t>6/21/2018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DCAA22-461C-45B4-A301-BFCA580174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1922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051F04-9E25-42C3-8BC5-EC2E8469D95E}" type="datetimeFigureOut">
              <a:rPr lang="en-US" smtClean="0"/>
              <a:pPr/>
              <a:t>6/21/2018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D6722-9B4D-4E29-B226-C325925A811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59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white">
          <a:xfrm>
            <a:off x="0" y="0"/>
            <a:ext cx="9144000" cy="3886200"/>
          </a:xfrm>
          <a:prstGeom prst="rect">
            <a:avLst/>
          </a:prstGeom>
          <a:solidFill>
            <a:srgbClr val="007FA3"/>
          </a:solidFill>
          <a:ln>
            <a:solidFill>
              <a:srgbClr val="007F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0"/>
            <a:ext cx="7772400" cy="28384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4687" y="3962400"/>
            <a:ext cx="7794626" cy="17526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6/21/2018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1600200" y="6429345"/>
            <a:ext cx="716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 smtClean="0">
                <a:ea typeface="Verdana" panose="020B0604030504040204" pitchFamily="34" charset="0"/>
                <a:cs typeface="Verdana" panose="020B0604030504040204" pitchFamily="34" charset="0"/>
              </a:rPr>
              <a:t>Copyright © 2018 Pearson India Education Services Pvt. Ltd</a:t>
            </a:r>
            <a:endParaRPr lang="en-US" altLang="en-US" sz="700" b="1" dirty="0" smtClean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98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</p:spPr>
        <p:txBody>
          <a:bodyPr anchor="t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16430"/>
            <a:ext cx="8229600" cy="478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 smtClean="0"/>
              <a:t>Add edition here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5029200" y="1600201"/>
            <a:ext cx="3657600" cy="1600199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3000" baseline="0"/>
            </a:lvl1pPr>
            <a:lvl2pPr marL="0" indent="0">
              <a:spcBef>
                <a:spcPts val="0"/>
              </a:spcBef>
              <a:buNone/>
              <a:defRPr sz="4400"/>
            </a:lvl2pPr>
            <a:lvl3pPr marL="0" indent="0">
              <a:spcBef>
                <a:spcPts val="0"/>
              </a:spcBef>
              <a:buNone/>
              <a:defRPr sz="4400"/>
            </a:lvl3pPr>
            <a:lvl4pPr marL="0" indent="0">
              <a:spcBef>
                <a:spcPts val="0"/>
              </a:spcBef>
              <a:buNone/>
              <a:defRPr sz="4400"/>
            </a:lvl4pPr>
            <a:lvl5pPr marL="0" indent="0">
              <a:spcBef>
                <a:spcPts val="0"/>
              </a:spcBef>
              <a:buNone/>
              <a:defRPr sz="4400"/>
            </a:lvl5pPr>
            <a:lvl6pPr marL="0" indent="0">
              <a:spcBef>
                <a:spcPts val="0"/>
              </a:spcBef>
              <a:buNone/>
              <a:defRPr sz="4400"/>
            </a:lvl6pPr>
            <a:lvl7pPr marL="0" indent="0">
              <a:spcBef>
                <a:spcPts val="0"/>
              </a:spcBef>
              <a:buNone/>
              <a:defRPr sz="4400"/>
            </a:lvl7pPr>
            <a:lvl8pPr marL="0" indent="0">
              <a:spcBef>
                <a:spcPts val="0"/>
              </a:spcBef>
              <a:buNone/>
              <a:defRPr sz="4400"/>
            </a:lvl8pPr>
            <a:lvl9pPr marL="0" indent="0">
              <a:spcBef>
                <a:spcPts val="0"/>
              </a:spcBef>
              <a:buNone/>
              <a:defRPr sz="4400"/>
            </a:lvl9pPr>
          </a:lstStyle>
          <a:p>
            <a:pPr lvl="0"/>
            <a:r>
              <a:rPr lang="en-US" dirty="0" smtClean="0"/>
              <a:t>Chapter ##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5029200" y="3200400"/>
            <a:ext cx="3657600" cy="29257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 dirty="0" smtClean="0"/>
              <a:t>Chapter title</a:t>
            </a:r>
            <a:endParaRPr lang="en-US" dirty="0"/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93969" y="6165337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6/21/2018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1600200" y="6429345"/>
            <a:ext cx="716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 smtClean="0">
                <a:ea typeface="Verdana" panose="020B0604030504040204" pitchFamily="34" charset="0"/>
                <a:cs typeface="Verdana" panose="020B0604030504040204" pitchFamily="34" charset="0"/>
              </a:rPr>
              <a:t>Copyright © 2018 Pearson India Education Services Pvt. Ltd</a:t>
            </a:r>
            <a:endParaRPr lang="en-US" altLang="en-US" sz="700" b="1" dirty="0" smtClean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062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earning Objectiv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</p:spPr>
        <p:txBody>
          <a:bodyPr anchor="t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Learning Objectives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16430"/>
            <a:ext cx="8229600" cy="4027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 smtClean="0"/>
              <a:t>Click to add Learning Objective(s)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/>
          </p:nvPr>
        </p:nvSpPr>
        <p:spPr>
          <a:xfrm>
            <a:off x="457200" y="1600200"/>
            <a:ext cx="8229600" cy="4525963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</a:t>
            </a:r>
          </a:p>
          <a:p>
            <a:pPr lvl="6"/>
            <a:r>
              <a:rPr lang="en-US" dirty="0" smtClean="0"/>
              <a:t>Seventh</a:t>
            </a:r>
          </a:p>
          <a:p>
            <a:pPr lvl="7"/>
            <a:r>
              <a:rPr lang="en-US" dirty="0" smtClean="0"/>
              <a:t>Eighth</a:t>
            </a:r>
          </a:p>
          <a:p>
            <a:pPr lvl="8"/>
            <a:r>
              <a:rPr lang="en-US" dirty="0" smtClean="0"/>
              <a:t>Ninth</a:t>
            </a:r>
            <a:endParaRPr lang="en-US" dirty="0"/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6/21/2018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463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7FA3"/>
              </a:buClr>
              <a:buSzPct val="100000"/>
              <a:defRPr/>
            </a:lvl1pPr>
            <a:lvl2pPr>
              <a:buClr>
                <a:srgbClr val="007FA3"/>
              </a:buClr>
              <a:defRPr/>
            </a:lvl2pPr>
            <a:lvl3pPr>
              <a:buClr>
                <a:srgbClr val="007FA3"/>
              </a:buClr>
              <a:defRPr/>
            </a:lvl3pPr>
            <a:lvl4pPr>
              <a:buClr>
                <a:srgbClr val="007FA3"/>
              </a:buClr>
              <a:defRPr/>
            </a:lvl4pPr>
            <a:lvl5pPr>
              <a:buClr>
                <a:srgbClr val="007FA3"/>
              </a:buClr>
              <a:defRPr/>
            </a:lvl5pPr>
            <a:lvl6pPr>
              <a:buClr>
                <a:srgbClr val="007FA3"/>
              </a:buClr>
              <a:defRPr/>
            </a:lvl6pPr>
            <a:lvl7pPr>
              <a:buClr>
                <a:srgbClr val="007FA3"/>
              </a:buClr>
              <a:defRPr/>
            </a:lvl7pPr>
            <a:lvl8pPr>
              <a:buClr>
                <a:srgbClr val="007FA3"/>
              </a:buClr>
              <a:defRPr/>
            </a:lvl8pPr>
            <a:lvl9pPr>
              <a:buClr>
                <a:srgbClr val="007FA3"/>
              </a:buClr>
              <a:defRPr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</a:t>
            </a:r>
          </a:p>
          <a:p>
            <a:pPr lvl="6"/>
            <a:r>
              <a:rPr lang="en-US" dirty="0" smtClean="0"/>
              <a:t>Seventh</a:t>
            </a:r>
          </a:p>
          <a:p>
            <a:pPr lvl="7"/>
            <a:r>
              <a:rPr lang="en-US" dirty="0" smtClean="0"/>
              <a:t>Eighth</a:t>
            </a:r>
          </a:p>
          <a:p>
            <a:pPr lvl="8"/>
            <a:r>
              <a:rPr lang="en-US" dirty="0" smtClean="0"/>
              <a:t>Ninth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713" y="113072"/>
            <a:ext cx="2133600" cy="182880"/>
          </a:xfrm>
        </p:spPr>
        <p:txBody>
          <a:bodyPr/>
          <a:lstStyle/>
          <a:p>
            <a:fld id="{A9DF6EFB-3F44-496C-A842-1E0B3D3B975A}" type="datetimeFigureOut">
              <a:rPr lang="en-US" smtClean="0"/>
              <a:pPr/>
              <a:t>6/21/2018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69312" y="113072"/>
            <a:ext cx="551783" cy="182880"/>
          </a:xfrm>
        </p:spPr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909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18872" indent="-118872">
              <a:buClr>
                <a:srgbClr val="007FA3"/>
              </a:buClr>
              <a:buSzPct val="25000"/>
              <a:defRPr sz="1600"/>
            </a:lvl1pPr>
            <a:lvl2pPr marL="569913" indent="-285750">
              <a:buClr>
                <a:srgbClr val="007FA3"/>
              </a:buClr>
              <a:defRPr sz="1600"/>
            </a:lvl2pPr>
            <a:lvl3pPr>
              <a:buClr>
                <a:srgbClr val="007FA3"/>
              </a:buClr>
              <a:defRPr sz="1600"/>
            </a:lvl3pPr>
            <a:lvl4pPr>
              <a:buClr>
                <a:srgbClr val="007FA3"/>
              </a:buClr>
              <a:defRPr sz="1600"/>
            </a:lvl4pPr>
            <a:lvl5pPr>
              <a:buClr>
                <a:srgbClr val="007FA3"/>
              </a:buClr>
              <a:defRPr sz="1600"/>
            </a:lvl5pPr>
            <a:lvl6pPr>
              <a:buClr>
                <a:srgbClr val="007FA3"/>
              </a:buClr>
              <a:defRPr sz="1600"/>
            </a:lvl6pPr>
            <a:lvl7pPr>
              <a:buClr>
                <a:srgbClr val="007FA3"/>
              </a:buClr>
              <a:defRPr sz="1600"/>
            </a:lvl7pPr>
            <a:lvl8pPr>
              <a:buClr>
                <a:srgbClr val="007FA3"/>
              </a:buClr>
              <a:defRPr sz="1600"/>
            </a:lvl8pPr>
            <a:lvl9pPr>
              <a:buClr>
                <a:srgbClr val="007FA3"/>
              </a:buCl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</a:t>
            </a:r>
          </a:p>
          <a:p>
            <a:pPr lvl="6"/>
            <a:r>
              <a:rPr lang="en-US" dirty="0" smtClean="0"/>
              <a:t>Seventh</a:t>
            </a:r>
          </a:p>
          <a:p>
            <a:pPr lvl="7"/>
            <a:r>
              <a:rPr lang="en-US" dirty="0" smtClean="0"/>
              <a:t>Eighth</a:t>
            </a:r>
          </a:p>
          <a:p>
            <a:pPr lvl="8"/>
            <a:r>
              <a:rPr lang="en-US" dirty="0" smtClean="0"/>
              <a:t>Ninth</a:t>
            </a:r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6/21/2018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00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gur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1066800"/>
          </a:xfrm>
        </p:spPr>
        <p:txBody>
          <a:bodyPr anchor="t"/>
          <a:lstStyle>
            <a:lvl1pPr>
              <a:defRPr sz="3400">
                <a:solidFill>
                  <a:srgbClr val="007FA3"/>
                </a:solidFill>
              </a:defRPr>
            </a:lvl1pPr>
          </a:lstStyle>
          <a:p>
            <a:r>
              <a:rPr lang="en-US" dirty="0" smtClean="0"/>
              <a:t>Click to add figure number and title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368160"/>
            <a:ext cx="8229600" cy="916856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800"/>
            </a:lvl1pPr>
            <a:lvl2pPr marL="0" indent="0">
              <a:spcBef>
                <a:spcPts val="0"/>
              </a:spcBef>
              <a:buNone/>
              <a:defRPr sz="1600"/>
            </a:lvl2pPr>
            <a:lvl3pPr marL="0" indent="0">
              <a:spcBef>
                <a:spcPts val="0"/>
              </a:spcBef>
              <a:buNone/>
              <a:defRPr sz="1600"/>
            </a:lvl3pPr>
            <a:lvl4pPr marL="0" indent="0">
              <a:spcBef>
                <a:spcPts val="0"/>
              </a:spcBef>
              <a:buNone/>
              <a:defRPr sz="1600"/>
            </a:lvl4pPr>
            <a:lvl5pPr marL="0" indent="0">
              <a:spcBef>
                <a:spcPts val="0"/>
              </a:spcBef>
              <a:buNone/>
              <a:defRPr sz="1600"/>
            </a:lvl5pPr>
            <a:lvl6pPr marL="0" indent="0">
              <a:spcBef>
                <a:spcPts val="0"/>
              </a:spcBef>
              <a:buNone/>
              <a:defRPr sz="1600"/>
            </a:lvl6pPr>
            <a:lvl7pPr marL="0" indent="0">
              <a:spcBef>
                <a:spcPts val="0"/>
              </a:spcBef>
              <a:buNone/>
              <a:defRPr sz="1600"/>
            </a:lvl7pPr>
            <a:lvl8pPr marL="0" indent="0">
              <a:spcBef>
                <a:spcPts val="0"/>
              </a:spcBef>
              <a:buNone/>
              <a:defRPr sz="1600"/>
            </a:lvl8pPr>
            <a:lvl9pPr marL="0" indent="0">
              <a:spcBef>
                <a:spcPts val="0"/>
              </a:spcBef>
              <a:buNone/>
              <a:defRPr sz="1600"/>
            </a:lvl9pPr>
          </a:lstStyle>
          <a:p>
            <a:pPr lvl="0"/>
            <a:r>
              <a:rPr lang="en-US" dirty="0" smtClean="0"/>
              <a:t>Click to add caption</a:t>
            </a:r>
            <a:endParaRPr lang="en-US" dirty="0"/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6/21/2018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10" y="6376789"/>
            <a:ext cx="918000" cy="279915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1600200" y="6429345"/>
            <a:ext cx="716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 smtClean="0">
                <a:ea typeface="Verdana" panose="020B0604030504040204" pitchFamily="34" charset="0"/>
                <a:cs typeface="Verdana" panose="020B0604030504040204" pitchFamily="34" charset="0"/>
              </a:rPr>
              <a:t>Copyright © 2018 Pearson India Education Services Pvt. Ltd</a:t>
            </a:r>
            <a:endParaRPr lang="en-US" altLang="en-US" sz="700" b="1" dirty="0" smtClean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796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57200" y="3962400"/>
            <a:ext cx="82296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6/21/2018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799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47800"/>
            <a:ext cx="7772400" cy="2152651"/>
          </a:xfrm>
        </p:spPr>
        <p:txBody>
          <a:bodyPr anchor="b">
            <a:noAutofit/>
          </a:bodyPr>
          <a:lstStyle>
            <a:lvl1pPr algn="l">
              <a:defRPr sz="3400" b="1" cap="none" baseline="0">
                <a:solidFill>
                  <a:srgbClr val="007FA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4687" y="3962400"/>
            <a:ext cx="7794627" cy="175260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rgbClr val="007FA3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6/21/2018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704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6/21/2018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126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6/21/2018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10" y="6376789"/>
            <a:ext cx="918000" cy="279915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1600200" y="6429345"/>
            <a:ext cx="716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 smtClean="0">
                <a:ea typeface="Verdana" panose="020B0604030504040204" pitchFamily="34" charset="0"/>
                <a:cs typeface="Verdana" panose="020B0604030504040204" pitchFamily="34" charset="0"/>
              </a:rPr>
              <a:t>Copyright © 2018 Pearson India Education Services Pvt. Ltd</a:t>
            </a:r>
            <a:endParaRPr lang="en-US" altLang="en-US" sz="700" b="1" dirty="0" smtClean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136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109728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dirty="0" smtClean="0"/>
              <a:t>Click to edit </a:t>
            </a:r>
            <a:br>
              <a:rPr lang="en-US" dirty="0" smtClean="0"/>
            </a:br>
            <a:r>
              <a:rPr lang="en-US" dirty="0" smtClean="0"/>
              <a:t>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</a:t>
            </a:r>
          </a:p>
          <a:p>
            <a:pPr lvl="6"/>
            <a:r>
              <a:rPr lang="en-US" dirty="0" smtClean="0"/>
              <a:t>Seventh</a:t>
            </a:r>
          </a:p>
          <a:p>
            <a:pPr lvl="7"/>
            <a:r>
              <a:rPr lang="en-US" dirty="0" smtClean="0"/>
              <a:t>Eighth</a:t>
            </a:r>
          </a:p>
          <a:p>
            <a:pPr lvl="8"/>
            <a:r>
              <a:rPr lang="en-US" dirty="0" smtClean="0"/>
              <a:t>Ninth</a:t>
            </a:r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3969" y="6172200"/>
            <a:ext cx="8595360" cy="23546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35713" y="113072"/>
            <a:ext cx="21336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6/21/2018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9312" y="113072"/>
            <a:ext cx="551783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Pearson Logo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600200" y="6429345"/>
            <a:ext cx="716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 smtClean="0">
                <a:ea typeface="Verdana" panose="020B0604030504040204" pitchFamily="34" charset="0"/>
                <a:cs typeface="Verdana" panose="020B0604030504040204" pitchFamily="34" charset="0"/>
              </a:rPr>
              <a:t>Copyright © 2018 Pearson India Education Services Pvt. Ltd</a:t>
            </a:r>
            <a:endParaRPr lang="en-US" altLang="en-US" sz="700" b="1" dirty="0" smtClean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570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6" r:id="rId3"/>
    <p:sldLayoutId id="2147483650" r:id="rId4"/>
    <p:sldLayoutId id="2147483659" r:id="rId5"/>
    <p:sldLayoutId id="2147483658" r:id="rId6"/>
    <p:sldLayoutId id="2147483660" r:id="rId7"/>
    <p:sldLayoutId id="2147483651" r:id="rId8"/>
    <p:sldLayoutId id="2147483654" r:id="rId9"/>
    <p:sldLayoutId id="2147483655" r:id="rId10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400" b="1" kern="1200">
          <a:solidFill>
            <a:srgbClr val="007FA3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56032" indent="-256032" algn="l" defTabSz="914400" rtl="0" eaLnBrk="1" latinLnBrk="0" hangingPunct="1">
        <a:spcBef>
          <a:spcPts val="15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ts val="600"/>
        </a:spcBef>
        <a:buClr>
          <a:srgbClr val="007FA3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4828"/>
            <a:ext cx="8229600" cy="622828"/>
          </a:xfrm>
        </p:spPr>
        <p:txBody>
          <a:bodyPr/>
          <a:lstStyle/>
          <a:p>
            <a:r>
              <a:rPr lang="en-US" dirty="0">
                <a:latin typeface="+mj-lt"/>
              </a:rPr>
              <a:t>Digital Design</a:t>
            </a:r>
            <a:endParaRPr lang="en-US" b="1" dirty="0">
              <a:latin typeface="+mj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771294"/>
            <a:ext cx="8229600" cy="478970"/>
          </a:xfrm>
        </p:spPr>
        <p:txBody>
          <a:bodyPr/>
          <a:lstStyle/>
          <a:p>
            <a:r>
              <a:rPr lang="en-US" sz="2400" dirty="0"/>
              <a:t>With an Introduction to the Verilog HDL</a:t>
            </a:r>
            <a:r>
              <a:rPr lang="en-US" sz="2400" dirty="0" smtClean="0"/>
              <a:t>, VHDL</a:t>
            </a:r>
            <a:r>
              <a:rPr lang="en-US" sz="2400" dirty="0"/>
              <a:t>, and </a:t>
            </a:r>
            <a:r>
              <a:rPr lang="en-US" sz="2400" dirty="0" smtClean="0"/>
              <a:t>SystemVerilog</a:t>
            </a:r>
          </a:p>
          <a:p>
            <a:r>
              <a:rPr lang="en-US" sz="2400" dirty="0" smtClean="0">
                <a:latin typeface="+mj-lt"/>
              </a:rPr>
              <a:t>6</a:t>
            </a:r>
            <a:r>
              <a:rPr lang="en-US" sz="2400" baseline="30000" dirty="0" smtClean="0">
                <a:latin typeface="+mj-lt"/>
              </a:rPr>
              <a:t>th</a:t>
            </a:r>
            <a:r>
              <a:rPr lang="en-US" sz="2400" dirty="0" smtClean="0">
                <a:latin typeface="+mj-lt"/>
              </a:rPr>
              <a:t> </a:t>
            </a:r>
            <a:r>
              <a:rPr lang="en-US" sz="1800" dirty="0" smtClean="0">
                <a:latin typeface="+mj-lt"/>
              </a:rPr>
              <a:t>Edition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953000" y="3048000"/>
            <a:ext cx="3657600" cy="533399"/>
          </a:xfrm>
        </p:spPr>
        <p:txBody>
          <a:bodyPr/>
          <a:lstStyle/>
          <a:p>
            <a:pPr algn="ctr"/>
            <a:r>
              <a:rPr lang="en-US" sz="3000" dirty="0" smtClean="0"/>
              <a:t>Chapter 05</a:t>
            </a:r>
            <a:endParaRPr lang="en-US" sz="30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4343400" y="3581399"/>
            <a:ext cx="4876800" cy="457201"/>
          </a:xfrm>
        </p:spPr>
        <p:txBody>
          <a:bodyPr/>
          <a:lstStyle/>
          <a:p>
            <a:pPr algn="ctr"/>
            <a:r>
              <a:rPr lang="en-IN" dirty="0" smtClean="0"/>
              <a:t>Synchronous </a:t>
            </a:r>
            <a:r>
              <a:rPr lang="en-IN" dirty="0"/>
              <a:t>Sequential Logic</a:t>
            </a:r>
            <a:endParaRPr lang="en-US" dirty="0"/>
          </a:p>
        </p:txBody>
      </p:sp>
      <p:pic>
        <p:nvPicPr>
          <p:cNvPr id="1026" name="Picture 2" descr="G:\08VOL4\Graphics\Powerpoint\PEARSON\CRAIG-PPT\Final files\Craig_final_CVR_HiRes.jpg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685800" y="1995029"/>
            <a:ext cx="3302862" cy="41418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53861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b="1" dirty="0" smtClean="0">
                <a:latin typeface="+mj-lt"/>
              </a:rPr>
              <a:t>Figure 5</a:t>
            </a:r>
            <a:r>
              <a:rPr lang="en-US" sz="2000" dirty="0" smtClean="0">
                <a:latin typeface="+mj-lt"/>
              </a:rPr>
              <a:t>.1</a:t>
            </a:r>
            <a:r>
              <a:rPr lang="en-US" sz="2000" b="1" dirty="0" smtClean="0">
                <a:latin typeface="+mj-lt"/>
              </a:rPr>
              <a:t/>
            </a:r>
            <a:br>
              <a:rPr lang="en-US" sz="2000" b="1" dirty="0" smtClean="0">
                <a:latin typeface="+mj-lt"/>
              </a:rPr>
            </a:br>
            <a:r>
              <a:rPr lang="en-IN" sz="2000" dirty="0" smtClean="0">
                <a:latin typeface="+mn-lt"/>
              </a:rPr>
              <a:t>Block </a:t>
            </a:r>
            <a:r>
              <a:rPr lang="en-IN" sz="2000" dirty="0">
                <a:latin typeface="+mn-lt"/>
              </a:rPr>
              <a:t>diagram of sequential </a:t>
            </a:r>
            <a:r>
              <a:rPr lang="en-IN" sz="2000" dirty="0" smtClean="0">
                <a:latin typeface="+mn-lt"/>
              </a:rPr>
              <a:t>circuit.</a:t>
            </a:r>
            <a:endParaRPr lang="en-US" sz="2000" dirty="0">
              <a:latin typeface="+mn-lt"/>
            </a:endParaRPr>
          </a:p>
        </p:txBody>
      </p:sp>
      <p:pic>
        <p:nvPicPr>
          <p:cNvPr id="2" name="Picture 2" descr="The combinatorial circuit receives inputs and produces outputs. The circuit also signals memory elements, which return feedback to the circuit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743200"/>
            <a:ext cx="6400800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4123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b="1" dirty="0" smtClean="0">
                <a:latin typeface="+mj-lt"/>
              </a:rPr>
              <a:t>Figure 5</a:t>
            </a:r>
            <a:r>
              <a:rPr lang="en-US" sz="2000" dirty="0" smtClean="0">
                <a:latin typeface="+mj-lt"/>
              </a:rPr>
              <a:t>.2</a:t>
            </a:r>
            <a:r>
              <a:rPr lang="en-US" sz="2000" b="1" dirty="0" smtClean="0">
                <a:latin typeface="+mj-lt"/>
              </a:rPr>
              <a:t/>
            </a:r>
            <a:br>
              <a:rPr lang="en-US" sz="2000" b="1" dirty="0" smtClean="0">
                <a:latin typeface="+mj-lt"/>
              </a:rPr>
            </a:br>
            <a:r>
              <a:rPr lang="en-IN" sz="2000" dirty="0" smtClean="0">
                <a:latin typeface="+mn-lt"/>
              </a:rPr>
              <a:t>Synchronous </a:t>
            </a:r>
            <a:r>
              <a:rPr lang="en-IN" sz="2000" dirty="0">
                <a:latin typeface="+mn-lt"/>
              </a:rPr>
              <a:t>clocked sequential </a:t>
            </a:r>
            <a:r>
              <a:rPr lang="en-IN" sz="2000" dirty="0" smtClean="0">
                <a:latin typeface="+mn-lt"/>
              </a:rPr>
              <a:t>circuit.</a:t>
            </a:r>
            <a:endParaRPr lang="en-US" sz="2000" dirty="0">
              <a:latin typeface="+mn-lt"/>
            </a:endParaRPr>
          </a:p>
        </p:txBody>
      </p:sp>
      <p:pic>
        <p:nvPicPr>
          <p:cNvPr id="2050" name="Picture 2" descr="Part ay: block diagram. The combinatorial circuit and clock pulses signal flip flops, which return feedback to the combinatorial circuit. Part b: timing diagram of clock pulses. A square waveform with uniform amplitude and periodicity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840" y="1371601"/>
            <a:ext cx="715432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5720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b="1" dirty="0" smtClean="0">
                <a:latin typeface="+mj-lt"/>
              </a:rPr>
              <a:t>Figure 5</a:t>
            </a:r>
            <a:r>
              <a:rPr lang="en-US" sz="2000" dirty="0" smtClean="0">
                <a:latin typeface="+mj-lt"/>
              </a:rPr>
              <a:t>.3</a:t>
            </a:r>
            <a:r>
              <a:rPr lang="en-US" sz="2000" b="1" dirty="0" smtClean="0">
                <a:latin typeface="+mj-lt"/>
              </a:rPr>
              <a:t/>
            </a:r>
            <a:br>
              <a:rPr lang="en-US" sz="2000" b="1" dirty="0" smtClean="0">
                <a:latin typeface="+mj-lt"/>
              </a:rPr>
            </a:br>
            <a:r>
              <a:rPr lang="en-IN" sz="2000" i="1" dirty="0" smtClean="0">
                <a:latin typeface="+mn-lt"/>
              </a:rPr>
              <a:t>SR</a:t>
            </a:r>
            <a:r>
              <a:rPr lang="en-IN" sz="2000" dirty="0" smtClean="0">
                <a:latin typeface="+mn-lt"/>
              </a:rPr>
              <a:t> </a:t>
            </a:r>
            <a:r>
              <a:rPr lang="en-IN" sz="2000" dirty="0">
                <a:latin typeface="+mn-lt"/>
              </a:rPr>
              <a:t>latch with NOR </a:t>
            </a:r>
            <a:r>
              <a:rPr lang="en-IN" sz="2000" dirty="0" smtClean="0">
                <a:latin typeface="+mn-lt"/>
              </a:rPr>
              <a:t>gates.</a:t>
            </a:r>
            <a:endParaRPr lang="en-US" sz="2000" dirty="0">
              <a:latin typeface="+mn-lt"/>
            </a:endParaRPr>
          </a:p>
        </p:txBody>
      </p:sp>
      <p:pic>
        <p:nvPicPr>
          <p:cNvPr id="3074" name="Picture 2" descr="Part ay: logic diagram. Set input S and feedback Q enter the first n or gate, producing Q prime. Reset input R and feedback Q prime enter the second n or gate, producing Q. In each case, R and S jump to 1 from 0 before falling back to 0. Part b: function table. The table has columns for S, R, Q and Q prime. The row entries are as follows: row 1,1 0, 1 0; row 2, 0 0, 1 0; row 3, 0 1, 0 1; row 4, 0 0, 0 1; row 5, 1 1, 0 0. The row 2 values occur after S = 1 and R = 0. The row 4 values occur after S = 0 and R = 1. The row 5 values indicate forbidden. 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198036"/>
            <a:ext cx="8382000" cy="2460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2853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b="1" dirty="0" smtClean="0">
                <a:latin typeface="+mj-lt"/>
              </a:rPr>
              <a:t>Figure 5</a:t>
            </a:r>
            <a:r>
              <a:rPr lang="en-US" sz="2000" dirty="0" smtClean="0">
                <a:latin typeface="+mj-lt"/>
              </a:rPr>
              <a:t>.4</a:t>
            </a:r>
            <a:r>
              <a:rPr lang="en-US" sz="2000" b="1" dirty="0" smtClean="0">
                <a:latin typeface="+mj-lt"/>
              </a:rPr>
              <a:t/>
            </a:r>
            <a:br>
              <a:rPr lang="en-US" sz="2000" b="1" dirty="0" smtClean="0">
                <a:latin typeface="+mj-lt"/>
              </a:rPr>
            </a:br>
            <a:r>
              <a:rPr lang="en-IN" sz="2000" i="1" dirty="0" smtClean="0">
                <a:latin typeface="+mn-lt"/>
              </a:rPr>
              <a:t>SR</a:t>
            </a:r>
            <a:r>
              <a:rPr lang="en-IN" sz="2000" dirty="0" smtClean="0">
                <a:latin typeface="+mn-lt"/>
              </a:rPr>
              <a:t> </a:t>
            </a:r>
            <a:r>
              <a:rPr lang="en-IN" sz="2000" dirty="0">
                <a:latin typeface="+mn-lt"/>
              </a:rPr>
              <a:t>latch with NAND </a:t>
            </a:r>
            <a:r>
              <a:rPr lang="en-IN" sz="2000" dirty="0" smtClean="0">
                <a:latin typeface="+mn-lt"/>
              </a:rPr>
              <a:t>gates.</a:t>
            </a:r>
            <a:endParaRPr lang="en-US" sz="2000" dirty="0">
              <a:latin typeface="+mn-lt"/>
            </a:endParaRPr>
          </a:p>
        </p:txBody>
      </p:sp>
      <p:pic>
        <p:nvPicPr>
          <p:cNvPr id="4098" name="Picture 2" descr="Part ay: logic diagram. The structure has 2 n and gates receiving R and S along with feedback Q and Q prime. However, R and S drop from 1 to 0, before jumping back to 1. So, Q feeds back to R, and Q prime feeds back to S. Part b: function table. The table has columns for the following values from left to right: row 1, 1 0, 0 1; row 2, 1 1, 0 1; row 3, 0 1, 1 0; row 4, 1 1, 1 0; row 5, 0 0, 1 1. The row 2 entries occur after S = 1 and R = 0. The row 4 entries occur after S = 0 and R = 1. The row 5 entries indicate forbidden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188680"/>
            <a:ext cx="8382000" cy="2479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7895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b="1" dirty="0" smtClean="0">
                <a:latin typeface="+mj-lt"/>
              </a:rPr>
              <a:t>Figure 5</a:t>
            </a:r>
            <a:r>
              <a:rPr lang="en-US" sz="2000" dirty="0" smtClean="0">
                <a:latin typeface="+mj-lt"/>
              </a:rPr>
              <a:t>.5</a:t>
            </a:r>
            <a:r>
              <a:rPr lang="en-US" sz="2000" b="1" dirty="0" smtClean="0">
                <a:latin typeface="+mj-lt"/>
              </a:rPr>
              <a:t/>
            </a:r>
            <a:br>
              <a:rPr lang="en-US" sz="2000" b="1" dirty="0" smtClean="0">
                <a:latin typeface="+mj-lt"/>
              </a:rPr>
            </a:br>
            <a:r>
              <a:rPr lang="en-IN" sz="2000" i="1" dirty="0">
                <a:latin typeface="+mn-lt"/>
              </a:rPr>
              <a:t>SR</a:t>
            </a:r>
            <a:r>
              <a:rPr lang="en-IN" sz="2000" dirty="0">
                <a:latin typeface="+mn-lt"/>
              </a:rPr>
              <a:t> latch with control </a:t>
            </a:r>
            <a:r>
              <a:rPr lang="en-IN" sz="2000" dirty="0" smtClean="0">
                <a:latin typeface="+mn-lt"/>
              </a:rPr>
              <a:t>input.</a:t>
            </a:r>
            <a:endParaRPr lang="en-US" sz="2000" dirty="0">
              <a:latin typeface="+mn-lt"/>
            </a:endParaRPr>
          </a:p>
        </p:txBody>
      </p:sp>
      <p:pic>
        <p:nvPicPr>
          <p:cNvPr id="5122" name="Picture 2" descr="Part ay: logic diagram. The structure includes the standard S R latch configuration. However, S and R are each replaced by an n and gate, which receives that signal as well as signal E n. Part b” function table. The table has columns for the following values from left to right: E n, S, R, next state of Q. The row entries are as follows: row 1, 0, upper X, upper X, no change; row 2, 1, 0, 0, no change; row 3, 1, 0, 1, Q = 0 in rest state; row 4, 1, 1, 0, Q = 1 in set state; row 5, 1, 1, 1, indeterminate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656" y="2209802"/>
            <a:ext cx="8424688" cy="2438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5108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b="1" dirty="0" smtClean="0">
                <a:latin typeface="+mj-lt"/>
              </a:rPr>
              <a:t>Figure 5</a:t>
            </a:r>
            <a:r>
              <a:rPr lang="en-US" sz="2000" dirty="0" smtClean="0">
                <a:latin typeface="+mj-lt"/>
              </a:rPr>
              <a:t>.6</a:t>
            </a:r>
            <a:r>
              <a:rPr lang="en-US" sz="2000" b="1" dirty="0" smtClean="0">
                <a:latin typeface="+mj-lt"/>
              </a:rPr>
              <a:t/>
            </a:r>
            <a:br>
              <a:rPr lang="en-US" sz="2000" b="1" dirty="0" smtClean="0">
                <a:latin typeface="+mj-lt"/>
              </a:rPr>
            </a:br>
            <a:r>
              <a:rPr lang="en-IN" sz="2000" i="1" dirty="0" smtClean="0">
                <a:latin typeface="+mn-lt"/>
              </a:rPr>
              <a:t>D</a:t>
            </a:r>
            <a:r>
              <a:rPr lang="en-IN" sz="2000" dirty="0" smtClean="0">
                <a:latin typeface="+mn-lt"/>
              </a:rPr>
              <a:t> latch.</a:t>
            </a:r>
            <a:endParaRPr lang="en-US" sz="2000" dirty="0">
              <a:latin typeface="+mn-lt"/>
            </a:endParaRPr>
          </a:p>
        </p:txBody>
      </p:sp>
      <p:pic>
        <p:nvPicPr>
          <p:cNvPr id="6146" name="Picture 2" descr="Part ay: logic diagram. The structure resembles the structure for an S R latch with control unit. However, in place of S and R, the n and gates of the control unit receive D and E n, and D prime and E n, respectively. Part b: function table. The table has columns for the following entries from left to right: E n, D, next state of Q. The row entries are as follows from left to right: row 1, 0, X, no change; row 2, 1, 0, Q = 0 at reset state; row 3, 1, 1, Q = 1 at set state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175669"/>
            <a:ext cx="8534400" cy="2505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2197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b="1" dirty="0" smtClean="0">
                <a:latin typeface="+mj-lt"/>
              </a:rPr>
              <a:t>Figure 5</a:t>
            </a:r>
            <a:r>
              <a:rPr lang="en-US" sz="2000" dirty="0" smtClean="0">
                <a:latin typeface="+mj-lt"/>
              </a:rPr>
              <a:t>.7</a:t>
            </a:r>
            <a:r>
              <a:rPr lang="en-US" sz="2000" b="1" dirty="0" smtClean="0">
                <a:latin typeface="+mj-lt"/>
              </a:rPr>
              <a:t/>
            </a:r>
            <a:br>
              <a:rPr lang="en-US" sz="2000" b="1" dirty="0" smtClean="0">
                <a:latin typeface="+mj-lt"/>
              </a:rPr>
            </a:br>
            <a:r>
              <a:rPr lang="en-IN" sz="2000" dirty="0" smtClean="0">
                <a:latin typeface="+mn-lt"/>
              </a:rPr>
              <a:t>Graphic </a:t>
            </a:r>
            <a:r>
              <a:rPr lang="en-IN" sz="2000" dirty="0">
                <a:latin typeface="+mn-lt"/>
              </a:rPr>
              <a:t>symbols for </a:t>
            </a:r>
            <a:r>
              <a:rPr lang="en-IN" sz="2000" dirty="0" smtClean="0">
                <a:latin typeface="+mn-lt"/>
              </a:rPr>
              <a:t>latches.</a:t>
            </a:r>
            <a:endParaRPr lang="en-US" sz="2000" dirty="0">
              <a:latin typeface="+mn-lt"/>
            </a:endParaRPr>
          </a:p>
        </p:txBody>
      </p:sp>
      <p:pic>
        <p:nvPicPr>
          <p:cNvPr id="7170" name="Picture 2" descr="Each symbol is based on a vertical rectangle with two horizontal line segments extending to the left side, and two corresponding horizontal segments extending from the right side. First latch: S R. The top left and bottom left segments intersect the rectangle at S and R, respectively. The bottom right segment intersects the rectangle at a bubble. Second latch: S R bar. The S R symbol with additional bubbles at S and R. Third latch: D. The S R symbol with S and R replaced by D and E n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473779"/>
            <a:ext cx="8229600" cy="1910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700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b="1" dirty="0" smtClean="0">
                <a:latin typeface="+mj-lt"/>
              </a:rPr>
              <a:t>Figure 5</a:t>
            </a:r>
            <a:r>
              <a:rPr lang="en-US" sz="2000" dirty="0" smtClean="0">
                <a:latin typeface="+mj-lt"/>
              </a:rPr>
              <a:t>.8</a:t>
            </a:r>
            <a:r>
              <a:rPr lang="en-US" sz="2000" b="1" dirty="0" smtClean="0">
                <a:latin typeface="+mj-lt"/>
              </a:rPr>
              <a:t/>
            </a:r>
            <a:br>
              <a:rPr lang="en-US" sz="2000" b="1" dirty="0" smtClean="0">
                <a:latin typeface="+mj-lt"/>
              </a:rPr>
            </a:br>
            <a:r>
              <a:rPr lang="en-IN" sz="2000" dirty="0" smtClean="0">
                <a:latin typeface="+mn-lt"/>
              </a:rPr>
              <a:t>Clock </a:t>
            </a:r>
            <a:r>
              <a:rPr lang="en-IN" sz="2000" dirty="0">
                <a:latin typeface="+mn-lt"/>
              </a:rPr>
              <a:t>response in latch and </a:t>
            </a:r>
            <a:r>
              <a:rPr lang="en-IN" sz="2000" dirty="0" smtClean="0">
                <a:latin typeface="+mn-lt"/>
              </a:rPr>
              <a:t>flip-flop.</a:t>
            </a:r>
            <a:endParaRPr lang="en-US" sz="2000" dirty="0">
              <a:latin typeface="+mn-lt"/>
            </a:endParaRPr>
          </a:p>
        </p:txBody>
      </p:sp>
      <p:pic>
        <p:nvPicPr>
          <p:cNvPr id="8194" name="Picture 2" descr="Part ay: response to positive level. The regions at the graph maximum are indicated. Part b: positive edge response. Movement is upward along the vertical segments of the waveform. Part c: negative edge response. Movement is downward along the vertical segments of the waveform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432322"/>
            <a:ext cx="6553200" cy="3993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9004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b="1" dirty="0" smtClean="0">
                <a:latin typeface="+mj-lt"/>
              </a:rPr>
              <a:t>Figure 5</a:t>
            </a:r>
            <a:r>
              <a:rPr lang="en-US" sz="2000" dirty="0" smtClean="0">
                <a:latin typeface="+mj-lt"/>
              </a:rPr>
              <a:t>.9</a:t>
            </a:r>
            <a:r>
              <a:rPr lang="en-US" sz="2000" b="1" dirty="0" smtClean="0">
                <a:latin typeface="+mj-lt"/>
              </a:rPr>
              <a:t/>
            </a:r>
            <a:br>
              <a:rPr lang="en-US" sz="2000" b="1" dirty="0" smtClean="0">
                <a:latin typeface="+mj-lt"/>
              </a:rPr>
            </a:br>
            <a:r>
              <a:rPr lang="en-IN" sz="2000" dirty="0">
                <a:latin typeface="+mn-lt"/>
              </a:rPr>
              <a:t>Master–slave </a:t>
            </a:r>
            <a:r>
              <a:rPr lang="en-IN" sz="2000" i="1" dirty="0">
                <a:latin typeface="+mn-lt"/>
              </a:rPr>
              <a:t>D</a:t>
            </a:r>
            <a:r>
              <a:rPr lang="en-IN" sz="2000" dirty="0">
                <a:latin typeface="+mn-lt"/>
              </a:rPr>
              <a:t> </a:t>
            </a:r>
            <a:r>
              <a:rPr lang="en-IN" sz="2000" dirty="0" smtClean="0">
                <a:latin typeface="+mn-lt"/>
              </a:rPr>
              <a:t>flip-flop.</a:t>
            </a:r>
            <a:endParaRPr lang="en-US" sz="2000" dirty="0">
              <a:latin typeface="+mn-lt"/>
            </a:endParaRPr>
          </a:p>
        </p:txBody>
      </p:sp>
      <p:pic>
        <p:nvPicPr>
          <p:cNvPr id="1027" name="Picture 3" descr="A logic diagram for a master slave D flip flop. D and C l k enter the master D latch at d and E n, respectively. The D latch then sends Y to the slave D latch at D. The slave also receives C l k prime at E n, before producing Q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487" y="2409915"/>
            <a:ext cx="7067441" cy="2009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6066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b="1" dirty="0" smtClean="0">
                <a:latin typeface="+mj-lt"/>
              </a:rPr>
              <a:t>Figure 5</a:t>
            </a:r>
            <a:r>
              <a:rPr lang="en-US" sz="2000" dirty="0" smtClean="0">
                <a:latin typeface="+mj-lt"/>
              </a:rPr>
              <a:t>.10</a:t>
            </a:r>
            <a:r>
              <a:rPr lang="en-US" sz="2000" b="1" dirty="0" smtClean="0">
                <a:latin typeface="+mj-lt"/>
              </a:rPr>
              <a:t/>
            </a:r>
            <a:br>
              <a:rPr lang="en-US" sz="2000" b="1" dirty="0" smtClean="0">
                <a:latin typeface="+mj-lt"/>
              </a:rPr>
            </a:br>
            <a:r>
              <a:rPr lang="en-IN" sz="2000" i="1" dirty="0">
                <a:latin typeface="+mn-lt"/>
              </a:rPr>
              <a:t>D</a:t>
            </a:r>
            <a:r>
              <a:rPr lang="en-IN" sz="2000" dirty="0">
                <a:latin typeface="+mn-lt"/>
              </a:rPr>
              <a:t>-type positive-edge-triggered </a:t>
            </a:r>
            <a:r>
              <a:rPr lang="en-IN" sz="2000" dirty="0" smtClean="0">
                <a:latin typeface="+mn-lt"/>
              </a:rPr>
              <a:t>flip-flop.</a:t>
            </a:r>
            <a:endParaRPr lang="en-US" sz="2000" dirty="0">
              <a:latin typeface="+mn-lt"/>
            </a:endParaRPr>
          </a:p>
        </p:txBody>
      </p:sp>
      <p:pic>
        <p:nvPicPr>
          <p:cNvPr id="10242" name="Picture 2" descr="The structure has 2 levels. The first level consists of 4 n and gates. The gates receive the following inputs. First gate: feedback from second and fourth gates. Second gate: C l k and feedback from first gate. Third gate: C l k and feedback from second and fourth gates. Fourth gate: D and feedback from third gate. Level 2 consists of 2 additional n and gates. The first gate receives S from the second level 1 n and gate, as well as feedback Q prime from the second level 2 n and gate. The second level 2 gate receives R from the third level 1 n and gate, as well as feedback Q from the first level 2 gate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4724" y="1295400"/>
            <a:ext cx="5952966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5669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b="1" dirty="0" smtClean="0">
                <a:latin typeface="+mj-lt"/>
              </a:rPr>
              <a:t>Figure 5</a:t>
            </a:r>
            <a:r>
              <a:rPr lang="en-US" sz="2000" dirty="0" smtClean="0">
                <a:latin typeface="+mj-lt"/>
              </a:rPr>
              <a:t>.11</a:t>
            </a:r>
            <a:r>
              <a:rPr lang="en-US" sz="2000" b="1" dirty="0" smtClean="0">
                <a:latin typeface="+mj-lt"/>
              </a:rPr>
              <a:t/>
            </a:r>
            <a:br>
              <a:rPr lang="en-US" sz="2000" b="1" dirty="0" smtClean="0">
                <a:latin typeface="+mj-lt"/>
              </a:rPr>
            </a:br>
            <a:r>
              <a:rPr lang="en-IN" sz="2000" dirty="0">
                <a:latin typeface="+mn-lt"/>
              </a:rPr>
              <a:t>Graphic symbol for edge-triggered </a:t>
            </a:r>
            <a:r>
              <a:rPr lang="en-IN" sz="2000" i="1" dirty="0">
                <a:latin typeface="+mn-lt"/>
              </a:rPr>
              <a:t>D</a:t>
            </a:r>
            <a:r>
              <a:rPr lang="en-IN" sz="2000" dirty="0">
                <a:latin typeface="+mn-lt"/>
              </a:rPr>
              <a:t> </a:t>
            </a:r>
            <a:r>
              <a:rPr lang="en-IN" sz="2000" dirty="0" smtClean="0">
                <a:latin typeface="+mn-lt"/>
              </a:rPr>
              <a:t>flip-flop.</a:t>
            </a:r>
            <a:endParaRPr lang="en-US" sz="2000" dirty="0">
              <a:latin typeface="+mn-lt"/>
            </a:endParaRPr>
          </a:p>
        </p:txBody>
      </p:sp>
      <p:pic>
        <p:nvPicPr>
          <p:cNvPr id="11266" name="Picture 2" descr="Each symbol is based on the standard latch symbol. Part ay: positive edge. The top left and bottom left segments intersect the rectangle at D and an arrow head labeled C l k, and the bottom right segment intersects the rectangle at a bubble. Part b: negative edge. The positive edge symbol with a bubble at C l k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199254"/>
            <a:ext cx="6858000" cy="2459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846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b="1" dirty="0" smtClean="0">
                <a:latin typeface="+mj-lt"/>
              </a:rPr>
              <a:t>Figure 5</a:t>
            </a:r>
            <a:r>
              <a:rPr lang="en-US" sz="2000" dirty="0" smtClean="0">
                <a:latin typeface="+mj-lt"/>
              </a:rPr>
              <a:t>.12</a:t>
            </a:r>
            <a:r>
              <a:rPr lang="en-US" sz="2000" b="1" dirty="0" smtClean="0">
                <a:latin typeface="+mj-lt"/>
              </a:rPr>
              <a:t/>
            </a:r>
            <a:br>
              <a:rPr lang="en-US" sz="2000" b="1" dirty="0" smtClean="0">
                <a:latin typeface="+mj-lt"/>
              </a:rPr>
            </a:br>
            <a:r>
              <a:rPr lang="en-IN" sz="2000" i="1" dirty="0">
                <a:latin typeface="+mn-lt"/>
              </a:rPr>
              <a:t>JK</a:t>
            </a:r>
            <a:r>
              <a:rPr lang="en-IN" sz="2000" dirty="0">
                <a:latin typeface="+mn-lt"/>
              </a:rPr>
              <a:t> </a:t>
            </a:r>
            <a:r>
              <a:rPr lang="en-IN" sz="2000" dirty="0" smtClean="0">
                <a:latin typeface="+mn-lt"/>
              </a:rPr>
              <a:t>flip-flop.</a:t>
            </a:r>
            <a:endParaRPr lang="en-US" sz="2000" dirty="0">
              <a:latin typeface="+mn-lt"/>
            </a:endParaRPr>
          </a:p>
        </p:txBody>
      </p:sp>
      <p:pic>
        <p:nvPicPr>
          <p:cNvPr id="12290" name="Picture 2" descr="Part ay: circuit diagram. The structure has three levels. Level 1. First and gate: inputs J and feedback Q prime. Second and gate: K prime and feedback Q. Level 2. Or gate: inputs from first and second level 1 and gates. Level 3. Positive edge latch: input from level 2 or gate at D. The latch produces outputs Q and Q prime corresponding to D and C l k. Part b: graphic symbol. The latch rectangle has the following inputs on its left side from top to bottom: J, arrowhead with C l k, and K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36268"/>
            <a:ext cx="8077200" cy="2983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3669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b="1" dirty="0" smtClean="0">
                <a:latin typeface="+mj-lt"/>
              </a:rPr>
              <a:t>Figure 5</a:t>
            </a:r>
            <a:r>
              <a:rPr lang="en-US" sz="2000" dirty="0" smtClean="0">
                <a:latin typeface="+mj-lt"/>
              </a:rPr>
              <a:t>.13</a:t>
            </a:r>
            <a:r>
              <a:rPr lang="en-US" sz="2000" b="1" dirty="0" smtClean="0">
                <a:latin typeface="+mj-lt"/>
              </a:rPr>
              <a:t/>
            </a:r>
            <a:br>
              <a:rPr lang="en-US" sz="2000" b="1" dirty="0" smtClean="0">
                <a:latin typeface="+mj-lt"/>
              </a:rPr>
            </a:br>
            <a:r>
              <a:rPr lang="en-IN" sz="2000" i="1" dirty="0">
                <a:latin typeface="+mn-lt"/>
              </a:rPr>
              <a:t>T</a:t>
            </a:r>
            <a:r>
              <a:rPr lang="en-IN" sz="2000" dirty="0" smtClean="0">
                <a:latin typeface="+mn-lt"/>
              </a:rPr>
              <a:t> flip-flop.</a:t>
            </a:r>
            <a:endParaRPr lang="en-US" sz="2000" dirty="0">
              <a:latin typeface="+mn-lt"/>
            </a:endParaRPr>
          </a:p>
        </p:txBody>
      </p:sp>
      <p:pic>
        <p:nvPicPr>
          <p:cNvPr id="13314" name="Picture 2" descr="Part ay: from J K flip flop. The J K flip flop receives T at J and K. Part b: from D flip flop. The latch receives input from an x or gate at D, and the x or gate receives T and output from the flip flop corresponding to D. part c: graphic symbol. The symbol is the D flip flop symbol with D replaced with T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258" y="2286001"/>
            <a:ext cx="8417484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2815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634044"/>
          </a:xfrm>
        </p:spPr>
        <p:txBody>
          <a:bodyPr/>
          <a:lstStyle/>
          <a:p>
            <a:r>
              <a:rPr lang="en-US" sz="2000" b="1" dirty="0" smtClean="0">
                <a:latin typeface="+mn-lt"/>
              </a:rPr>
              <a:t>Table 5</a:t>
            </a:r>
            <a:r>
              <a:rPr lang="en-US" sz="2000" dirty="0" smtClean="0">
                <a:latin typeface="+mn-lt"/>
              </a:rPr>
              <a:t>.1</a:t>
            </a:r>
            <a:r>
              <a:rPr lang="en-US" sz="2000" b="1" dirty="0" smtClean="0">
                <a:latin typeface="+mn-lt"/>
              </a:rPr>
              <a:t/>
            </a:r>
            <a:br>
              <a:rPr lang="en-US" sz="2000" b="1" dirty="0" smtClean="0">
                <a:latin typeface="+mn-lt"/>
              </a:rPr>
            </a:br>
            <a:r>
              <a:rPr lang="en-IN" sz="2000" dirty="0" smtClean="0">
                <a:latin typeface="+mn-lt"/>
              </a:rPr>
              <a:t>Flip-Flop </a:t>
            </a:r>
            <a:r>
              <a:rPr lang="en-IN" sz="2000" dirty="0">
                <a:latin typeface="+mn-lt"/>
              </a:rPr>
              <a:t>Characteristic </a:t>
            </a:r>
            <a:r>
              <a:rPr lang="en-IN" sz="2000" dirty="0" smtClean="0">
                <a:latin typeface="+mn-lt"/>
              </a:rPr>
              <a:t>Tables.</a:t>
            </a:r>
            <a:endParaRPr lang="en-US" sz="2000" dirty="0">
              <a:latin typeface="+mn-lt"/>
            </a:endParaRPr>
          </a:p>
        </p:txBody>
      </p:sp>
      <p:pic>
        <p:nvPicPr>
          <p:cNvPr id="14338" name="Picture 2" descr="Z:\NewMedia\Ebook-Novella\Wiley\jira\Mano_Ciletti6e\Work\Images\ch05\ciletti_6e_table_05_0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7207" y="1295400"/>
            <a:ext cx="5589588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5139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b="1" dirty="0" smtClean="0">
                <a:latin typeface="+mj-lt"/>
              </a:rPr>
              <a:t>Figure 5</a:t>
            </a:r>
            <a:r>
              <a:rPr lang="en-US" sz="2000" dirty="0" smtClean="0">
                <a:latin typeface="+mj-lt"/>
              </a:rPr>
              <a:t>.14</a:t>
            </a:r>
            <a:r>
              <a:rPr lang="en-US" sz="2000" b="1" dirty="0" smtClean="0">
                <a:latin typeface="+mj-lt"/>
              </a:rPr>
              <a:t/>
            </a:r>
            <a:br>
              <a:rPr lang="en-US" sz="2000" b="1" dirty="0" smtClean="0">
                <a:latin typeface="+mj-lt"/>
              </a:rPr>
            </a:br>
            <a:r>
              <a:rPr lang="en-IN" sz="2000" i="1" dirty="0" smtClean="0">
                <a:latin typeface="+mn-lt"/>
              </a:rPr>
              <a:t>D</a:t>
            </a:r>
            <a:r>
              <a:rPr lang="en-IN" sz="2000" dirty="0" smtClean="0">
                <a:latin typeface="+mn-lt"/>
              </a:rPr>
              <a:t> </a:t>
            </a:r>
            <a:r>
              <a:rPr lang="en-IN" sz="2000" dirty="0">
                <a:latin typeface="+mn-lt"/>
              </a:rPr>
              <a:t>flip-flop with asynchronous </a:t>
            </a:r>
            <a:r>
              <a:rPr lang="en-IN" sz="2000" dirty="0" smtClean="0">
                <a:latin typeface="+mn-lt"/>
              </a:rPr>
              <a:t>reset.</a:t>
            </a:r>
            <a:endParaRPr lang="en-US" sz="2000" dirty="0">
              <a:latin typeface="+mn-lt"/>
            </a:endParaRPr>
          </a:p>
        </p:txBody>
      </p:sp>
      <p:pic>
        <p:nvPicPr>
          <p:cNvPr id="15362" name="Picture 2" descr="Part ay: circuit diagram. The circuit has a structure similar to the D type positive edge triggered flip flop. However, an additional reset signal provides input to the second and fourth level 1 n and gates, as well as the second R-side n and gate in level 2. Part b: graphic symbol. The latch rectangle has inputs data and clock corresponding to outputs Q and Q prime, with additional control input reset, R, at a bubble on the bottom side of the rectangle. Part c: function table. The columns contain the following values from left to right: R, C l k, D, Q, Q prime. Row 1: 0, upper X, upper X, 0, 1. Row 2: 1, up arrow, 0, 0, 1. Row 3: 1, up arrow, 1, 1, 0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576" y="1219200"/>
            <a:ext cx="3742848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371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b="1" dirty="0" smtClean="0">
                <a:latin typeface="+mj-lt"/>
              </a:rPr>
              <a:t>Figure 5</a:t>
            </a:r>
            <a:r>
              <a:rPr lang="en-US" sz="2000" dirty="0" smtClean="0">
                <a:latin typeface="+mj-lt"/>
              </a:rPr>
              <a:t>.15</a:t>
            </a:r>
            <a:r>
              <a:rPr lang="en-US" sz="2000" b="1" dirty="0" smtClean="0">
                <a:latin typeface="+mj-lt"/>
              </a:rPr>
              <a:t/>
            </a:r>
            <a:br>
              <a:rPr lang="en-US" sz="2000" b="1" dirty="0" smtClean="0">
                <a:latin typeface="+mj-lt"/>
              </a:rPr>
            </a:br>
            <a:r>
              <a:rPr lang="en-IN" sz="2000" dirty="0" smtClean="0">
                <a:latin typeface="+mn-lt"/>
              </a:rPr>
              <a:t>Example </a:t>
            </a:r>
            <a:r>
              <a:rPr lang="en-IN" sz="2000" dirty="0">
                <a:latin typeface="+mn-lt"/>
              </a:rPr>
              <a:t>of sequential </a:t>
            </a:r>
            <a:r>
              <a:rPr lang="en-IN" sz="2000" dirty="0" smtClean="0">
                <a:latin typeface="+mn-lt"/>
              </a:rPr>
              <a:t>circuit.</a:t>
            </a:r>
            <a:endParaRPr lang="en-US" sz="2000" dirty="0">
              <a:latin typeface="+mn-lt"/>
            </a:endParaRPr>
          </a:p>
        </p:txBody>
      </p:sp>
      <p:pic>
        <p:nvPicPr>
          <p:cNvPr id="16386" name="Picture 2" descr="The circuit includes two D flip flops. Input x enters two and gates with outputs merging at an or gate. The output of the or gate enters the D terminal of the first flip flop. The Q terminal of the flip flop produces Ay, which feeds back to the first and gate, and the second and gate receives B, which is the Q-terminal output of the second flip flop. At the same time, the clock sends input to the first and second flip flops, producing outputs Ay prime and B prime. Ay prime becomes input for a third and gate leading to the D terminal of the second flip flop, which also receives x. In addition, Ay and B enter a second or gate, and the output of the or gate combines with the complement of x at an and gate, producing y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293175"/>
            <a:ext cx="4267200" cy="42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2779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634044"/>
          </a:xfrm>
        </p:spPr>
        <p:txBody>
          <a:bodyPr/>
          <a:lstStyle/>
          <a:p>
            <a:r>
              <a:rPr lang="en-US" sz="2000" b="1" dirty="0" smtClean="0">
                <a:latin typeface="+mn-lt"/>
              </a:rPr>
              <a:t>Table 5</a:t>
            </a:r>
            <a:r>
              <a:rPr lang="en-US" sz="2000" dirty="0" smtClean="0">
                <a:latin typeface="+mn-lt"/>
              </a:rPr>
              <a:t>.2</a:t>
            </a:r>
            <a:r>
              <a:rPr lang="en-US" sz="2000" b="1" dirty="0" smtClean="0">
                <a:latin typeface="+mn-lt"/>
              </a:rPr>
              <a:t/>
            </a:r>
            <a:br>
              <a:rPr lang="en-US" sz="2000" b="1" dirty="0" smtClean="0">
                <a:latin typeface="+mn-lt"/>
              </a:rPr>
            </a:br>
            <a:r>
              <a:rPr lang="en-IN" sz="2000" dirty="0" smtClean="0">
                <a:latin typeface="+mn-lt"/>
              </a:rPr>
              <a:t>State </a:t>
            </a:r>
            <a:r>
              <a:rPr lang="en-IN" sz="2000" dirty="0">
                <a:latin typeface="+mn-lt"/>
              </a:rPr>
              <a:t>Table for the Circuit of Fig. </a:t>
            </a:r>
            <a:r>
              <a:rPr lang="en-IN" sz="2000" dirty="0" smtClean="0">
                <a:latin typeface="+mn-lt"/>
              </a:rPr>
              <a:t>5.15.</a:t>
            </a:r>
            <a:endParaRPr lang="en-US" sz="2000" dirty="0">
              <a:latin typeface="+mn-lt"/>
            </a:endParaRPr>
          </a:p>
        </p:txBody>
      </p:sp>
      <p:pic>
        <p:nvPicPr>
          <p:cNvPr id="17410" name="Picture 2" descr="Z:\NewMedia\Ebook-Novella\Wiley\jira\Mano_Ciletti6e\Work\Images\ch05\ciletti_6e_table_05_0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372932"/>
            <a:ext cx="5943600" cy="411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1068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634044"/>
          </a:xfrm>
        </p:spPr>
        <p:txBody>
          <a:bodyPr/>
          <a:lstStyle/>
          <a:p>
            <a:r>
              <a:rPr lang="en-US" sz="2000" b="1" dirty="0" smtClean="0">
                <a:latin typeface="+mn-lt"/>
              </a:rPr>
              <a:t>Table 5</a:t>
            </a:r>
            <a:r>
              <a:rPr lang="en-US" sz="2000" dirty="0" smtClean="0">
                <a:latin typeface="+mn-lt"/>
              </a:rPr>
              <a:t>.3</a:t>
            </a:r>
            <a:r>
              <a:rPr lang="en-US" sz="2000" b="1" dirty="0" smtClean="0">
                <a:latin typeface="+mn-lt"/>
              </a:rPr>
              <a:t/>
            </a:r>
            <a:br>
              <a:rPr lang="en-US" sz="2000" b="1" dirty="0" smtClean="0">
                <a:latin typeface="+mn-lt"/>
              </a:rPr>
            </a:br>
            <a:r>
              <a:rPr lang="en-IN" sz="2000" dirty="0" smtClean="0">
                <a:latin typeface="+mn-lt"/>
              </a:rPr>
              <a:t>Second </a:t>
            </a:r>
            <a:r>
              <a:rPr lang="en-IN" sz="2000" dirty="0">
                <a:latin typeface="+mn-lt"/>
              </a:rPr>
              <a:t>Form of the State </a:t>
            </a:r>
            <a:r>
              <a:rPr lang="en-IN" sz="2000" dirty="0" smtClean="0">
                <a:latin typeface="+mn-lt"/>
              </a:rPr>
              <a:t>Table.</a:t>
            </a:r>
            <a:endParaRPr lang="en-US" sz="2000" dirty="0">
              <a:latin typeface="+mn-lt"/>
            </a:endParaRPr>
          </a:p>
        </p:txBody>
      </p:sp>
      <p:pic>
        <p:nvPicPr>
          <p:cNvPr id="18434" name="Picture 2" descr="Z:\NewMedia\Ebook-Novella\Wiley\jira\Mano_Ciletti6e\Work\Images\ch05\ciletti_6e_table_05_0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369" y="1905001"/>
            <a:ext cx="7773262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9259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b="1" dirty="0" smtClean="0">
                <a:latin typeface="+mj-lt"/>
              </a:rPr>
              <a:t>Figure 5</a:t>
            </a:r>
            <a:r>
              <a:rPr lang="en-US" sz="2000" dirty="0" smtClean="0">
                <a:latin typeface="+mj-lt"/>
              </a:rPr>
              <a:t>.16</a:t>
            </a:r>
            <a:r>
              <a:rPr lang="en-US" sz="2000" b="1" dirty="0" smtClean="0">
                <a:latin typeface="+mj-lt"/>
              </a:rPr>
              <a:t/>
            </a:r>
            <a:br>
              <a:rPr lang="en-US" sz="2000" b="1" dirty="0" smtClean="0">
                <a:latin typeface="+mj-lt"/>
              </a:rPr>
            </a:br>
            <a:r>
              <a:rPr lang="en-IN" sz="2000" dirty="0" smtClean="0">
                <a:latin typeface="+mn-lt"/>
              </a:rPr>
              <a:t>State </a:t>
            </a:r>
            <a:r>
              <a:rPr lang="en-IN" sz="2000" dirty="0">
                <a:latin typeface="+mn-lt"/>
              </a:rPr>
              <a:t>diagram of the circuit of Fig. </a:t>
            </a:r>
            <a:r>
              <a:rPr lang="en-IN" sz="2000" dirty="0" smtClean="0">
                <a:latin typeface="+mn-lt"/>
              </a:rPr>
              <a:t>5.15.</a:t>
            </a:r>
            <a:endParaRPr lang="en-US" sz="2000" dirty="0">
              <a:latin typeface="+mn-lt"/>
            </a:endParaRPr>
          </a:p>
        </p:txBody>
      </p:sp>
      <p:pic>
        <p:nvPicPr>
          <p:cNvPr id="19458" name="Picture 2" descr="The state diagram is a directed graph with states 0 0, 0 1, 1 0, and 1 1. The following list provides each path, followed by its value: 00 to 00, 0 slash 0; 0 0 to 0 1, 1 slash 0; 0 1 to 0 0, 0 slash 1; 0 1 to 1 1, 1 slash 0; 1 1 to 0 0, 0 slash 1; 1 1 to 1 0, 1 slash 0; 1 0 to 1 0, 1 slash 0; 1 0 to 0 0, 0 slash 1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494156"/>
            <a:ext cx="3962400" cy="3869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7880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b="1" dirty="0" smtClean="0">
                <a:latin typeface="+mj-lt"/>
              </a:rPr>
              <a:t>Figure 5</a:t>
            </a:r>
            <a:r>
              <a:rPr lang="en-US" sz="2000" dirty="0" smtClean="0">
                <a:latin typeface="+mj-lt"/>
              </a:rPr>
              <a:t>.17</a:t>
            </a:r>
            <a:r>
              <a:rPr lang="en-US" sz="2000" b="1" dirty="0" smtClean="0">
                <a:latin typeface="+mj-lt"/>
              </a:rPr>
              <a:t/>
            </a:r>
            <a:br>
              <a:rPr lang="en-US" sz="2000" b="1" dirty="0" smtClean="0">
                <a:latin typeface="+mj-lt"/>
              </a:rPr>
            </a:br>
            <a:r>
              <a:rPr lang="en-IN" sz="2000" dirty="0" smtClean="0">
                <a:latin typeface="+mn-lt"/>
              </a:rPr>
              <a:t>Sequential </a:t>
            </a:r>
            <a:r>
              <a:rPr lang="en-IN" sz="2000" dirty="0">
                <a:latin typeface="+mn-lt"/>
              </a:rPr>
              <a:t>circuit with </a:t>
            </a:r>
            <a:r>
              <a:rPr lang="en-IN" sz="2000" i="1" dirty="0">
                <a:latin typeface="+mn-lt"/>
              </a:rPr>
              <a:t>D</a:t>
            </a:r>
            <a:r>
              <a:rPr lang="en-IN" sz="2000" dirty="0">
                <a:latin typeface="+mn-lt"/>
              </a:rPr>
              <a:t> </a:t>
            </a:r>
            <a:r>
              <a:rPr lang="en-IN" sz="2000" dirty="0" smtClean="0">
                <a:latin typeface="+mn-lt"/>
              </a:rPr>
              <a:t>flip-flop.</a:t>
            </a:r>
            <a:endParaRPr lang="en-US" sz="2000" dirty="0">
              <a:latin typeface="+mn-lt"/>
            </a:endParaRPr>
          </a:p>
        </p:txBody>
      </p:sp>
      <p:pic>
        <p:nvPicPr>
          <p:cNvPr id="20483" name="Picture 3" descr="Part ay: circuit diagram. Inputs x and y enter an x or gate, which outputs to a second x or gate, leading to the D terminal of the D flip flop. The flip flop also receives input from the cock, while outputting Ay, which feedback back to the second x or gate. Part b: state table. The table has columns for the following values: present state Ay, inputs x and y, next state Ay. The row entries are as follows: row 1, 0, 0 and 0, 0; row 2, 0, 0 and 1, 0; row 3, 0, 1 and 0, 1; row 4,0, 1 and 1, 0; row 5,1 0 and 0, 1; row 6, 1, 0 and 1, 0; row 7, 1, 1 and 0, 0; row 8, 1, 1 and 1, 1. Part c: state diagram. The diagram has states 0 and 1. The following list provides each path, followed by its value: 0 to 0, 0 0, 1 1; 0 to 1, 0 1, 1 0; 1 to 1, 0 0, 1 1; 1 to 0, 0 1, 1 0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859" y="1447800"/>
            <a:ext cx="6024282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8635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b="1" dirty="0" smtClean="0">
                <a:latin typeface="+mj-lt"/>
              </a:rPr>
              <a:t>Figure 5</a:t>
            </a:r>
            <a:r>
              <a:rPr lang="en-US" sz="2000" dirty="0" smtClean="0">
                <a:latin typeface="+mj-lt"/>
              </a:rPr>
              <a:t>.18</a:t>
            </a:r>
            <a:r>
              <a:rPr lang="en-US" sz="2000" b="1" dirty="0" smtClean="0">
                <a:latin typeface="+mj-lt"/>
              </a:rPr>
              <a:t/>
            </a:r>
            <a:br>
              <a:rPr lang="en-US" sz="2000" b="1" dirty="0" smtClean="0">
                <a:latin typeface="+mj-lt"/>
              </a:rPr>
            </a:br>
            <a:r>
              <a:rPr lang="en-IN" sz="2000" dirty="0">
                <a:latin typeface="+mn-lt"/>
              </a:rPr>
              <a:t>Sequential circuit with </a:t>
            </a:r>
            <a:r>
              <a:rPr lang="en-IN" sz="2000" i="1" dirty="0">
                <a:latin typeface="+mn-lt"/>
              </a:rPr>
              <a:t>JK</a:t>
            </a:r>
            <a:r>
              <a:rPr lang="en-IN" sz="2000" dirty="0">
                <a:latin typeface="+mn-lt"/>
              </a:rPr>
              <a:t> </a:t>
            </a:r>
            <a:r>
              <a:rPr lang="en-IN" sz="2000" dirty="0" smtClean="0">
                <a:latin typeface="+mn-lt"/>
              </a:rPr>
              <a:t>flip-flop.</a:t>
            </a:r>
            <a:endParaRPr lang="en-US" sz="2000" dirty="0">
              <a:latin typeface="+mn-lt"/>
            </a:endParaRPr>
          </a:p>
        </p:txBody>
      </p:sp>
      <p:pic>
        <p:nvPicPr>
          <p:cNvPr id="21506" name="Picture 2" descr="Input x flows through an inverter to an and gate wired to the K terminal of the first J K flip flop, and to the J terminal of the second J K flip flop. Input x flows directly to an x or gate wired to the K terminal of the second J K flip flop. The second flip flop produces output B, which feeds back to the and gate and to the J terminal of the first J K flip flop. The first flip flop in turn produces output Ay, which feeds back to the x or gate. Both flip flops receive clock input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304" y="1371600"/>
            <a:ext cx="6599392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5250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634044"/>
          </a:xfrm>
        </p:spPr>
        <p:txBody>
          <a:bodyPr/>
          <a:lstStyle/>
          <a:p>
            <a:r>
              <a:rPr lang="en-US" sz="2000" b="1" dirty="0" smtClean="0">
                <a:latin typeface="+mn-lt"/>
              </a:rPr>
              <a:t>Table 5</a:t>
            </a:r>
            <a:r>
              <a:rPr lang="en-US" sz="2000" dirty="0" smtClean="0">
                <a:latin typeface="+mn-lt"/>
              </a:rPr>
              <a:t>.4</a:t>
            </a:r>
            <a:r>
              <a:rPr lang="en-US" sz="2000" b="1" dirty="0" smtClean="0">
                <a:latin typeface="+mn-lt"/>
              </a:rPr>
              <a:t/>
            </a:r>
            <a:br>
              <a:rPr lang="en-US" sz="2000" b="1" dirty="0" smtClean="0">
                <a:latin typeface="+mn-lt"/>
              </a:rPr>
            </a:br>
            <a:r>
              <a:rPr lang="en-IN" sz="2000" dirty="0" smtClean="0">
                <a:latin typeface="+mn-lt"/>
              </a:rPr>
              <a:t>State </a:t>
            </a:r>
            <a:r>
              <a:rPr lang="en-IN" sz="2000" dirty="0">
                <a:latin typeface="+mn-lt"/>
              </a:rPr>
              <a:t>Table for Sequential Circuit with JK </a:t>
            </a:r>
            <a:r>
              <a:rPr lang="en-IN" sz="2000" dirty="0" smtClean="0">
                <a:latin typeface="+mn-lt"/>
              </a:rPr>
              <a:t>Flip-Flops.</a:t>
            </a:r>
            <a:endParaRPr lang="en-US" sz="2000" dirty="0">
              <a:latin typeface="+mn-lt"/>
            </a:endParaRPr>
          </a:p>
        </p:txBody>
      </p:sp>
      <p:pic>
        <p:nvPicPr>
          <p:cNvPr id="22530" name="Picture 2" descr="Z:\NewMedia\Ebook-Novella\Wiley\jira\Mano_Ciletti6e\Work\Images\ch05\ciletti_6e_table_05_0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87979"/>
            <a:ext cx="7315200" cy="3282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8030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b="1" dirty="0" smtClean="0">
                <a:latin typeface="+mj-lt"/>
              </a:rPr>
              <a:t>Figure 5</a:t>
            </a:r>
            <a:r>
              <a:rPr lang="en-US" sz="2000" dirty="0" smtClean="0">
                <a:latin typeface="+mj-lt"/>
              </a:rPr>
              <a:t>.19</a:t>
            </a:r>
            <a:r>
              <a:rPr lang="en-US" sz="2000" b="1" dirty="0" smtClean="0">
                <a:latin typeface="+mj-lt"/>
              </a:rPr>
              <a:t/>
            </a:r>
            <a:br>
              <a:rPr lang="en-US" sz="2000" b="1" dirty="0" smtClean="0">
                <a:latin typeface="+mj-lt"/>
              </a:rPr>
            </a:br>
            <a:r>
              <a:rPr lang="en-IN" sz="2000" dirty="0">
                <a:latin typeface="+mn-lt"/>
              </a:rPr>
              <a:t>State diagram of the circuit of Fig. </a:t>
            </a:r>
            <a:r>
              <a:rPr lang="en-IN" sz="2000" dirty="0" smtClean="0">
                <a:latin typeface="+mn-lt"/>
              </a:rPr>
              <a:t>5.18.</a:t>
            </a:r>
            <a:endParaRPr lang="en-US" sz="2000" dirty="0">
              <a:latin typeface="+mn-lt"/>
            </a:endParaRPr>
          </a:p>
        </p:txBody>
      </p:sp>
      <p:pic>
        <p:nvPicPr>
          <p:cNvPr id="23554" name="Picture 2" descr="A state diagram for a circuit. The circuit has the following four states: S 0 = 0 0, S 1 = 0 1, S 2 = 1 0, and S 3 = 1 1. The paths with value 0 are as follows: S 0 to S 1, S 1 to S 3, S 2 to S 3, S 3 to S 0. The paths with value 1 are as follows: S 0 to S 0, S 1 to S 2, S 2 to S 2, S 3 to S 3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338943"/>
            <a:ext cx="3657600" cy="4180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1908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b="1" dirty="0" smtClean="0">
                <a:latin typeface="+mj-lt"/>
              </a:rPr>
              <a:t>Figure 5</a:t>
            </a:r>
            <a:r>
              <a:rPr lang="en-US" sz="2000" dirty="0" smtClean="0">
                <a:latin typeface="+mj-lt"/>
              </a:rPr>
              <a:t>.20</a:t>
            </a:r>
            <a:r>
              <a:rPr lang="en-US" sz="2000" b="1" dirty="0" smtClean="0">
                <a:latin typeface="+mj-lt"/>
              </a:rPr>
              <a:t/>
            </a:r>
            <a:br>
              <a:rPr lang="en-US" sz="2000" b="1" dirty="0" smtClean="0">
                <a:latin typeface="+mj-lt"/>
              </a:rPr>
            </a:br>
            <a:r>
              <a:rPr lang="en-IN" sz="2000" dirty="0" smtClean="0">
                <a:latin typeface="+mn-lt"/>
              </a:rPr>
              <a:t>Sequential </a:t>
            </a:r>
            <a:r>
              <a:rPr lang="en-IN" sz="2000" dirty="0">
                <a:latin typeface="+mn-lt"/>
              </a:rPr>
              <a:t>circuit with T flip-flops (Binary Counter</a:t>
            </a:r>
            <a:r>
              <a:rPr lang="en-IN" sz="2000" dirty="0" smtClean="0">
                <a:latin typeface="+mn-lt"/>
              </a:rPr>
              <a:t>).</a:t>
            </a:r>
            <a:endParaRPr lang="en-US" sz="2000" dirty="0">
              <a:latin typeface="+mn-lt"/>
            </a:endParaRPr>
          </a:p>
        </p:txBody>
      </p:sp>
      <p:pic>
        <p:nvPicPr>
          <p:cNvPr id="24578" name="Picture 2" descr="Part ay: circuit diagram. Input x flows into an and gate wired to the T terminal of the first flip flop, and x flows into the T terminal of the second flip flop. Each flip flop also receives clock input at C l k, and reset input at R. The first and second flip flops send outputs Ay and B to a second and gate, which outputs y. B also feeds back to the first and gate. Part b: state diagram. The circuit has four states: 0 0 slash 0, 0 1 slash 0, 1 0 slash 0, 1 1 slash 1. Each looping path from one state to itself has value 0, all other paths have value 1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320" y="1447800"/>
            <a:ext cx="5653360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7254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634044"/>
          </a:xfrm>
        </p:spPr>
        <p:txBody>
          <a:bodyPr/>
          <a:lstStyle/>
          <a:p>
            <a:r>
              <a:rPr lang="en-US" sz="2000" b="1" dirty="0" smtClean="0">
                <a:latin typeface="+mn-lt"/>
              </a:rPr>
              <a:t>Table 5</a:t>
            </a:r>
            <a:r>
              <a:rPr lang="en-US" sz="2000" dirty="0" smtClean="0">
                <a:latin typeface="+mn-lt"/>
              </a:rPr>
              <a:t>.5</a:t>
            </a:r>
            <a:r>
              <a:rPr lang="en-US" sz="2000" b="1" dirty="0" smtClean="0">
                <a:latin typeface="+mn-lt"/>
              </a:rPr>
              <a:t/>
            </a:r>
            <a:br>
              <a:rPr lang="en-US" sz="2000" b="1" dirty="0" smtClean="0">
                <a:latin typeface="+mn-lt"/>
              </a:rPr>
            </a:br>
            <a:r>
              <a:rPr lang="en-IN" sz="2000" dirty="0" smtClean="0">
                <a:latin typeface="+mn-lt"/>
              </a:rPr>
              <a:t>State </a:t>
            </a:r>
            <a:r>
              <a:rPr lang="en-IN" sz="2000" dirty="0">
                <a:latin typeface="+mn-lt"/>
              </a:rPr>
              <a:t>Table for Sequential Circuit with T </a:t>
            </a:r>
            <a:r>
              <a:rPr lang="en-IN" sz="2000" dirty="0" smtClean="0">
                <a:latin typeface="+mn-lt"/>
              </a:rPr>
              <a:t>Flip-Flops.</a:t>
            </a:r>
            <a:endParaRPr lang="en-US" sz="2000" dirty="0">
              <a:latin typeface="+mn-lt"/>
            </a:endParaRPr>
          </a:p>
        </p:txBody>
      </p:sp>
      <p:pic>
        <p:nvPicPr>
          <p:cNvPr id="25602" name="Picture 2" descr="Z:\NewMedia\Ebook-Novella\Wiley\jira\Mano_Ciletti6e\Work\Images\ch05\ciletti_6e_table_05_0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905" y="1447800"/>
            <a:ext cx="6916190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1098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b="1" dirty="0" smtClean="0">
                <a:latin typeface="+mj-lt"/>
              </a:rPr>
              <a:t>Figure 5</a:t>
            </a:r>
            <a:r>
              <a:rPr lang="en-US" sz="2000" dirty="0" smtClean="0">
                <a:latin typeface="+mj-lt"/>
              </a:rPr>
              <a:t>.21</a:t>
            </a:r>
            <a:r>
              <a:rPr lang="en-US" sz="2000" b="1" dirty="0" smtClean="0">
                <a:latin typeface="+mj-lt"/>
              </a:rPr>
              <a:t/>
            </a:r>
            <a:br>
              <a:rPr lang="en-US" sz="2000" b="1" dirty="0" smtClean="0">
                <a:latin typeface="+mj-lt"/>
              </a:rPr>
            </a:br>
            <a:r>
              <a:rPr lang="en-IN" sz="2000" dirty="0" smtClean="0">
                <a:latin typeface="+mn-lt"/>
              </a:rPr>
              <a:t>Block </a:t>
            </a:r>
            <a:r>
              <a:rPr lang="en-IN" sz="2000" dirty="0">
                <a:latin typeface="+mn-lt"/>
              </a:rPr>
              <a:t>diagrams of Mealy and Moore state </a:t>
            </a:r>
            <a:r>
              <a:rPr lang="en-IN" sz="2000" dirty="0" smtClean="0">
                <a:latin typeface="+mn-lt"/>
              </a:rPr>
              <a:t>machines.</a:t>
            </a:r>
            <a:endParaRPr lang="en-US" sz="2000" dirty="0">
              <a:latin typeface="+mn-lt"/>
            </a:endParaRPr>
          </a:p>
        </p:txBody>
      </p:sp>
      <p:pic>
        <p:nvPicPr>
          <p:cNvPr id="26626" name="Picture 2" descr="Part ay: Mealy machine. The initial inputs flow to the next state combinatorial logic and to the output combinatorial logic. Signals then flow from the next state logic through the clock-attached state register to the output logic, which generates Mealy-type outputs. The state register output is also fed back to the next state logic. Part b: Moore machine. This machine has the same basic structure as the Mealy machine, but the initial inputs do not advance directly to the output logic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334804"/>
            <a:ext cx="6553200" cy="4188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1896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b="1" dirty="0" smtClean="0">
                <a:latin typeface="+mj-lt"/>
              </a:rPr>
              <a:t>Figure 5</a:t>
            </a:r>
            <a:r>
              <a:rPr lang="en-US" sz="2000" dirty="0" smtClean="0">
                <a:latin typeface="+mj-lt"/>
              </a:rPr>
              <a:t>.22</a:t>
            </a:r>
            <a:r>
              <a:rPr lang="en-US" sz="2000" b="1" dirty="0" smtClean="0">
                <a:latin typeface="+mj-lt"/>
              </a:rPr>
              <a:t/>
            </a:r>
            <a:br>
              <a:rPr lang="en-US" sz="2000" b="1" dirty="0" smtClean="0">
                <a:latin typeface="+mj-lt"/>
              </a:rPr>
            </a:br>
            <a:r>
              <a:rPr lang="en-IN" sz="2000" dirty="0" smtClean="0">
                <a:latin typeface="+mn-lt"/>
              </a:rPr>
              <a:t>Simulation </a:t>
            </a:r>
            <a:r>
              <a:rPr lang="en-IN" sz="2000" dirty="0">
                <a:latin typeface="+mn-lt"/>
              </a:rPr>
              <a:t>output of </a:t>
            </a:r>
            <a:r>
              <a:rPr lang="en-IN" sz="2000" i="1" dirty="0" err="1" smtClean="0">
                <a:latin typeface="+mn-lt"/>
              </a:rPr>
              <a:t>Mealy_Zero_Detector</a:t>
            </a:r>
            <a:r>
              <a:rPr lang="en-IN" sz="2000" dirty="0" smtClean="0">
                <a:latin typeface="+mn-lt"/>
              </a:rPr>
              <a:t>.</a:t>
            </a:r>
            <a:endParaRPr lang="en-US" sz="2000" dirty="0">
              <a:latin typeface="+mn-lt"/>
            </a:endParaRPr>
          </a:p>
        </p:txBody>
      </p:sp>
      <p:pic>
        <p:nvPicPr>
          <p:cNvPr id="27650" name="Picture 2" descr="The test bench output includes waveforms and related data for t clock, t reset, t x in, state 1 0, next state 1 0, and t y out. Valid Mealy outputs are identified at three points. First valid output: t x in = 1, state 1 0 between S 1 and S 3, next state 1 0 between 3 and 2, t y out = 0. Second valid output: t x in = 0, state 1 0 between S 3 and S 0, next state 1 0 at 0, t y out = 1. Third valid output: t x in = 1, state 1 0 between S 0 and S 1, next state 1 0 between 1 and 3, t y out = 0. The test bench output also includes a Mealy glitch: t x in = 0, state 1 0 at S 1, next state 1 0 at unidentified state, t y out = 1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699" y="1293813"/>
            <a:ext cx="7388602" cy="4268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1860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b="1" dirty="0" smtClean="0">
                <a:latin typeface="+mj-lt"/>
              </a:rPr>
              <a:t>Figure 5</a:t>
            </a:r>
            <a:r>
              <a:rPr lang="en-US" sz="2000" dirty="0" smtClean="0">
                <a:latin typeface="+mj-lt"/>
              </a:rPr>
              <a:t>.23</a:t>
            </a:r>
            <a:r>
              <a:rPr lang="en-US" sz="2000" b="1" dirty="0" smtClean="0">
                <a:latin typeface="+mj-lt"/>
              </a:rPr>
              <a:t/>
            </a:r>
            <a:br>
              <a:rPr lang="en-US" sz="2000" b="1" dirty="0" smtClean="0">
                <a:latin typeface="+mj-lt"/>
              </a:rPr>
            </a:br>
            <a:r>
              <a:rPr lang="en-IN" sz="2000" dirty="0" smtClean="0">
                <a:latin typeface="+mn-lt"/>
              </a:rPr>
              <a:t>Simulation output </a:t>
            </a:r>
            <a:r>
              <a:rPr lang="en-IN" sz="2000" dirty="0">
                <a:latin typeface="+mn-lt"/>
              </a:rPr>
              <a:t>of HDL Example </a:t>
            </a:r>
            <a:r>
              <a:rPr lang="en-IN" sz="2000" dirty="0" smtClean="0">
                <a:latin typeface="+mn-lt"/>
              </a:rPr>
              <a:t>5.6.</a:t>
            </a:r>
            <a:endParaRPr lang="en-US" sz="2000" dirty="0">
              <a:latin typeface="+mn-lt"/>
            </a:endParaRPr>
          </a:p>
        </p:txBody>
      </p:sp>
      <p:pic>
        <p:nvPicPr>
          <p:cNvPr id="28674" name="Picture 2" descr="The test bench output includes results for t clock, t reset, t x in, state 1 o, and t y out 1 0. In the square waveform for t reset, a reset on the fly is indicated by a vertical drop from 1 to 0, followed by a comparatively short interval at 0. This reset corresponds to t x in = 1, and the start of interval 0 in both state 1 0 and t y out 1 0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887821"/>
            <a:ext cx="7772400" cy="3082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6746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b="1" dirty="0" smtClean="0">
                <a:latin typeface="+mj-lt"/>
              </a:rPr>
              <a:t>Figure 5</a:t>
            </a:r>
            <a:r>
              <a:rPr lang="en-US" sz="2000" dirty="0" smtClean="0">
                <a:latin typeface="+mj-lt"/>
              </a:rPr>
              <a:t>.24</a:t>
            </a:r>
            <a:r>
              <a:rPr lang="en-US" sz="2000" b="1" dirty="0" smtClean="0">
                <a:latin typeface="+mj-lt"/>
              </a:rPr>
              <a:t/>
            </a:r>
            <a:br>
              <a:rPr lang="en-US" sz="2000" b="1" dirty="0" smtClean="0">
                <a:latin typeface="+mj-lt"/>
              </a:rPr>
            </a:br>
            <a:r>
              <a:rPr lang="en-IN" sz="2000" dirty="0" smtClean="0">
                <a:latin typeface="+mn-lt"/>
              </a:rPr>
              <a:t>Simulation </a:t>
            </a:r>
            <a:r>
              <a:rPr lang="en-IN" sz="2000" dirty="0">
                <a:latin typeface="+mn-lt"/>
              </a:rPr>
              <a:t>output of HDL Example </a:t>
            </a:r>
            <a:r>
              <a:rPr lang="en-IN" sz="2000" dirty="0" smtClean="0">
                <a:latin typeface="+mn-lt"/>
              </a:rPr>
              <a:t>5.7.</a:t>
            </a:r>
            <a:endParaRPr lang="en-US" sz="2000" dirty="0">
              <a:latin typeface="+mn-lt"/>
            </a:endParaRPr>
          </a:p>
        </p:txBody>
      </p:sp>
      <p:pic>
        <p:nvPicPr>
          <p:cNvPr id="29698" name="Picture 2" descr="Starting at t = 15, t x in alternates between 10-unit intervals at 1 and 0. The following list provides the time intervals during which each output has value 1: t y out 1, 60 to 80; t y out 2, 60 to 80; Ay, 40 to 80; B, 20 to 40, 60 to 80. All values estimated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311" y="1598614"/>
            <a:ext cx="8095378" cy="3659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1931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b="1" dirty="0" smtClean="0">
                <a:latin typeface="+mj-lt"/>
              </a:rPr>
              <a:t>Figure 5</a:t>
            </a:r>
            <a:r>
              <a:rPr lang="en-US" sz="2000" dirty="0" smtClean="0">
                <a:latin typeface="+mj-lt"/>
              </a:rPr>
              <a:t>.25</a:t>
            </a:r>
            <a:r>
              <a:rPr lang="en-US" sz="2000" b="1" dirty="0" smtClean="0">
                <a:latin typeface="+mj-lt"/>
              </a:rPr>
              <a:t/>
            </a:r>
            <a:br>
              <a:rPr lang="en-US" sz="2000" b="1" dirty="0" smtClean="0">
                <a:latin typeface="+mj-lt"/>
              </a:rPr>
            </a:br>
            <a:r>
              <a:rPr lang="en-IN" sz="2000" dirty="0" smtClean="0">
                <a:latin typeface="+mn-lt"/>
              </a:rPr>
              <a:t>State diagram.</a:t>
            </a:r>
            <a:endParaRPr lang="en-US" sz="2000" dirty="0">
              <a:latin typeface="+mn-lt"/>
            </a:endParaRPr>
          </a:p>
        </p:txBody>
      </p:sp>
      <p:pic>
        <p:nvPicPr>
          <p:cNvPr id="30722" name="Picture 2" descr="The circuit has 7 states, ay to f. The paths are as follows: ay to ay, 0 slash 0; ay to b, 1 slash 0; b to c, 0 slash 0; c to ay, 0 slash 0; c to d, 1 slash 0; b to d, 1 slash 0; d to e, 0 slash 0; d to f, 1 slash 1; e to ay, 0 slash 0; e to f, 1 slash 1; f to f, 1 slash 1; f to g, 0 slash 0; g to f, 1 slash 1; g to ay, 0 slash 0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4013" y="1137850"/>
            <a:ext cx="3354388" cy="458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5138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634044"/>
          </a:xfrm>
        </p:spPr>
        <p:txBody>
          <a:bodyPr/>
          <a:lstStyle/>
          <a:p>
            <a:r>
              <a:rPr lang="en-US" sz="2000" b="1" dirty="0" smtClean="0">
                <a:latin typeface="+mn-lt"/>
              </a:rPr>
              <a:t>Table 5</a:t>
            </a:r>
            <a:r>
              <a:rPr lang="en-US" sz="2000" dirty="0" smtClean="0">
                <a:latin typeface="+mn-lt"/>
              </a:rPr>
              <a:t>.6</a:t>
            </a:r>
            <a:r>
              <a:rPr lang="en-US" sz="2000" b="1" dirty="0" smtClean="0">
                <a:latin typeface="+mn-lt"/>
              </a:rPr>
              <a:t/>
            </a:r>
            <a:br>
              <a:rPr lang="en-US" sz="2000" b="1" dirty="0" smtClean="0">
                <a:latin typeface="+mn-lt"/>
              </a:rPr>
            </a:br>
            <a:r>
              <a:rPr lang="en-IN" sz="2000" dirty="0" smtClean="0">
                <a:latin typeface="+mn-lt"/>
              </a:rPr>
              <a:t>State Table.</a:t>
            </a:r>
            <a:endParaRPr lang="en-US" sz="2000" dirty="0">
              <a:latin typeface="+mn-lt"/>
            </a:endParaRPr>
          </a:p>
        </p:txBody>
      </p:sp>
      <p:pic>
        <p:nvPicPr>
          <p:cNvPr id="31746" name="Picture 2" descr="Z:\NewMedia\Ebook-Novella\Wiley\jira\Mano_Ciletti6e\Work\Images\ch05\ciletti_6e_table_05_0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777" y="1827213"/>
            <a:ext cx="6708446" cy="3201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6284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634044"/>
          </a:xfrm>
        </p:spPr>
        <p:txBody>
          <a:bodyPr/>
          <a:lstStyle/>
          <a:p>
            <a:r>
              <a:rPr lang="en-US" sz="2000" b="1" dirty="0" smtClean="0">
                <a:latin typeface="+mn-lt"/>
              </a:rPr>
              <a:t>Table 5</a:t>
            </a:r>
            <a:r>
              <a:rPr lang="en-US" sz="2000" dirty="0" smtClean="0">
                <a:latin typeface="+mn-lt"/>
              </a:rPr>
              <a:t>.7</a:t>
            </a:r>
            <a:r>
              <a:rPr lang="en-US" sz="2000" b="1" dirty="0" smtClean="0">
                <a:latin typeface="+mn-lt"/>
              </a:rPr>
              <a:t/>
            </a:r>
            <a:br>
              <a:rPr lang="en-US" sz="2000" b="1" dirty="0" smtClean="0">
                <a:latin typeface="+mn-lt"/>
              </a:rPr>
            </a:br>
            <a:r>
              <a:rPr lang="en-IN" sz="2000" dirty="0">
                <a:latin typeface="+mn-lt"/>
              </a:rPr>
              <a:t>Reducing the </a:t>
            </a:r>
            <a:r>
              <a:rPr lang="en-IN" sz="2000" dirty="0" smtClean="0">
                <a:latin typeface="+mn-lt"/>
              </a:rPr>
              <a:t>State Table.</a:t>
            </a:r>
            <a:endParaRPr lang="en-US" sz="2000" dirty="0">
              <a:latin typeface="+mn-lt"/>
            </a:endParaRPr>
          </a:p>
        </p:txBody>
      </p:sp>
      <p:pic>
        <p:nvPicPr>
          <p:cNvPr id="32770" name="Picture 2" descr="Z:\NewMedia\Ebook-Novella\Wiley\jira\Mano_Ciletti6e\Work\Images\ch05\ciletti_6e_table_05_0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8800"/>
            <a:ext cx="74676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4378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b="1" dirty="0" smtClean="0">
                <a:latin typeface="+mj-lt"/>
              </a:rPr>
              <a:t>Figure 5</a:t>
            </a:r>
            <a:r>
              <a:rPr lang="en-US" sz="2000" dirty="0" smtClean="0">
                <a:latin typeface="+mj-lt"/>
              </a:rPr>
              <a:t>.26</a:t>
            </a:r>
            <a:r>
              <a:rPr lang="en-US" sz="2000" b="1" dirty="0" smtClean="0">
                <a:latin typeface="+mj-lt"/>
              </a:rPr>
              <a:t/>
            </a:r>
            <a:br>
              <a:rPr lang="en-US" sz="2000" b="1" dirty="0" smtClean="0">
                <a:latin typeface="+mj-lt"/>
              </a:rPr>
            </a:br>
            <a:r>
              <a:rPr lang="en-IN" sz="2000" dirty="0">
                <a:latin typeface="+mn-lt"/>
              </a:rPr>
              <a:t>Reduced</a:t>
            </a:r>
            <a:r>
              <a:rPr lang="en-IN" sz="2000" dirty="0" smtClean="0"/>
              <a:t> </a:t>
            </a:r>
            <a:r>
              <a:rPr lang="en-IN" sz="2000" dirty="0" smtClean="0">
                <a:latin typeface="+mn-lt"/>
              </a:rPr>
              <a:t>State diagram.</a:t>
            </a:r>
            <a:endParaRPr lang="en-US" sz="2000" dirty="0">
              <a:latin typeface="+mn-lt"/>
            </a:endParaRPr>
          </a:p>
        </p:txBody>
      </p:sp>
      <p:pic>
        <p:nvPicPr>
          <p:cNvPr id="33794" name="Picture 2" descr="The circuit have 5 states ay to e. The paths and their values are as follows: ay to ay, 0 slash 0; ay to b, 1 slash 0; b to c, 0 slash 0; c to ay, 0 slash 0; b to d, 1 slash 0; c to d, 1 slash 0; d to d, 1 slash 1; d to e, 0 slash 0; e to d, 1 slash 1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3750" y="1295400"/>
            <a:ext cx="3754914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2553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634044"/>
          </a:xfrm>
        </p:spPr>
        <p:txBody>
          <a:bodyPr/>
          <a:lstStyle/>
          <a:p>
            <a:r>
              <a:rPr lang="en-US" sz="2000" b="1" dirty="0" smtClean="0">
                <a:latin typeface="+mn-lt"/>
              </a:rPr>
              <a:t>Table 5</a:t>
            </a:r>
            <a:r>
              <a:rPr lang="en-US" sz="2000" dirty="0" smtClean="0">
                <a:latin typeface="+mn-lt"/>
              </a:rPr>
              <a:t>.8</a:t>
            </a:r>
            <a:r>
              <a:rPr lang="en-US" sz="2000" b="1" dirty="0" smtClean="0">
                <a:latin typeface="+mn-lt"/>
              </a:rPr>
              <a:t/>
            </a:r>
            <a:br>
              <a:rPr lang="en-US" sz="2000" b="1" dirty="0" smtClean="0">
                <a:latin typeface="+mn-lt"/>
              </a:rPr>
            </a:br>
            <a:r>
              <a:rPr lang="en-IN" sz="2000" dirty="0" smtClean="0">
                <a:latin typeface="+mn-lt"/>
              </a:rPr>
              <a:t>Reduced </a:t>
            </a:r>
            <a:r>
              <a:rPr lang="en-IN" sz="2000" dirty="0">
                <a:latin typeface="+mn-lt"/>
              </a:rPr>
              <a:t>the </a:t>
            </a:r>
            <a:r>
              <a:rPr lang="en-IN" sz="2000" dirty="0" smtClean="0">
                <a:latin typeface="+mn-lt"/>
              </a:rPr>
              <a:t>State Table.</a:t>
            </a:r>
            <a:endParaRPr lang="en-US" sz="2000" dirty="0">
              <a:latin typeface="+mn-lt"/>
            </a:endParaRPr>
          </a:p>
        </p:txBody>
      </p:sp>
      <p:pic>
        <p:nvPicPr>
          <p:cNvPr id="34818" name="Picture 2" descr="Z:\NewMedia\Ebook-Novella\Wiley\jira\Mano_Ciletti6e\Work\Images\ch05\ciletti_6e_table_05_0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959" y="1903413"/>
            <a:ext cx="7920082" cy="304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4193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634044"/>
          </a:xfrm>
        </p:spPr>
        <p:txBody>
          <a:bodyPr/>
          <a:lstStyle/>
          <a:p>
            <a:r>
              <a:rPr lang="en-US" sz="2000" b="1" dirty="0" smtClean="0">
                <a:latin typeface="+mn-lt"/>
              </a:rPr>
              <a:t>Table 5</a:t>
            </a:r>
            <a:r>
              <a:rPr lang="en-US" sz="2000" dirty="0" smtClean="0">
                <a:latin typeface="+mn-lt"/>
              </a:rPr>
              <a:t>.9</a:t>
            </a:r>
            <a:r>
              <a:rPr lang="en-US" sz="2000" b="1" dirty="0" smtClean="0">
                <a:latin typeface="+mn-lt"/>
              </a:rPr>
              <a:t/>
            </a:r>
            <a:br>
              <a:rPr lang="en-US" sz="2000" b="1" dirty="0" smtClean="0">
                <a:latin typeface="+mn-lt"/>
              </a:rPr>
            </a:br>
            <a:r>
              <a:rPr lang="en-IN" sz="2000" dirty="0">
                <a:latin typeface="+mn-lt"/>
              </a:rPr>
              <a:t>Three Possible Binary State </a:t>
            </a:r>
            <a:r>
              <a:rPr lang="en-IN" sz="2000" dirty="0" smtClean="0">
                <a:latin typeface="+mn-lt"/>
              </a:rPr>
              <a:t>Assignments.</a:t>
            </a:r>
            <a:endParaRPr lang="en-US" sz="2000" dirty="0">
              <a:latin typeface="+mn-lt"/>
            </a:endParaRPr>
          </a:p>
        </p:txBody>
      </p:sp>
      <p:pic>
        <p:nvPicPr>
          <p:cNvPr id="35842" name="Picture 2" descr="Z:\NewMedia\Ebook-Novella\Wiley\jira\Mano_Ciletti6e\Work\Images\ch05\ciletti_6e_table_05_0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216" y="2132013"/>
            <a:ext cx="7927568" cy="259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5366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634044"/>
          </a:xfrm>
        </p:spPr>
        <p:txBody>
          <a:bodyPr/>
          <a:lstStyle/>
          <a:p>
            <a:r>
              <a:rPr lang="en-US" sz="2000" b="1" dirty="0" smtClean="0">
                <a:latin typeface="+mn-lt"/>
              </a:rPr>
              <a:t>Table 5</a:t>
            </a:r>
            <a:r>
              <a:rPr lang="en-US" sz="2000" dirty="0" smtClean="0">
                <a:latin typeface="+mn-lt"/>
              </a:rPr>
              <a:t>.10</a:t>
            </a:r>
            <a:r>
              <a:rPr lang="en-US" sz="2000" b="1" dirty="0" smtClean="0">
                <a:latin typeface="+mn-lt"/>
              </a:rPr>
              <a:t/>
            </a:r>
            <a:br>
              <a:rPr lang="en-US" sz="2000" b="1" dirty="0" smtClean="0">
                <a:latin typeface="+mn-lt"/>
              </a:rPr>
            </a:br>
            <a:r>
              <a:rPr lang="en-IN" sz="2000" dirty="0" smtClean="0">
                <a:latin typeface="+mn-lt"/>
              </a:rPr>
              <a:t>Reduced </a:t>
            </a:r>
            <a:r>
              <a:rPr lang="en-IN" sz="2000" dirty="0">
                <a:latin typeface="+mn-lt"/>
              </a:rPr>
              <a:t>State Table with Binary Assignment </a:t>
            </a:r>
            <a:r>
              <a:rPr lang="en-IN" sz="2000" dirty="0" smtClean="0">
                <a:latin typeface="+mn-lt"/>
              </a:rPr>
              <a:t>1.</a:t>
            </a:r>
            <a:endParaRPr lang="en-US" sz="2000" dirty="0">
              <a:latin typeface="+mn-lt"/>
            </a:endParaRPr>
          </a:p>
        </p:txBody>
      </p:sp>
      <p:pic>
        <p:nvPicPr>
          <p:cNvPr id="36866" name="Picture 2" descr="Z:\NewMedia\Ebook-Novella\Wiley\jira\Mano_Ciletti6e\Work\Images\ch05\ciletti_6e_table_05_1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920194"/>
            <a:ext cx="7924800" cy="3016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9178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b="1" dirty="0" smtClean="0">
                <a:latin typeface="+mj-lt"/>
              </a:rPr>
              <a:t>Figure 5</a:t>
            </a:r>
            <a:r>
              <a:rPr lang="en-US" sz="2000" dirty="0" smtClean="0">
                <a:latin typeface="+mj-lt"/>
              </a:rPr>
              <a:t>.27</a:t>
            </a:r>
            <a:r>
              <a:rPr lang="en-US" sz="2000" b="1" dirty="0" smtClean="0">
                <a:latin typeface="+mj-lt"/>
              </a:rPr>
              <a:t/>
            </a:r>
            <a:br>
              <a:rPr lang="en-US" sz="2000" b="1" dirty="0" smtClean="0">
                <a:latin typeface="+mj-lt"/>
              </a:rPr>
            </a:br>
            <a:r>
              <a:rPr lang="en-IN" sz="2000" dirty="0" smtClean="0">
                <a:latin typeface="+mn-lt"/>
              </a:rPr>
              <a:t>State diagram </a:t>
            </a:r>
            <a:r>
              <a:rPr lang="en-IN" sz="2000" dirty="0">
                <a:latin typeface="+mn-lt"/>
              </a:rPr>
              <a:t>for sequence </a:t>
            </a:r>
            <a:r>
              <a:rPr lang="en-IN" sz="2000" dirty="0" smtClean="0">
                <a:latin typeface="+mn-lt"/>
              </a:rPr>
              <a:t>detector.</a:t>
            </a:r>
            <a:endParaRPr lang="en-US" sz="2000" dirty="0">
              <a:latin typeface="+mn-lt"/>
            </a:endParaRPr>
          </a:p>
        </p:txBody>
      </p:sp>
      <p:pic>
        <p:nvPicPr>
          <p:cNvPr id="37890" name="Picture 2" descr="The circuit has four states: S sub 0 slash 0, S sub 1 slash 0, S sub 2 slash 0, and S sub 3 slash 1. The paths and their values are as follows, with each state identified by its S value: S sub 0 to S sub o, 0; S sub 0 to S sub 1, 1; S sub 1 to S sub 0, 0; S sub 1 to S sub 2, 1; S sub 2 to S sub 0, 0; S sub 2 to S sub 3, 1; S sub 3 to S sub 3, 1; S sub 3 to S sub 0, 0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1" y="1398343"/>
            <a:ext cx="3200400" cy="4061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0138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634044"/>
          </a:xfrm>
        </p:spPr>
        <p:txBody>
          <a:bodyPr/>
          <a:lstStyle/>
          <a:p>
            <a:r>
              <a:rPr lang="en-US" sz="2000" b="1" dirty="0" smtClean="0">
                <a:latin typeface="+mn-lt"/>
              </a:rPr>
              <a:t>Table 5</a:t>
            </a:r>
            <a:r>
              <a:rPr lang="en-US" sz="2000" dirty="0" smtClean="0">
                <a:latin typeface="+mn-lt"/>
              </a:rPr>
              <a:t>.11</a:t>
            </a:r>
            <a:r>
              <a:rPr lang="en-US" sz="2000" b="1" dirty="0" smtClean="0">
                <a:latin typeface="+mn-lt"/>
              </a:rPr>
              <a:t/>
            </a:r>
            <a:br>
              <a:rPr lang="en-US" sz="2000" b="1" dirty="0" smtClean="0">
                <a:latin typeface="+mn-lt"/>
              </a:rPr>
            </a:br>
            <a:r>
              <a:rPr lang="en-IN" sz="2000" dirty="0" smtClean="0">
                <a:latin typeface="+mn-lt"/>
              </a:rPr>
              <a:t>State </a:t>
            </a:r>
            <a:r>
              <a:rPr lang="en-IN" sz="2000" dirty="0">
                <a:latin typeface="+mn-lt"/>
              </a:rPr>
              <a:t>Table for Sequence </a:t>
            </a:r>
            <a:r>
              <a:rPr lang="en-IN" sz="2000" dirty="0" smtClean="0">
                <a:latin typeface="+mn-lt"/>
              </a:rPr>
              <a:t>Detector.</a:t>
            </a:r>
            <a:endParaRPr lang="en-US" sz="2000" dirty="0">
              <a:latin typeface="+mn-lt"/>
            </a:endParaRPr>
          </a:p>
        </p:txBody>
      </p:sp>
      <p:pic>
        <p:nvPicPr>
          <p:cNvPr id="38914" name="Picture 2" descr="Z:\NewMedia\Ebook-Novella\Wiley\jira\Mano_Ciletti6e\Work\Images\ch05\ciletti_6e_table_05_1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452194"/>
            <a:ext cx="6858000" cy="3952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992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b="1" dirty="0" smtClean="0">
                <a:latin typeface="+mj-lt"/>
              </a:rPr>
              <a:t>Figure 5</a:t>
            </a:r>
            <a:r>
              <a:rPr lang="en-US" sz="2000" dirty="0" smtClean="0">
                <a:latin typeface="+mj-lt"/>
              </a:rPr>
              <a:t>.28</a:t>
            </a:r>
            <a:r>
              <a:rPr lang="en-US" sz="2000" b="1" dirty="0" smtClean="0">
                <a:latin typeface="+mj-lt"/>
              </a:rPr>
              <a:t/>
            </a:r>
            <a:br>
              <a:rPr lang="en-US" sz="2000" b="1" dirty="0" smtClean="0">
                <a:latin typeface="+mj-lt"/>
              </a:rPr>
            </a:br>
            <a:r>
              <a:rPr lang="en-IN" sz="2000" dirty="0">
                <a:latin typeface="+mn-lt"/>
              </a:rPr>
              <a:t>K-Maps for sequence </a:t>
            </a:r>
            <a:r>
              <a:rPr lang="en-IN" sz="2000" dirty="0" smtClean="0">
                <a:latin typeface="+mn-lt"/>
              </a:rPr>
              <a:t>detector.</a:t>
            </a:r>
            <a:endParaRPr lang="en-US" sz="2000" dirty="0">
              <a:latin typeface="+mn-lt"/>
            </a:endParaRPr>
          </a:p>
        </p:txBody>
      </p:sp>
      <p:pic>
        <p:nvPicPr>
          <p:cNvPr id="39938" name="Picture 2" descr="Each map has m entries equal to 1 and variously shaded. First map: D sub Ay = Ay x + B x. m sub 3 and m sub 7 are lightly shaded, and m sub 5 and m sub 7 are darkly shaded. Second map: D sub B = Ay x + B prime x. m sub 1 and m sub 5 are lightly shaded, and m sub 5 and m sub 7 are darkly shaded. Third map: y = Ay B. m sub 7 and m sub 6 are darkly shaded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869" y="2360613"/>
            <a:ext cx="8354262" cy="2135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1653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b="1" dirty="0" smtClean="0">
                <a:latin typeface="+mj-lt"/>
              </a:rPr>
              <a:t>Figure 5</a:t>
            </a:r>
            <a:r>
              <a:rPr lang="en-US" sz="2000" dirty="0" smtClean="0">
                <a:latin typeface="+mj-lt"/>
              </a:rPr>
              <a:t>.29</a:t>
            </a:r>
            <a:r>
              <a:rPr lang="en-US" sz="2000" b="1" dirty="0" smtClean="0">
                <a:latin typeface="+mj-lt"/>
              </a:rPr>
              <a:t/>
            </a:r>
            <a:br>
              <a:rPr lang="en-US" sz="2000" b="1" dirty="0" smtClean="0">
                <a:latin typeface="+mj-lt"/>
              </a:rPr>
            </a:br>
            <a:r>
              <a:rPr lang="en-IN" sz="2000" dirty="0" smtClean="0">
                <a:latin typeface="+mn-lt"/>
              </a:rPr>
              <a:t>Logic </a:t>
            </a:r>
            <a:r>
              <a:rPr lang="en-IN" sz="2000" dirty="0">
                <a:latin typeface="+mn-lt"/>
              </a:rPr>
              <a:t>diagram of a Moore-type sequence </a:t>
            </a:r>
            <a:r>
              <a:rPr lang="en-IN" sz="2000" dirty="0" smtClean="0">
                <a:latin typeface="+mn-lt"/>
              </a:rPr>
              <a:t>detector.</a:t>
            </a:r>
            <a:endParaRPr lang="en-US" sz="2000" dirty="0">
              <a:latin typeface="+mn-lt"/>
            </a:endParaRPr>
          </a:p>
        </p:txBody>
      </p:sp>
      <p:pic>
        <p:nvPicPr>
          <p:cNvPr id="40962" name="Picture 2" descr="The D terminal of the first D flip flop receives the following input: x and Ay, or, x and B. The flip flop produces Ay at the Q terminal. The D terminal of the second flip flop receives the following input: x and B prime, or, x and Ay. This flip flop produces B at B, and it produces B prime. Input x and B yield y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013" y="1382571"/>
            <a:ext cx="4878388" cy="4092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418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634044"/>
          </a:xfrm>
        </p:spPr>
        <p:txBody>
          <a:bodyPr/>
          <a:lstStyle/>
          <a:p>
            <a:r>
              <a:rPr lang="en-US" sz="2000" b="1" dirty="0" smtClean="0">
                <a:latin typeface="+mn-lt"/>
              </a:rPr>
              <a:t>Table 5</a:t>
            </a:r>
            <a:r>
              <a:rPr lang="en-US" sz="2000" dirty="0" smtClean="0">
                <a:latin typeface="+mn-lt"/>
              </a:rPr>
              <a:t>.12</a:t>
            </a:r>
            <a:r>
              <a:rPr lang="en-US" sz="2000" b="1" dirty="0" smtClean="0">
                <a:latin typeface="+mn-lt"/>
              </a:rPr>
              <a:t/>
            </a:r>
            <a:br>
              <a:rPr lang="en-US" sz="2000" b="1" dirty="0" smtClean="0">
                <a:latin typeface="+mn-lt"/>
              </a:rPr>
            </a:br>
            <a:r>
              <a:rPr lang="en-IN" sz="2000" dirty="0" smtClean="0">
                <a:latin typeface="+mn-lt"/>
              </a:rPr>
              <a:t>Flip-Flop </a:t>
            </a:r>
            <a:r>
              <a:rPr lang="en-IN" sz="2000" dirty="0">
                <a:latin typeface="+mn-lt"/>
              </a:rPr>
              <a:t>Excitation </a:t>
            </a:r>
            <a:r>
              <a:rPr lang="en-IN" sz="2000" dirty="0" smtClean="0">
                <a:latin typeface="+mn-lt"/>
              </a:rPr>
              <a:t>Tables.</a:t>
            </a:r>
            <a:endParaRPr lang="en-US" sz="2000" dirty="0">
              <a:latin typeface="+mn-lt"/>
            </a:endParaRPr>
          </a:p>
        </p:txBody>
      </p:sp>
      <p:pic>
        <p:nvPicPr>
          <p:cNvPr id="41986" name="Picture 2" descr="Z:\NewMedia\Ebook-Novella\Wiley\jira\Mano_Ciletti6e\Work\Images\ch05\ciletti_6e_table_05_1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78" y="2133601"/>
            <a:ext cx="8154644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2648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634044"/>
          </a:xfrm>
        </p:spPr>
        <p:txBody>
          <a:bodyPr/>
          <a:lstStyle/>
          <a:p>
            <a:r>
              <a:rPr lang="en-US" sz="2000" b="1" dirty="0" smtClean="0">
                <a:latin typeface="+mn-lt"/>
              </a:rPr>
              <a:t>Table 5</a:t>
            </a:r>
            <a:r>
              <a:rPr lang="en-US" sz="2000" dirty="0" smtClean="0">
                <a:latin typeface="+mn-lt"/>
              </a:rPr>
              <a:t>.13</a:t>
            </a:r>
            <a:r>
              <a:rPr lang="en-US" sz="2000" b="1" dirty="0" smtClean="0">
                <a:latin typeface="+mn-lt"/>
              </a:rPr>
              <a:t/>
            </a:r>
            <a:br>
              <a:rPr lang="en-US" sz="2000" b="1" dirty="0" smtClean="0">
                <a:latin typeface="+mn-lt"/>
              </a:rPr>
            </a:br>
            <a:r>
              <a:rPr lang="en-IN" sz="2000" dirty="0">
                <a:latin typeface="+mn-lt"/>
              </a:rPr>
              <a:t>State Table and JK Flip-Flop </a:t>
            </a:r>
            <a:r>
              <a:rPr lang="en-IN" sz="2000" dirty="0" smtClean="0">
                <a:latin typeface="+mn-lt"/>
              </a:rPr>
              <a:t>Inputs.</a:t>
            </a:r>
            <a:endParaRPr lang="en-US" sz="2000" dirty="0">
              <a:latin typeface="+mn-lt"/>
            </a:endParaRPr>
          </a:p>
        </p:txBody>
      </p:sp>
      <p:pic>
        <p:nvPicPr>
          <p:cNvPr id="43010" name="Picture 2" descr="Z:\NewMedia\Ebook-Novella\Wiley\jira\Mano_Ciletti6e\Work\Images\ch05\ciletti_6e_table_05_1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4814" y="1752600"/>
            <a:ext cx="6474372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2504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b="1" dirty="0" smtClean="0">
                <a:latin typeface="+mj-lt"/>
              </a:rPr>
              <a:t>Figure 5</a:t>
            </a:r>
            <a:r>
              <a:rPr lang="en-US" sz="2000" dirty="0" smtClean="0">
                <a:latin typeface="+mj-lt"/>
              </a:rPr>
              <a:t>.30</a:t>
            </a:r>
            <a:r>
              <a:rPr lang="en-US" sz="2000" b="1" dirty="0" smtClean="0">
                <a:latin typeface="+mj-lt"/>
              </a:rPr>
              <a:t/>
            </a:r>
            <a:br>
              <a:rPr lang="en-US" sz="2000" b="1" dirty="0" smtClean="0">
                <a:latin typeface="+mj-lt"/>
              </a:rPr>
            </a:br>
            <a:r>
              <a:rPr lang="en-IN" sz="2000" dirty="0" smtClean="0">
                <a:latin typeface="+mn-lt"/>
              </a:rPr>
              <a:t>Maps </a:t>
            </a:r>
            <a:r>
              <a:rPr lang="en-IN" sz="2000" dirty="0">
                <a:latin typeface="+mn-lt"/>
              </a:rPr>
              <a:t>for </a:t>
            </a:r>
            <a:r>
              <a:rPr lang="en-IN" sz="2000" i="1" dirty="0">
                <a:latin typeface="+mn-lt"/>
              </a:rPr>
              <a:t>J</a:t>
            </a:r>
            <a:r>
              <a:rPr lang="en-IN" sz="2000" dirty="0">
                <a:latin typeface="+mn-lt"/>
              </a:rPr>
              <a:t> and </a:t>
            </a:r>
            <a:r>
              <a:rPr lang="en-IN" sz="2000" i="1" dirty="0">
                <a:latin typeface="+mn-lt"/>
              </a:rPr>
              <a:t>K</a:t>
            </a:r>
            <a:r>
              <a:rPr lang="en-IN" sz="2000" dirty="0">
                <a:latin typeface="+mn-lt"/>
              </a:rPr>
              <a:t> input </a:t>
            </a:r>
            <a:r>
              <a:rPr lang="en-IN" sz="2000" dirty="0" smtClean="0">
                <a:latin typeface="+mn-lt"/>
              </a:rPr>
              <a:t>equations.</a:t>
            </a:r>
            <a:endParaRPr lang="en-US" sz="2000" dirty="0">
              <a:latin typeface="+mn-lt"/>
            </a:endParaRPr>
          </a:p>
        </p:txBody>
      </p:sp>
      <p:pic>
        <p:nvPicPr>
          <p:cNvPr id="44034" name="Picture 2" descr="First map: J sub Ay = B x prime. m sub 1 = 1. The following m entries = X: m sub 4, m sub 5, m sub 7, m sub 6. m sub 2 and m sub 6 are shaded. Second map: K sub Ay = B x. m sub 7 = 1. The following m entries = X: m sub 0, m sub 1, m sub 3, m sub 2. m sub 3 and m sub 7 are shaded. Third map: J sub B = x. The following m entries = 1: m sub 1 and m sub 5. The following m entries = X: m sub 3, m sub 2, m sub 7, and m sub 6. The following entries are shaded: m sub 1, m sub 3, m sub 5, m sub 7. Fourth map: K sub B = the complement of Ay x or x. The following entries = 1: m sub 2, m sub 7. The following entries = X: m sub 0, m sub 1, m sub 4, m sub 5. The following entries are lightly shaded: m sub 5, m sub 7. The following entries are darkly shaded: m sub 0, m sub 2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53707"/>
            <a:ext cx="5334000" cy="4350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092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b="1" dirty="0" smtClean="0">
                <a:latin typeface="+mj-lt"/>
              </a:rPr>
              <a:t>Figure 5</a:t>
            </a:r>
            <a:r>
              <a:rPr lang="en-US" sz="2000" dirty="0" smtClean="0">
                <a:latin typeface="+mj-lt"/>
              </a:rPr>
              <a:t>.31</a:t>
            </a:r>
            <a:r>
              <a:rPr lang="en-US" sz="2000" b="1" dirty="0" smtClean="0">
                <a:latin typeface="+mj-lt"/>
              </a:rPr>
              <a:t/>
            </a:r>
            <a:br>
              <a:rPr lang="en-US" sz="2000" b="1" dirty="0" smtClean="0">
                <a:latin typeface="+mj-lt"/>
              </a:rPr>
            </a:br>
            <a:r>
              <a:rPr lang="en-IN" sz="2000" dirty="0" smtClean="0">
                <a:latin typeface="+mn-lt"/>
              </a:rPr>
              <a:t>Logic </a:t>
            </a:r>
            <a:r>
              <a:rPr lang="en-IN" sz="2000" dirty="0">
                <a:latin typeface="+mn-lt"/>
              </a:rPr>
              <a:t>diagram for sequential circuit with </a:t>
            </a:r>
            <a:r>
              <a:rPr lang="en-IN" sz="2000" i="1" dirty="0">
                <a:latin typeface="+mn-lt"/>
              </a:rPr>
              <a:t>JK</a:t>
            </a:r>
            <a:r>
              <a:rPr lang="en-IN" sz="2000" dirty="0">
                <a:latin typeface="+mn-lt"/>
              </a:rPr>
              <a:t> </a:t>
            </a:r>
            <a:r>
              <a:rPr lang="en-IN" sz="2000" dirty="0" smtClean="0">
                <a:latin typeface="+mn-lt"/>
              </a:rPr>
              <a:t>flip-flops.</a:t>
            </a:r>
            <a:endParaRPr lang="en-US" sz="2000" dirty="0">
              <a:latin typeface="+mn-lt"/>
            </a:endParaRPr>
          </a:p>
        </p:txBody>
      </p:sp>
      <p:pic>
        <p:nvPicPr>
          <p:cNvPr id="45058" name="Picture 2" descr="Terminal J on the first flip flop receives the following input: x prime and B. The corresponding output is Ay. Terminal K on the first flip flop receives the following input: x and B. The corresponding output is B prime. Terminal J on the second flip flop receives input x. The corresponding output is B. Terminal K on the second flip flop receives the following input: x exclusive or Ay. The corresponding output is B prime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4724" y="1295400"/>
            <a:ext cx="5952966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011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b="1" dirty="0" smtClean="0">
                <a:latin typeface="+mj-lt"/>
              </a:rPr>
              <a:t>Figure 5</a:t>
            </a:r>
            <a:r>
              <a:rPr lang="en-US" sz="2000" dirty="0" smtClean="0">
                <a:latin typeface="+mj-lt"/>
              </a:rPr>
              <a:t>.32</a:t>
            </a:r>
            <a:r>
              <a:rPr lang="en-US" sz="2000" b="1" dirty="0" smtClean="0">
                <a:latin typeface="+mj-lt"/>
              </a:rPr>
              <a:t/>
            </a:r>
            <a:br>
              <a:rPr lang="en-US" sz="2000" b="1" dirty="0" smtClean="0">
                <a:latin typeface="+mj-lt"/>
              </a:rPr>
            </a:br>
            <a:r>
              <a:rPr lang="en-IN" sz="2000" dirty="0" smtClean="0">
                <a:latin typeface="+mn-lt"/>
              </a:rPr>
              <a:t>State </a:t>
            </a:r>
            <a:r>
              <a:rPr lang="en-IN" sz="2000" dirty="0">
                <a:latin typeface="+mn-lt"/>
              </a:rPr>
              <a:t>diagram of three-bit binary </a:t>
            </a:r>
            <a:r>
              <a:rPr lang="en-IN" sz="2000" dirty="0" smtClean="0">
                <a:latin typeface="+mn-lt"/>
              </a:rPr>
              <a:t>counter.</a:t>
            </a:r>
            <a:endParaRPr lang="en-US" sz="2000" dirty="0">
              <a:latin typeface="+mn-lt"/>
            </a:endParaRPr>
          </a:p>
        </p:txBody>
      </p:sp>
      <p:pic>
        <p:nvPicPr>
          <p:cNvPr id="46082" name="Picture 2" descr="A state diagram shows the following sequence of states: 0 0 0, 0 0 1, 0 1 0, 0 1 1, 1 0 0, 1 0 1, 1 1 0, 1 1 1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414" y="1515734"/>
            <a:ext cx="3811586" cy="3826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4834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634044"/>
          </a:xfrm>
        </p:spPr>
        <p:txBody>
          <a:bodyPr/>
          <a:lstStyle/>
          <a:p>
            <a:r>
              <a:rPr lang="en-US" sz="2000" b="1" dirty="0" smtClean="0">
                <a:latin typeface="+mn-lt"/>
              </a:rPr>
              <a:t>Table 5</a:t>
            </a:r>
            <a:r>
              <a:rPr lang="en-US" sz="2000" dirty="0" smtClean="0">
                <a:latin typeface="+mn-lt"/>
              </a:rPr>
              <a:t>.14</a:t>
            </a:r>
            <a:r>
              <a:rPr lang="en-US" sz="2000" b="1" dirty="0" smtClean="0">
                <a:latin typeface="+mn-lt"/>
              </a:rPr>
              <a:t/>
            </a:r>
            <a:br>
              <a:rPr lang="en-US" sz="2000" b="1" dirty="0" smtClean="0">
                <a:latin typeface="+mn-lt"/>
              </a:rPr>
            </a:br>
            <a:r>
              <a:rPr lang="en-IN" sz="2000" dirty="0">
                <a:latin typeface="+mn-lt"/>
              </a:rPr>
              <a:t>State </a:t>
            </a:r>
            <a:r>
              <a:rPr lang="en-IN" sz="2000" dirty="0" smtClean="0">
                <a:latin typeface="+mn-lt"/>
              </a:rPr>
              <a:t>Table </a:t>
            </a:r>
            <a:r>
              <a:rPr lang="en-IN" sz="2000" dirty="0">
                <a:latin typeface="+mn-lt"/>
              </a:rPr>
              <a:t>for Three-Bit </a:t>
            </a:r>
            <a:r>
              <a:rPr lang="en-IN" sz="2000" dirty="0" smtClean="0">
                <a:latin typeface="+mn-lt"/>
              </a:rPr>
              <a:t>Counter.</a:t>
            </a:r>
            <a:endParaRPr lang="en-US" sz="2000" dirty="0">
              <a:latin typeface="+mn-lt"/>
            </a:endParaRPr>
          </a:p>
        </p:txBody>
      </p:sp>
      <p:pic>
        <p:nvPicPr>
          <p:cNvPr id="47106" name="Picture 2" descr="Z:\NewMedia\Ebook-Novella\Wiley\jira\Mano_Ciletti6e\Work\Images\ch05\ciletti_6e_table_05_1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763543"/>
            <a:ext cx="7162800" cy="3330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1892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b="1" dirty="0" smtClean="0">
                <a:latin typeface="+mj-lt"/>
              </a:rPr>
              <a:t>Figure 5</a:t>
            </a:r>
            <a:r>
              <a:rPr lang="en-US" sz="2000" dirty="0" smtClean="0">
                <a:latin typeface="+mj-lt"/>
              </a:rPr>
              <a:t>.33</a:t>
            </a:r>
            <a:r>
              <a:rPr lang="en-US" sz="2000" b="1" dirty="0" smtClean="0">
                <a:latin typeface="+mj-lt"/>
              </a:rPr>
              <a:t/>
            </a:r>
            <a:br>
              <a:rPr lang="en-US" sz="2000" b="1" dirty="0" smtClean="0">
                <a:latin typeface="+mj-lt"/>
              </a:rPr>
            </a:br>
            <a:r>
              <a:rPr lang="en-IN" sz="2000" dirty="0" smtClean="0">
                <a:latin typeface="+mn-lt"/>
              </a:rPr>
              <a:t>Maps </a:t>
            </a:r>
            <a:r>
              <a:rPr lang="en-IN" sz="2000" dirty="0">
                <a:latin typeface="+mn-lt"/>
              </a:rPr>
              <a:t>for three-bit binary </a:t>
            </a:r>
            <a:r>
              <a:rPr lang="en-IN" sz="2000" dirty="0" smtClean="0">
                <a:latin typeface="+mn-lt"/>
              </a:rPr>
              <a:t>counter.</a:t>
            </a:r>
            <a:endParaRPr lang="en-US" sz="2000" dirty="0">
              <a:latin typeface="+mn-lt"/>
            </a:endParaRPr>
          </a:p>
        </p:txBody>
      </p:sp>
      <p:pic>
        <p:nvPicPr>
          <p:cNvPr id="48130" name="Picture 2" descr="For each map the following list provides the m entries that are both shaded and equal to 1. First map, T sub Ay 2 = Ay sub 1 A y sub 0: m sub 3, m sub 7. Second map, T sub Ay 1 = Ay sub 0: m sub 1, m sub 3, m sub 5, m sub 7. Third map, T sub Ay 0 = 1: all m entrie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371979"/>
            <a:ext cx="8077200" cy="2112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1614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b="1" dirty="0" smtClean="0">
                <a:latin typeface="+mj-lt"/>
              </a:rPr>
              <a:t>Figure 5</a:t>
            </a:r>
            <a:r>
              <a:rPr lang="en-US" sz="2000" dirty="0" smtClean="0">
                <a:latin typeface="+mj-lt"/>
              </a:rPr>
              <a:t>.34</a:t>
            </a:r>
            <a:r>
              <a:rPr lang="en-US" sz="2000" b="1" dirty="0" smtClean="0">
                <a:latin typeface="+mj-lt"/>
              </a:rPr>
              <a:t/>
            </a:r>
            <a:br>
              <a:rPr lang="en-US" sz="2000" b="1" dirty="0" smtClean="0">
                <a:latin typeface="+mj-lt"/>
              </a:rPr>
            </a:br>
            <a:r>
              <a:rPr lang="en-IN" sz="2000" dirty="0" smtClean="0">
                <a:latin typeface="+mn-lt"/>
              </a:rPr>
              <a:t>Logic </a:t>
            </a:r>
            <a:r>
              <a:rPr lang="en-IN" sz="2000" dirty="0">
                <a:latin typeface="+mn-lt"/>
              </a:rPr>
              <a:t>diagram of three-bit binary </a:t>
            </a:r>
            <a:r>
              <a:rPr lang="en-IN" sz="2000" dirty="0" smtClean="0">
                <a:latin typeface="+mn-lt"/>
              </a:rPr>
              <a:t>counter.</a:t>
            </a:r>
            <a:endParaRPr lang="en-US" sz="2000" dirty="0">
              <a:latin typeface="+mn-lt"/>
            </a:endParaRPr>
          </a:p>
        </p:txBody>
      </p:sp>
      <p:pic>
        <p:nvPicPr>
          <p:cNvPr id="49154" name="Picture 2" descr="The counter has a series of 3 T flip flops, with each flip flop receiving clock input. for each flip flop, the following list provides the input at the T terminal and the corresponding output. first flip flop: input 1, output A sub 0. Second flip flop: input Ay sub 0, output Ay sub 1. Third flip flop: input Ay sub 0 and Ay sub 1, output Ay sub 2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983241"/>
            <a:ext cx="7620000" cy="2891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5018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dirty="0" smtClean="0">
                <a:latin typeface="+mj-lt"/>
              </a:rPr>
              <a:t>Figure P5.7</a:t>
            </a:r>
            <a:endParaRPr lang="en-US" sz="2000" dirty="0">
              <a:latin typeface="+mn-lt"/>
            </a:endParaRPr>
          </a:p>
        </p:txBody>
      </p:sp>
      <p:pic>
        <p:nvPicPr>
          <p:cNvPr id="50178" name="Picture 2" descr="A logic diagram. the full adder receives inputs x, y, and Q, and it produces S and C. C enters the D terminal of the D flip flop, which generates Q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1593" y="1293813"/>
            <a:ext cx="6080814" cy="4268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7912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dirty="0" smtClean="0">
                <a:latin typeface="+mj-lt"/>
              </a:rPr>
              <a:t>Figure P5.8</a:t>
            </a:r>
            <a:endParaRPr lang="en-US" sz="2000" dirty="0">
              <a:latin typeface="+mn-lt"/>
            </a:endParaRPr>
          </a:p>
        </p:txBody>
      </p:sp>
      <p:pic>
        <p:nvPicPr>
          <p:cNvPr id="51202" name="Picture 2" descr="The first and second flip flops receive clock inputs, producing corresponding outputs Ay prime and B prime. The following list provides the T-terminal inputs and the corresponding outputs for each flip flop. First flip flop: input Ay and B, output Ay. Second flip flop: input Ay prime and B, output B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212273"/>
            <a:ext cx="6096000" cy="4433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9090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dirty="0">
                <a:latin typeface="+mj-lt"/>
              </a:rPr>
              <a:t>Problem </a:t>
            </a:r>
            <a:r>
              <a:rPr lang="en-US" sz="2000" dirty="0" smtClean="0">
                <a:latin typeface="+mj-lt"/>
              </a:rPr>
              <a:t>5.12</a:t>
            </a:r>
            <a:endParaRPr lang="en-US" sz="2000" dirty="0">
              <a:latin typeface="+mn-lt"/>
            </a:endParaRPr>
          </a:p>
        </p:txBody>
      </p:sp>
      <p:pic>
        <p:nvPicPr>
          <p:cNvPr id="53250" name="Picture 2" descr="Z:\NewMedia\Ebook-Novella\Wiley\jira\Mano_Ciletti6e\Work\Images\ch05\ciletti_6e_table_p_05_1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347" y="1522413"/>
            <a:ext cx="7051306" cy="3811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6451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dirty="0" smtClean="0">
                <a:latin typeface="+mj-lt"/>
              </a:rPr>
              <a:t>Figure P5.19</a:t>
            </a:r>
            <a:endParaRPr lang="en-US" sz="2000" dirty="0">
              <a:latin typeface="+mn-lt"/>
            </a:endParaRPr>
          </a:p>
        </p:txBody>
      </p:sp>
      <p:pic>
        <p:nvPicPr>
          <p:cNvPr id="52226" name="Picture 2" descr="For the state diagram, the paths and their values are as follows: 0 0 0 to 0 1 1, 0 slash 0; 0 0 1 to 0 0 1, 0 slash 0; 0 1 1 to 0 1 0, 1 slash 1; 0 0 1 to 0 0 1, 0 slash 0; 0 0 1 to 1 0 0, 1 slash 1; 0 1 0 to 0 1 0, 0 slash 0; 1 0 0 to 0 1 1, 1 slash 0; 1 0 0 to 0 1 0, 0 slash 0; 0 1 0 to 0 0 0, 1 slash 1; 0 0 0 to 1 0 0, 1 slash 1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602416"/>
            <a:ext cx="3810000" cy="5653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9430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dirty="0">
                <a:latin typeface="+mj-lt"/>
              </a:rPr>
              <a:t>Figure P5.32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Waveforms for Problem </a:t>
            </a:r>
            <a:r>
              <a:rPr lang="en-US" sz="2000" dirty="0" smtClean="0">
                <a:latin typeface="+mj-lt"/>
              </a:rPr>
              <a:t>5.32.</a:t>
            </a:r>
            <a:endParaRPr lang="en-US" sz="2000" dirty="0">
              <a:latin typeface="+mn-lt"/>
            </a:endParaRPr>
          </a:p>
        </p:txBody>
      </p:sp>
      <p:pic>
        <p:nvPicPr>
          <p:cNvPr id="54274" name="Picture 2" descr="Each graph is a square waveform oscillating from 0 to 1 versus time t. The following list provides the time intervals over which the different signals equal 1. Enable: 40 onward. Signal Ay: 0 to 10, 20 onward. Signal B: 10 to 20, 30 to 40, 50 to 60, 70 to 80. Signal C: 10 onward. Signal D: 20 to 40, 60 onward. Signal E: 0 to 20, 30 onward. Signal F: 0 to 30, 40 onward. All values estimated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19943"/>
            <a:ext cx="7315200" cy="3418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4466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dirty="0" smtClean="0">
                <a:latin typeface="+mj-lt"/>
              </a:rPr>
              <a:t>Figure P5.48</a:t>
            </a:r>
            <a:endParaRPr lang="en-US" sz="2000" dirty="0">
              <a:latin typeface="+mn-lt"/>
            </a:endParaRPr>
          </a:p>
        </p:txBody>
      </p:sp>
      <p:pic>
        <p:nvPicPr>
          <p:cNvPr id="55299" name="Picture 3" descr="A state diagram for states ay, b, c, and d. The paths and their values are as follows: ay to b, 0 slash 1; ay to c, 1 slash 0; b to c, 0 slash 0; c to b,0 slash 0; b to d, 1 slash 1; c to d, 1 slash 1; d to c, 0 slash 1; d to ay, 1 slash 0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147752"/>
            <a:ext cx="4572000" cy="4562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0769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710244"/>
          </a:xfrm>
        </p:spPr>
        <p:txBody>
          <a:bodyPr/>
          <a:lstStyle/>
          <a:p>
            <a:r>
              <a:rPr lang="en-US" sz="2000" dirty="0" smtClean="0">
                <a:latin typeface="+mj-lt"/>
              </a:rPr>
              <a:t>Figure P5.49</a:t>
            </a:r>
            <a:endParaRPr lang="en-US" sz="2000" dirty="0">
              <a:latin typeface="+mn-lt"/>
            </a:endParaRPr>
          </a:p>
        </p:txBody>
      </p:sp>
      <p:pic>
        <p:nvPicPr>
          <p:cNvPr id="56322" name="Picture 2" descr="A state diagram for states ay slash 0, b slash 1, c slash 1, and d slash 0. The paths and their values are as follows, with states identified by letter: ay to b, 0; ay to c, unknown; b to c, 0; c to b, 0; b to d, 1; c to d, 1; d to c, 0; d to ay, 1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0613" y="1205086"/>
            <a:ext cx="4421188" cy="4447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5405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8"/>
  <p:tag name="MMPROD_UIDATA" val="&lt;database version=&quot;6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Introduction to Robotics&amp;quot;&quot;/&gt;&lt;property id=&quot;20307&quot; value=&quot;318&quot;/&gt;&lt;/object&gt;&lt;object type=&quot;3&quot; unique_id=&quot;10005&quot;&gt;&lt;property id=&quot;20148&quot; value=&quot;5&quot;/&gt;&lt;property id=&quot;20300&quot; value=&quot;Slide 2 - &amp;quot;Figure 2.1&amp;#x0D;&amp;#x0A;Vector relative to frame (example).&amp;quot;&quot;/&gt;&lt;property id=&quot;20307&quot; value=&quot;328&quot;/&gt;&lt;/object&gt;&lt;object type=&quot;3&quot; unique_id=&quot;10718&quot;&gt;&lt;property id=&quot;20148&quot; value=&quot;5&quot;/&gt;&lt;property id=&quot;20300&quot; value=&quot;Slide 3 - &amp;quot;Figure 2.2&amp;#x0D;&amp;#x0A;Locating an object in position and orientation.&amp;#x0D;&amp;#x0A;&amp;quot;&quot;/&gt;&lt;property id=&quot;20307&quot; value=&quot;329&quot;/&gt;&lt;/object&gt;&lt;object type=&quot;3&quot; unique_id=&quot;10744&quot;&gt;&lt;property id=&quot;20148&quot; value=&quot;5&quot;/&gt;&lt;property id=&quot;20300&quot; value=&quot;Slide 4 - &amp;quot;Figure 2.3&amp;#x0D;&amp;#x0A;Example of several frames.&amp;#x0D;&amp;#x0A;&amp;quot;&quot;/&gt;&lt;property id=&quot;20307&quot; value=&quot;330&quot;/&gt;&lt;/object&gt;&lt;object type=&quot;3&quot; unique_id=&quot;10763&quot;&gt;&lt;property id=&quot;20148&quot; value=&quot;5&quot;/&gt;&lt;property id=&quot;20300&quot; value=&quot;Slide 5 - &amp;quot;Figure 2.4&amp;#x0D;&amp;#x0A;Translational mapping.&amp;quot;&quot;/&gt;&lt;property id=&quot;20307&quot; value=&quot;331&quot;/&gt;&lt;/object&gt;&lt;object type=&quot;3&quot; unique_id=&quot;10813&quot;&gt;&lt;property id=&quot;20148&quot; value=&quot;5&quot;/&gt;&lt;property id=&quot;20300&quot; value=&quot;Slide 6 - &amp;quot;Figure 2.5&amp;#x0D;&amp;#x0A;Rotating the description of a vector.&amp;quot;&quot;/&gt;&lt;property id=&quot;20307&quot; value=&quot;332&quot;/&gt;&lt;/object&gt;&lt;object type=&quot;3&quot; unique_id=&quot;10838&quot;&gt;&lt;property id=&quot;20148&quot; value=&quot;5&quot;/&gt;&lt;property id=&quot;20300&quot; value=&quot;Slide 7 - &amp;quot;Figure 2.6&amp;#x0D;&amp;#x0A;{B} rotated 30 degrees about Ẑ.&amp;quot;&quot;/&gt;&lt;property id=&quot;20307&quot; value=&quot;333&quot;/&gt;&lt;/object&gt;&lt;object type=&quot;3&quot; unique_id=&quot;10875&quot;&gt;&lt;property id=&quot;20148&quot; value=&quot;5&quot;/&gt;&lt;property id=&quot;20300&quot; value=&quot;Slide 8 - &amp;quot;Figure 2.7&amp;#x0D;&amp;#x0A;General transform of a vector.&amp;quot;&quot;/&gt;&lt;property id=&quot;20307&quot; value=&quot;334&quot;/&gt;&lt;/object&gt;&lt;object type=&quot;3&quot; unique_id=&quot;10876&quot;&gt;&lt;property id=&quot;20148&quot; value=&quot;5&quot;/&gt;&lt;property id=&quot;20300&quot; value=&quot;Slide 9 - &amp;quot;Figure 2.8&amp;#x0D;&amp;#x0A;Frame {B} rotated and translated.&amp;quot;&quot;/&gt;&lt;property id=&quot;20307&quot; value=&quot;335&quot;/&gt;&lt;/object&gt;&lt;object type=&quot;3&quot; unique_id=&quot;10910&quot;&gt;&lt;property id=&quot;20148&quot; value=&quot;5&quot;/&gt;&lt;property id=&quot;20300&quot; value=&quot;Slide 10 - &amp;quot;Figure 2.9&amp;#x0D;&amp;#x0A;Translation operator.&amp;quot;&quot;/&gt;&lt;property id=&quot;20307&quot; value=&quot;336&quot;/&gt;&lt;/object&gt;&lt;object type=&quot;3&quot; unique_id=&quot;10959&quot;&gt;&lt;property id=&quot;20148&quot; value=&quot;5&quot;/&gt;&lt;property id=&quot;20300&quot; value=&quot;Slide 11 - &amp;quot;Figure 2.10&amp;#x0D;&amp;#x0A;The vector AP1 rotated 30 degrees about Ẑ.&amp;quot;&quot;/&gt;&lt;property id=&quot;20307&quot; value=&quot;337&quot;/&gt;&lt;/object&gt;&lt;object type=&quot;3&quot; unique_id=&quot;10960&quot;&gt;&lt;property id=&quot;20148&quot; value=&quot;5&quot;/&gt;&lt;property id=&quot;20300&quot; value=&quot;Slide 12 - &amp;quot;Figure 2.11&amp;#x0D;&amp;#x0A;The vector AP1 rotated and translated to form AP2.&amp;quot;&quot;/&gt;&lt;property id=&quot;20307&quot; value=&quot;338&quot;/&gt;&lt;/object&gt;&lt;object type=&quot;3&quot; unique_id=&quot;11143&quot;&gt;&lt;property id=&quot;20148&quot; value=&quot;5&quot;/&gt;&lt;property id=&quot;20300&quot; value=&quot;Slide 13 - &amp;quot;Figure 2.12&amp;#x0D;&amp;#x0A;Compound frames: each is known relative to the previous one.&amp;quot;&quot;/&gt;&lt;property id=&quot;20307&quot; value=&quot;339&quot;/&gt;&lt;/object&gt;&lt;object type=&quot;3&quot; unique_id=&quot;11189&quot;&gt;&lt;property id=&quot;20148&quot; value=&quot;5&quot;/&gt;&lt;property id=&quot;20300&quot; value=&quot;Slide 14 - &amp;quot;Figure 2.13&amp;#x0D;&amp;#x0A;{B} relative to {A}.&amp;quot;&quot;/&gt;&lt;property id=&quot;20307&quot; value=&quot;340&quot;/&gt;&lt;/object&gt;&lt;object type=&quot;3&quot; unique_id=&quot;11238&quot;&gt;&lt;property id=&quot;20148&quot; value=&quot;5&quot;/&gt;&lt;property id=&quot;20300&quot; value=&quot;Slide 15 - &amp;quot;Figure 2.14&amp;#x0D;&amp;#x0A;Set of transforms forming a loop.&amp;quot;&quot;/&gt;&lt;property id=&quot;20307&quot; value=&quot;341&quot;/&gt;&lt;/object&gt;&lt;object type=&quot;3&quot; unique_id=&quot;11341&quot;&gt;&lt;property id=&quot;20148&quot; value=&quot;5&quot;/&gt;&lt;property id=&quot;20300&quot; value=&quot;Slide 16 - &amp;quot;Figure 2.15&amp;#x0D;&amp;#x0A;Example of a transform equation.&amp;quot;&quot;/&gt;&lt;property id=&quot;20307&quot; value=&quot;342&quot;/&gt;&lt;/object&gt;&lt;object type=&quot;3&quot; unique_id=&quot;11342&quot;&gt;&lt;property id=&quot;20148&quot; value=&quot;5&quot;/&gt;&lt;property id=&quot;20300&quot; value=&quot;Slide 17 - &amp;quot;Figure 2.16&amp;#x0D;&amp;#x0A;Manipulator reaching for a bolt.&amp;quot;&quot;/&gt;&lt;property id=&quot;20307&quot; value=&quot;343&quot;/&gt;&lt;/object&gt;&lt;object type=&quot;3&quot; unique_id=&quot;11343&quot;&gt;&lt;property id=&quot;20148&quot; value=&quot;5&quot;/&gt;&lt;property id=&quot;20300&quot; value=&quot;Slide 18 - &amp;quot;Figure 2.17&amp;#x0D;&amp;#x0A;X–Y–Z fixed angles. Rotations are performed in the order&amp;#x0D;&amp;#x0A;RX(g) RY (β), RZ(α).&amp;quot;&quot;/&gt;&lt;property id=&quot;20307&quot; value=&quot;344&quot;/&gt;&lt;/object&gt;&lt;object type=&quot;3&quot; unique_id=&quot;11444&quot;&gt;&lt;property id=&quot;20148&quot; value=&quot;5&quot;/&gt;&lt;property id=&quot;20300&quot; value=&quot;Slide 19 - &amp;quot;Figure 2.18&amp;#x0D;&amp;#x0A;Z–Y–X Euler angles.&amp;quot;&quot;/&gt;&lt;property id=&quot;20307&quot; value=&quot;345&quot;/&gt;&lt;/object&gt;&lt;object type=&quot;3&quot; unique_id=&quot;11445&quot;&gt;&lt;property id=&quot;20148&quot; value=&quot;5&quot;/&gt;&lt;property id=&quot;20300&quot; value=&quot;Slide 20 - &amp;quot;Figure 2.19&amp;#x0D;&amp;#x0A;Equivalent angle–axis representation.&amp;quot;&quot;/&gt;&lt;property id=&quot;20307&quot; value=&quot;346&quot;/&gt;&lt;/object&gt;&lt;object type=&quot;3&quot; unique_id=&quot;11446&quot;&gt;&lt;property id=&quot;20148&quot; value=&quot;5&quot;/&gt;&lt;property id=&quot;20300&quot; value=&quot;Slide 21 - &amp;quot;Figure 2.20&amp;#x0D;&amp;#x0A;Rotation about an axis that does not pass through the origin of {A}. Initially, {B} was coincident wit&quot;/&gt;&lt;property id=&quot;20307&quot; value=&quot;347&quot;/&gt;&lt;/object&gt;&lt;object type=&quot;3&quot; unique_id=&quot;11516&quot;&gt;&lt;property id=&quot;20148&quot; value=&quot;5&quot;/&gt;&lt;property id=&quot;20300&quot; value=&quot;Slide 22 - &amp;quot;Figure 2.21&amp;#x0D;&amp;#x0A;Equal velocity vectors.&amp;quot;&quot;/&gt;&lt;property id=&quot;20307&quot; value=&quot;348&quot;/&gt;&lt;/object&gt;&lt;object type=&quot;3&quot; unique_id=&quot;11589&quot;&gt;&lt;property id=&quot;20148&quot; value=&quot;5&quot;/&gt;&lt;property id=&quot;20300&quot; value=&quot;Slide 23 - &amp;quot;Figure 2.22&amp;#x0D;&amp;#x0A;Transforming velocities.&amp;quot;&quot;/&gt;&lt;property id=&quot;20307&quot; value=&quot;349&quot;/&gt;&lt;/object&gt;&lt;object type=&quot;3&quot; unique_id=&quot;11665&quot;&gt;&lt;property id=&quot;20148&quot; value=&quot;5&quot;/&gt;&lt;property id=&quot;20300&quot; value=&quot;Slide 24 - &amp;quot;Figure 2.23&amp;#x0D;&amp;#x0A;Cylindrical coordinates.&amp;quot;&quot;/&gt;&lt;property id=&quot;20307&quot; value=&quot;350&quot;/&gt;&lt;/object&gt;&lt;object type=&quot;3&quot; unique_id=&quot;11744&quot;&gt;&lt;property id=&quot;20148&quot; value=&quot;5&quot;/&gt;&lt;property id=&quot;20300&quot; value=&quot;Slide 25 - &amp;quot;Figure 2.24&amp;#x0D;&amp;#x0A;Spherical coordinates.&amp;quot;&quot;/&gt;&lt;property id=&quot;20307&quot; value=&quot;351&quot;/&gt;&lt;/object&gt;&lt;object type=&quot;3&quot; unique_id=&quot;11880&quot;&gt;&lt;property id=&quot;20148&quot; value=&quot;5&quot;/&gt;&lt;property id=&quot;20300&quot; value=&quot;Slide 26 - &amp;quot;Figure 2.25&amp;#x0D;&amp;#x0A;Frames at the corners of a wedge.&amp;quot;&quot;/&gt;&lt;property id=&quot;20307&quot; value=&quot;352&quot;/&gt;&lt;/object&gt;&lt;object type=&quot;3&quot; unique_id=&quot;11965&quot;&gt;&lt;property id=&quot;20148&quot; value=&quot;5&quot;/&gt;&lt;property id=&quot;20300&quot; value=&quot;Slide 27 - &amp;quot;Figure 2.26&amp;#x0D;&amp;#x0A;Frames at the corners of a wedge.&amp;quot;&quot;/&gt;&lt;property id=&quot;20307&quot; value=&quot;353&quot;/&gt;&lt;/object&gt;&lt;/object&gt;&lt;/object&gt;&lt;/database&gt;"/>
</p:tagLst>
</file>

<file path=ppt/theme/theme1.xml><?xml version="1.0" encoding="utf-8"?>
<a:theme xmlns:a="http://schemas.openxmlformats.org/drawingml/2006/main" name="508 Lecture">
  <a:themeElements>
    <a:clrScheme name="Custom 7">
      <a:dk1>
        <a:sysClr val="windowText" lastClr="000000"/>
      </a:dk1>
      <a:lt1>
        <a:sysClr val="window" lastClr="FFFFFF"/>
      </a:lt1>
      <a:dk2>
        <a:srgbClr val="000000"/>
      </a:dk2>
      <a:lt2>
        <a:srgbClr val="007FA3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0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999</TotalTime>
  <Words>186</Words>
  <Application>Microsoft Office PowerPoint</Application>
  <PresentationFormat>On-screen Show (4:3)</PresentationFormat>
  <Paragraphs>115</Paragraphs>
  <Slides>56</Slides>
  <Notes>55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7" baseType="lpstr">
      <vt:lpstr>508 Lecture</vt:lpstr>
      <vt:lpstr>Digital Design</vt:lpstr>
      <vt:lpstr>Figure 5.1 Block diagram of sequential circuit.</vt:lpstr>
      <vt:lpstr>Figure 5.2 Synchronous clocked sequential circuit.</vt:lpstr>
      <vt:lpstr>Figure 5.3 SR latch with NOR gates.</vt:lpstr>
      <vt:lpstr>Figure 5.4 SR latch with NAND gates.</vt:lpstr>
      <vt:lpstr>Figure 5.5 SR latch with control input.</vt:lpstr>
      <vt:lpstr>Figure 5.6 D latch.</vt:lpstr>
      <vt:lpstr>Figure 5.7 Graphic symbols for latches.</vt:lpstr>
      <vt:lpstr>Figure 5.8 Clock response in latch and flip-flop.</vt:lpstr>
      <vt:lpstr>Figure 5.9 Master–slave D flip-flop.</vt:lpstr>
      <vt:lpstr>Figure 5.10 D-type positive-edge-triggered flip-flop.</vt:lpstr>
      <vt:lpstr>Figure 5.11 Graphic symbol for edge-triggered D flip-flop.</vt:lpstr>
      <vt:lpstr>Figure 5.12 JK flip-flop.</vt:lpstr>
      <vt:lpstr>Figure 5.13 T flip-flop.</vt:lpstr>
      <vt:lpstr>Table 5.1 Flip-Flop Characteristic Tables.</vt:lpstr>
      <vt:lpstr>Figure 5.14 D flip-flop with asynchronous reset.</vt:lpstr>
      <vt:lpstr>Figure 5.15 Example of sequential circuit.</vt:lpstr>
      <vt:lpstr>Table 5.2 State Table for the Circuit of Fig. 5.15.</vt:lpstr>
      <vt:lpstr>Table 5.3 Second Form of the State Table.</vt:lpstr>
      <vt:lpstr>Figure 5.16 State diagram of the circuit of Fig. 5.15.</vt:lpstr>
      <vt:lpstr>Figure 5.17 Sequential circuit with D flip-flop.</vt:lpstr>
      <vt:lpstr>Figure 5.18 Sequential circuit with JK flip-flop.</vt:lpstr>
      <vt:lpstr>Table 5.4 State Table for Sequential Circuit with JK Flip-Flops.</vt:lpstr>
      <vt:lpstr>Figure 5.19 State diagram of the circuit of Fig. 5.18.</vt:lpstr>
      <vt:lpstr>Figure 5.20 Sequential circuit with T flip-flops (Binary Counter).</vt:lpstr>
      <vt:lpstr>Table 5.5 State Table for Sequential Circuit with T Flip-Flops.</vt:lpstr>
      <vt:lpstr>Figure 5.21 Block diagrams of Mealy and Moore state machines.</vt:lpstr>
      <vt:lpstr>Figure 5.22 Simulation output of Mealy_Zero_Detector.</vt:lpstr>
      <vt:lpstr>Figure 5.23 Simulation output of HDL Example 5.6.</vt:lpstr>
      <vt:lpstr>Figure 5.24 Simulation output of HDL Example 5.7.</vt:lpstr>
      <vt:lpstr>Figure 5.25 State diagram.</vt:lpstr>
      <vt:lpstr>Table 5.6 State Table.</vt:lpstr>
      <vt:lpstr>Table 5.7 Reducing the State Table.</vt:lpstr>
      <vt:lpstr>Figure 5.26 Reduced State diagram.</vt:lpstr>
      <vt:lpstr>Table 5.8 Reduced the State Table.</vt:lpstr>
      <vt:lpstr>Table 5.9 Three Possible Binary State Assignments.</vt:lpstr>
      <vt:lpstr>Table 5.10 Reduced State Table with Binary Assignment 1.</vt:lpstr>
      <vt:lpstr>Figure 5.27 State diagram for sequence detector.</vt:lpstr>
      <vt:lpstr>Table 5.11 State Table for Sequence Detector.</vt:lpstr>
      <vt:lpstr>Figure 5.28 K-Maps for sequence detector.</vt:lpstr>
      <vt:lpstr>Figure 5.29 Logic diagram of a Moore-type sequence detector.</vt:lpstr>
      <vt:lpstr>Table 5.12 Flip-Flop Excitation Tables.</vt:lpstr>
      <vt:lpstr>Table 5.13 State Table and JK Flip-Flop Inputs.</vt:lpstr>
      <vt:lpstr>Figure 5.30 Maps for J and K input equations.</vt:lpstr>
      <vt:lpstr>Figure 5.31 Logic diagram for sequential circuit with JK flip-flops.</vt:lpstr>
      <vt:lpstr>Figure 5.32 State diagram of three-bit binary counter.</vt:lpstr>
      <vt:lpstr>Table 5.14 State Table for Three-Bit Counter.</vt:lpstr>
      <vt:lpstr>Figure 5.33 Maps for three-bit binary counter.</vt:lpstr>
      <vt:lpstr>Figure 5.34 Logic diagram of three-bit binary counter.</vt:lpstr>
      <vt:lpstr>Figure P5.7</vt:lpstr>
      <vt:lpstr>Figure P5.8</vt:lpstr>
      <vt:lpstr>Problem 5.12</vt:lpstr>
      <vt:lpstr>Figure P5.19</vt:lpstr>
      <vt:lpstr>Figure P5.32 Waveforms for Problem 5.32.</vt:lpstr>
      <vt:lpstr>Figure P5.48</vt:lpstr>
      <vt:lpstr>Figure P5.49</vt:lpstr>
    </vt:vector>
  </TitlesOfParts>
  <Company>echosvoice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 Compliant Lecture PowerPoint</dc:title>
  <dc:subject>Introduction to Psychology</dc:subject>
  <dc:creator>Echo Swinford</dc:creator>
  <cp:lastModifiedBy>admin</cp:lastModifiedBy>
  <cp:revision>403</cp:revision>
  <dcterms:created xsi:type="dcterms:W3CDTF">2014-07-14T20:04:21Z</dcterms:created>
  <dcterms:modified xsi:type="dcterms:W3CDTF">2018-06-21T09:13:03Z</dcterms:modified>
</cp:coreProperties>
</file>