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18" r:id="rId2"/>
    <p:sldId id="355" r:id="rId3"/>
    <p:sldId id="372" r:id="rId4"/>
    <p:sldId id="373" r:id="rId5"/>
    <p:sldId id="374" r:id="rId6"/>
    <p:sldId id="375" r:id="rId7"/>
    <p:sldId id="376" r:id="rId8"/>
    <p:sldId id="377" r:id="rId9"/>
    <p:sldId id="378" r:id="rId10"/>
    <p:sldId id="379" r:id="rId11"/>
    <p:sldId id="380" r:id="rId12"/>
    <p:sldId id="381" r:id="rId13"/>
    <p:sldId id="382" r:id="rId14"/>
    <p:sldId id="383" r:id="rId15"/>
    <p:sldId id="328" r:id="rId16"/>
    <p:sldId id="384" r:id="rId17"/>
    <p:sldId id="330"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 id="415" r:id="rId49"/>
    <p:sldId id="416" r:id="rId50"/>
    <p:sldId id="417" r:id="rId51"/>
    <p:sldId id="418" r:id="rId52"/>
    <p:sldId id="419" r:id="rId53"/>
    <p:sldId id="420" r:id="rId54"/>
  </p:sldIdLst>
  <p:sldSz cx="9144000" cy="6858000" type="screen4x3"/>
  <p:notesSz cx="6858000" cy="9144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guide id="7" pos="5472">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varScale="1">
        <p:scale>
          <a:sx n="75" d="100"/>
          <a:sy n="75" d="100"/>
        </p:scale>
        <p:origin x="-1428" y="-84"/>
      </p:cViewPr>
      <p:guideLst>
        <p:guide orient="horz" pos="2160"/>
        <p:guide orient="horz" pos="432"/>
        <p:guide orient="horz" pos="864"/>
        <p:guide orient="horz" pos="4017"/>
        <p:guide pos="2880"/>
        <p:guide pos="288"/>
        <p:guide pos="5472"/>
      </p:guideLst>
    </p:cSldViewPr>
  </p:slideViewPr>
  <p:outlineViewPr>
    <p:cViewPr>
      <p:scale>
        <a:sx n="33" d="100"/>
        <a:sy n="33" d="100"/>
      </p:scale>
      <p:origin x="0" y="920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53</a:t>
            </a:fld>
            <a:endParaRPr lang="en-US" dirty="0"/>
          </a:p>
        </p:txBody>
      </p:sp>
    </p:spTree>
    <p:extLst>
      <p:ext uri="{BB962C8B-B14F-4D97-AF65-F5344CB8AC3E}">
        <p14:creationId xmlns:p14="http://schemas.microsoft.com/office/powerpoint/2010/main" val="380237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 VHDL, and SystemVerilog</a:t>
            </a:r>
          </a:p>
          <a:p>
            <a:r>
              <a:rPr lang="en-US" sz="2400" dirty="0">
                <a:latin typeface="+mj-lt"/>
              </a:rPr>
              <a:t>6</a:t>
            </a:r>
            <a:r>
              <a:rPr lang="en-US" sz="2400" baseline="30000" dirty="0">
                <a:latin typeface="+mj-lt"/>
              </a:rPr>
              <a:t>th</a:t>
            </a:r>
            <a:r>
              <a:rPr lang="en-US" sz="2400" dirty="0">
                <a:latin typeface="+mj-lt"/>
              </a:rPr>
              <a:t> </a:t>
            </a:r>
            <a:r>
              <a:rPr lang="en-US" sz="1800" dirty="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a:t>Chapter 03</a:t>
            </a:r>
          </a:p>
        </p:txBody>
      </p:sp>
      <p:sp>
        <p:nvSpPr>
          <p:cNvPr id="5" name="Text Placeholder 4"/>
          <p:cNvSpPr>
            <a:spLocks noGrp="1"/>
          </p:cNvSpPr>
          <p:nvPr>
            <p:ph type="body" sz="quarter" idx="15"/>
          </p:nvPr>
        </p:nvSpPr>
        <p:spPr>
          <a:xfrm>
            <a:off x="4343400" y="3581399"/>
            <a:ext cx="4876800" cy="457201"/>
          </a:xfrm>
        </p:spPr>
        <p:txBody>
          <a:bodyPr/>
          <a:lstStyle/>
          <a:p>
            <a:pPr algn="ctr"/>
            <a:r>
              <a:rPr lang="en-IN" dirty="0"/>
              <a:t>Gate-Level Minimization</a:t>
            </a:r>
            <a:endParaRPr lang="en-US"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.1</a:t>
            </a:r>
            <a:r>
              <a:rPr lang="en-US" sz="2000" b="1" dirty="0">
                <a:latin typeface="+mj-lt"/>
              </a:rPr>
              <a:t/>
            </a:r>
            <a:br>
              <a:rPr lang="en-US" sz="2000" b="1" dirty="0">
                <a:latin typeface="+mj-lt"/>
              </a:rPr>
            </a:br>
            <a:r>
              <a:rPr lang="en-IN" sz="2000" dirty="0">
                <a:latin typeface="+mn-lt"/>
              </a:rPr>
              <a:t>Two-variable K-map.</a:t>
            </a:r>
            <a:endParaRPr lang="en-US" sz="2000" dirty="0">
              <a:latin typeface="+mn-lt"/>
            </a:endParaRPr>
          </a:p>
        </p:txBody>
      </p:sp>
      <p:pic>
        <p:nvPicPr>
          <p:cNvPr id="1026" name="Picture 2" descr="Part ay: The K map is a 2 by 2 grid with the following row entries: row 1, m sub 0, m sub 1; row 2, m sub 2, m sub 3. Part b: In the K map, the rows refers to x values 0 and 1 from top to bottom, and the columns refer to y values 0 and 1 from left to right: m sub 0 = x prime y prime, m sub 1 = x prime y, m sub 2 = x y prime, m sub 3 = x 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5788" y="2057400"/>
            <a:ext cx="4932424" cy="2895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.2</a:t>
            </a:r>
            <a:r>
              <a:rPr lang="en-US" sz="2000" b="1" dirty="0">
                <a:latin typeface="+mj-lt"/>
              </a:rPr>
              <a:t/>
            </a:r>
            <a:br>
              <a:rPr lang="en-US" sz="2000" b="1" dirty="0">
                <a:latin typeface="+mj-lt"/>
              </a:rPr>
            </a:br>
            <a:r>
              <a:rPr lang="en-IN" sz="2000" dirty="0">
                <a:latin typeface="+mn-lt"/>
              </a:rPr>
              <a:t>Representation of functions in the K-map.</a:t>
            </a:r>
            <a:endParaRPr lang="en-US" sz="2000" dirty="0">
              <a:latin typeface="+mn-lt"/>
            </a:endParaRPr>
          </a:p>
        </p:txBody>
      </p:sp>
      <p:pic>
        <p:nvPicPr>
          <p:cNvPr id="2050" name="Picture 2" descr="A K map represents functions. Part ay, x y: m sub 3 = 1, with all other cells blank. Part b, x + y: m sub 1= 1, m sub 2 = 1, m sub 3 = 1, and m sub 0 is bla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327" y="1676400"/>
            <a:ext cx="7203346"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675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a:t>
            </a:r>
            <a:r>
              <a:rPr lang="en-US" sz="2000" b="1" dirty="0">
                <a:latin typeface="+mj-lt"/>
              </a:rPr>
              <a:t/>
            </a:r>
            <a:br>
              <a:rPr lang="en-US" sz="2000" b="1" dirty="0">
                <a:latin typeface="+mj-lt"/>
              </a:rPr>
            </a:br>
            <a:r>
              <a:rPr lang="en-IN" sz="2000" dirty="0">
                <a:latin typeface="+mn-lt"/>
              </a:rPr>
              <a:t>Three-variable K-map.</a:t>
            </a:r>
            <a:endParaRPr lang="en-US" sz="2000" dirty="0">
              <a:latin typeface="+mn-lt"/>
            </a:endParaRPr>
          </a:p>
        </p:txBody>
      </p:sp>
      <p:pic>
        <p:nvPicPr>
          <p:cNvPr id="3074" name="Picture 2" descr="Part ay: The 3-variablle K map is a 2 by 4 grid. Row 1: m sub 0, m sub 1, m sub 3, m sub 2. Row 2: m sub 4, m sub 5, m sub 7, m sub 6. Part b: In the 3-variable K map, the rows represent the following x values from to bottom: 0, 1. The columns represent the following yz values from left to right: 0 0, 0 1, 1 1, and 1 0. The 2-digit sequences that begin with 1 represent y, and the 2-digit sequences that end with 1 represent z. The map entries are as follows. Row 1: m sub 0 = 0 0 0 = x prime y prime z prime, m sub 1 = 0 0 1 = x prime y prime z, m sub 3 = 0 1 1 = x prime y z, m sub 2 = 0 1 0 =x prime y z prime. Row 2: m sub 4 = 1 0 0 = x y prime z prime, m sub 5 = 1 0 1 = x y prime z, m sub 7 = 1 1 1 = x y z, m sub 6 = 1 1 0 = x y z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78196"/>
            <a:ext cx="7620000" cy="2900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963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.4</a:t>
            </a:r>
            <a:r>
              <a:rPr lang="en-US" sz="2000" b="1" dirty="0">
                <a:latin typeface="+mj-lt"/>
              </a:rPr>
              <a:t/>
            </a:r>
            <a:br>
              <a:rPr lang="en-US" sz="2000" b="1" dirty="0">
                <a:latin typeface="+mj-lt"/>
              </a:rPr>
            </a:br>
            <a:r>
              <a:rPr lang="en-IN" sz="2000" dirty="0">
                <a:latin typeface="+mn-lt"/>
              </a:rPr>
              <a:t>Map for Example 3.1, </a:t>
            </a:r>
            <a:r>
              <a:rPr lang="en-IN" sz="2000" i="1" dirty="0">
                <a:latin typeface="+mn-lt"/>
              </a:rPr>
              <a:t>F(x, y, z) </a:t>
            </a:r>
            <a:r>
              <a:rPr lang="en-IN" sz="2000" dirty="0">
                <a:latin typeface="+mn-lt"/>
              </a:rPr>
              <a:t>= 𝚺(2, 3, 4, 5) = </a:t>
            </a:r>
            <a:r>
              <a:rPr lang="en-IN" sz="2000" i="1" dirty="0" err="1">
                <a:latin typeface="+mn-lt"/>
              </a:rPr>
              <a:t>x’y</a:t>
            </a:r>
            <a:r>
              <a:rPr lang="en-IN" sz="2000" i="1" dirty="0">
                <a:latin typeface="+mn-lt"/>
              </a:rPr>
              <a:t> + </a:t>
            </a:r>
            <a:r>
              <a:rPr lang="en-IN" sz="2000" i="1" dirty="0" err="1">
                <a:latin typeface="+mn-lt"/>
              </a:rPr>
              <a:t>xy</a:t>
            </a:r>
            <a:r>
              <a:rPr lang="en-IN" sz="2000" i="1" dirty="0">
                <a:latin typeface="+mn-lt"/>
              </a:rPr>
              <a:t>’</a:t>
            </a:r>
            <a:r>
              <a:rPr lang="en-IN" sz="2000" dirty="0">
                <a:latin typeface="+mn-lt"/>
              </a:rPr>
              <a:t>.</a:t>
            </a:r>
            <a:endParaRPr lang="en-US" sz="2000" dirty="0">
              <a:latin typeface="+mn-lt"/>
            </a:endParaRPr>
          </a:p>
        </p:txBody>
      </p:sp>
      <p:pic>
        <p:nvPicPr>
          <p:cNvPr id="4098" name="Picture 2" descr="A 3-variable K map of F of x, y, and z. Row 1: m sub 3 = 1, m sub 2 = 1. Row 2: m sub 4 = 1, m sub 5 = 1. m sub 3 and m sub 2 form x prime y, and m sub 4 and m sub 5 form x y pri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1610237"/>
            <a:ext cx="5638800" cy="3637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92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.5</a:t>
            </a:r>
            <a:r>
              <a:rPr lang="en-US" sz="2000" b="1" dirty="0">
                <a:latin typeface="+mj-lt"/>
              </a:rPr>
              <a:t/>
            </a:r>
            <a:br>
              <a:rPr lang="en-US" sz="2000" b="1" dirty="0">
                <a:latin typeface="+mj-lt"/>
              </a:rPr>
            </a:br>
            <a:r>
              <a:rPr lang="en-IN" sz="2000" dirty="0">
                <a:latin typeface="+mn-lt"/>
              </a:rPr>
              <a:t>Map for Example 3.2</a:t>
            </a:r>
            <a:r>
              <a:rPr lang="en-IN" sz="2000" i="1" dirty="0">
                <a:latin typeface="+mn-lt"/>
              </a:rPr>
              <a:t>, F(x, y, z) </a:t>
            </a:r>
            <a:r>
              <a:rPr lang="en-IN" sz="2000" dirty="0">
                <a:latin typeface="+mn-lt"/>
              </a:rPr>
              <a:t>= 𝚺(3, 4, 6, 7) = </a:t>
            </a:r>
            <a:r>
              <a:rPr lang="en-IN" sz="2000" i="1" dirty="0" err="1">
                <a:latin typeface="+mn-lt"/>
              </a:rPr>
              <a:t>yz</a:t>
            </a:r>
            <a:r>
              <a:rPr lang="en-IN" sz="2000" i="1" dirty="0">
                <a:latin typeface="+mn-lt"/>
              </a:rPr>
              <a:t> + </a:t>
            </a:r>
            <a:r>
              <a:rPr lang="en-IN" sz="2000" i="1" dirty="0" err="1">
                <a:latin typeface="+mn-lt"/>
              </a:rPr>
              <a:t>xz</a:t>
            </a:r>
            <a:r>
              <a:rPr lang="en-IN" sz="2000" i="1" dirty="0">
                <a:latin typeface="+mn-lt"/>
              </a:rPr>
              <a:t>’.</a:t>
            </a:r>
            <a:endParaRPr lang="en-US" sz="2000" i="1" dirty="0">
              <a:latin typeface="+mn-lt"/>
            </a:endParaRPr>
          </a:p>
        </p:txBody>
      </p:sp>
      <p:pic>
        <p:nvPicPr>
          <p:cNvPr id="5122" name="Picture 2" descr="A 3-variable K map. Row 1: m sub 3 = 1. Row 2: m sub 4 = 1, m sub 7 = 1, m sub 6 = 1. m sub 0 is x y prime z prime. m sub 3 and m sub 7 form y z, and m sub 2 is x y z prime. Note: x y prime z prime + x y z prime = x z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257867"/>
            <a:ext cx="6248400" cy="4342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131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.6</a:t>
            </a:r>
            <a:r>
              <a:rPr lang="en-US" sz="2000" b="1" dirty="0">
                <a:latin typeface="+mj-lt"/>
              </a:rPr>
              <a:t/>
            </a:r>
            <a:br>
              <a:rPr lang="en-US" sz="2000" b="1" dirty="0">
                <a:latin typeface="+mj-lt"/>
              </a:rPr>
            </a:br>
            <a:r>
              <a:rPr lang="en-IN" sz="2000" dirty="0">
                <a:latin typeface="+mn-lt"/>
              </a:rPr>
              <a:t>Map for Example 3.3, </a:t>
            </a:r>
            <a:r>
              <a:rPr lang="en-IN" sz="2000" i="1" dirty="0">
                <a:latin typeface="+mn-lt"/>
              </a:rPr>
              <a:t>F(x, y, z) </a:t>
            </a:r>
            <a:r>
              <a:rPr lang="en-IN" sz="2000" dirty="0">
                <a:latin typeface="+mn-lt"/>
              </a:rPr>
              <a:t>= 𝚺(0, 2, 4, 5, 6) = </a:t>
            </a:r>
            <a:r>
              <a:rPr lang="en-IN" sz="2000" i="1" dirty="0">
                <a:latin typeface="+mn-lt"/>
              </a:rPr>
              <a:t>z’ + </a:t>
            </a:r>
            <a:r>
              <a:rPr lang="en-IN" sz="2000" i="1" dirty="0" err="1">
                <a:latin typeface="+mn-lt"/>
              </a:rPr>
              <a:t>xy</a:t>
            </a:r>
            <a:r>
              <a:rPr lang="en-IN" sz="2000" i="1" dirty="0">
                <a:latin typeface="+mn-lt"/>
              </a:rPr>
              <a:t>’</a:t>
            </a:r>
            <a:r>
              <a:rPr lang="en-IN" sz="2000" dirty="0">
                <a:latin typeface="+mn-lt"/>
              </a:rPr>
              <a:t>.</a:t>
            </a:r>
            <a:endParaRPr lang="en-US" sz="2000" dirty="0">
              <a:latin typeface="+mn-lt"/>
            </a:endParaRPr>
          </a:p>
        </p:txBody>
      </p:sp>
      <p:pic>
        <p:nvPicPr>
          <p:cNvPr id="6146" name="Picture 2" descr="A 3-variable K map. Row 1: m sub 0 = 1, m sub 2 = 1. Row 2: m sub 4 = 1, m sub 5 = 1, m sub 6 = 1. m sub 0 and m sub 4 form y prime z prime. m sub 4 and m sub 5 form xy prime, and m sub 2 and m sub 6 form y z prime. Note: y prime z prime + y z prime = z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43436"/>
            <a:ext cx="6400800" cy="3969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47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.7</a:t>
            </a:r>
            <a:r>
              <a:rPr lang="en-US" sz="2000" b="1" dirty="0">
                <a:latin typeface="+mj-lt"/>
              </a:rPr>
              <a:t/>
            </a:r>
            <a:br>
              <a:rPr lang="en-US" sz="2000" b="1" dirty="0">
                <a:latin typeface="+mj-lt"/>
              </a:rPr>
            </a:br>
            <a:r>
              <a:rPr lang="en-IN" sz="2000" dirty="0">
                <a:latin typeface="+mn-lt"/>
              </a:rPr>
              <a:t>Map of Example 3.4, </a:t>
            </a:r>
            <a:r>
              <a:rPr lang="en-IN" sz="2000" i="1" dirty="0">
                <a:latin typeface="+mn-lt"/>
              </a:rPr>
              <a:t>A’C</a:t>
            </a:r>
            <a:r>
              <a:rPr lang="en-IN" sz="2000" dirty="0">
                <a:latin typeface="+mn-lt"/>
              </a:rPr>
              <a:t> + </a:t>
            </a:r>
            <a:r>
              <a:rPr lang="en-IN" sz="2000" i="1" dirty="0">
                <a:latin typeface="+mn-lt"/>
              </a:rPr>
              <a:t>A’B</a:t>
            </a:r>
            <a:r>
              <a:rPr lang="en-IN" sz="2000" dirty="0">
                <a:latin typeface="+mn-lt"/>
              </a:rPr>
              <a:t> + </a:t>
            </a:r>
            <a:r>
              <a:rPr lang="en-IN" sz="2000" i="1" dirty="0">
                <a:latin typeface="+mn-lt"/>
              </a:rPr>
              <a:t>AB’C</a:t>
            </a:r>
            <a:r>
              <a:rPr lang="en-IN" sz="2000" dirty="0">
                <a:latin typeface="+mn-lt"/>
              </a:rPr>
              <a:t> + </a:t>
            </a:r>
            <a:r>
              <a:rPr lang="en-IN" sz="2000" i="1" dirty="0">
                <a:latin typeface="+mn-lt"/>
              </a:rPr>
              <a:t>BC</a:t>
            </a:r>
            <a:r>
              <a:rPr lang="en-IN" sz="2000" dirty="0">
                <a:latin typeface="+mn-lt"/>
              </a:rPr>
              <a:t> = </a:t>
            </a:r>
            <a:r>
              <a:rPr lang="en-IN" sz="2000" i="1" dirty="0">
                <a:latin typeface="+mn-lt"/>
              </a:rPr>
              <a:t>C + A’B</a:t>
            </a:r>
            <a:r>
              <a:rPr lang="en-IN" sz="2000" dirty="0">
                <a:latin typeface="+mn-lt"/>
              </a:rPr>
              <a:t>.</a:t>
            </a:r>
            <a:endParaRPr lang="en-US" sz="2000" dirty="0">
              <a:latin typeface="+mn-lt"/>
            </a:endParaRPr>
          </a:p>
        </p:txBody>
      </p:sp>
      <p:pic>
        <p:nvPicPr>
          <p:cNvPr id="7170" name="Picture 2" descr="A 3-variable K map with rows for Ay, and columns for B C, according to standard convention. Row 1: m sub 1 = 1, m sub 3 = 1, m sub 2 = 1. Row 2: m sub 5 = 1, m sub 7 = 1. m sub 1, m sub 3, m sub 5, and m sub 7 form C. m sub 3 and m sub 2 form A prime 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1507218"/>
            <a:ext cx="5791200" cy="3843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856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.8</a:t>
            </a:r>
            <a:r>
              <a:rPr lang="en-US" sz="2000" b="1" dirty="0">
                <a:latin typeface="+mj-lt"/>
              </a:rPr>
              <a:t/>
            </a:r>
            <a:br>
              <a:rPr lang="en-US" sz="2000" b="1" dirty="0">
                <a:latin typeface="+mj-lt"/>
              </a:rPr>
            </a:br>
            <a:r>
              <a:rPr lang="en-IN" sz="2000" dirty="0">
                <a:latin typeface="+mn-lt"/>
              </a:rPr>
              <a:t>Four-variable map.</a:t>
            </a:r>
            <a:endParaRPr lang="en-US" sz="2000" dirty="0">
              <a:latin typeface="+mn-lt"/>
            </a:endParaRPr>
          </a:p>
        </p:txBody>
      </p:sp>
      <p:pic>
        <p:nvPicPr>
          <p:cNvPr id="8194" name="Picture 2" descr="Part ay: The 4-variable K map is a 4 by 4 grid, with the following row entries. Row 1: m sub 0, m sub 1, m sub 3, m sub 2. Row 2: m sub 4, m sub 5, m sub 7, m sub 6. Row 3: m sub 12, m sub 13, m sub 15, m sub 14. Row 4: m sub 8, m sub 9, m sub 11, m sub 10. Part b: In the 4-vvariable K map, the rows represent w x as a 2-digit sequence with the leading 1 for w and the trailing 1 for x. The w x values are as follows from top to bottom: 0 0, 0 1, 1 1, 1 0. The columns represent y z as a 2-digit sequence with the leading 1 for y and and trailing 1 for z. The y z values are as follows from left to right: 0 0, 0 1, 1 1, 1 0. Within the map, each m value shows the corresponding w x and y z values combined and then converted into variables and their inverses. For example, m sub 1 = 0 0 0 1 = w prime x prime y prime 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43196"/>
            <a:ext cx="7620000" cy="4170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16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10440"/>
          </a:xfrm>
        </p:spPr>
        <p:txBody>
          <a:bodyPr/>
          <a:lstStyle/>
          <a:p>
            <a:r>
              <a:rPr lang="en-US" sz="2000" b="1" dirty="0">
                <a:latin typeface="+mj-lt"/>
              </a:rPr>
              <a:t>Figure 3</a:t>
            </a:r>
            <a:r>
              <a:rPr lang="en-US" sz="2000" dirty="0">
                <a:latin typeface="+mj-lt"/>
              </a:rPr>
              <a:t>.9</a:t>
            </a:r>
            <a:r>
              <a:rPr lang="en-US" sz="2000" b="1" dirty="0">
                <a:latin typeface="+mj-lt"/>
              </a:rPr>
              <a:t/>
            </a:r>
            <a:br>
              <a:rPr lang="en-US" sz="2000" b="1" dirty="0">
                <a:latin typeface="+mj-lt"/>
              </a:rPr>
            </a:br>
            <a:r>
              <a:rPr lang="en-IN" sz="2000" dirty="0">
                <a:latin typeface="+mn-lt"/>
              </a:rPr>
              <a:t>Map for Example 3.5, </a:t>
            </a:r>
            <a:r>
              <a:rPr lang="en-IN" sz="2000" i="1" dirty="0">
                <a:latin typeface="+mn-lt"/>
              </a:rPr>
              <a:t>F(w, x, y, z) </a:t>
            </a:r>
            <a:r>
              <a:rPr lang="en-IN" sz="2000" dirty="0">
                <a:latin typeface="+mn-lt"/>
              </a:rPr>
              <a:t>= 𝚺(0, 1, 2, 4, 5, 6, 8, 9, 12, 13, 14) =</a:t>
            </a:r>
            <a:br>
              <a:rPr lang="en-IN" sz="2000" dirty="0">
                <a:latin typeface="+mn-lt"/>
              </a:rPr>
            </a:br>
            <a:r>
              <a:rPr lang="en-IN" sz="2000" i="1" dirty="0">
                <a:latin typeface="+mn-lt"/>
              </a:rPr>
              <a:t>y’ + </a:t>
            </a:r>
            <a:r>
              <a:rPr lang="en-IN" sz="2000" i="1" dirty="0" err="1">
                <a:latin typeface="+mn-lt"/>
              </a:rPr>
              <a:t>w’z</a:t>
            </a:r>
            <a:r>
              <a:rPr lang="en-IN" sz="2000" i="1" dirty="0">
                <a:latin typeface="+mn-lt"/>
              </a:rPr>
              <a:t>’ + </a:t>
            </a:r>
            <a:r>
              <a:rPr lang="en-IN" sz="2000" i="1" dirty="0" err="1">
                <a:latin typeface="+mn-lt"/>
              </a:rPr>
              <a:t>xz</a:t>
            </a:r>
            <a:r>
              <a:rPr lang="en-IN" sz="2000" dirty="0">
                <a:latin typeface="+mn-lt"/>
              </a:rPr>
              <a:t>’.</a:t>
            </a:r>
            <a:endParaRPr lang="en-US" sz="2000" dirty="0">
              <a:latin typeface="+mn-lt"/>
            </a:endParaRPr>
          </a:p>
        </p:txBody>
      </p:sp>
      <p:pic>
        <p:nvPicPr>
          <p:cNvPr id="9218" name="Picture 2" descr="The following list provides the M entries set equal to 1 and their variable equivalents. m sub 0 and m sub 4 = w y prime z prime. m sub 4 and m sub 12 = x y prime z prime. m sub 0, m sub 1m m sub 4, m sub 5, m sub 12, m sub 13, m sub 8, and m sub 9 = y prime. m sub 2 and m sub 6 = w prime y z prime. m sub 6 and m sub 14 = x y z prime. Note: w prime y prime z prime + w prime y z prime = w prime z prime, and x y prime z prime + x y z prime = x z pri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8214" y="1472999"/>
            <a:ext cx="4725986" cy="3912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888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10440"/>
          </a:xfrm>
        </p:spPr>
        <p:txBody>
          <a:bodyPr/>
          <a:lstStyle/>
          <a:p>
            <a:r>
              <a:rPr lang="en-US" sz="2000" b="1" dirty="0">
                <a:latin typeface="+mj-lt"/>
              </a:rPr>
              <a:t>Figure 3</a:t>
            </a:r>
            <a:r>
              <a:rPr lang="en-US" sz="2000" dirty="0">
                <a:latin typeface="+mj-lt"/>
              </a:rPr>
              <a:t>.10</a:t>
            </a:r>
            <a:r>
              <a:rPr lang="en-US" sz="2000" b="1" dirty="0">
                <a:latin typeface="+mj-lt"/>
              </a:rPr>
              <a:t/>
            </a:r>
            <a:br>
              <a:rPr lang="en-US" sz="2000" b="1" dirty="0">
                <a:latin typeface="+mj-lt"/>
              </a:rPr>
            </a:br>
            <a:r>
              <a:rPr lang="en-IN" sz="2000" dirty="0">
                <a:latin typeface="+mn-lt"/>
              </a:rPr>
              <a:t>Map for Example 3.6, </a:t>
            </a:r>
            <a:r>
              <a:rPr lang="en-IN" sz="2000" i="1" dirty="0">
                <a:latin typeface="+mn-lt"/>
              </a:rPr>
              <a:t>A’B’C’ + B’CD’ + A’BCD’ + AB’C = B’D’ + B’C’ + A’CD’.</a:t>
            </a:r>
            <a:endParaRPr lang="en-US" sz="2000" i="1" dirty="0">
              <a:latin typeface="+mn-lt"/>
            </a:endParaRPr>
          </a:p>
        </p:txBody>
      </p:sp>
      <p:pic>
        <p:nvPicPr>
          <p:cNvPr id="10242" name="Picture 2" descr="The following list provides the M entries set equal to 1 and their variable equivalents. m sub 0 = Ay prime B prime C prime D prime. m sub 0 and m sub 1 = Ay prime B prime C prime. m sub 2 = Ay prime B prime C D prime. m sub 2 and m sub 6 = Ay prime C D prime. m sub 8 = Ay B prime C prime D prime. m sub 8 and m sub 9 = Ay B prime C prime. m sub 10 = Ay B prime C D prime. Note: Ay prime B prime C prime D prime + Ay prime B prime C D prime = Ay prime B prime D prime. Ay B prime C prime D prime + Ay B prime C D prime = Ay B prime D prime. Ay prime B prime D prime + Ay B prime D prime = B prime D prime. Ay prime B prime C prime + Ay B prime C prime = B prime C pri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4414" y="1412632"/>
            <a:ext cx="4573586" cy="4032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08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10440"/>
          </a:xfrm>
        </p:spPr>
        <p:txBody>
          <a:bodyPr/>
          <a:lstStyle/>
          <a:p>
            <a:r>
              <a:rPr lang="en-US" sz="2000" b="1" dirty="0">
                <a:latin typeface="+mj-lt"/>
              </a:rPr>
              <a:t>Figure 3</a:t>
            </a:r>
            <a:r>
              <a:rPr lang="en-US" sz="2000" dirty="0">
                <a:latin typeface="+mj-lt"/>
              </a:rPr>
              <a:t>.11</a:t>
            </a:r>
            <a:r>
              <a:rPr lang="en-US" sz="2000" b="1" dirty="0">
                <a:latin typeface="+mj-lt"/>
              </a:rPr>
              <a:t/>
            </a:r>
            <a:br>
              <a:rPr lang="en-US" sz="2000" b="1" dirty="0">
                <a:latin typeface="+mj-lt"/>
              </a:rPr>
            </a:br>
            <a:r>
              <a:rPr lang="en-IN" sz="2000" dirty="0">
                <a:latin typeface="+mn-lt"/>
              </a:rPr>
              <a:t>Simplification using prime </a:t>
            </a:r>
            <a:r>
              <a:rPr lang="en-IN" sz="2000" dirty="0" err="1">
                <a:latin typeface="+mn-lt"/>
              </a:rPr>
              <a:t>implicants</a:t>
            </a:r>
            <a:r>
              <a:rPr lang="en-IN" sz="2000" dirty="0">
                <a:latin typeface="+mn-lt"/>
              </a:rPr>
              <a:t>.</a:t>
            </a:r>
            <a:endParaRPr lang="en-US" sz="2000" dirty="0">
              <a:latin typeface="+mn-lt"/>
            </a:endParaRPr>
          </a:p>
        </p:txBody>
      </p:sp>
      <p:pic>
        <p:nvPicPr>
          <p:cNvPr id="11266" name="Picture 2" descr="Part ay: essential prime implicants B D and B prime D prime. m sub 0 = Ay prime B prime C prime D prime. m sub 2 = Ay prime B prime C D prime. m sub 5, m sub 7, m sub 13, and m sub 15 = B D. m sub 8 = Ay B prime C prime D prime. m sub 10 = Ay B prime C D prime. Note: Ay prime B prime C prime D prime + Ay prime B prime C D prime = Ay prime B prime D prime. Ay B prime C prime D prime + Ay B prime C D prime = Ay B prime D prime. Ay prime B prime D prime + Ay B prime D prime = B prime D prime. Part b: prime implicants C D, B prime C, Ay D, and Ay B prime. m sub 3, m sub 2, m sub 11, and m sub 10 = B prime C prime. m sub 3, m sub 7, m sub 15, and m sub 11 = C D. m sub 13, m sub 15, m sub 9, and m sub 11 = Ay D. m sub 8, m sub 9, m sub 11, and m sub 12 = Ay B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509573"/>
            <a:ext cx="8077200" cy="3837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70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10440"/>
          </a:xfrm>
        </p:spPr>
        <p:txBody>
          <a:bodyPr/>
          <a:lstStyle/>
          <a:p>
            <a:r>
              <a:rPr lang="en-US" sz="2000" b="1" dirty="0">
                <a:latin typeface="+mj-lt"/>
              </a:rPr>
              <a:t>Figure 3</a:t>
            </a:r>
            <a:r>
              <a:rPr lang="en-US" sz="2000" dirty="0">
                <a:latin typeface="+mj-lt"/>
              </a:rPr>
              <a:t>.12</a:t>
            </a:r>
            <a:r>
              <a:rPr lang="en-US" sz="2000" b="1" dirty="0">
                <a:latin typeface="+mj-lt"/>
              </a:rPr>
              <a:t/>
            </a:r>
            <a:br>
              <a:rPr lang="en-US" sz="2000" b="1" dirty="0">
                <a:latin typeface="+mj-lt"/>
              </a:rPr>
            </a:br>
            <a:r>
              <a:rPr lang="en-IN" sz="2000" dirty="0">
                <a:latin typeface="+mn-lt"/>
              </a:rPr>
              <a:t>Map for Example 3.7, </a:t>
            </a:r>
            <a:r>
              <a:rPr lang="en-IN" sz="2000" i="1" dirty="0">
                <a:latin typeface="+mn-lt"/>
              </a:rPr>
              <a:t>F(A, B, C, D) </a:t>
            </a:r>
            <a:r>
              <a:rPr lang="en-IN" sz="2000" dirty="0">
                <a:latin typeface="+mn-lt"/>
              </a:rPr>
              <a:t>= 𝚺(0, 1, 2, 5, 8, 9, 10) = </a:t>
            </a:r>
            <a:r>
              <a:rPr lang="en-IN" sz="2000" i="1" dirty="0">
                <a:latin typeface="+mn-lt"/>
              </a:rPr>
              <a:t>BD + BC + ACD = (A’ + B’)(C’ + D’)(B’ + D).</a:t>
            </a:r>
            <a:endParaRPr lang="en-US" sz="2000" i="1" dirty="0">
              <a:latin typeface="+mn-lt"/>
            </a:endParaRPr>
          </a:p>
        </p:txBody>
      </p:sp>
      <p:pic>
        <p:nvPicPr>
          <p:cNvPr id="12290" name="Picture 2" descr="The m values have the following variable equivalents. m sub 3, m sub 7, m sub 15, and m sub 11 = C D. m sub 4 and m sub 12 = B C prime D prime. m sub 6 and m sub 14 = B C D prime. m sub 12, m sub 13, m sub 15, and m sub 14 = Ay B. Note: B C prime D prime + B C D prime = B D pri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3414" y="1423063"/>
            <a:ext cx="5335586" cy="401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711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.13</a:t>
            </a:r>
            <a:r>
              <a:rPr lang="en-US" sz="2000" b="1" dirty="0">
                <a:latin typeface="+mj-lt"/>
              </a:rPr>
              <a:t/>
            </a:r>
            <a:br>
              <a:rPr lang="en-US" sz="2000" b="1" dirty="0">
                <a:latin typeface="+mj-lt"/>
              </a:rPr>
            </a:br>
            <a:r>
              <a:rPr lang="en-IN" sz="2000" dirty="0">
                <a:latin typeface="+mn-lt"/>
              </a:rPr>
              <a:t>Gate implementations of the function of Example 3.7.</a:t>
            </a:r>
            <a:endParaRPr lang="en-US" sz="2000" dirty="0">
              <a:latin typeface="+mn-lt"/>
            </a:endParaRPr>
          </a:p>
        </p:txBody>
      </p:sp>
      <p:pic>
        <p:nvPicPr>
          <p:cNvPr id="13314" name="Picture 2" descr="part ay: F = B prime D prime + B prime C prime + Ay prime C prime D. First path: B prime to first and gate. Second path: D prime to first and gate. Third path:  first and gate to or gate. Fourth path: B prime to second and gate. Fifth path: C prime to second and gate. Sixth path: second and gate to or gate. Seventh path:  Ay prime to third and gate. Eighth path: D to third and gate. Ninth path: third and gate to or gate. The or gate yields output F. Part b: F = the sum of Ay prime and B prime times the sum of C prime and D prime times the sum of B prime and D. First path: Ay prime to first or gate. Second path: B prime to first or gate. Third path: first or gate to and gate. Fourth path: C prime to second or gate. Fifth path: D prime to second or gate. Sixth path: second or gate to and gate. Seventh path: B prime to third or gate. Eighth path: D to third or gate. Ninth path: third or gate to and gate. The and gate yields output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869" y="2209800"/>
            <a:ext cx="8152262"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13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.1</a:t>
            </a:r>
            <a:r>
              <a:rPr lang="en-US" sz="2000" b="1" dirty="0">
                <a:latin typeface="+mn-lt"/>
              </a:rPr>
              <a:t/>
            </a:r>
            <a:br>
              <a:rPr lang="en-US" sz="2000" b="1" dirty="0">
                <a:latin typeface="+mn-lt"/>
              </a:rPr>
            </a:br>
            <a:r>
              <a:rPr lang="en-IN" sz="2000" dirty="0">
                <a:latin typeface="+mn-lt"/>
              </a:rPr>
              <a:t>Truth Table of Function F.</a:t>
            </a:r>
            <a:endParaRPr lang="en-US" sz="2000" dirty="0">
              <a:latin typeface="+mn-lt"/>
            </a:endParaRPr>
          </a:p>
        </p:txBody>
      </p:sp>
      <p:pic>
        <p:nvPicPr>
          <p:cNvPr id="14338" name="Picture 2" descr="Z:\NewMedia\Ebook-Novella\Wiley\jira\Mano_Ciletti6e\Work\Images\ch03\ciletti_6e_table_03_0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187" y="1752601"/>
            <a:ext cx="5029626" cy="3351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.14</a:t>
            </a:r>
            <a:r>
              <a:rPr lang="en-US" sz="2000" b="1" dirty="0">
                <a:latin typeface="+mj-lt"/>
              </a:rPr>
              <a:t/>
            </a:r>
            <a:br>
              <a:rPr lang="en-US" sz="2000" b="1" dirty="0">
                <a:latin typeface="+mj-lt"/>
              </a:rPr>
            </a:br>
            <a:r>
              <a:rPr lang="en-IN" sz="2000" dirty="0">
                <a:latin typeface="+mn-lt"/>
              </a:rPr>
              <a:t>Map for the function of Table 3.1.</a:t>
            </a:r>
            <a:endParaRPr lang="en-US" sz="2000" dirty="0">
              <a:latin typeface="+mn-lt"/>
            </a:endParaRPr>
          </a:p>
        </p:txBody>
      </p:sp>
      <p:pic>
        <p:nvPicPr>
          <p:cNvPr id="15362" name="Picture 2" descr="A 3-variable K map with rows for x and columns for y z. m sub 1 and m sub 3 = x prime z. m sub 4 and m sub 6 = x z pri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5814" y="1483559"/>
            <a:ext cx="5030786" cy="3890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180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a:latin typeface="+mn-lt"/>
              </a:rPr>
              <a:t>Practice Exercise 3</a:t>
            </a:r>
            <a:r>
              <a:rPr lang="en-US" sz="2000" dirty="0">
                <a:latin typeface="+mn-lt"/>
              </a:rPr>
              <a:t>.8</a:t>
            </a:r>
            <a:r>
              <a:rPr lang="en-US" sz="2000" b="1" dirty="0">
                <a:latin typeface="+mn-lt"/>
              </a:rPr>
              <a:t/>
            </a:r>
            <a:br>
              <a:rPr lang="en-US" sz="2000" b="1" dirty="0">
                <a:latin typeface="+mn-lt"/>
              </a:rPr>
            </a:br>
            <a:endParaRPr lang="en-US" sz="2000" dirty="0">
              <a:latin typeface="+mn-lt"/>
            </a:endParaRPr>
          </a:p>
        </p:txBody>
      </p:sp>
      <p:pic>
        <p:nvPicPr>
          <p:cNvPr id="16386" name="Picture 2" descr="Z:\NewMedia\Ebook-Novella\Wiley\jira\Mano_Ciletti6e\Work\Images\ch03\unt09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089576"/>
            <a:ext cx="3962400" cy="4678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.15</a:t>
            </a:r>
            <a:r>
              <a:rPr lang="en-US" sz="2000" b="1" dirty="0">
                <a:latin typeface="+mj-lt"/>
              </a:rPr>
              <a:t/>
            </a:r>
            <a:br>
              <a:rPr lang="en-US" sz="2000" b="1" dirty="0">
                <a:latin typeface="+mj-lt"/>
              </a:rPr>
            </a:br>
            <a:r>
              <a:rPr lang="en-IN" sz="2000" dirty="0">
                <a:latin typeface="+mn-lt"/>
              </a:rPr>
              <a:t>Example with don’t-care conditions.</a:t>
            </a:r>
            <a:endParaRPr lang="en-US" sz="2000" dirty="0">
              <a:latin typeface="+mn-lt"/>
            </a:endParaRPr>
          </a:p>
        </p:txBody>
      </p:sp>
      <p:pic>
        <p:nvPicPr>
          <p:cNvPr id="17410" name="Picture 2" descr="Part ay: F = y z + w prime x prime. The following m entries are marked 1: m sub 1, m sub 3, m sub 7, m sub 15, m sub 11. The following m entries are marked upper X: m sub 0, m sub 2, m sub 5. The remaining cells are marked 0. m sub 0, m sub 1, m sub 3, and m sub 2 = w prime x prime. m sub 3, m sub 7, m sub 15, and m sub 11 = y z. Part b: F = y z + w prime z. The following m entries are marked 1: m sub 1, m sub 3, m sub 7, m sub 15, m sub 11. The follow m entries are marked upper X: m sub 0, m sub 2, m sub 5. The remaining cells are marked 0. m sub 1, m sub 3, m sub 5, and m sub 7 = w prime z. m sub 3, m sub 7, m sub 15, and m sub 11 = y 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207" y="1676401"/>
            <a:ext cx="7537586"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638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.16</a:t>
            </a:r>
            <a:r>
              <a:rPr lang="en-US" sz="2000" b="1" dirty="0">
                <a:latin typeface="+mj-lt"/>
              </a:rPr>
              <a:t/>
            </a:r>
            <a:br>
              <a:rPr lang="en-US" sz="2000" b="1" dirty="0">
                <a:latin typeface="+mj-lt"/>
              </a:rPr>
            </a:br>
            <a:r>
              <a:rPr lang="en-IN" sz="2000" dirty="0">
                <a:latin typeface="+mn-lt"/>
              </a:rPr>
              <a:t>Logic operations with NAND gates.</a:t>
            </a:r>
            <a:endParaRPr lang="en-US" sz="2000" dirty="0">
              <a:latin typeface="+mn-lt"/>
            </a:endParaRPr>
          </a:p>
        </p:txBody>
      </p:sp>
      <p:pic>
        <p:nvPicPr>
          <p:cNvPr id="18434" name="Picture 2" descr="The inverter changes input x to output x prime. The and gate changes inputs x and y to output x y. The N and gate changes complemented inputs x and y to output x prime y prime, prime = x + 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29796"/>
            <a:ext cx="6553200" cy="3598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47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.17</a:t>
            </a:r>
            <a:r>
              <a:rPr lang="en-US" sz="2000" b="1" dirty="0">
                <a:latin typeface="+mj-lt"/>
              </a:rPr>
              <a:t/>
            </a:r>
            <a:br>
              <a:rPr lang="en-US" sz="2000" b="1" dirty="0">
                <a:latin typeface="+mj-lt"/>
              </a:rPr>
            </a:br>
            <a:r>
              <a:rPr lang="en-IN" sz="2000" dirty="0">
                <a:latin typeface="+mn-lt"/>
              </a:rPr>
              <a:t>Two graphic symbols for a three-input NAND gate.</a:t>
            </a:r>
            <a:endParaRPr lang="en-US" sz="2000" dirty="0">
              <a:latin typeface="+mn-lt"/>
            </a:endParaRPr>
          </a:p>
        </p:txBody>
      </p:sp>
      <p:pic>
        <p:nvPicPr>
          <p:cNvPr id="19458" name="Picture 2" descr="Part ay: and invert. The n and gate changes inputs x, y, and z to output x y z, prime. Part b: invert or. The n or gate changes inputs x, y, and z to output x prime + y prime + z prime = x y z,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875586"/>
            <a:ext cx="8229600" cy="1105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502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.18</a:t>
            </a:r>
            <a:r>
              <a:rPr lang="en-US" sz="2000" b="1" dirty="0">
                <a:latin typeface="+mj-lt"/>
              </a:rPr>
              <a:t/>
            </a:r>
            <a:br>
              <a:rPr lang="en-US" sz="2000" b="1" dirty="0">
                <a:latin typeface="+mj-lt"/>
              </a:rPr>
            </a:br>
            <a:r>
              <a:rPr lang="en-IN" sz="2000" dirty="0">
                <a:latin typeface="+mn-lt"/>
              </a:rPr>
              <a:t>Three ways to implement </a:t>
            </a:r>
            <a:r>
              <a:rPr lang="en-IN" sz="2000" i="1" dirty="0">
                <a:latin typeface="+mn-lt"/>
              </a:rPr>
              <a:t>F = AB + CD</a:t>
            </a:r>
            <a:r>
              <a:rPr lang="en-IN" sz="2000" dirty="0">
                <a:latin typeface="+mn-lt"/>
              </a:rPr>
              <a:t>.</a:t>
            </a:r>
            <a:endParaRPr lang="en-US" sz="2000" dirty="0">
              <a:latin typeface="+mn-lt"/>
            </a:endParaRPr>
          </a:p>
        </p:txBody>
      </p:sp>
      <p:pic>
        <p:nvPicPr>
          <p:cNvPr id="20482" name="Picture 2" descr="Each diagram shows inputs Ay and B and inputs C and D entering separate and gates, without outputs flowing to a single or or and gate that produces F. Part ay: The final gate is an or gate, and no inversions occur. Part b: The final gate is an or gate, and inversions occur at the output of each and gat and at the input of the or gate. Part c: The final gate is an and gate, and an inversion occurs at the output of each g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231" y="1600201"/>
            <a:ext cx="7507538" cy="3656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312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.19</a:t>
            </a:r>
            <a:r>
              <a:rPr lang="en-US" sz="2000" b="1" dirty="0">
                <a:latin typeface="+mj-lt"/>
              </a:rPr>
              <a:t/>
            </a:r>
            <a:br>
              <a:rPr lang="en-US" sz="2000" b="1" dirty="0">
                <a:latin typeface="+mj-lt"/>
              </a:rPr>
            </a:br>
            <a:r>
              <a:rPr lang="en-IN" sz="2000" dirty="0">
                <a:latin typeface="+mn-lt"/>
              </a:rPr>
              <a:t>Solution to Example 3.9.</a:t>
            </a:r>
            <a:endParaRPr lang="en-US" sz="2000" dirty="0">
              <a:latin typeface="+mn-lt"/>
            </a:endParaRPr>
          </a:p>
        </p:txBody>
      </p:sp>
      <p:pic>
        <p:nvPicPr>
          <p:cNvPr id="21506" name="Picture 2" descr="Part ay: K map for variables x, y, and z. m sub 3 and m sub 2 = x prime y. m sub 1, m sub 3, m sub 5, and m sub 7 = z. m sub 4 and m sub 5 = x y prime. F = x y prime + x prime y + z. Part b: logic diagram. Inputs x and y primer enter the first n and gate. Inputs x prime and y enter the second n and gate, and input z enters an inverter. The outputs of the three gates are complemented prior to entering a common or gate that produces F. Part c: logic diagram. Inputs x and y prime enter the first n and gate. Inputs x prime and y enter the second n and gate. The outputs of the gates enter a third n and gate, along with input z prime. The third n and gate produces output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04217"/>
            <a:ext cx="6858000" cy="4247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36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a:latin typeface="+mn-lt"/>
              </a:rPr>
              <a:t>Practice Exercise 3</a:t>
            </a:r>
            <a:r>
              <a:rPr lang="en-US" sz="2000" dirty="0">
                <a:latin typeface="+mn-lt"/>
              </a:rPr>
              <a:t>.10</a:t>
            </a:r>
            <a:r>
              <a:rPr lang="en-US" sz="2000" b="1" dirty="0">
                <a:latin typeface="+mn-lt"/>
              </a:rPr>
              <a:t/>
            </a:r>
            <a:br>
              <a:rPr lang="en-US" sz="2000" b="1" dirty="0">
                <a:latin typeface="+mn-lt"/>
              </a:rPr>
            </a:br>
            <a:endParaRPr lang="en-US" sz="2000" dirty="0">
              <a:latin typeface="+mn-lt"/>
            </a:endParaRPr>
          </a:p>
        </p:txBody>
      </p:sp>
      <p:pic>
        <p:nvPicPr>
          <p:cNvPr id="22530" name="Picture 2" descr="A logic diagram. Inputs x prime and y prime enter the first n and gate. Inputs x and y enter the second n and gate. Input z enters the inverter. The outputs of the gates and inverter are complemented prior to entering a common or gate that produces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66" y="1905000"/>
            <a:ext cx="6575468" cy="3048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334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.20</a:t>
            </a:r>
            <a:r>
              <a:rPr lang="en-US" sz="2000" b="1" dirty="0">
                <a:latin typeface="+mj-lt"/>
              </a:rPr>
              <a:t/>
            </a:r>
            <a:br>
              <a:rPr lang="en-US" sz="2000" b="1" dirty="0">
                <a:latin typeface="+mj-lt"/>
              </a:rPr>
            </a:br>
            <a:r>
              <a:rPr lang="en-IN" sz="2000" dirty="0">
                <a:latin typeface="+mn-lt"/>
              </a:rPr>
              <a:t>Implementing </a:t>
            </a:r>
            <a:r>
              <a:rPr lang="en-IN" sz="2000" i="1" dirty="0">
                <a:latin typeface="+mn-lt"/>
              </a:rPr>
              <a:t>F = A(CD + B) + BC</a:t>
            </a:r>
            <a:r>
              <a:rPr lang="en-IN" sz="2000" dirty="0">
                <a:latin typeface="+mn-lt"/>
              </a:rPr>
              <a:t>’.</a:t>
            </a:r>
            <a:endParaRPr lang="en-US" sz="2000" dirty="0">
              <a:latin typeface="+mn-lt"/>
            </a:endParaRPr>
          </a:p>
        </p:txBody>
      </p:sp>
      <p:pic>
        <p:nvPicPr>
          <p:cNvPr id="23554" name="Picture 2" descr="Part ay: and or gates. Inputs C and D enter the first and gate. Inputs B and C prime enter the second and gate. The output of the first and gate and input B enter the first or gate, and the output of the first or gate and input Ay enter the third and gate. The outputs of the second and third and gates then enter the second or gate which produces F. Part b: n and gates. The logic diagram has the same structure as the diagram in part ay, but the outputs of the and gates and the inputs of the or gates are complemen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7629" y="1295400"/>
            <a:ext cx="666874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975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.21</a:t>
            </a:r>
            <a:r>
              <a:rPr lang="en-US" sz="2000" b="1" dirty="0">
                <a:latin typeface="+mj-lt"/>
              </a:rPr>
              <a:t/>
            </a:r>
            <a:br>
              <a:rPr lang="en-US" sz="2000" b="1" dirty="0">
                <a:latin typeface="+mj-lt"/>
              </a:rPr>
            </a:br>
            <a:r>
              <a:rPr lang="en-IN" sz="2000" dirty="0">
                <a:latin typeface="+mn-lt"/>
              </a:rPr>
              <a:t>Implementing </a:t>
            </a:r>
            <a:r>
              <a:rPr lang="en-IN" sz="2000" i="1" dirty="0">
                <a:latin typeface="+mn-lt"/>
              </a:rPr>
              <a:t>F = (AB’ + A’B)(C + D’).</a:t>
            </a:r>
            <a:endParaRPr lang="en-US" sz="2000" i="1" dirty="0">
              <a:latin typeface="+mn-lt"/>
            </a:endParaRPr>
          </a:p>
        </p:txBody>
      </p:sp>
      <p:pic>
        <p:nvPicPr>
          <p:cNvPr id="24578" name="Picture 2" descr="Part ay: and or gates. Inputs Ay and B prime and inputs Ay prime and B enter the first and second and gates. Inputs C and D prime enter the first or gate. The outputs of the first and second and gates proceed to the second or gate. The outputs of the first and second or gates then go to a third and gate that produces F. part b: n and gates. The structure of the diagram is the same as the structure of the diagram in part ay, but all or gate inputs and all and gate outputs are complemented, and an inverter is installed between the final and gate and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1013" y="1229215"/>
            <a:ext cx="5640388" cy="4399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986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.22</a:t>
            </a:r>
            <a:r>
              <a:rPr lang="en-US" sz="2000" b="1" dirty="0">
                <a:latin typeface="+mj-lt"/>
              </a:rPr>
              <a:t/>
            </a:r>
            <a:br>
              <a:rPr lang="en-US" sz="2000" b="1" dirty="0">
                <a:latin typeface="+mj-lt"/>
              </a:rPr>
            </a:br>
            <a:r>
              <a:rPr lang="en-IN" sz="2000" dirty="0">
                <a:latin typeface="+mn-lt"/>
              </a:rPr>
              <a:t>Logic operations with NOR gates.</a:t>
            </a:r>
            <a:endParaRPr lang="en-US" sz="2000" dirty="0">
              <a:latin typeface="+mn-lt"/>
            </a:endParaRPr>
          </a:p>
        </p:txBody>
      </p:sp>
      <p:pic>
        <p:nvPicPr>
          <p:cNvPr id="25602" name="Picture 2" descr="Inverter: Input x passes through an inverter to produce output x prime. Or: Inputs x and y pass through a common n or gate, followed by an inverter, producing output x + y. And: Input x and y pass through separate inverters, followed by a common n or gate, producing output x prime + y prime, prime = x 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732" y="1600200"/>
            <a:ext cx="7516536"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379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.23</a:t>
            </a:r>
            <a:r>
              <a:rPr lang="en-US" sz="2000" b="1" dirty="0">
                <a:latin typeface="+mj-lt"/>
              </a:rPr>
              <a:t/>
            </a:r>
            <a:br>
              <a:rPr lang="en-US" sz="2000" b="1" dirty="0">
                <a:latin typeface="+mj-lt"/>
              </a:rPr>
            </a:br>
            <a:r>
              <a:rPr lang="en-IN" sz="2000" dirty="0">
                <a:latin typeface="+mn-lt"/>
              </a:rPr>
              <a:t>Two graphic symbols for the NOR gate.</a:t>
            </a:r>
            <a:endParaRPr lang="en-US" sz="2000" dirty="0">
              <a:latin typeface="+mn-lt"/>
            </a:endParaRPr>
          </a:p>
        </p:txBody>
      </p:sp>
      <p:pic>
        <p:nvPicPr>
          <p:cNvPr id="26626" name="Picture 2" descr="Part ay: or invert. Inputs x, y, and z pass through an n or gate, producing x + y + z, prime. Part b: invert and. Input x, y, and z are complemented before passing through a common and gate to product x prime y prime z prime = x + y + z, pr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22" y="2895600"/>
            <a:ext cx="8742556"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908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.24</a:t>
            </a:r>
            <a:r>
              <a:rPr lang="en-US" sz="2000" b="1" dirty="0">
                <a:latin typeface="+mj-lt"/>
              </a:rPr>
              <a:t/>
            </a:r>
            <a:br>
              <a:rPr lang="en-US" sz="2000" b="1" dirty="0">
                <a:latin typeface="+mj-lt"/>
              </a:rPr>
            </a:br>
            <a:r>
              <a:rPr lang="pt-BR" sz="2000" dirty="0">
                <a:latin typeface="+mn-lt"/>
              </a:rPr>
              <a:t>Implementing </a:t>
            </a:r>
            <a:r>
              <a:rPr lang="pt-BR" sz="2000" i="1" dirty="0">
                <a:latin typeface="+mn-lt"/>
              </a:rPr>
              <a:t>F = (A + B)(C + D)E</a:t>
            </a:r>
            <a:r>
              <a:rPr lang="pt-BR" sz="2000" dirty="0">
                <a:latin typeface="+mn-lt"/>
              </a:rPr>
              <a:t>.</a:t>
            </a:r>
            <a:endParaRPr lang="en-US" sz="2000" dirty="0">
              <a:latin typeface="+mn-lt"/>
            </a:endParaRPr>
          </a:p>
        </p:txBody>
      </p:sp>
      <p:pic>
        <p:nvPicPr>
          <p:cNvPr id="27650" name="Picture 2" descr="Inputs Ay and B and inputs c and D enter separate n or gates. The gate outputs and input E prime are complemented prior to entering an and gate leading to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460" y="1828800"/>
            <a:ext cx="714508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245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634044"/>
          </a:xfrm>
        </p:spPr>
        <p:txBody>
          <a:bodyPr/>
          <a:lstStyle/>
          <a:p>
            <a:r>
              <a:rPr lang="en-US" sz="2000" b="1" dirty="0">
                <a:latin typeface="+mj-lt"/>
              </a:rPr>
              <a:t>Figure 3</a:t>
            </a:r>
            <a:r>
              <a:rPr lang="en-US" sz="2000" dirty="0">
                <a:latin typeface="+mj-lt"/>
              </a:rPr>
              <a:t>.25</a:t>
            </a:r>
            <a:r>
              <a:rPr lang="en-US" sz="2000" b="1" dirty="0">
                <a:latin typeface="+mj-lt"/>
              </a:rPr>
              <a:t/>
            </a:r>
            <a:br>
              <a:rPr lang="en-US" sz="2000" b="1" dirty="0">
                <a:latin typeface="+mj-lt"/>
              </a:rPr>
            </a:br>
            <a:r>
              <a:rPr lang="en-IN" sz="2000" dirty="0">
                <a:latin typeface="+mn-lt"/>
              </a:rPr>
              <a:t>Implementing </a:t>
            </a:r>
            <a:r>
              <a:rPr lang="en-IN" sz="2000" i="1" dirty="0">
                <a:latin typeface="+mn-lt"/>
              </a:rPr>
              <a:t>F = (AB’ + A’B)(C + D’) </a:t>
            </a:r>
            <a:r>
              <a:rPr lang="en-IN" sz="2000" dirty="0">
                <a:latin typeface="+mn-lt"/>
              </a:rPr>
              <a:t>with NOR gates.</a:t>
            </a:r>
            <a:endParaRPr lang="en-US" sz="2000" dirty="0">
              <a:latin typeface="+mn-lt"/>
            </a:endParaRPr>
          </a:p>
        </p:txBody>
      </p:sp>
      <p:pic>
        <p:nvPicPr>
          <p:cNvPr id="28674" name="Picture 2" descr="Inputs Ay prime and B and inputs Ay and B prime are complemented prior to entering separate and gates leading to a common n or gate. Inputs C and D prime enter a second n or gate, and the outputs of the n or gates are complemented prior to entering a third and gate leading to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94580"/>
            <a:ext cx="7620000" cy="286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036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a:latin typeface="+mn-lt"/>
              </a:rPr>
              <a:t>Practice Exercise 3</a:t>
            </a:r>
            <a:r>
              <a:rPr lang="en-US" sz="2000" dirty="0">
                <a:latin typeface="+mn-lt"/>
              </a:rPr>
              <a:t>.11</a:t>
            </a:r>
            <a:r>
              <a:rPr lang="en-US" sz="2000" b="1" dirty="0">
                <a:latin typeface="+mn-lt"/>
              </a:rPr>
              <a:t/>
            </a:r>
            <a:br>
              <a:rPr lang="en-US" sz="2000" b="1" dirty="0">
                <a:latin typeface="+mn-lt"/>
              </a:rPr>
            </a:br>
            <a:endParaRPr lang="en-US" sz="2000" dirty="0">
              <a:latin typeface="+mn-lt"/>
            </a:endParaRPr>
          </a:p>
        </p:txBody>
      </p:sp>
      <p:pic>
        <p:nvPicPr>
          <p:cNvPr id="29698" name="Picture 2" descr="Inputs y and z prime enter an n or gate that produces output y + z, prime. Inputs w and x prime are complemented before passing through an and gate to produce w prime x. Inputs w prime and x are complemented prior to passing through another and gate to produce w x prime. w prime x and w x prime enter a second n or gate to produce w prime x w x prime, prime. This value and y + z prime, prime, are both complemented before entering a final and gate that produces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074159"/>
            <a:ext cx="4724400" cy="4709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531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1243644"/>
          </a:xfrm>
        </p:spPr>
        <p:txBody>
          <a:bodyPr/>
          <a:lstStyle/>
          <a:p>
            <a:r>
              <a:rPr lang="en-US" sz="2000" b="1" dirty="0">
                <a:latin typeface="+mj-lt"/>
              </a:rPr>
              <a:t>Figure 3</a:t>
            </a:r>
            <a:r>
              <a:rPr lang="en-US" sz="2000" dirty="0">
                <a:latin typeface="+mj-lt"/>
              </a:rPr>
              <a:t>.26</a:t>
            </a:r>
            <a:r>
              <a:rPr lang="en-IN" sz="2000" dirty="0">
                <a:latin typeface="+mn-lt"/>
              </a:rPr>
              <a:t/>
            </a:r>
            <a:br>
              <a:rPr lang="en-IN" sz="2000" dirty="0">
                <a:latin typeface="+mn-lt"/>
              </a:rPr>
            </a:br>
            <a:r>
              <a:rPr lang="en-IN" sz="2000" dirty="0">
                <a:latin typeface="+mn-lt"/>
              </a:rPr>
              <a:t>Wired logic</a:t>
            </a:r>
            <a:br>
              <a:rPr lang="en-IN" sz="2000" dirty="0">
                <a:latin typeface="+mn-lt"/>
              </a:rPr>
            </a:br>
            <a:r>
              <a:rPr lang="en-IN" sz="2000" dirty="0">
                <a:latin typeface="+mn-lt"/>
              </a:rPr>
              <a:t>(a) Wired-AND logic with two NAND gates</a:t>
            </a:r>
            <a:br>
              <a:rPr lang="en-IN" sz="2000" dirty="0">
                <a:latin typeface="+mn-lt"/>
              </a:rPr>
            </a:br>
            <a:r>
              <a:rPr lang="en-IN" sz="2000" dirty="0">
                <a:latin typeface="+mn-lt"/>
              </a:rPr>
              <a:t>(b) Wired-OR in emitter-coupled logic (ECL) gates.</a:t>
            </a:r>
            <a:endParaRPr lang="en-US" sz="2000" dirty="0">
              <a:latin typeface="+mn-lt"/>
            </a:endParaRPr>
          </a:p>
        </p:txBody>
      </p:sp>
      <p:pic>
        <p:nvPicPr>
          <p:cNvPr id="30722" name="Picture 2" descr="Part ay: wired-and in open-collector T T L n and gates; and or invert. Inputs Ay and B and inputs C and D enter separate n and gates, and the resulting outputs proceed to a node at the center of a third and gate, which produces F = Ay B + C D, prime. Part b: wired-or in E C L gates; or and invert. The diagram has the same structure has the diagram in part ay, but the and gates are replaced by or gates, and the final output is F = the complement of the sum of ay and B times the sum of C and 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65161"/>
            <a:ext cx="7620000" cy="192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553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.27</a:t>
            </a:r>
            <a:r>
              <a:rPr lang="en-IN" sz="2000" dirty="0">
                <a:latin typeface="+mn-lt"/>
              </a:rPr>
              <a:t/>
            </a:r>
            <a:br>
              <a:rPr lang="en-IN" sz="2000" dirty="0">
                <a:latin typeface="+mn-lt"/>
              </a:rPr>
            </a:br>
            <a:r>
              <a:rPr lang="en-IN" sz="2000" dirty="0">
                <a:latin typeface="+mn-lt"/>
              </a:rPr>
              <a:t>AND–OR–INVERT circuits, </a:t>
            </a:r>
            <a:r>
              <a:rPr lang="en-IN" sz="2000" i="1" dirty="0">
                <a:latin typeface="+mn-lt"/>
              </a:rPr>
              <a:t>F = (AB + CD + E)’.</a:t>
            </a:r>
            <a:endParaRPr lang="en-US" sz="2000" i="1" dirty="0">
              <a:latin typeface="+mn-lt"/>
            </a:endParaRPr>
          </a:p>
        </p:txBody>
      </p:sp>
      <p:pic>
        <p:nvPicPr>
          <p:cNvPr id="31746" name="Picture 2" descr="Part ay: and n or. Inputs Ay and B and inputs C and D enter separate and gates. The and gate outputs and input E pass through an n or gate to produce F. Part b: and n or. This diagram is the diagram from part ay with the n or gate replaced by an and gate with complemented inputs. Part c: n and, and. this diagram is the diagram from part ay, with the two and gates replaced by n and gates, the n or gate replaced by and and gate, and an inverter installed between E and the and g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195172"/>
            <a:ext cx="8229600" cy="2467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9698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.28</a:t>
            </a:r>
            <a:r>
              <a:rPr lang="en-IN" sz="2000" dirty="0">
                <a:latin typeface="+mn-lt"/>
              </a:rPr>
              <a:t/>
            </a:r>
            <a:br>
              <a:rPr lang="en-IN" sz="2000" dirty="0">
                <a:latin typeface="+mn-lt"/>
              </a:rPr>
            </a:br>
            <a:r>
              <a:rPr lang="en-IN" sz="2000" dirty="0">
                <a:latin typeface="+mn-lt"/>
              </a:rPr>
              <a:t>OR–AND–INVERT circuits, </a:t>
            </a:r>
            <a:r>
              <a:rPr lang="en-IN" sz="2000" i="1" dirty="0">
                <a:latin typeface="+mn-lt"/>
              </a:rPr>
              <a:t>F = [(A + B)(C + D)E]’.</a:t>
            </a:r>
            <a:endParaRPr lang="en-US" sz="2000" i="1" dirty="0">
              <a:latin typeface="+mn-lt"/>
            </a:endParaRPr>
          </a:p>
        </p:txBody>
      </p:sp>
      <p:pic>
        <p:nvPicPr>
          <p:cNvPr id="32771" name="Picture 3" descr="Part ay: or, n and. Inputs Ay and B and inputs C and D enter separate or gates. The or gate outputs and input E enter an n and gate that produces F. Part b: or, n and. This diagram is the diagram from part ay, with the n and gate replaced by an or gate with complemented inputs. Part c: n or, or. This diagram is the diagram in part ay, with the or gates replaced by n or gates, the n and gate replaced by an or gate, and an inverter installed between E and the or g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044" y="2208213"/>
            <a:ext cx="8249912" cy="2439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731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.2</a:t>
            </a:r>
            <a:r>
              <a:rPr lang="en-US" sz="2000" b="1" dirty="0">
                <a:latin typeface="+mn-lt"/>
              </a:rPr>
              <a:t/>
            </a:r>
            <a:br>
              <a:rPr lang="en-US" sz="2000" b="1" dirty="0">
                <a:latin typeface="+mn-lt"/>
              </a:rPr>
            </a:br>
            <a:r>
              <a:rPr lang="en-IN" sz="2000" dirty="0">
                <a:latin typeface="+mn-lt"/>
              </a:rPr>
              <a:t>Implementation with Other Two-Level Forms.</a:t>
            </a:r>
            <a:endParaRPr lang="en-US" sz="2000" dirty="0">
              <a:latin typeface="+mn-lt"/>
            </a:endParaRPr>
          </a:p>
        </p:txBody>
      </p:sp>
      <p:pic>
        <p:nvPicPr>
          <p:cNvPr id="33794" name="Picture 2" descr="Z:\NewMedia\Ebook-Novella\Wiley\jira\Mano_Ciletti6e\Work\Images\ch03\ciletti_6e_table_03_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15" y="2057401"/>
            <a:ext cx="803237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5283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.29</a:t>
            </a:r>
            <a:r>
              <a:rPr lang="en-IN" sz="2000" dirty="0">
                <a:latin typeface="+mn-lt"/>
              </a:rPr>
              <a:t/>
            </a:r>
            <a:br>
              <a:rPr lang="en-IN" sz="2000" dirty="0">
                <a:latin typeface="+mn-lt"/>
              </a:rPr>
            </a:br>
            <a:r>
              <a:rPr lang="en-IN" sz="2000" dirty="0">
                <a:latin typeface="+mn-lt"/>
              </a:rPr>
              <a:t>Other two-level implementations.</a:t>
            </a:r>
            <a:endParaRPr lang="en-US" sz="2000" dirty="0">
              <a:latin typeface="+mn-lt"/>
            </a:endParaRPr>
          </a:p>
        </p:txBody>
      </p:sp>
      <p:pic>
        <p:nvPicPr>
          <p:cNvPr id="34818" name="Picture 2" descr="Part ay: map simplification in sum of products. The 3-variable key map has rows for x and columns for y z. m sub 0 = 1 = x prime y prime z prime. m sub 6 = 1 = x y z prime. All other entries are 0. F = x prime y prime z prime + x y z prime. F prime = x prime y + x y prime + z. Part b: F = the complement of x prime y + x y prime + z. First logic diagram: and, n or. Inputs x prime and y and inputs x and y prime enter separate and gates. The and gate outputs and input z enter an n or gate that produces F. Second logic diagram: n and, and. Inputs x prime and y and inputs x and y prime enter separate n and gates, and input z passes through an inverter. The gate and inverter outputs then proceed to a common and gate that produces F. part c: F = the complement of the product of x + y + z, and x prime + y prime + z. First logic diagram: or, n and. Inputs x, y, and z, and inputs x prime, y prime, and z enter separate or gates, and the or gate outputs enter a common n and gate that produces F. Second logic diagram: n or, or. Inputs x, y, and z and inputs x prime, y prime, and z enter separate n or gates, and the n or gate outputs enter a common or gate, producing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4" y="1130788"/>
            <a:ext cx="3659186" cy="459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145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.30</a:t>
            </a:r>
            <a:r>
              <a:rPr lang="en-IN" sz="2000" dirty="0">
                <a:latin typeface="+mn-lt"/>
              </a:rPr>
              <a:t/>
            </a:r>
            <a:br>
              <a:rPr lang="en-IN" sz="2000" dirty="0">
                <a:latin typeface="+mn-lt"/>
              </a:rPr>
            </a:br>
            <a:r>
              <a:rPr lang="en-IN" sz="2000" dirty="0">
                <a:latin typeface="+mn-lt"/>
              </a:rPr>
              <a:t>Logic diagrams for exclusive-OR implementations.</a:t>
            </a:r>
            <a:endParaRPr lang="en-US" sz="2000" dirty="0">
              <a:latin typeface="+mn-lt"/>
            </a:endParaRPr>
          </a:p>
        </p:txBody>
      </p:sp>
      <p:pic>
        <p:nvPicPr>
          <p:cNvPr id="1026" name="Picture 2" descr="Part ay: exclusive or with and or not gates. Input x passes directly to the first and gate, and it passes through an inverter to the second and gate. Input y passes directly to the second and gate, and it passes through an inverter to the first and gate. the and gate outputs enter a common or gate that produces x, exclusive or, y. Part b: exclusive or with n and gates. Inputs x and y proceed to the same first-level n and gate, as well as different second-level n and gates. The first-level n and gate then sends output to both second-level n and gates, and the outputs of the second-level gates enter the same third-level n and gate, which produces x, exclusive or, 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4" y="1224227"/>
            <a:ext cx="5030786" cy="440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05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.31</a:t>
            </a:r>
            <a:r>
              <a:rPr lang="en-IN" sz="2000" dirty="0">
                <a:latin typeface="+mn-lt"/>
              </a:rPr>
              <a:t/>
            </a:r>
            <a:br>
              <a:rPr lang="en-IN" sz="2000" dirty="0">
                <a:latin typeface="+mn-lt"/>
              </a:rPr>
            </a:br>
            <a:r>
              <a:rPr lang="en-IN" sz="2000" dirty="0">
                <a:latin typeface="+mn-lt"/>
              </a:rPr>
              <a:t>Map for a three-variable exclusive-OR function.</a:t>
            </a:r>
            <a:endParaRPr lang="en-US" sz="2000" dirty="0">
              <a:latin typeface="+mn-lt"/>
            </a:endParaRPr>
          </a:p>
        </p:txBody>
      </p:sp>
      <p:pic>
        <p:nvPicPr>
          <p:cNvPr id="2050" name="Picture 2" descr="Part ay: odd function F = Ay exclusive or B exclusive or C. m sub 1 = 1, m sub 2 = 1, m sub 4 = 1, m sub 7 = 1. Part b: even function F = the complement of ay exclusive or B exclusive or C. m sub 0 = 1, m sub 3 = 1, m sub 5 = 1, m sub 6 =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820" y="1979613"/>
            <a:ext cx="8258360" cy="2897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42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.32</a:t>
            </a:r>
            <a:r>
              <a:rPr lang="en-IN" sz="2000" dirty="0">
                <a:latin typeface="+mn-lt"/>
              </a:rPr>
              <a:t/>
            </a:r>
            <a:br>
              <a:rPr lang="en-IN" sz="2000" dirty="0">
                <a:latin typeface="+mn-lt"/>
              </a:rPr>
            </a:br>
            <a:r>
              <a:rPr lang="en-IN" sz="2000" dirty="0">
                <a:latin typeface="+mn-lt"/>
              </a:rPr>
              <a:t>Logic diagram of odd and even functions.</a:t>
            </a:r>
            <a:endParaRPr lang="en-US" sz="2000" dirty="0">
              <a:latin typeface="+mn-lt"/>
            </a:endParaRPr>
          </a:p>
        </p:txBody>
      </p:sp>
      <p:pic>
        <p:nvPicPr>
          <p:cNvPr id="3074" name="Picture 2" descr="Part ay: 3-input odd function. Inputs ay and B enter the first x or gate. The output of this gate and input C enter a second x or gate. Part b: 3-input even function. The diagram from part ay has a bubble at the output end of the second x or g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878" y="2667000"/>
            <a:ext cx="8326244"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525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.33</a:t>
            </a:r>
            <a:r>
              <a:rPr lang="en-IN" sz="2000" dirty="0">
                <a:latin typeface="+mn-lt"/>
              </a:rPr>
              <a:t/>
            </a:r>
            <a:br>
              <a:rPr lang="en-IN" sz="2000" dirty="0">
                <a:latin typeface="+mn-lt"/>
              </a:rPr>
            </a:br>
            <a:r>
              <a:rPr lang="en-IN" sz="2000" dirty="0">
                <a:latin typeface="+mn-lt"/>
              </a:rPr>
              <a:t>Map for a four-variable exclusive-OR function.</a:t>
            </a:r>
            <a:endParaRPr lang="en-US" sz="2000" dirty="0">
              <a:latin typeface="+mn-lt"/>
            </a:endParaRPr>
          </a:p>
        </p:txBody>
      </p:sp>
      <p:pic>
        <p:nvPicPr>
          <p:cNvPr id="4098" name="Picture 2" descr="part ay: odd function F = Ay x or B x or C x or D. The following m entries are marked 1: m sub 1, m sub 2, m sub 4, m sub 7, m sub 13, m sub 14, m sub 8, m sub 11. Part b: even function F = the complement of Ay x or B x or C x or D. The following m entries are marked 1: m sub 0, m sub 3, m sub 5, m sub 6, m sub 12, m sub 15, m sub 9, and m sub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397" y="1598613"/>
            <a:ext cx="7977206" cy="3659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671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.3</a:t>
            </a:r>
            <a:r>
              <a:rPr lang="en-US" sz="2000" b="1" dirty="0">
                <a:latin typeface="+mn-lt"/>
              </a:rPr>
              <a:t/>
            </a:r>
            <a:br>
              <a:rPr lang="en-US" sz="2000" b="1" dirty="0">
                <a:latin typeface="+mn-lt"/>
              </a:rPr>
            </a:br>
            <a:r>
              <a:rPr lang="en-IN" sz="2000" dirty="0">
                <a:latin typeface="+mn-lt"/>
              </a:rPr>
              <a:t>Even-Parity-Generator Truth Table.</a:t>
            </a:r>
            <a:endParaRPr lang="en-US" sz="2000" dirty="0">
              <a:latin typeface="+mn-lt"/>
            </a:endParaRPr>
          </a:p>
        </p:txBody>
      </p:sp>
      <p:pic>
        <p:nvPicPr>
          <p:cNvPr id="5123" name="Picture 3" descr="Z:\NewMedia\Ebook-Novella\Wiley\jira\Mano_Ciletti6e\Work\Images\ch03\ciletti_6e_table_03_0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18846"/>
            <a:ext cx="5486400" cy="4220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8323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.34</a:t>
            </a:r>
            <a:r>
              <a:rPr lang="en-IN" sz="2000" dirty="0">
                <a:latin typeface="+mn-lt"/>
              </a:rPr>
              <a:t/>
            </a:r>
            <a:br>
              <a:rPr lang="en-IN" sz="2000" dirty="0">
                <a:latin typeface="+mn-lt"/>
              </a:rPr>
            </a:br>
            <a:r>
              <a:rPr lang="en-IN" sz="2000" dirty="0">
                <a:latin typeface="+mn-lt"/>
              </a:rPr>
              <a:t>Logic diagram of a parity generator and checker.</a:t>
            </a:r>
            <a:endParaRPr lang="en-US" sz="2000" dirty="0">
              <a:latin typeface="+mn-lt"/>
            </a:endParaRPr>
          </a:p>
        </p:txBody>
      </p:sp>
      <p:pic>
        <p:nvPicPr>
          <p:cNvPr id="6146" name="Picture 2" descr="Part ay: 3-bit even parity checker. Inputs x and y enter the first x or gate. The output of this gate and input z enter the second x or gate, which produces P. Part b: 4-bit even parity checker. Inputs x and y and inputs z and P enter separate x or gates, and the gate outputs enter a third x or gate that produces 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428875"/>
            <a:ext cx="8534400" cy="200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14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.4</a:t>
            </a:r>
            <a:r>
              <a:rPr lang="en-US" sz="2000" b="1" dirty="0">
                <a:latin typeface="+mn-lt"/>
              </a:rPr>
              <a:t/>
            </a:r>
            <a:br>
              <a:rPr lang="en-US" sz="2000" b="1" dirty="0">
                <a:latin typeface="+mn-lt"/>
              </a:rPr>
            </a:br>
            <a:r>
              <a:rPr lang="en-IN" sz="2000" dirty="0">
                <a:latin typeface="+mn-lt"/>
              </a:rPr>
              <a:t>Even-Parity-Checker Truth Table.</a:t>
            </a:r>
            <a:endParaRPr lang="en-US" sz="2000" dirty="0">
              <a:latin typeface="+mn-lt"/>
            </a:endParaRPr>
          </a:p>
        </p:txBody>
      </p:sp>
      <p:pic>
        <p:nvPicPr>
          <p:cNvPr id="1026" name="Picture 2" descr="Z:\NewMedia\Ebook-Novella\Wiley\jira\Mano_Ciletti6e\Work\Images\ch03\ciletti_6e_table_03_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9652" y="1219200"/>
            <a:ext cx="3924698"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5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38844"/>
          </a:xfrm>
        </p:spPr>
        <p:txBody>
          <a:bodyPr/>
          <a:lstStyle/>
          <a:p>
            <a:r>
              <a:rPr lang="en-US" sz="2000" b="1" dirty="0">
                <a:latin typeface="+mj-lt"/>
              </a:rPr>
              <a:t>Figure 3</a:t>
            </a:r>
            <a:r>
              <a:rPr lang="en-US" sz="2000" dirty="0">
                <a:latin typeface="+mj-lt"/>
              </a:rPr>
              <a:t>.35</a:t>
            </a:r>
            <a:r>
              <a:rPr lang="en-IN" sz="2000" dirty="0">
                <a:latin typeface="+mn-lt"/>
              </a:rPr>
              <a:t/>
            </a:r>
            <a:br>
              <a:rPr lang="en-IN" sz="2000" dirty="0">
                <a:latin typeface="+mn-lt"/>
              </a:rPr>
            </a:br>
            <a:r>
              <a:rPr lang="en-IN" sz="2000" dirty="0">
                <a:latin typeface="+mn-lt"/>
              </a:rPr>
              <a:t>A logic diagram (schematic) for the Boolean equations </a:t>
            </a:r>
            <a:r>
              <a:rPr lang="en-IN" sz="2000" i="1" dirty="0">
                <a:latin typeface="+mn-lt"/>
              </a:rPr>
              <a:t>D = A + B E = CD.</a:t>
            </a:r>
            <a:endParaRPr lang="en-US" sz="2000" i="1" dirty="0">
              <a:latin typeface="+mn-lt"/>
            </a:endParaRPr>
          </a:p>
        </p:txBody>
      </p:sp>
      <p:pic>
        <p:nvPicPr>
          <p:cNvPr id="2050" name="Picture 2" descr="A logic diagram: Inputs Ay and B enter and or gate, producing D. Input C and D enter an and gate, producing 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690" y="2590801"/>
            <a:ext cx="5978620" cy="1674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432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a:latin typeface="+mn-lt"/>
              </a:rPr>
              <a:t>Figure PE3</a:t>
            </a:r>
            <a:r>
              <a:rPr lang="en-US" sz="2000" dirty="0">
                <a:latin typeface="+mn-lt"/>
              </a:rPr>
              <a:t>.12</a:t>
            </a:r>
            <a:r>
              <a:rPr lang="en-US" sz="2000" b="1" dirty="0">
                <a:latin typeface="+mn-lt"/>
              </a:rPr>
              <a:t/>
            </a:r>
            <a:br>
              <a:rPr lang="en-US" sz="2000" b="1" dirty="0">
                <a:latin typeface="+mn-lt"/>
              </a:rPr>
            </a:br>
            <a:endParaRPr lang="en-US" sz="2000" dirty="0">
              <a:latin typeface="+mn-lt"/>
            </a:endParaRPr>
          </a:p>
        </p:txBody>
      </p:sp>
      <p:pic>
        <p:nvPicPr>
          <p:cNvPr id="3074" name="Picture 2" descr="A logic diagram: Inverted input Ay and input B enter an n or gate that produces D. Input C and D enter an and gate, producing 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60983"/>
            <a:ext cx="7162800" cy="2134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0840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.36</a:t>
            </a:r>
            <a:r>
              <a:rPr lang="en-IN" sz="2000" dirty="0">
                <a:latin typeface="+mn-lt"/>
              </a:rPr>
              <a:t/>
            </a:r>
            <a:br>
              <a:rPr lang="en-IN" sz="2000" dirty="0">
                <a:latin typeface="+mn-lt"/>
              </a:rPr>
            </a:br>
            <a:r>
              <a:rPr lang="en-IN" sz="2000" dirty="0">
                <a:latin typeface="+mn-lt"/>
              </a:rPr>
              <a:t>Entity-Architecture pair for </a:t>
            </a:r>
            <a:r>
              <a:rPr lang="en-IN" sz="2000" i="1" dirty="0" err="1">
                <a:latin typeface="+mn-lt"/>
              </a:rPr>
              <a:t>or_and_vhdl</a:t>
            </a:r>
            <a:r>
              <a:rPr lang="en-IN" sz="2000" i="1" dirty="0">
                <a:latin typeface="+mn-lt"/>
              </a:rPr>
              <a:t>.</a:t>
            </a:r>
            <a:endParaRPr lang="en-US" sz="2000" i="1" dirty="0">
              <a:latin typeface="+mn-lt"/>
            </a:endParaRPr>
          </a:p>
        </p:txBody>
      </p:sp>
      <p:pic>
        <p:nvPicPr>
          <p:cNvPr id="4098" name="Picture 2" descr="The entity for or under score and v h d l contains architecture represented by the following logic diagram. Inputs Ay and B enter an or gate, producing D. Input C and D enter an and gate, producing 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1514475"/>
            <a:ext cx="54864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379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a:latin typeface="+mn-lt"/>
              </a:rPr>
              <a:t>Figure PE3</a:t>
            </a:r>
            <a:r>
              <a:rPr lang="en-US" sz="2000" dirty="0">
                <a:latin typeface="+mn-lt"/>
              </a:rPr>
              <a:t>.13</a:t>
            </a:r>
            <a:r>
              <a:rPr lang="en-US" sz="2000" b="1" dirty="0">
                <a:latin typeface="+mn-lt"/>
              </a:rPr>
              <a:t/>
            </a:r>
            <a:br>
              <a:rPr lang="en-US" sz="2000" b="1" dirty="0">
                <a:latin typeface="+mn-lt"/>
              </a:rPr>
            </a:br>
            <a:endParaRPr lang="en-US" sz="2000" dirty="0">
              <a:latin typeface="+mn-lt"/>
            </a:endParaRPr>
          </a:p>
        </p:txBody>
      </p:sp>
      <p:pic>
        <p:nvPicPr>
          <p:cNvPr id="5122" name="Picture 2" descr="A logic diagram: Inverted input Ay and input B enter an or gate, producing D. D passes through an inverter, and the complement to D and input c enter an and gate, producing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792" y="2360614"/>
            <a:ext cx="7766416" cy="2135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902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.37</a:t>
            </a:r>
            <a:r>
              <a:rPr lang="en-IN" sz="2000" dirty="0">
                <a:latin typeface="+mn-lt"/>
              </a:rPr>
              <a:t/>
            </a:r>
            <a:br>
              <a:rPr lang="en-IN" sz="2000" dirty="0">
                <a:latin typeface="+mn-lt"/>
              </a:rPr>
            </a:br>
            <a:r>
              <a:rPr lang="en-IN" sz="2000" dirty="0">
                <a:latin typeface="+mn-lt"/>
              </a:rPr>
              <a:t>Schematic for </a:t>
            </a:r>
            <a:r>
              <a:rPr lang="en-IN" sz="2000" i="1" dirty="0" err="1">
                <a:latin typeface="+mn-lt"/>
              </a:rPr>
              <a:t>and_or_prop_delay</a:t>
            </a:r>
            <a:r>
              <a:rPr lang="en-IN" sz="2000" i="1" dirty="0">
                <a:latin typeface="+mn-lt"/>
              </a:rPr>
              <a:t>.</a:t>
            </a:r>
            <a:endParaRPr lang="en-US" sz="2000" i="1" dirty="0">
              <a:latin typeface="+mn-lt"/>
            </a:endParaRPr>
          </a:p>
        </p:txBody>
      </p:sp>
      <p:pic>
        <p:nvPicPr>
          <p:cNvPr id="6146" name="Picture 2" descr="A logic diagram. Inputs Ay and B enter and gate G 1 at 20 nanoseconds, producing w 1. Input C enters inverter G 2 at 10 nanoseconds, producing E. E and w 1 enter or gate G 3 at 20 nanoseconds, producing 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092" y="1828801"/>
            <a:ext cx="7243816" cy="3198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563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.5</a:t>
            </a:r>
            <a:r>
              <a:rPr lang="en-US" sz="2000" b="1" dirty="0">
                <a:latin typeface="+mn-lt"/>
              </a:rPr>
              <a:t/>
            </a:r>
            <a:br>
              <a:rPr lang="en-US" sz="2000" b="1" dirty="0">
                <a:latin typeface="+mn-lt"/>
              </a:rPr>
            </a:br>
            <a:r>
              <a:rPr lang="en-IN" sz="2000" dirty="0">
                <a:latin typeface="+mn-lt"/>
              </a:rPr>
              <a:t>Output of Gates after Delay.</a:t>
            </a:r>
            <a:endParaRPr lang="en-US" sz="2000" dirty="0">
              <a:latin typeface="+mn-lt"/>
            </a:endParaRPr>
          </a:p>
        </p:txBody>
      </p:sp>
      <p:pic>
        <p:nvPicPr>
          <p:cNvPr id="7170" name="Picture 2" descr="Z:\NewMedia\Ebook-Novella\Wiley\jira\Mano_Ciletti6e\Work\Images\ch03\ciletti_6e_table_03_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2304" y="1371600"/>
            <a:ext cx="6599392"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6213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.38</a:t>
            </a:r>
            <a:r>
              <a:rPr lang="en-IN" sz="2000" dirty="0">
                <a:latin typeface="+mn-lt"/>
              </a:rPr>
              <a:t/>
            </a:r>
            <a:br>
              <a:rPr lang="en-IN" sz="2000" dirty="0">
                <a:latin typeface="+mn-lt"/>
              </a:rPr>
            </a:br>
            <a:r>
              <a:rPr lang="en-IN" sz="2000" dirty="0">
                <a:latin typeface="+mn-lt"/>
              </a:rPr>
              <a:t>Simulation waveforms of </a:t>
            </a:r>
            <a:r>
              <a:rPr lang="en-IN" sz="2000" i="1" dirty="0" err="1">
                <a:latin typeface="+mn-lt"/>
              </a:rPr>
              <a:t>and_or_prop_delay</a:t>
            </a:r>
            <a:r>
              <a:rPr lang="en-IN" sz="2000" dirty="0">
                <a:latin typeface="+mn-lt"/>
              </a:rPr>
              <a:t>.</a:t>
            </a:r>
            <a:endParaRPr lang="en-US" sz="2000" dirty="0">
              <a:latin typeface="+mn-lt"/>
            </a:endParaRPr>
          </a:p>
        </p:txBody>
      </p:sp>
      <p:pic>
        <p:nvPicPr>
          <p:cNvPr id="8194" name="Picture 2" descr="The graph has a horizontal axis for time in nanoseconds and a vertical axis for signals Ay, B, C, D, and E. Each signal is represented by a square waveform. Around time = 100 nanoseconds, the waveforms for Ay, B, and C shift upward, indicating stimulus events. On the other hand, sudden downward shifts in signal D at 127.6 nanoseconds and signal E at 110 nanoseconds represent response events. All values estimate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97" y="1598613"/>
            <a:ext cx="8055606" cy="3659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723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.39</a:t>
            </a:r>
            <a:r>
              <a:rPr lang="en-IN" sz="2000" dirty="0">
                <a:latin typeface="+mn-lt"/>
              </a:rPr>
              <a:t/>
            </a:r>
            <a:br>
              <a:rPr lang="en-IN" sz="2000" dirty="0">
                <a:latin typeface="+mn-lt"/>
              </a:rPr>
            </a:br>
            <a:r>
              <a:rPr lang="en-IN" sz="2000" dirty="0">
                <a:latin typeface="+mn-lt"/>
              </a:rPr>
              <a:t>Entity-architecture for a structural model of </a:t>
            </a:r>
            <a:r>
              <a:rPr lang="en-IN" sz="2000" i="1" dirty="0" err="1">
                <a:latin typeface="+mn-lt"/>
              </a:rPr>
              <a:t>and_or_prop_delay_vhdl</a:t>
            </a:r>
            <a:r>
              <a:rPr lang="en-IN" sz="2000" dirty="0">
                <a:latin typeface="+mn-lt"/>
              </a:rPr>
              <a:t>.</a:t>
            </a:r>
            <a:endParaRPr lang="en-US" sz="2000" dirty="0">
              <a:latin typeface="+mn-lt"/>
            </a:endParaRPr>
          </a:p>
        </p:txBody>
      </p:sp>
      <p:pic>
        <p:nvPicPr>
          <p:cNvPr id="9218" name="Picture 2" descr="In the entity-architecture model of and or prop delay v h d l, the entity surrounds the architecture, and a logic diagram represents the structure, with inputs Ay, B, and C; gates G 1, G 2, and G 3; and outputs D and 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348894"/>
            <a:ext cx="6248400" cy="415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237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Table 3</a:t>
            </a:r>
            <a:r>
              <a:rPr lang="en-US" sz="2000" dirty="0">
                <a:latin typeface="+mn-lt"/>
              </a:rPr>
              <a:t>.6</a:t>
            </a:r>
            <a:r>
              <a:rPr lang="en-US" sz="2000" b="1" dirty="0">
                <a:latin typeface="+mn-lt"/>
              </a:rPr>
              <a:t/>
            </a:r>
            <a:br>
              <a:rPr lang="en-US" sz="2000" b="1" dirty="0">
                <a:latin typeface="+mn-lt"/>
              </a:rPr>
            </a:br>
            <a:r>
              <a:rPr lang="en-IN" sz="2000" dirty="0">
                <a:latin typeface="+mn-lt"/>
              </a:rPr>
              <a:t>Logic Symbols of the </a:t>
            </a:r>
            <a:r>
              <a:rPr lang="en-IN" sz="2000" i="1" dirty="0">
                <a:latin typeface="+mn-lt"/>
              </a:rPr>
              <a:t>IEEE_std_logic_1164</a:t>
            </a:r>
            <a:r>
              <a:rPr lang="en-IN" sz="2000" dirty="0">
                <a:latin typeface="+mn-lt"/>
              </a:rPr>
              <a:t> Package.</a:t>
            </a:r>
            <a:endParaRPr lang="en-US" sz="2000" dirty="0">
              <a:latin typeface="+mn-lt"/>
            </a:endParaRPr>
          </a:p>
        </p:txBody>
      </p:sp>
      <p:pic>
        <p:nvPicPr>
          <p:cNvPr id="10242" name="Picture 2" descr="Z:\NewMedia\Ebook-Novella\Wiley\jira\Mano_Ciletti6e\Work\Images\ch03\ciletti_6e_table_03_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6349" y="1371600"/>
            <a:ext cx="6371302"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630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a:latin typeface="+mj-lt"/>
              </a:rPr>
              <a:t>Figure 3</a:t>
            </a:r>
            <a:r>
              <a:rPr lang="en-US" sz="2000" dirty="0">
                <a:latin typeface="+mj-lt"/>
              </a:rPr>
              <a:t>.40</a:t>
            </a:r>
            <a:r>
              <a:rPr lang="en-IN" sz="2000" dirty="0">
                <a:latin typeface="+mn-lt"/>
              </a:rPr>
              <a:t/>
            </a:r>
            <a:br>
              <a:rPr lang="en-IN" sz="2000" dirty="0">
                <a:latin typeface="+mn-lt"/>
              </a:rPr>
            </a:br>
            <a:r>
              <a:rPr lang="en-IN" sz="2000" dirty="0">
                <a:latin typeface="+mn-lt"/>
              </a:rPr>
              <a:t>Schematic for </a:t>
            </a:r>
            <a:r>
              <a:rPr lang="en-IN" sz="2000" i="1" dirty="0">
                <a:latin typeface="+mn-lt"/>
              </a:rPr>
              <a:t>Circuit with_UDP_02467</a:t>
            </a:r>
            <a:r>
              <a:rPr lang="en-IN" sz="2000" dirty="0">
                <a:latin typeface="+mn-lt"/>
              </a:rPr>
              <a:t>.</a:t>
            </a:r>
            <a:endParaRPr lang="en-US" sz="2000" dirty="0">
              <a:latin typeface="+mn-lt"/>
            </a:endParaRPr>
          </a:p>
        </p:txBody>
      </p:sp>
      <p:pic>
        <p:nvPicPr>
          <p:cNvPr id="11266" name="Picture 2" descr="A logic diagram. Inputs Ay, B, and C enter the U D P 0 2 4 6 7 gate, producing E. Input D and E enter an and gate, producing 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08" y="1827214"/>
            <a:ext cx="7991584" cy="3201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3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a:latin typeface="+mj-lt"/>
              </a:rPr>
              <a:t>Figure P3.38</a:t>
            </a:r>
            <a:endParaRPr lang="en-US" sz="2000" dirty="0">
              <a:latin typeface="+mn-lt"/>
            </a:endParaRPr>
          </a:p>
        </p:txBody>
      </p:sp>
      <p:pic>
        <p:nvPicPr>
          <p:cNvPr id="12291" name="Picture 3" descr="Each graph plots signal amplitude versus time t in nanoseconds. Each graph is a square wave form with a minimum on the t-axis and a uniform maximum. For each graph, the following list provides the name of the signal, followed by the time intervals in nanoseconds when the graph is at its maximum. First graph, Ay: 0 to 40. Second graph, B: 0 to 20, 40 to 60. Third graph, C: 10 to 20, 30 to 40, 50 to 60, 70 to 80. Fourth graph, D: 15 to 30, 50 to 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328" y="1447801"/>
            <a:ext cx="6889344"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9122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891</TotalTime>
  <Words>179</Words>
  <Application>Microsoft Office PowerPoint</Application>
  <PresentationFormat>On-screen Show (4:3)</PresentationFormat>
  <Paragraphs>109</Paragraphs>
  <Slides>53</Slides>
  <Notes>52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508 Lecture</vt:lpstr>
      <vt:lpstr>Digital Design</vt:lpstr>
      <vt:lpstr>Figure 3.1 Two-variable K-map.</vt:lpstr>
      <vt:lpstr>Figure 3.2 Representation of functions in the K-map.</vt:lpstr>
      <vt:lpstr>Figure 3.3 Three-variable K-map.</vt:lpstr>
      <vt:lpstr>Figure 3.4 Map for Example 3.1, F(x, y, z) = 𝚺(2, 3, 4, 5) = x’y + xy’.</vt:lpstr>
      <vt:lpstr>Figure 3.5 Map for Example 3.2, F(x, y, z) = 𝚺(3, 4, 6, 7) = yz + xz’.</vt:lpstr>
      <vt:lpstr>Figure 3.6 Map for Example 3.3, F(x, y, z) = 𝚺(0, 2, 4, 5, 6) = z’ + xy’.</vt:lpstr>
      <vt:lpstr>Figure 3.7 Map of Example 3.4, A’C + A’B + AB’C + BC = C + A’B.</vt:lpstr>
      <vt:lpstr>Figure 3.8 Four-variable map.</vt:lpstr>
      <vt:lpstr>Figure 3.9 Map for Example 3.5, F(w, x, y, z) = 𝚺(0, 1, 2, 4, 5, 6, 8, 9, 12, 13, 14) = y’ + w’z’ + xz’.</vt:lpstr>
      <vt:lpstr>Figure 3.10 Map for Example 3.6, A’B’C’ + B’CD’ + A’BCD’ + AB’C = B’D’ + B’C’ + A’CD’.</vt:lpstr>
      <vt:lpstr>Figure 3.11 Simplification using prime implicants.</vt:lpstr>
      <vt:lpstr>Figure 3.12 Map for Example 3.7, F(A, B, C, D) = 𝚺(0, 1, 2, 5, 8, 9, 10) = BD + BC + ACD = (A’ + B’)(C’ + D’)(B’ + D).</vt:lpstr>
      <vt:lpstr>Figure 3.13 Gate implementations of the function of Example 3.7.</vt:lpstr>
      <vt:lpstr>Table 3.1 Truth Table of Function F.</vt:lpstr>
      <vt:lpstr>Figure 3.14 Map for the function of Table 3.1.</vt:lpstr>
      <vt:lpstr>Practice Exercise 3.8 </vt:lpstr>
      <vt:lpstr>Figure 3.15 Example with don’t-care conditions.</vt:lpstr>
      <vt:lpstr>Figure 3.16 Logic operations with NAND gates.</vt:lpstr>
      <vt:lpstr>Figure 3.17 Two graphic symbols for a three-input NAND gate.</vt:lpstr>
      <vt:lpstr>Figure 3.18 Three ways to implement F = AB + CD.</vt:lpstr>
      <vt:lpstr>Figure 3.19 Solution to Example 3.9.</vt:lpstr>
      <vt:lpstr>Practice Exercise 3.10 </vt:lpstr>
      <vt:lpstr>Figure 3.20 Implementing F = A(CD + B) + BC’.</vt:lpstr>
      <vt:lpstr>Figure 3.21 Implementing F = (AB’ + A’B)(C + D’).</vt:lpstr>
      <vt:lpstr>Figure 3.22 Logic operations with NOR gates.</vt:lpstr>
      <vt:lpstr>Figure 3.23 Two graphic symbols for the NOR gate.</vt:lpstr>
      <vt:lpstr>Figure 3.24 Implementing F = (A + B)(C + D)E.</vt:lpstr>
      <vt:lpstr>Figure 3.25 Implementing F = (AB’ + A’B)(C + D’) with NOR gates.</vt:lpstr>
      <vt:lpstr>Practice Exercise 3.11 </vt:lpstr>
      <vt:lpstr>Figure 3.26 Wired logic (a) Wired-AND logic with two NAND gates (b) Wired-OR in emitter-coupled logic (ECL) gates.</vt:lpstr>
      <vt:lpstr>Figure 3.27 AND–OR–INVERT circuits, F = (AB + CD + E)’.</vt:lpstr>
      <vt:lpstr>Figure 3.28 OR–AND–INVERT circuits, F = [(A + B)(C + D)E]’.</vt:lpstr>
      <vt:lpstr>Table 3.2 Implementation with Other Two-Level Forms.</vt:lpstr>
      <vt:lpstr>Figure 3.29 Other two-level implementations.</vt:lpstr>
      <vt:lpstr>Figure 3.30 Logic diagrams for exclusive-OR implementations.</vt:lpstr>
      <vt:lpstr>Figure 3.31 Map for a three-variable exclusive-OR function.</vt:lpstr>
      <vt:lpstr>Figure 3.32 Logic diagram of odd and even functions.</vt:lpstr>
      <vt:lpstr>Figure 3.33 Map for a four-variable exclusive-OR function.</vt:lpstr>
      <vt:lpstr>Table 3.3 Even-Parity-Generator Truth Table.</vt:lpstr>
      <vt:lpstr>Figure 3.34 Logic diagram of a parity generator and checker.</vt:lpstr>
      <vt:lpstr>Table 3.4 Even-Parity-Checker Truth Table.</vt:lpstr>
      <vt:lpstr>Figure 3.35 A logic diagram (schematic) for the Boolean equations D = A + B E = CD.</vt:lpstr>
      <vt:lpstr>Figure PE3.12 </vt:lpstr>
      <vt:lpstr>Figure 3.36 Entity-Architecture pair for or_and_vhdl.</vt:lpstr>
      <vt:lpstr>Figure PE3.13 </vt:lpstr>
      <vt:lpstr>Figure 3.37 Schematic for and_or_prop_delay.</vt:lpstr>
      <vt:lpstr>Table 3.5 Output of Gates after Delay.</vt:lpstr>
      <vt:lpstr>Figure 3.38 Simulation waveforms of and_or_prop_delay.</vt:lpstr>
      <vt:lpstr>Figure 3.39 Entity-architecture for a structural model of and_or_prop_delay_vhdl.</vt:lpstr>
      <vt:lpstr>Table 3.6 Logic Symbols of the IEEE_std_logic_1164 Package.</vt:lpstr>
      <vt:lpstr>Figure 3.40 Schematic for Circuit with_UDP_02467.</vt:lpstr>
      <vt:lpstr>Figure P3.38</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376</cp:revision>
  <dcterms:created xsi:type="dcterms:W3CDTF">2014-07-14T20:04:21Z</dcterms:created>
  <dcterms:modified xsi:type="dcterms:W3CDTF">2018-06-21T09:11:47Z</dcterms:modified>
</cp:coreProperties>
</file>