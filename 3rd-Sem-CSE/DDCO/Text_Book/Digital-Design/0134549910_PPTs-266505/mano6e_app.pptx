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85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</p:sldIdLst>
  <p:sldSz cx="9144000" cy="6858000" type="screen4x3"/>
  <p:notesSz cx="6858000" cy="9144000"/>
  <p:photoAlbum layout="1pic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74" autoAdjust="0"/>
    <p:restoredTop sz="94664" autoAdjust="0"/>
  </p:normalViewPr>
  <p:slideViewPr>
    <p:cSldViewPr>
      <p:cViewPr varScale="1">
        <p:scale>
          <a:sx n="75" d="100"/>
          <a:sy n="75" d="100"/>
        </p:scale>
        <p:origin x="-1428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DE18E-0421-4E45-B30F-5D9748B3CBA9}" type="datetimeFigureOut">
              <a:rPr lang="en-IN" smtClean="0"/>
              <a:t>6/26/2018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D6304-CB62-40A7-A12E-1EB2DEC1B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48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800"/>
          </a:xfrm>
          <a:prstGeom prst="rect">
            <a:avLst/>
          </a:prstGeom>
        </p:spPr>
        <p:txBody>
          <a:bodyPr anchor="t"/>
          <a:lstStyle>
            <a:lvl1pPr algn="l">
              <a:defRPr sz="2000" b="1">
                <a:solidFill>
                  <a:srgbClr val="007FA3"/>
                </a:solidFill>
                <a:latin typeface="Arial (body)"/>
                <a:cs typeface="Arial" pitchFamily="34" charset="0"/>
              </a:defRPr>
            </a:lvl1pPr>
          </a:lstStyle>
          <a:p>
            <a:r>
              <a:rPr lang="en-US" dirty="0" smtClean="0"/>
              <a:t>Click to add figure number and title</a:t>
            </a:r>
            <a:endParaRPr lang="en-US" dirty="0"/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368160"/>
            <a:ext cx="8229600" cy="916856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 smtClean="0"/>
              <a:t>Click to add caption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1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6/26/2018</a:t>
            </a:fld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10" y="6376789"/>
            <a:ext cx="918000" cy="279915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 smtClean="0">
                <a:ea typeface="Verdana" panose="020B0604030504040204" pitchFamily="34" charset="0"/>
                <a:cs typeface="Verdana" panose="020B0604030504040204" pitchFamily="34" charset="0"/>
              </a:rPr>
              <a:t>Copyright © 2018 Pearson India Education Services Pvt. Ltd</a:t>
            </a:r>
            <a:endParaRPr lang="en-US" altLang="en-US" sz="700" b="1" dirty="0" smtClean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273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  <a:prstGeom prst="rect">
            <a:avLst/>
          </a:prstGeom>
        </p:spPr>
        <p:txBody>
          <a:bodyPr anchor="t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789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 smtClean="0"/>
              <a:t>Add edition here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1600201"/>
            <a:ext cx="3657600" cy="16001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 smtClean="0"/>
              <a:t>Chapter ##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3200400"/>
            <a:ext cx="3657600" cy="29257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 smtClean="0"/>
              <a:t>Chapter title</a:t>
            </a:r>
            <a:endParaRPr lang="en-US" dirty="0"/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65337"/>
            <a:ext cx="8595360" cy="23546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>
          <a:xfrm>
            <a:off x="6335713" y="113072"/>
            <a:ext cx="2133600" cy="182880"/>
          </a:xfrm>
          <a:prstGeom prst="rect">
            <a:avLst/>
          </a:prstGeo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6/26/2018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  <a:prstGeom prst="rect">
            <a:avLst/>
          </a:prstGeo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 smtClean="0">
                <a:ea typeface="Verdana" panose="020B0604030504040204" pitchFamily="34" charset="0"/>
                <a:cs typeface="Verdana" panose="020B0604030504040204" pitchFamily="34" charset="0"/>
              </a:rPr>
              <a:t>Copyright © 2018 Pearson India Education Services Pvt. Ltd</a:t>
            </a:r>
            <a:endParaRPr lang="en-US" altLang="en-US" sz="700" b="1" dirty="0" smtClean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862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856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828"/>
            <a:ext cx="8229600" cy="622828"/>
          </a:xfrm>
        </p:spPr>
        <p:txBody>
          <a:bodyPr/>
          <a:lstStyle/>
          <a:p>
            <a:pPr algn="l"/>
            <a:r>
              <a:rPr lang="en-US" sz="3400" b="1" dirty="0">
                <a:solidFill>
                  <a:srgbClr val="007FA3"/>
                </a:solidFill>
                <a:latin typeface="Arial (Headings)"/>
              </a:rPr>
              <a:t>Digital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771294"/>
            <a:ext cx="8229600" cy="478970"/>
          </a:xfrm>
        </p:spPr>
        <p:txBody>
          <a:bodyPr/>
          <a:lstStyle/>
          <a:p>
            <a:r>
              <a:rPr lang="en-US" sz="2400" dirty="0">
                <a:latin typeface="Arial (body)"/>
              </a:rPr>
              <a:t>With an Introduction to the Verilog HDL</a:t>
            </a:r>
            <a:r>
              <a:rPr lang="en-US" sz="2400" dirty="0" smtClean="0">
                <a:latin typeface="Arial (body)"/>
              </a:rPr>
              <a:t>, VHDL</a:t>
            </a:r>
            <a:r>
              <a:rPr lang="en-US" sz="2400" dirty="0">
                <a:latin typeface="Arial (body)"/>
              </a:rPr>
              <a:t>, and </a:t>
            </a:r>
            <a:r>
              <a:rPr lang="en-US" sz="2400" dirty="0" smtClean="0">
                <a:latin typeface="Arial (body)"/>
              </a:rPr>
              <a:t>SystemVerilog</a:t>
            </a:r>
          </a:p>
          <a:p>
            <a:r>
              <a:rPr lang="en-US" sz="2400" dirty="0" smtClean="0">
                <a:latin typeface="Arial (body)"/>
              </a:rPr>
              <a:t>6</a:t>
            </a:r>
            <a:r>
              <a:rPr lang="en-US" sz="2400" baseline="30000" dirty="0" smtClean="0">
                <a:latin typeface="Arial (body)"/>
              </a:rPr>
              <a:t>th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1800" dirty="0" smtClean="0">
                <a:latin typeface="Arial (body)"/>
              </a:rPr>
              <a:t>Edition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953000" y="3048000"/>
            <a:ext cx="3657600" cy="533399"/>
          </a:xfrm>
        </p:spPr>
        <p:txBody>
          <a:bodyPr/>
          <a:lstStyle/>
          <a:p>
            <a:pPr algn="ctr"/>
            <a:r>
              <a:rPr lang="en-US" sz="3000" dirty="0" smtClean="0">
                <a:latin typeface="Arial (body)"/>
              </a:rPr>
              <a:t>Appendix</a:t>
            </a:r>
            <a:endParaRPr lang="en-US" sz="3000" dirty="0">
              <a:latin typeface="Arial (body)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4343400" y="3581399"/>
            <a:ext cx="4876800" cy="457201"/>
          </a:xfrm>
        </p:spPr>
        <p:txBody>
          <a:bodyPr/>
          <a:lstStyle/>
          <a:p>
            <a:pPr algn="ctr"/>
            <a:r>
              <a:rPr lang="en-IN" dirty="0">
                <a:latin typeface="Arial (body)"/>
              </a:rPr>
              <a:t>Semiconductors and CMOS Integrated Circuits</a:t>
            </a:r>
            <a:endParaRPr lang="en-US" sz="2200" dirty="0">
              <a:latin typeface="Arial (body)"/>
            </a:endParaRPr>
          </a:p>
        </p:txBody>
      </p:sp>
      <p:pic>
        <p:nvPicPr>
          <p:cNvPr id="1026" name="Picture 2" descr="G:\08VOL4\Graphics\Powerpoint\PEARSON\CRAIG-PPT\Final files\Craig_final_CVR_HiRes.jp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685800" y="1995029"/>
            <a:ext cx="3302862" cy="41418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90784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t ay: p channel. The structure has three terminals along its top face. On the left and right, the drain and source contacts are joined to separate p regions set into the n type substrate. In the middle, the gate contact is joined to the segment of the substrate between the p regions. The drain and gate are negatively charged, and the n region at the gate is positively charged. Part b: n channel. In this M O S structure, the drain and source contacts are joined to separate n regions set into a p type substrate, and the middle gate contact is joined to the segment of the substrate between the n regions. The drain and gate contact are positively charged, and the p region at the gate is negatively charged.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137489"/>
            <a:ext cx="7056784" cy="258143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FIGURE A.1</a:t>
            </a:r>
          </a:p>
          <a:p>
            <a:r>
              <a:rPr lang="en-IN" dirty="0" smtClean="0"/>
              <a:t>Basic structure of MOS transistor.</a:t>
            </a:r>
          </a:p>
        </p:txBody>
      </p:sp>
    </p:spTree>
    <p:extLst>
      <p:ext uri="{BB962C8B-B14F-4D97-AF65-F5344CB8AC3E}">
        <p14:creationId xmlns:p14="http://schemas.microsoft.com/office/powerpoint/2010/main" val="3845331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t ay: p channel. Two symbols represent the p-channel M O S. First symbol: A horizontal line segment extends rightward from the word, gate, to the midpoint of a vertical line segment. The vertical line segment is centered to the left of a column of 3 shorter vertical segments separated by gaps. L shapes connect the midpoints of the top and bottom segments to the other terminals. The top L extends rightward and then upward to the word drain. The bottom L extends rightward and then downward to the word source. An arrow extends rightward from the middle segment to the word substrate, and a line segment descends downward from the head of the arrow to the source. Second symbol: This symbol is the first symbol with the following alterations. The labels are changed as follows: gate = G, drain = D and source = S. The three right segments are joined. The arrow and segment connected to the substrate are removed, and an arrow points from S along the attached L toward G. Part b: n channel. First symbol: This symbol is the same as the first symbol for the p channel M O S, with the arrow pointing away from the substrate. Second symbol: This symbol is the same as the second symbol for the p channel M O S, with the arrow pointing toward S.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662238"/>
            <a:ext cx="7772400" cy="15319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FIGURE A.2</a:t>
            </a:r>
          </a:p>
          <a:p>
            <a:r>
              <a:rPr lang="en-IN" dirty="0" smtClean="0"/>
              <a:t>Symbols for MOS transistors.</a:t>
            </a:r>
          </a:p>
        </p:txBody>
      </p:sp>
    </p:spTree>
    <p:extLst>
      <p:ext uri="{BB962C8B-B14F-4D97-AF65-F5344CB8AC3E}">
        <p14:creationId xmlns:p14="http://schemas.microsoft.com/office/powerpoint/2010/main" val="2952698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ach diagram employs symbols for n channel transistors. Part ay: inverter. The configuration has 2 transistors. For each transistor, the following list provides the terminal connects. First transistor, Q 1: G, V sub D D; D, V sub D D; S, Y = Ay prime. Second transistor, Q 2: G, Ay; D, Y = Ay prime; S, ground. Part b: n and gate. The configuration has 3 transistors. For each transistor, the following list provides the terminal connections. First transistor: G, V sub D D; D, V sub D D; S, Y = Ay B, prime. Second transistor: G, Ay; D, Y = Ay B, prime; S, D of third transistor. Third transistor: G, B; D, S from second transistor; D, ground. Part c: n or gate. The first transistor has V sub D D at D and G, and its S terminal lies on a line between the D terminals of the remaining 2 transistors. The S terminals of the second and third transistors are also connected, and they have gate connections Ay and B, respectively.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04950"/>
            <a:ext cx="7772400" cy="38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FIGURE A.3</a:t>
            </a:r>
          </a:p>
          <a:p>
            <a:r>
              <a:rPr lang="en-IN" i="1" dirty="0" smtClean="0"/>
              <a:t>n</a:t>
            </a:r>
            <a:r>
              <a:rPr lang="en-IN" dirty="0" smtClean="0"/>
              <a:t>-channel MOS logic circuits.</a:t>
            </a:r>
          </a:p>
        </p:txBody>
      </p:sp>
    </p:spTree>
    <p:extLst>
      <p:ext uri="{BB962C8B-B14F-4D97-AF65-F5344CB8AC3E}">
        <p14:creationId xmlns:p14="http://schemas.microsoft.com/office/powerpoint/2010/main" val="672312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t ay: inverter. The configuration includes a p channel transistor and an n channel transistor, with the following connections. P channel transistor: G, Ay; D, V sub D D; S, Y = Ay prime; N channel transistor: G, Ay; D, Y = Ay prime; S, ground. Part b: n and gate. The configuration includes two p channel transistors and two n channel transistors, with the following connections. First p channel: G, B; D, V sub D D, S, Y = Ay B, prime. Second p channel: G, B; D, V sub D D; S, Y = Ay B, prime. First n channel: G, Ay; D, Y = Ay B, prime; S, D of second n channel. Second n channel: G, B; D, S of first n channel; &#10;S, ground. Part c: n or gate. The configuration includes two p channel transistors and two n channel transistors. First p channel: G, Ay; D, V sub D D; S, D of second p channel. Second p channel: G, B; D, S of first p channel; S, Y = Ay + B, prime. First n channel: G, B; D, Y = Ay + B prime; S, ground. Second n channel: G, Ay; D, T = Ay + B, prime; S, ground.&#10;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500" y="685800"/>
            <a:ext cx="4443413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FIGURE A.4</a:t>
            </a:r>
          </a:p>
          <a:p>
            <a:r>
              <a:rPr lang="fr-FR" dirty="0" smtClean="0"/>
              <a:t>CMOS </a:t>
            </a:r>
            <a:r>
              <a:rPr lang="fr-FR" dirty="0" err="1" smtClean="0"/>
              <a:t>logic</a:t>
            </a:r>
            <a:r>
              <a:rPr lang="fr-FR" dirty="0" smtClean="0"/>
              <a:t> circuits</a:t>
            </a:r>
            <a:r>
              <a:rPr lang="en-IN" dirty="0" smtClean="0"/>
              <a:t>.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722419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ach symbol is built on the standard M O S symbol. Part ay: switch model. The symbol has V in at G, V sub D D = 5 volts at D, and a grounded switch at S. In addition, a link to V out connects S and D, with a switch on the D side of V out. part b: logic model. The configuration includes two transistors with the following connections. First transistor: G, Ay complemented; D, V sub D D, S, Y. Second transistor: G, Ay; D, Y; S, ground.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219200"/>
            <a:ext cx="7772400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FIGURE A.5</a:t>
            </a:r>
          </a:p>
          <a:p>
            <a:r>
              <a:rPr lang="en-IN" dirty="0" smtClean="0"/>
              <a:t>CMOS inverter.</a:t>
            </a:r>
          </a:p>
        </p:txBody>
      </p:sp>
    </p:spTree>
    <p:extLst>
      <p:ext uri="{BB962C8B-B14F-4D97-AF65-F5344CB8AC3E}">
        <p14:creationId xmlns:p14="http://schemas.microsoft.com/office/powerpoint/2010/main" val="480434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t ay: A loop consists of the following components: X; transistor with N at G and an arrow from ground; Y; a transistor with P complemented at G and an arrow to V sub D D. Part b: A block labeled T G has a connected on each side. Clockwise from the top, the connections are as follows: N, Y, P complemented, X. Part c: The symbols show two switches, using a standard switch symbol. Each symbol has X on the link side of the gap and a triangle on the receiving side of the gap, connected to Y. The first symbol shows a closed switch, with the link touching the top vertex of the triangle, above N = 1 and P = 0. The second symbol shows an open switch, with the link above the top vertex of the triangle, N = 0, and P = 1.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9" y="1340768"/>
            <a:ext cx="6336704" cy="469345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FIGURE A.6</a:t>
            </a:r>
          </a:p>
          <a:p>
            <a:r>
              <a:rPr lang="en-IN" dirty="0" smtClean="0"/>
              <a:t>Transmission gate (TG).</a:t>
            </a:r>
          </a:p>
        </p:txBody>
      </p:sp>
    </p:spTree>
    <p:extLst>
      <p:ext uri="{BB962C8B-B14F-4D97-AF65-F5344CB8AC3E}">
        <p14:creationId xmlns:p14="http://schemas.microsoft.com/office/powerpoint/2010/main" val="877258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ircuit diagram shows the following loop: C, inverter, bubble terminal, T G connected to X and Y.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327150"/>
            <a:ext cx="7772400" cy="42021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FIGURE A.7</a:t>
            </a:r>
          </a:p>
          <a:p>
            <a:r>
              <a:rPr lang="en-IN" dirty="0" smtClean="0"/>
              <a:t>Bilateral switch.</a:t>
            </a:r>
          </a:p>
        </p:txBody>
      </p:sp>
    </p:spTree>
    <p:extLst>
      <p:ext uri="{BB962C8B-B14F-4D97-AF65-F5344CB8AC3E}">
        <p14:creationId xmlns:p14="http://schemas.microsoft.com/office/powerpoint/2010/main" val="4121280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e circuit includes two transmission gates T G 1 and T G 2 positioned one over the other, with a bubble at the top connection of each gate. Clockwise from the top, T G 1 has the following connections: Ay, Y, Ay complemented, B. Clockwise from the top, T G 2 has the following connections: At complemented, Y, Ay, B complemented. The table has columns for the following values from left to right: Ay, B, T G 1, T G 2, Y. The row entries are as follows. Row 1: 0, 0, close, open, 0. Row 2: 0, 1, close, open, 1. Row 3: 1, 0, open, close, 1. Row 4: 1, 1, open, close, 0. 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430338"/>
            <a:ext cx="7772400" cy="39973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FIGURE A.8</a:t>
            </a:r>
          </a:p>
          <a:p>
            <a:r>
              <a:rPr lang="en-IN" dirty="0" smtClean="0"/>
              <a:t>Exclusive-OR constructed with transmission gates.</a:t>
            </a:r>
          </a:p>
        </p:txBody>
      </p:sp>
    </p:spTree>
    <p:extLst>
      <p:ext uri="{BB962C8B-B14F-4D97-AF65-F5344CB8AC3E}">
        <p14:creationId xmlns:p14="http://schemas.microsoft.com/office/powerpoint/2010/main" val="1186601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wo levels of transmission gates lead from inputs S sub 0, S sub 1, and I sub 0 to I sub 3, to output Y. Level 1 includes 4 T G units, which receive the following inputs. First T G: I sub 0, S sub 0 = 0. Second T G: I sub 1, S sub 0 = 1. Third T G: I sub 2, S sub 0 = 0. Fourth T G: I sub 3, S sub 0 = 1. Level 2 includes two T G units for S sub 1 = 0 and S sub 1 = 1, respectively. The T G for S sub 1 = 0 receives input from the first and second level 1 T G units. The T G for S sub 1 = 1 receives input from the third and fourth level 1 T G units. The outputs from the level 2 T G units produce Y.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1340768"/>
            <a:ext cx="4032448" cy="46515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FIGURE A.9</a:t>
            </a:r>
          </a:p>
          <a:p>
            <a:r>
              <a:rPr lang="en-IN" dirty="0" smtClean="0"/>
              <a:t>Multiplexer with transmission gates.</a:t>
            </a:r>
          </a:p>
        </p:txBody>
      </p:sp>
    </p:spTree>
    <p:extLst>
      <p:ext uri="{BB962C8B-B14F-4D97-AF65-F5344CB8AC3E}">
        <p14:creationId xmlns:p14="http://schemas.microsoft.com/office/powerpoint/2010/main" val="1180836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 the configuration, the first T G receives the following inputs: C, D, and C inverted and then complemented at the terminal. The first T G unit sends output through an inverter to produce Q prime. The second T G receives the following inputs: C complemented at the terminal, the output of the first T G, and C inverted. The second T G produces output Q, and an additional inverter connects A prime to Q.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820863"/>
            <a:ext cx="7772400" cy="32146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FIGURE A.10</a:t>
            </a:r>
          </a:p>
          <a:p>
            <a:r>
              <a:rPr lang="en-IN" dirty="0" smtClean="0"/>
              <a:t>Gated </a:t>
            </a:r>
            <a:r>
              <a:rPr lang="en-IN" i="1" dirty="0" smtClean="0"/>
              <a:t>D</a:t>
            </a:r>
            <a:r>
              <a:rPr lang="en-IN" dirty="0" smtClean="0"/>
              <a:t> latch with transmission gates.</a:t>
            </a:r>
          </a:p>
        </p:txBody>
      </p:sp>
    </p:spTree>
    <p:extLst>
      <p:ext uri="{BB962C8B-B14F-4D97-AF65-F5344CB8AC3E}">
        <p14:creationId xmlns:p14="http://schemas.microsoft.com/office/powerpoint/2010/main" val="1874919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91</Words>
  <Application>Microsoft Office PowerPoint</Application>
  <PresentationFormat>On-screen Show (4:3)</PresentationFormat>
  <Paragraphs>25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Digital Design</vt:lpstr>
      <vt:lpstr>FIGURE A.1 Basic structure of MOS transistor.</vt:lpstr>
      <vt:lpstr>FIGURE A.2 Symbols for MOS transistors.</vt:lpstr>
      <vt:lpstr>FIGURE A.3 n-channel MOS logic circuits.</vt:lpstr>
      <vt:lpstr>FIGURE A.4 CMOS logic circuits.</vt:lpstr>
      <vt:lpstr>FIGURE A.5 CMOS inverter.</vt:lpstr>
      <vt:lpstr>FIGURE A.6 Transmission gate (TG).</vt:lpstr>
      <vt:lpstr>FIGURE A.7 Bilateral switch.</vt:lpstr>
      <vt:lpstr>FIGURE A.8 Exclusive-OR constructed with transmission gates.</vt:lpstr>
      <vt:lpstr>FIGURE A.9 Multiplexer with transmission gates.</vt:lpstr>
      <vt:lpstr>FIGURE A.10 Gated D latch with transmission gates.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Design</dc:title>
  <dc:creator>Janakiraman.S</dc:creator>
  <cp:lastModifiedBy>admin</cp:lastModifiedBy>
  <cp:revision>8</cp:revision>
  <dcterms:created xsi:type="dcterms:W3CDTF">2017-03-24T09:36:13Z</dcterms:created>
  <dcterms:modified xsi:type="dcterms:W3CDTF">2018-06-26T11:52:33Z</dcterms:modified>
</cp:coreProperties>
</file>